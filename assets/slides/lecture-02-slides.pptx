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71" r:id="rId3"/>
    <p:sldId id="272" r:id="rId4"/>
    <p:sldId id="258" r:id="rId5"/>
    <p:sldId id="259" r:id="rId6"/>
    <p:sldId id="260" r:id="rId7"/>
    <p:sldId id="274" r:id="rId8"/>
    <p:sldId id="273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869" y="19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3906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Connect directly to Wednesday and the lab that follows. Keep arithmetic purposeful and measurement-centered.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B108FB-C2F1-63EC-E699-7FCC32EED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591A61-2545-E7E8-AC30-44B2B43027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8414D5-CB4E-0155-2262-F8A1C8E52B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38FC6-D352-D6B5-F310-2CFAB186B2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666447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46B1A-D877-C8F8-B518-59B6FFE27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43DBB7-EE8A-F0AD-0033-BD8E510C72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3F2DFD-2C16-254F-AE12-FE83A816F2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Expected current is 1.00 mA. Meter must be inserted in series after power is disabled for rewiring.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14A82-2601-F77A-FF89-7E3FF94A35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232471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Treat this as retrieval, not first exposure. Ask: voltage at node A relative to what? Reinforce that current belongs to a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Work one mental example: 5 V across 5 kohm gives 1 mA and 5 mW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23D2D-796A-8052-884F-2B86D441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487F43-5825-9271-A572-9157FEFD8A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5498A8-5652-3460-71D2-E7BDD2A4F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Work one mental example: 5 V across 5 </a:t>
            </a:r>
            <a:r>
              <a:rPr dirty="0" err="1"/>
              <a:t>kohm</a:t>
            </a:r>
            <a:r>
              <a:rPr dirty="0"/>
              <a:t> gives 1 mA and 5 </a:t>
            </a:r>
            <a:r>
              <a:rPr dirty="0" err="1"/>
              <a:t>mW</a:t>
            </a:r>
            <a:r>
              <a:rPr dirty="0"/>
              <a:t> total.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E7E91-5D85-FB9D-BB36-827A7987A6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893373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4BC9-61D2-7E6A-6C1E-997B1CFE2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4C985-24BC-AC74-7FF8-722B2515DB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70B59-CAB4-8ADE-4724-F67A71E7D3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Review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0A6D8-A6B6-E33E-0EF4-400005BFA2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436824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Have students trace the path aloud. Use conventional current direction only; avoid electron-flow digression.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Students should use measured resistor values in lab; these nominal values are a reasonableness check, not an answer-key substitute.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 divider only after the full current-and-drop method. State that loading will be introduced and quantified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Perform a physical demonstration with the department meter if available. This is the most important safety segment before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Ask whether a 1% difference proves tamper. Expected answer: not without tolerance, instrument accuracy, and repeatability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Students now have enough foundation to interpret the case. Ask what additional safe measurement would distinguish resistance from source or reference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these checks before fault interpretation. A failed arithmetic check is not evidence of a changed circuit.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Model: Increased resistance exists before R1 because source is 5.00 V but circuit input is 4.54 V under load; exact cause remains uncertain.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Expected current is 1.00 mA</a:t>
            </a:r>
            <a:r>
              <a:rPr lang="en-US" dirty="0"/>
              <a:t>. Meter must be inserted in series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7.xml"/><Relationship Id="rId1" Type="http://schemas.openxmlformats.org/officeDocument/2006/relationships/video" Target="https://www.youtube.com/embed/bHIhgxav9LY?feature=oembed" TargetMode="Externa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2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9EB0BC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9EB0BC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658368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62C6C8"/>
                </a:solidFill>
                <a:latin typeface="Aptos"/>
              </a:rPr>
              <a:t>CYBER 327  /  LECTURE 02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152144"/>
            <a:ext cx="1371600" cy="0"/>
          </a:xfrm>
          <a:prstGeom prst="line">
            <a:avLst/>
          </a:prstGeom>
          <a:ln w="508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481328"/>
            <a:ext cx="99669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 dirty="0">
                <a:solidFill>
                  <a:srgbClr val="FFFFFF"/>
                </a:solidFill>
                <a:latin typeface="Aptos Display"/>
              </a:rPr>
              <a:t>Electrical Foundations 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3182112"/>
            <a:ext cx="896112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0" i="0" dirty="0">
                <a:solidFill>
                  <a:srgbClr val="D6E1E7"/>
                </a:solidFill>
                <a:latin typeface="Aptos"/>
              </a:rPr>
              <a:t>Ohm’s Law and Series Circuits</a:t>
            </a:r>
            <a:endParaRPr sz="1900" b="0" i="0" dirty="0">
              <a:solidFill>
                <a:srgbClr val="D6E1E7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49808" y="5230368"/>
            <a:ext cx="196596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9808" y="5230368"/>
            <a:ext cx="196596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SEP 04,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71216" y="5230368"/>
            <a:ext cx="23774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5230368"/>
            <a:ext cx="23774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50-MINUTE SESSION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4574286"/>
            <a:ext cx="346710" cy="22082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33310" y="4679899"/>
            <a:ext cx="346710" cy="115214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80020" y="4679899"/>
            <a:ext cx="346710" cy="566471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8126730" y="4929530"/>
            <a:ext cx="346710" cy="31684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73440" y="4929530"/>
            <a:ext cx="346710" cy="48006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820150" y="4766310"/>
            <a:ext cx="346710" cy="643280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66860" y="4766310"/>
            <a:ext cx="346710" cy="31683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513570" y="4641494"/>
            <a:ext cx="346710" cy="44165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860280" y="4641494"/>
            <a:ext cx="346710" cy="518465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0206990" y="4871923"/>
            <a:ext cx="346710" cy="288036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553700" y="4871923"/>
            <a:ext cx="346710" cy="460857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900410" y="4699101"/>
            <a:ext cx="346710" cy="633679"/>
          </a:xfrm>
          <a:prstGeom prst="line">
            <a:avLst/>
          </a:prstGeom>
          <a:ln w="27940">
            <a:solidFill>
              <a:srgbClr val="62C6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541F-217E-771C-0D93-0A65D34ED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57EFBF9-6F0D-3C29-9F24-478122A7787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CCEFEEFE-2ECA-2BE2-00FA-E26C3C7AB0C6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A6021F3C-62FE-FCE8-5E25-4CF476D10DD2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E67EDC5-2E60-1B29-DCC2-03306B38C479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2E516239-37AC-9773-BCDA-3E08E4BC646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7AEF663-540E-4A7E-68B7-C16440E21B1F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1FA7829-4391-9FE9-4695-40A97E21844C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8322E2-7750-D321-3251-66C9B128DBCF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26C28F-8699-2D96-1D77-36378F633DCE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F6D74"/>
                </a:solidFill>
                <a:latin typeface="Aptos"/>
              </a:rPr>
              <a:t>FROM LAST LECTURE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FA4F57-F81F-8C26-CC40-9F209EEA1AC1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Recap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27BBF5DA-EB9E-5D9D-538A-107F89098617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9A7DD2D-009E-60BF-0013-E31BB0672A79}"/>
              </a:ext>
            </a:extLst>
          </p:cNvPr>
          <p:cNvSpPr txBox="1"/>
          <p:nvPr/>
        </p:nvSpPr>
        <p:spPr>
          <a:xfrm>
            <a:off x="960120" y="2222659"/>
            <a:ext cx="10287000" cy="4924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3200" b="1" dirty="0">
                <a:solidFill>
                  <a:srgbClr val="17324D"/>
                </a:solidFill>
                <a:latin typeface="Aptos Display"/>
              </a:rPr>
              <a:t>Why does a circuit need a complete loop?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338BC60-64B2-D779-327B-61D94B0E33F6}"/>
              </a:ext>
            </a:extLst>
          </p:cNvPr>
          <p:cNvSpPr txBox="1"/>
          <p:nvPr/>
        </p:nvSpPr>
        <p:spPr>
          <a:xfrm>
            <a:off x="1920240" y="3697408"/>
            <a:ext cx="83667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dirty="0">
                <a:solidFill>
                  <a:srgbClr val="5F6B73"/>
                </a:solidFill>
                <a:latin typeface="Aptos"/>
              </a:rPr>
              <a:t>Can’t it be just one line?</a:t>
            </a:r>
          </a:p>
        </p:txBody>
      </p:sp>
    </p:spTree>
    <p:extLst>
      <p:ext uri="{BB962C8B-B14F-4D97-AF65-F5344CB8AC3E}">
        <p14:creationId xmlns:p14="http://schemas.microsoft.com/office/powerpoint/2010/main" val="34904793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DAC50A-12B8-B0A4-D511-3BD094AC6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076652-8A04-D619-3E75-9F9A20F46640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F944524E-E882-0584-47CA-D62897AEAD9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2FAB94DF-F115-5201-7709-A82EF5B19444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34189DD-3019-83F1-C4D6-5179AE85D2E0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56C02F7-3774-551F-3422-2AA48A24C215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85560A21-0DC6-2765-819F-F8F4998AA828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154CAFE-9D94-D0AC-0166-E7B01C4811BA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BB3486-B49A-050A-AC65-95DF1AEA1201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BF01DA-4331-4433-D0B0-80CB81268C75}"/>
              </a:ext>
            </a:extLst>
          </p:cNvPr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1" dirty="0">
                <a:solidFill>
                  <a:srgbClr val="0F6D74"/>
                </a:solidFill>
                <a:latin typeface="Aptos"/>
              </a:rPr>
              <a:t>FROM LAST LECTURE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5C0819-BD68-B831-19BE-0432CEE4EC7C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A Thought Experiment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83D20119-8281-50CA-804F-9D054C796501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Online Media 16" title="The Biggest Misconception About Electricity">
            <a:hlinkClick r:id="" action="ppaction://media"/>
            <a:extLst>
              <a:ext uri="{FF2B5EF4-FFF2-40B4-BE49-F238E27FC236}">
                <a16:creationId xmlns:a16="http://schemas.microsoft.com/office/drawing/2014/main" id="{F1F98005-EB25-9188-8F57-5B1125FEB9DF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935372" y="1610436"/>
            <a:ext cx="8321256" cy="4697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873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FOUNDATION RECAP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dirty="0">
                <a:solidFill>
                  <a:srgbClr val="17324D"/>
                </a:solidFill>
                <a:latin typeface="Aptos Display"/>
              </a:rPr>
              <a:t>Electronic Terms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21094A69-031A-B099-EF0D-43FC1EAEC9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81213"/>
              </p:ext>
            </p:extLst>
          </p:nvPr>
        </p:nvGraphicFramePr>
        <p:xfrm>
          <a:off x="2790570" y="1984664"/>
          <a:ext cx="6488940" cy="3700707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{912C8C85-51F0-491E-9774-3900AFEF0FD7}</a:tableStyleId>
              </a:tblPr>
              <a:tblGrid>
                <a:gridCol w="17479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0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0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232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565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</a:rPr>
                        <a:t>Term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strike="noStrike" dirty="0">
                          <a:effectLst/>
                        </a:rPr>
                        <a:t> U</a:t>
                      </a:r>
                      <a:r>
                        <a:rPr lang="en-US" sz="2400" u="none" dirty="0">
                          <a:effectLst/>
                        </a:rPr>
                        <a:t>nits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</a:rPr>
                        <a:t>Unit Abbrev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u="none" dirty="0">
                          <a:effectLst/>
                        </a:rPr>
                        <a:t>Symbol</a:t>
                      </a:r>
                      <a:endParaRPr lang="en-US" sz="1400" u="none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112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Voltage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Volts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E/V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7471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Current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Amperes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A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I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873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Resistance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Ohms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Ω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R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92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Watts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P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7471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Frequency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Hertz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Hz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</a:rPr>
                        <a:t>f</a:t>
                      </a:r>
                      <a:endParaRPr lang="en-US" sz="14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UNITS AND PREFIXES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venir Black" panose="020B0803020203020204" pitchFamily="34" charset="0"/>
              </a:rPr>
              <a:t>ENGINEERING NOTATION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F0FA807-8366-0D29-8373-34EC359D6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023402"/>
              </p:ext>
            </p:extLst>
          </p:nvPr>
        </p:nvGraphicFramePr>
        <p:xfrm>
          <a:off x="359562" y="2042544"/>
          <a:ext cx="11832438" cy="2196521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{912C8C85-51F0-491E-9774-3900AFEF0FD7}</a:tableStyleId>
              </a:tblPr>
              <a:tblGrid>
                <a:gridCol w="19493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93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975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11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4933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574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9641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Prefix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none" strike="noStrike" dirty="0">
                          <a:effectLst/>
                        </a:rPr>
                        <a:t> </a:t>
                      </a:r>
                      <a:r>
                        <a:rPr lang="en-US" sz="2800" u="sng" dirty="0">
                          <a:effectLst/>
                        </a:rPr>
                        <a:t>Symbol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Multiplier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Prefix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Symbol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u="sng" dirty="0">
                          <a:effectLst/>
                        </a:rPr>
                        <a:t>Multiplier</a:t>
                      </a:r>
                      <a:endParaRPr lang="en-US" sz="16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milli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m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-3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effectLst/>
                        </a:rPr>
                        <a:t>kilo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k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micro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µ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-6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effectLst/>
                        </a:rPr>
                        <a:t>Mega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    M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illion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 err="1">
                          <a:solidFill>
                            <a:schemeClr val="tx1"/>
                          </a:solidFill>
                          <a:effectLst/>
                        </a:rPr>
                        <a:t>nano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  n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ine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-9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>
                          <a:solidFill>
                            <a:schemeClr val="tx1"/>
                          </a:solidFill>
                          <a:effectLst/>
                        </a:rPr>
                        <a:t>Giga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G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9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562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 err="1">
                          <a:solidFill>
                            <a:schemeClr val="tx1"/>
                          </a:solidFill>
                          <a:effectLst/>
                        </a:rPr>
                        <a:t>pico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p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aseline="30000" dirty="0">
                          <a:solidFill>
                            <a:schemeClr val="tx1"/>
                          </a:solidFill>
                          <a:effectLst/>
                        </a:rPr>
                        <a:t>-12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1" dirty="0" err="1">
                          <a:solidFill>
                            <a:schemeClr val="tx1"/>
                          </a:solidFill>
                          <a:effectLst/>
                        </a:rPr>
                        <a:t>Tera</a:t>
                      </a:r>
                      <a:endParaRPr lang="en-US" sz="1600" b="1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effectLst/>
                        </a:rPr>
                        <a:t>    T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effectLst/>
                        </a:rPr>
                        <a:t>welve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en-US" sz="16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800" b="0" dirty="0">
                          <a:solidFill>
                            <a:schemeClr val="tx1"/>
                          </a:solidFill>
                          <a:effectLst/>
                        </a:rPr>
                        <a:t>10</a:t>
                      </a:r>
                      <a:r>
                        <a:rPr lang="en-US" sz="2800" b="0" baseline="30000" dirty="0"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endParaRPr lang="en-US" sz="1600" b="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ounded Rectangle 12">
            <a:extLst>
              <a:ext uri="{FF2B5EF4-FFF2-40B4-BE49-F238E27FC236}">
                <a16:creationId xmlns:a16="http://schemas.microsoft.com/office/drawing/2014/main" id="{5088FA32-9FC3-4177-66A9-329FF8BA442E}"/>
              </a:ext>
            </a:extLst>
          </p:cNvPr>
          <p:cNvSpPr/>
          <p:nvPr/>
        </p:nvSpPr>
        <p:spPr>
          <a:xfrm>
            <a:off x="594360" y="4908100"/>
            <a:ext cx="368322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0.00900 V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2" name="Rounded Rectangle 12">
            <a:extLst>
              <a:ext uri="{FF2B5EF4-FFF2-40B4-BE49-F238E27FC236}">
                <a16:creationId xmlns:a16="http://schemas.microsoft.com/office/drawing/2014/main" id="{D9194346-C74A-6ACD-B19E-BDCE6E0C87A9}"/>
              </a:ext>
            </a:extLst>
          </p:cNvPr>
          <p:cNvSpPr/>
          <p:nvPr/>
        </p:nvSpPr>
        <p:spPr>
          <a:xfrm>
            <a:off x="5846634" y="562765"/>
            <a:ext cx="255077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venir" panose="020B0503020203020204" pitchFamily="34" charset="0"/>
              </a:rPr>
              <a:t>[1-999] [prefix] [unit]</a:t>
            </a:r>
            <a:endParaRPr dirty="0">
              <a:solidFill>
                <a:schemeClr val="tx1"/>
              </a:solidFill>
              <a:latin typeface="Avenir" panose="020B0503020203020204" pitchFamily="34" charset="0"/>
            </a:endParaRPr>
          </a:p>
        </p:txBody>
      </p:sp>
      <p:sp>
        <p:nvSpPr>
          <p:cNvPr id="23" name="Rounded Rectangle 12">
            <a:extLst>
              <a:ext uri="{FF2B5EF4-FFF2-40B4-BE49-F238E27FC236}">
                <a16:creationId xmlns:a16="http://schemas.microsoft.com/office/drawing/2014/main" id="{554EFB00-F29E-104C-507D-F0BABA47843F}"/>
              </a:ext>
            </a:extLst>
          </p:cNvPr>
          <p:cNvSpPr/>
          <p:nvPr/>
        </p:nvSpPr>
        <p:spPr>
          <a:xfrm>
            <a:off x="4442878" y="4908100"/>
            <a:ext cx="368322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0.00001383 A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4" name="Rounded Rectangle 12">
            <a:extLst>
              <a:ext uri="{FF2B5EF4-FFF2-40B4-BE49-F238E27FC236}">
                <a16:creationId xmlns:a16="http://schemas.microsoft.com/office/drawing/2014/main" id="{5D0AB907-F2C0-BF7B-1736-D2816C2108DC}"/>
              </a:ext>
            </a:extLst>
          </p:cNvPr>
          <p:cNvSpPr/>
          <p:nvPr/>
        </p:nvSpPr>
        <p:spPr>
          <a:xfrm>
            <a:off x="8291397" y="4908100"/>
            <a:ext cx="3683223" cy="696853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2 430 000 000 W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27" name="Rounded Rectangle 16">
            <a:extLst>
              <a:ext uri="{FF2B5EF4-FFF2-40B4-BE49-F238E27FC236}">
                <a16:creationId xmlns:a16="http://schemas.microsoft.com/office/drawing/2014/main" id="{7A7CDA48-8F61-5B90-67BD-CD6C2D17DFDA}"/>
              </a:ext>
            </a:extLst>
          </p:cNvPr>
          <p:cNvSpPr/>
          <p:nvPr/>
        </p:nvSpPr>
        <p:spPr>
          <a:xfrm>
            <a:off x="8563356" y="550820"/>
            <a:ext cx="2135124" cy="67759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venir" panose="020B0503020203020204" pitchFamily="34" charset="0"/>
              </a:rPr>
              <a:t>6.7 k Ω</a:t>
            </a:r>
            <a:endParaRPr b="1" dirty="0">
              <a:solidFill>
                <a:schemeClr val="tx1"/>
              </a:solidFill>
              <a:latin typeface="Avenir" panose="020B05030202030202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A12BAE-4761-45F2-CC8D-68CB73A3C009}"/>
              </a:ext>
            </a:extLst>
          </p:cNvPr>
          <p:cNvSpPr txBox="1"/>
          <p:nvPr/>
        </p:nvSpPr>
        <p:spPr>
          <a:xfrm>
            <a:off x="594360" y="4535065"/>
            <a:ext cx="108813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b="1" dirty="0">
                <a:solidFill>
                  <a:srgbClr val="17324D"/>
                </a:solidFill>
                <a:latin typeface="Avenir Black" panose="020B0803020203020204" pitchFamily="34" charset="0"/>
              </a:rPr>
              <a:t>Convert:</a:t>
            </a:r>
            <a:endParaRPr lang="en-US" b="1" i="0" dirty="0">
              <a:solidFill>
                <a:srgbClr val="17324D"/>
              </a:solidFill>
              <a:latin typeface="Avenir Black" panose="020B0803020203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Ohm’s 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Law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68680" y="1783080"/>
            <a:ext cx="320040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6868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069582"/>
            <a:ext cx="2706624" cy="79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Voltage across a resistance equals current through it times resistance.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8848" y="1783080"/>
            <a:ext cx="320040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98848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27448" y="4069582"/>
            <a:ext cx="288341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For a fixed voltage, more total resistance means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___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 current.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783080"/>
            <a:ext cx="320040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38160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11B10A-99C9-FB48-381B-DE7A1F38AA78}"/>
                  </a:ext>
                </a:extLst>
              </p:cNvPr>
              <p:cNvSpPr txBox="1"/>
              <p:nvPr/>
            </p:nvSpPr>
            <p:spPr>
              <a:xfrm>
                <a:off x="1389888" y="2624604"/>
                <a:ext cx="1965538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211B10A-99C9-FB48-381B-DE7A1F38AA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888" y="2624604"/>
                <a:ext cx="1965538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1BA0551-DBBD-8E5A-230B-CB2F877FB662}"/>
                  </a:ext>
                </a:extLst>
              </p:cNvPr>
              <p:cNvSpPr txBox="1"/>
              <p:nvPr/>
            </p:nvSpPr>
            <p:spPr>
              <a:xfrm>
                <a:off x="5223161" y="2350276"/>
                <a:ext cx="1469954" cy="12632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1BA0551-DBBD-8E5A-230B-CB2F877FB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161" y="2350276"/>
                <a:ext cx="1469954" cy="12632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2D8C6BE-3504-0EC8-9C4F-69CA4E1605DA}"/>
                  </a:ext>
                </a:extLst>
              </p:cNvPr>
              <p:cNvSpPr txBox="1"/>
              <p:nvPr/>
            </p:nvSpPr>
            <p:spPr>
              <a:xfrm>
                <a:off x="9003383" y="2350276"/>
                <a:ext cx="1609415" cy="12632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2D8C6BE-3504-0EC8-9C4F-69CA4E16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383" y="2350276"/>
                <a:ext cx="1609415" cy="126323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5DDFDC7B-B7F5-CEF2-9755-D273FC59885C}"/>
              </a:ext>
            </a:extLst>
          </p:cNvPr>
          <p:cNvSpPr txBox="1"/>
          <p:nvPr/>
        </p:nvSpPr>
        <p:spPr>
          <a:xfrm>
            <a:off x="8432290" y="4069582"/>
            <a:ext cx="2883410" cy="5274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 dirty="0">
                <a:solidFill>
                  <a:srgbClr val="182028"/>
                </a:solidFill>
                <a:latin typeface="Aptos"/>
              </a:rPr>
              <a:t>For a fixed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resistance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, more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voltage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 means </a:t>
            </a:r>
            <a:r>
              <a:rPr lang="en-US" sz="1700" b="0" i="0" dirty="0">
                <a:solidFill>
                  <a:srgbClr val="182028"/>
                </a:solidFill>
                <a:latin typeface="Aptos"/>
              </a:rPr>
              <a:t>___</a:t>
            </a:r>
            <a:r>
              <a:rPr sz="1700" b="0" i="0" dirty="0">
                <a:solidFill>
                  <a:srgbClr val="182028"/>
                </a:solidFill>
                <a:latin typeface="Aptos"/>
              </a:rPr>
              <a:t> current.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455FEF-FA26-A354-AD00-A5D455232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440CECE-4303-C7DA-23F6-72F58E472249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607ABA35-91EF-AB24-9228-ADA2D3AE9C87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62E74285-535D-B6EF-A85A-66EB10364C7B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A3455C80-0F6F-CAC9-ED1D-4F5AF71B2F85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4BCA6BAA-9B29-1041-440D-6B04912FF31F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ED82994C-9D6C-35F1-E7EA-A1C00E7AB08D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488D865-8FEA-443F-31A7-198DF7A115A2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C15E7F-EB73-873C-098A-16FBE4066894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980399-9806-908D-A104-0C7BD0FADDA9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AFB717-D5DB-DFF0-F44D-F97FC8A76997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 dirty="0">
                <a:solidFill>
                  <a:srgbClr val="17324D"/>
                </a:solidFill>
                <a:latin typeface="Aptos Display"/>
              </a:rPr>
              <a:t>Ohm’s </a:t>
            </a:r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Law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DEACB220-12E6-8ADB-39E3-04A860494532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>
            <a:extLst>
              <a:ext uri="{FF2B5EF4-FFF2-40B4-BE49-F238E27FC236}">
                <a16:creationId xmlns:a16="http://schemas.microsoft.com/office/drawing/2014/main" id="{65D4BE95-0FDC-2EFA-FABE-8540AAB45F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2908" y="1539809"/>
            <a:ext cx="9790768" cy="4796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3135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8AC91-9142-8522-B71A-D373F1A0D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9E06E0-4261-9D47-3199-376708B69861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>
            <a:extLst>
              <a:ext uri="{FF2B5EF4-FFF2-40B4-BE49-F238E27FC236}">
                <a16:creationId xmlns:a16="http://schemas.microsoft.com/office/drawing/2014/main" id="{AA12427F-53C0-45CC-DEB2-C395A0D4B4CE}"/>
              </a:ext>
            </a:extLst>
          </p:cNvPr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42AED1ED-1C02-E238-034E-7AFEE1CB005F}"/>
              </a:ext>
            </a:extLst>
          </p:cNvPr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3D55859-0C43-78F4-5915-C6AB15E19046}"/>
              </a:ext>
            </a:extLst>
          </p:cNvPr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B7A7D358-9B00-C025-4C85-45F781E05771}"/>
              </a:ext>
            </a:extLst>
          </p:cNvPr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FA12FD55-A222-0BFB-105C-D8378B2C5A82}"/>
              </a:ext>
            </a:extLst>
          </p:cNvPr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0993446-AD9E-CA7E-7F40-E63102479F34}"/>
              </a:ext>
            </a:extLst>
          </p:cNvPr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4D12B92-B647-D81B-D192-0E31B50B4EC2}"/>
              </a:ext>
            </a:extLst>
          </p:cNvPr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DA43A9-4389-2762-0615-01B395EF9632}"/>
              </a:ext>
            </a:extLst>
          </p:cNvPr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CORE RELATIONSHIPS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B156F5-5A27-FC50-B098-AB900710C62E}"/>
              </a:ext>
            </a:extLst>
          </p:cNvPr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 dirty="0">
                <a:solidFill>
                  <a:srgbClr val="17324D"/>
                </a:solidFill>
                <a:latin typeface="Aptos Display"/>
              </a:rPr>
              <a:t>Power Formula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1C475E07-5D1F-DD19-6BA9-6F4457413BF5}"/>
              </a:ext>
            </a:extLst>
          </p:cNvPr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24AE679-C070-EC1F-7B0B-8A97C192DEEB}"/>
              </a:ext>
            </a:extLst>
          </p:cNvPr>
          <p:cNvSpPr/>
          <p:nvPr/>
        </p:nvSpPr>
        <p:spPr>
          <a:xfrm>
            <a:off x="868680" y="1783080"/>
            <a:ext cx="320040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B21A6F2-686E-C6E3-96ED-48DD23AB579B}"/>
              </a:ext>
            </a:extLst>
          </p:cNvPr>
          <p:cNvSpPr/>
          <p:nvPr/>
        </p:nvSpPr>
        <p:spPr>
          <a:xfrm>
            <a:off x="86868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6C664D2-3E48-AAF3-FC25-DA46D0AF0C4D}"/>
              </a:ext>
            </a:extLst>
          </p:cNvPr>
          <p:cNvSpPr/>
          <p:nvPr/>
        </p:nvSpPr>
        <p:spPr>
          <a:xfrm>
            <a:off x="4498848" y="1783080"/>
            <a:ext cx="320040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8BFB2F-D58D-5359-6769-4A2867E40EE8}"/>
              </a:ext>
            </a:extLst>
          </p:cNvPr>
          <p:cNvSpPr/>
          <p:nvPr/>
        </p:nvSpPr>
        <p:spPr>
          <a:xfrm>
            <a:off x="4498848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D244740-17D5-045A-123A-929EDAA237F5}"/>
              </a:ext>
            </a:extLst>
          </p:cNvPr>
          <p:cNvSpPr/>
          <p:nvPr/>
        </p:nvSpPr>
        <p:spPr>
          <a:xfrm>
            <a:off x="8138160" y="1783080"/>
            <a:ext cx="320040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3A95B62-652C-F0D9-1D94-BF3D9DC9C147}"/>
              </a:ext>
            </a:extLst>
          </p:cNvPr>
          <p:cNvSpPr/>
          <p:nvPr/>
        </p:nvSpPr>
        <p:spPr>
          <a:xfrm>
            <a:off x="8138160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01D539-C8DE-562E-C85E-57A4474521C5}"/>
                  </a:ext>
                </a:extLst>
              </p:cNvPr>
              <p:cNvSpPr txBox="1"/>
              <p:nvPr/>
            </p:nvSpPr>
            <p:spPr>
              <a:xfrm>
                <a:off x="1518445" y="2188682"/>
                <a:ext cx="1953162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A01D539-C8DE-562E-C85E-57A4474521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445" y="2188682"/>
                <a:ext cx="1953162" cy="6771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ADF8A2D-BC59-F3B9-6B1D-67A597B3DCAD}"/>
                  </a:ext>
                </a:extLst>
              </p:cNvPr>
              <p:cNvSpPr txBox="1"/>
              <p:nvPr/>
            </p:nvSpPr>
            <p:spPr>
              <a:xfrm>
                <a:off x="5010912" y="2234979"/>
                <a:ext cx="1872500" cy="1354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ADF8A2D-BC59-F3B9-6B1D-67A597B3DC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0912" y="2234979"/>
                <a:ext cx="1872500" cy="135428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214755-06E1-0EEA-864D-6CAE86BD64C7}"/>
                  </a:ext>
                </a:extLst>
              </p:cNvPr>
              <p:cNvSpPr txBox="1"/>
              <p:nvPr/>
            </p:nvSpPr>
            <p:spPr>
              <a:xfrm>
                <a:off x="9003091" y="2650346"/>
                <a:ext cx="125079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E214755-06E1-0EEA-864D-6CAE86BD64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3091" y="2650346"/>
                <a:ext cx="1250792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B25E6C9-6216-7873-317C-F05B12892493}"/>
                  </a:ext>
                </a:extLst>
              </p:cNvPr>
              <p:cNvSpPr txBox="1"/>
              <p:nvPr/>
            </p:nvSpPr>
            <p:spPr>
              <a:xfrm>
                <a:off x="5048277" y="4151617"/>
                <a:ext cx="2095445" cy="6771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en-US" sz="44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B25E6C9-6216-7873-317C-F05B128924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277" y="4151617"/>
                <a:ext cx="2095445" cy="67710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AFA125-A136-7EEC-17C4-56F3D67DEBFE}"/>
                  </a:ext>
                </a:extLst>
              </p:cNvPr>
              <p:cNvSpPr txBox="1"/>
              <p:nvPr/>
            </p:nvSpPr>
            <p:spPr>
              <a:xfrm>
                <a:off x="1045140" y="3296744"/>
                <a:ext cx="1197957" cy="1033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D4AFA125-A136-7EEC-17C4-56F3D67DEB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140" y="3296744"/>
                <a:ext cx="1197957" cy="103355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C71DB0A-79CF-A12C-CAA1-811989D110CC}"/>
                  </a:ext>
                </a:extLst>
              </p:cNvPr>
              <p:cNvSpPr txBox="1"/>
              <p:nvPr/>
            </p:nvSpPr>
            <p:spPr>
              <a:xfrm>
                <a:off x="2573938" y="3296744"/>
                <a:ext cx="1306768" cy="1033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den>
                      </m:f>
                    </m:oMath>
                  </m:oMathPara>
                </a14:m>
                <a:endParaRPr lang="en-US" sz="36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DC71DB0A-79CF-A12C-CAA1-811989D110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3938" y="3296744"/>
                <a:ext cx="1306768" cy="103355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extBox 35">
            <a:extLst>
              <a:ext uri="{FF2B5EF4-FFF2-40B4-BE49-F238E27FC236}">
                <a16:creationId xmlns:a16="http://schemas.microsoft.com/office/drawing/2014/main" id="{B76FF068-C99E-372F-F05A-3C2DF78AC466}"/>
              </a:ext>
            </a:extLst>
          </p:cNvPr>
          <p:cNvSpPr txBox="1"/>
          <p:nvPr/>
        </p:nvSpPr>
        <p:spPr>
          <a:xfrm>
            <a:off x="8432290" y="2112845"/>
            <a:ext cx="2883410" cy="2605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lang="en-US" sz="1700" b="0" i="0" dirty="0">
                <a:solidFill>
                  <a:srgbClr val="182028"/>
                </a:solidFill>
                <a:latin typeface="Aptos"/>
              </a:rPr>
              <a:t>Remember:</a:t>
            </a:r>
            <a:endParaRPr sz="1700" b="0" i="0" dirty="0">
              <a:solidFill>
                <a:srgbClr val="182028"/>
              </a:solidFill>
              <a:latin typeface="Apto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FE334E8-A981-45FE-2FA6-52E1AC62A193}"/>
                  </a:ext>
                </a:extLst>
              </p:cNvPr>
              <p:cNvSpPr txBox="1"/>
              <p:nvPr/>
            </p:nvSpPr>
            <p:spPr>
              <a:xfrm>
                <a:off x="9093981" y="3221341"/>
                <a:ext cx="1069011" cy="9187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num>
                        <m:den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FE334E8-A981-45FE-2FA6-52E1AC62A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3981" y="3221341"/>
                <a:ext cx="1069011" cy="91877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45379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TOPOLOGY BEFORE ARITHMETIC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446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900" b="1" i="0">
                <a:solidFill>
                  <a:srgbClr val="17324D"/>
                </a:solidFill>
                <a:latin typeface="Aptos Display"/>
              </a:rPr>
              <a:t>The Circuit</a:t>
            </a:r>
            <a:endParaRPr sz="2900" b="1" i="0" dirty="0">
              <a:solidFill>
                <a:srgbClr val="17324D"/>
              </a:solidFill>
              <a:latin typeface="Aptos Display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03504" y="2029968"/>
            <a:ext cx="1449977" cy="841248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3504" y="2029968"/>
            <a:ext cx="1449977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+5 V</a:t>
            </a:r>
          </a:p>
        </p:txBody>
      </p:sp>
      <p:sp>
        <p:nvSpPr>
          <p:cNvPr id="15" name="Chevron 14"/>
          <p:cNvSpPr/>
          <p:nvPr/>
        </p:nvSpPr>
        <p:spPr>
          <a:xfrm>
            <a:off x="2071769" y="2331720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190641" y="2029968"/>
            <a:ext cx="1449977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190641" y="2029968"/>
            <a:ext cx="1449977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R1</a:t>
            </a:r>
            <a:br/>
            <a:r>
              <a:rPr sz="1250" b="1" i="0">
                <a:solidFill>
                  <a:srgbClr val="FFFFFF"/>
                </a:solidFill>
                <a:latin typeface="Aptos"/>
              </a:rPr>
              <a:t>330 ohm</a:t>
            </a:r>
          </a:p>
        </p:txBody>
      </p:sp>
      <p:sp>
        <p:nvSpPr>
          <p:cNvPr id="18" name="Chevron 17"/>
          <p:cNvSpPr/>
          <p:nvPr/>
        </p:nvSpPr>
        <p:spPr>
          <a:xfrm>
            <a:off x="3658906" y="2331720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3777778" y="2029968"/>
            <a:ext cx="1449977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77778" y="2029968"/>
            <a:ext cx="1449977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NODE A</a:t>
            </a:r>
          </a:p>
        </p:txBody>
      </p:sp>
      <p:sp>
        <p:nvSpPr>
          <p:cNvPr id="21" name="Chevron 20"/>
          <p:cNvSpPr/>
          <p:nvPr/>
        </p:nvSpPr>
        <p:spPr>
          <a:xfrm>
            <a:off x="5246043" y="2331720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364915" y="2029968"/>
            <a:ext cx="1449977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64915" y="2029968"/>
            <a:ext cx="1449977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R2</a:t>
            </a:r>
            <a:br/>
            <a:r>
              <a:rPr sz="1250" b="1" i="0">
                <a:solidFill>
                  <a:srgbClr val="FFFFFF"/>
                </a:solidFill>
                <a:latin typeface="Aptos"/>
              </a:rPr>
              <a:t>1.0 kohm</a:t>
            </a:r>
          </a:p>
        </p:txBody>
      </p:sp>
      <p:sp>
        <p:nvSpPr>
          <p:cNvPr id="24" name="Chevron 23"/>
          <p:cNvSpPr/>
          <p:nvPr/>
        </p:nvSpPr>
        <p:spPr>
          <a:xfrm>
            <a:off x="6833180" y="2331720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952052" y="2029968"/>
            <a:ext cx="1449977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52052" y="2029968"/>
            <a:ext cx="1449977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NODE B</a:t>
            </a:r>
          </a:p>
        </p:txBody>
      </p:sp>
      <p:sp>
        <p:nvSpPr>
          <p:cNvPr id="27" name="Chevron 26"/>
          <p:cNvSpPr/>
          <p:nvPr/>
        </p:nvSpPr>
        <p:spPr>
          <a:xfrm>
            <a:off x="8420317" y="2331720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8539189" y="2029968"/>
            <a:ext cx="1449977" cy="841248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539189" y="2029968"/>
            <a:ext cx="1449977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R3</a:t>
            </a:r>
            <a:br/>
            <a:r>
              <a:rPr sz="1250" b="1" i="0">
                <a:solidFill>
                  <a:srgbClr val="FFFFFF"/>
                </a:solidFill>
                <a:latin typeface="Aptos"/>
              </a:rPr>
              <a:t>3.3 kohm</a:t>
            </a:r>
          </a:p>
        </p:txBody>
      </p:sp>
      <p:sp>
        <p:nvSpPr>
          <p:cNvPr id="30" name="Chevron 29"/>
          <p:cNvSpPr/>
          <p:nvPr/>
        </p:nvSpPr>
        <p:spPr>
          <a:xfrm>
            <a:off x="10007454" y="2331720"/>
            <a:ext cx="100584" cy="228600"/>
          </a:xfrm>
          <a:prstGeom prst="chevron">
            <a:avLst/>
          </a:prstGeom>
          <a:solidFill>
            <a:srgbClr val="5F6B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0126326" y="2029968"/>
            <a:ext cx="1449977" cy="8412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26326" y="2029968"/>
            <a:ext cx="1449977" cy="841248"/>
          </a:xfrm>
          <a:prstGeom prst="rect">
            <a:avLst/>
          </a:prstGeom>
          <a:noFill/>
        </p:spPr>
        <p:txBody>
          <a:bodyPr wrap="square" lIns="27432" tIns="27432" rIns="27432" bIns="27432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ptos"/>
              </a:rPr>
              <a:t>GROUND</a:t>
            </a:r>
          </a:p>
        </p:txBody>
      </p:sp>
      <p:sp>
        <p:nvSpPr>
          <p:cNvPr id="33" name="Oval 32"/>
          <p:cNvSpPr/>
          <p:nvPr/>
        </p:nvSpPr>
        <p:spPr>
          <a:xfrm>
            <a:off x="1234440" y="3765864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453896" y="3657600"/>
            <a:ext cx="9518904" cy="451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182028"/>
                </a:solidFill>
                <a:latin typeface="Aptos"/>
              </a:rPr>
              <a:t>The same current flows through R1, R2, and R3.</a:t>
            </a:r>
          </a:p>
        </p:txBody>
      </p:sp>
      <p:sp>
        <p:nvSpPr>
          <p:cNvPr id="35" name="Oval 34"/>
          <p:cNvSpPr/>
          <p:nvPr/>
        </p:nvSpPr>
        <p:spPr>
          <a:xfrm>
            <a:off x="1234440" y="4363272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453896" y="4255008"/>
            <a:ext cx="9518904" cy="451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>
                <a:solidFill>
                  <a:srgbClr val="182028"/>
                </a:solidFill>
                <a:latin typeface="Aptos"/>
              </a:rPr>
              <a:t>R_total = R1 + R2 + R3.</a:t>
            </a:r>
          </a:p>
        </p:txBody>
      </p:sp>
      <p:sp>
        <p:nvSpPr>
          <p:cNvPr id="37" name="Oval 36"/>
          <p:cNvSpPr/>
          <p:nvPr/>
        </p:nvSpPr>
        <p:spPr>
          <a:xfrm>
            <a:off x="1234440" y="4960680"/>
            <a:ext cx="100584" cy="100584"/>
          </a:xfrm>
          <a:prstGeom prst="ellipse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453896" y="4852416"/>
            <a:ext cx="9518904" cy="451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 i="0" dirty="0">
                <a:solidFill>
                  <a:srgbClr val="182028"/>
                </a:solidFill>
                <a:latin typeface="Aptos"/>
              </a:rPr>
              <a:t>Individual voltage drops add to the measured source voltage.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86200" y="5577840"/>
            <a:ext cx="4434840" cy="420624"/>
          </a:xfrm>
          <a:prstGeom prst="round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886200" y="5577840"/>
            <a:ext cx="443484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TRACE THE COMPLETE PATH BEFORE POWER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LAB 1 CIRCUIT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Worked baseline: predict before measuring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85800" y="1719072"/>
          <a:ext cx="662940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99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6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88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81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Quantity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Calculation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Nominal result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Total resistance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330 + 1,000 + 3,300 ohm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4.630 kohm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Series current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5.00 V / 4.630 kohm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1.0799 mA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R1 drop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1.0799 mA x 330 ohm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0.3564 V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R2 drop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1.0799 mA x 1.0 kohm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1.0799 V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81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R3 drop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1.0799 mA x 3.3 kohm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82028"/>
                          </a:solidFill>
                          <a:latin typeface="Aptos"/>
                        </a:rPr>
                        <a:t>3.5637 V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635240" y="1719072"/>
            <a:ext cx="3703320" cy="406908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635240" y="1719072"/>
            <a:ext cx="82296" cy="406908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63840" y="1883664"/>
            <a:ext cx="32918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17324D"/>
                </a:solidFill>
                <a:latin typeface="Aptos"/>
              </a:rPr>
              <a:t>Node voltages to ground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322576"/>
            <a:ext cx="3291840" cy="3319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0" i="0">
                <a:solidFill>
                  <a:srgbClr val="182028"/>
                </a:solidFill>
                <a:latin typeface="Aptos"/>
              </a:rPr>
              <a:t>Source: 5.000 V</a:t>
            </a:r>
            <a:br/>
            <a:r>
              <a:rPr sz="1800" b="0" i="0">
                <a:solidFill>
                  <a:srgbClr val="182028"/>
                </a:solidFill>
                <a:latin typeface="Aptos"/>
              </a:rPr>
              <a:t>Node A: 4.6436 V</a:t>
            </a:r>
            <a:br/>
            <a:r>
              <a:rPr sz="1800" b="0" i="0">
                <a:solidFill>
                  <a:srgbClr val="182028"/>
                </a:solidFill>
                <a:latin typeface="Aptos"/>
              </a:rPr>
              <a:t>Node B: 3.5637 V</a:t>
            </a:r>
            <a:br/>
            <a:r>
              <a:rPr sz="1800" b="0" i="0">
                <a:solidFill>
                  <a:srgbClr val="182028"/>
                </a:solidFill>
                <a:latin typeface="Aptos"/>
              </a:rPr>
              <a:t>Node G: approx. 0 V</a:t>
            </a:r>
            <a:br/>
            <a:br/>
            <a:r>
              <a:rPr sz="1800" b="0" i="0">
                <a:solidFill>
                  <a:srgbClr val="182028"/>
                </a:solidFill>
                <a:latin typeface="Aptos"/>
              </a:rPr>
              <a:t>Check: all resistor drops sum to the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SERIES-CIRCUIT SHORTCUT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A voltage divider maps resistance into voltage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773936"/>
            <a:ext cx="420624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773936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1938528"/>
            <a:ext cx="37947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7324D"/>
                </a:solidFill>
                <a:latin typeface="Aptos"/>
              </a:rPr>
              <a:t>Divider relationship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77440"/>
            <a:ext cx="379476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000" b="0" i="0">
                <a:solidFill>
                  <a:srgbClr val="182028"/>
                </a:solidFill>
                <a:latin typeface="Aptos"/>
              </a:rPr>
              <a:t>V_out = V_in x R_downstream / R_total</a:t>
            </a:r>
            <a:br/>
            <a:br/>
            <a:r>
              <a:rPr sz="2000" b="0" i="0">
                <a:solidFill>
                  <a:srgbClr val="182028"/>
                </a:solidFill>
                <a:latin typeface="Aptos"/>
              </a:rPr>
              <a:t>The output depends on both the selected resistor and everything connected around it.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85232" y="1773936"/>
            <a:ext cx="283464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285232" y="1773936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13832" y="1938528"/>
            <a:ext cx="242316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Expected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13832" y="2377440"/>
            <a:ext cx="242316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000" b="0" i="0">
                <a:solidFill>
                  <a:srgbClr val="182028"/>
                </a:solidFill>
                <a:latin typeface="Aptos"/>
              </a:rPr>
              <a:t>At node B:</a:t>
            </a:r>
            <a:br/>
            <a:br/>
            <a:r>
              <a:rPr sz="2000" b="0" i="0">
                <a:solidFill>
                  <a:srgbClr val="182028"/>
                </a:solidFill>
                <a:latin typeface="Aptos"/>
              </a:rPr>
              <a:t>5.00 V x 3.3 / 4.63</a:t>
            </a:r>
            <a:br/>
            <a:r>
              <a:rPr sz="2000" b="0" i="0">
                <a:solidFill>
                  <a:srgbClr val="182028"/>
                </a:solidFill>
                <a:latin typeface="Aptos"/>
              </a:rPr>
              <a:t>= 3.5637 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12480" y="1773936"/>
            <a:ext cx="301752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412480" y="1773936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41080" y="1938528"/>
            <a:ext cx="26060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If R2 changes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2377440"/>
            <a:ext cx="260604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The total current and the node ratio both change. One altered component shifts multiple observations.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MEASUREMENT SAFETY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Configure the DMM for the quantity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13232" y="1773936"/>
          <a:ext cx="10789918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52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9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11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581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Mode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Connection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Power state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</a:rPr>
                        <a:t>Primary risk</a:t>
                      </a:r>
                    </a:p>
                  </a:txBody>
                  <a:tcPr marL="82296" marR="82296" marT="54864" marB="36576">
                    <a:solidFill>
                      <a:srgbClr val="1732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Voltage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Across two points (parallel)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Circuit may be on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Wrong reference or lead placement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Resistance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Across isolated component/path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OFF and discharged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Energized resistance measurement</a:t>
                      </a:r>
                    </a:p>
                  </a:txBody>
                  <a:tcPr marL="82296" marR="82296" marB="27432">
                    <a:solidFill>
                      <a:srgbClr val="E3EB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581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Current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Open path; insert meter in series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OFF while rewiring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82028"/>
                          </a:solidFill>
                          <a:latin typeface="Aptos"/>
                        </a:rPr>
                        <a:t>Meter placed directly across source</a:t>
                      </a:r>
                    </a:p>
                  </a:txBody>
                  <a:tcPr marL="82296" marR="82296" marB="27432">
                    <a:solidFill>
                      <a:srgbClr val="FBF9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1325880" y="5148072"/>
            <a:ext cx="9509760" cy="713232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325880" y="5148072"/>
            <a:ext cx="82296" cy="713232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72768" y="5148072"/>
            <a:ext cx="9006840" cy="7132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50" b="1" i="0">
                <a:solidFill>
                  <a:srgbClr val="17324D"/>
                </a:solidFill>
                <a:latin typeface="Aptos"/>
              </a:rPr>
              <a:t>Habit: After measuring current, disable power and return the red lead to the voltage input immediately.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TOLERANCE AND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Difference is not automatically evidence of tamper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783080"/>
            <a:ext cx="333756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Component tolerance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A 5% resistor may legitimately differ from its printed nominal value.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1783080"/>
            <a:ext cx="333756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25696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54296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Instrument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4296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Resolution, accuracy, lead resistance, and reference choice affect measured values.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783080"/>
            <a:ext cx="333756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74152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7324D"/>
                </a:solidFill>
                <a:latin typeface="Aptos"/>
              </a:rPr>
              <a:t>Meaningful deviation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A fault claim needs a stable pattern larger than plausible variation and consistent with circuit behavior.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623560"/>
            <a:ext cx="635508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926080" y="5623560"/>
            <a:ext cx="6355080" cy="4206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Aptos"/>
              </a:rPr>
              <a:t>COMPARE AGAINST A MEASURED BASELINE, NOT MEMORY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GUIDED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The source reads 5.00 V. The circuit input does not.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783080"/>
            <a:ext cx="3154680" cy="361188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783080"/>
            <a:ext cx="82296" cy="36118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19476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86584"/>
            <a:ext cx="2743200" cy="2862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0" i="0">
                <a:solidFill>
                  <a:srgbClr val="182028"/>
                </a:solidFill>
                <a:latin typeface="Aptos"/>
              </a:rPr>
              <a:t>Measured across supply terminals:</a:t>
            </a:r>
            <a:br/>
            <a:br/>
            <a:r>
              <a:rPr sz="2300" b="0" i="0">
                <a:solidFill>
                  <a:srgbClr val="182028"/>
                </a:solidFill>
                <a:latin typeface="Aptos"/>
              </a:rPr>
              <a:t>5.00 V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24528" y="1783080"/>
            <a:ext cx="3154680" cy="361188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224528" y="1783080"/>
            <a:ext cx="82296" cy="361188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453128" y="19476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 i="0">
                <a:solidFill>
                  <a:srgbClr val="17324D"/>
                </a:solidFill>
                <a:latin typeface="Aptos"/>
              </a:rPr>
              <a:t>CIRCUIT INPUT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53128" y="2386584"/>
            <a:ext cx="2743200" cy="2862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200" b="0" i="0">
                <a:solidFill>
                  <a:srgbClr val="182028"/>
                </a:solidFill>
                <a:latin typeface="Aptos"/>
              </a:rPr>
              <a:t>Measured relative to supply ground:</a:t>
            </a:r>
            <a:br/>
            <a:br/>
            <a:r>
              <a:rPr sz="2200" b="0" i="0">
                <a:solidFill>
                  <a:srgbClr val="182028"/>
                </a:solidFill>
                <a:latin typeface="Aptos"/>
              </a:rPr>
              <a:t>4.54 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71816" y="1783080"/>
            <a:ext cx="3703320" cy="361188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671816" y="1783080"/>
            <a:ext cx="82296" cy="361188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00416" y="1947672"/>
            <a:ext cx="32918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7324D"/>
                </a:solidFill>
                <a:latin typeface="Aptos"/>
              </a:rPr>
              <a:t>SUPPORTED CONCLUSION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0416" y="2386584"/>
            <a:ext cx="3291840" cy="2862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700" b="0" i="0">
                <a:solidFill>
                  <a:srgbClr val="182028"/>
                </a:solidFill>
                <a:latin typeface="Aptos"/>
              </a:rPr>
              <a:t>A voltage drop occurs in the segment between the source and circuit input while current flows. The exact cause is not yet established.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REASONABLENESS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Check every series-circuit result three ways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783080"/>
            <a:ext cx="3337560" cy="356616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783080"/>
            <a:ext cx="82296" cy="356616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>
                <a:solidFill>
                  <a:srgbClr val="17324D"/>
                </a:solidFill>
                <a:latin typeface="Aptos"/>
              </a:rPr>
              <a:t>1. Resistance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0" i="0">
                <a:solidFill>
                  <a:srgbClr val="182028"/>
                </a:solidFill>
                <a:latin typeface="Aptos"/>
              </a:rPr>
              <a:t>R_total equals the sum of all series resistances. It must exceed any single resistance.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1783080"/>
            <a:ext cx="3337560" cy="356616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25696" y="1783080"/>
            <a:ext cx="82296" cy="356616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54296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>
                <a:solidFill>
                  <a:srgbClr val="17324D"/>
                </a:solidFill>
                <a:latin typeface="Aptos"/>
              </a:rPr>
              <a:t>2. Current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4296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0" i="0">
                <a:solidFill>
                  <a:srgbClr val="182028"/>
                </a:solidFill>
                <a:latin typeface="Aptos"/>
              </a:rPr>
              <a:t>I = V / R_total. Check the units and whether the magnitude is plausible for the source limit.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783080"/>
            <a:ext cx="3337560" cy="356616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74152" y="1783080"/>
            <a:ext cx="82296" cy="356616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>
                <a:solidFill>
                  <a:srgbClr val="17324D"/>
                </a:solidFill>
                <a:latin typeface="Aptos"/>
              </a:rPr>
              <a:t>3. Voltage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386584"/>
            <a:ext cx="2926080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800" b="0" i="0">
                <a:solidFill>
                  <a:srgbClr val="182028"/>
                </a:solidFill>
                <a:latin typeface="Aptos"/>
              </a:rPr>
              <a:t>Individual drops should add approximately to the measured source voltage.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0F6D74"/>
                </a:solidFill>
                <a:latin typeface="Aptos"/>
              </a:rPr>
              <a:t>CLAIM - EVIDENCE - REASONING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>
                <a:solidFill>
                  <a:srgbClr val="17324D"/>
                </a:solidFill>
                <a:latin typeface="Aptos Display"/>
              </a:rPr>
              <a:t>Turn measurements into a defensible diagnosis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" y="1783080"/>
            <a:ext cx="3337560" cy="3611880"/>
          </a:xfrm>
          <a:prstGeom prst="roundRect">
            <a:avLst/>
          </a:prstGeom>
          <a:solidFill>
            <a:srgbClr val="E3EBF1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77240" y="1783080"/>
            <a:ext cx="82296" cy="361188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7324D"/>
                </a:solidFill>
                <a:latin typeface="Aptos"/>
              </a:rPr>
              <a:t>CLAIM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86584"/>
            <a:ext cx="2926080" cy="2862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 dirty="0">
                <a:solidFill>
                  <a:srgbClr val="182028"/>
                </a:solidFill>
                <a:latin typeface="Aptos"/>
              </a:rPr>
              <a:t>State the narrowest location or condition supported. Avoid claiming motive or exact hidden hardware without evidence.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1783080"/>
            <a:ext cx="3337560" cy="3611880"/>
          </a:xfrm>
          <a:prstGeom prst="roundRect">
            <a:avLst/>
          </a:prstGeom>
          <a:solidFill>
            <a:srgbClr val="DDECEA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425696" y="1783080"/>
            <a:ext cx="82296" cy="361188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54296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7324D"/>
                </a:solidFill>
                <a:latin typeface="Aptos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4296" y="2386584"/>
            <a:ext cx="2926080" cy="2862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Cite raw source, input, and node measurements plus the predicted or measured baseline.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4152" y="1783080"/>
            <a:ext cx="3337560" cy="3611880"/>
          </a:xfrm>
          <a:prstGeom prst="roundRect">
            <a:avLst/>
          </a:prstGeom>
          <a:solidFill>
            <a:srgbClr val="F4E3D8"/>
          </a:solidFill>
          <a:ln w="10160">
            <a:solidFill>
              <a:srgbClr val="CCD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74152" y="1783080"/>
            <a:ext cx="82296" cy="3611880"/>
          </a:xfrm>
          <a:prstGeom prst="rect">
            <a:avLst/>
          </a:prstGeom>
          <a:solidFill>
            <a:srgbClr val="D96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02752" y="1947672"/>
            <a:ext cx="29260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>
                <a:solidFill>
                  <a:srgbClr val="17324D"/>
                </a:solidFill>
                <a:latin typeface="Aptos"/>
              </a:rPr>
              <a:t>REASONING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386584"/>
            <a:ext cx="2926080" cy="2862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650" b="0" i="0">
                <a:solidFill>
                  <a:srgbClr val="182028"/>
                </a:solidFill>
                <a:latin typeface="Aptos"/>
              </a:rPr>
              <a:t>Explain why the pattern fits, name an alternative, state confidence, and propose a safe next test.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" name="Connector 2"/>
          <p:cNvCxnSpPr/>
          <p:nvPr/>
        </p:nvCxnSpPr>
        <p:spPr>
          <a:xfrm>
            <a:off x="10698480" y="384048"/>
            <a:ext cx="960120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698480" y="521207"/>
            <a:ext cx="850392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698480" y="658368"/>
            <a:ext cx="740664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698480" y="795527"/>
            <a:ext cx="630936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698480" y="932688"/>
            <a:ext cx="521208" cy="0"/>
          </a:xfrm>
          <a:prstGeom prst="line">
            <a:avLst/>
          </a:prstGeom>
          <a:ln w="8890">
            <a:solidFill>
              <a:srgbClr val="CCD1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02920" y="6473952"/>
            <a:ext cx="5029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>
                <a:solidFill>
                  <a:srgbClr val="5F6B73"/>
                </a:solidFill>
                <a:latin typeface="Aptos"/>
              </a:rPr>
              <a:t>LECTURE 02 | FOUNDATIONS II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20" y="6419088"/>
            <a:ext cx="594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1" i="0">
                <a:solidFill>
                  <a:srgbClr val="5F6B73"/>
                </a:solidFill>
                <a:latin typeface="Aptos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84048"/>
            <a:ext cx="108813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dirty="0">
                <a:solidFill>
                  <a:srgbClr val="0F6D74"/>
                </a:solidFill>
                <a:latin typeface="Aptos"/>
              </a:rPr>
              <a:t>READY FOR THE </a:t>
            </a:r>
            <a:r>
              <a:rPr lang="en-US" sz="1050" b="1" i="0" dirty="0">
                <a:solidFill>
                  <a:srgbClr val="0F6D74"/>
                </a:solidFill>
                <a:latin typeface="Aptos"/>
              </a:rPr>
              <a:t>LAB?</a:t>
            </a:r>
            <a:endParaRPr sz="1050" b="1" i="0" dirty="0">
              <a:solidFill>
                <a:srgbClr val="0F6D74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94360" y="749808"/>
            <a:ext cx="108813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900" b="1" i="0">
                <a:solidFill>
                  <a:srgbClr val="17324D"/>
                </a:solidFill>
                <a:latin typeface="Aptos Display"/>
              </a:rPr>
              <a:t>Exit check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2648" y="1444752"/>
            <a:ext cx="1143000" cy="0"/>
          </a:xfrm>
          <a:prstGeom prst="line">
            <a:avLst/>
          </a:prstGeom>
          <a:ln w="38100">
            <a:solidFill>
              <a:srgbClr val="D96F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60120" y="1737360"/>
            <a:ext cx="10287000" cy="1463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900" b="1" i="0" dirty="0">
                <a:solidFill>
                  <a:srgbClr val="17324D"/>
                </a:solidFill>
                <a:latin typeface="Aptos Display"/>
              </a:rPr>
              <a:t>A 5.00 V source drives 5.00 </a:t>
            </a:r>
            <a:r>
              <a:rPr sz="2900" b="1" i="0" dirty="0" err="1">
                <a:solidFill>
                  <a:srgbClr val="17324D"/>
                </a:solidFill>
                <a:latin typeface="Aptos Display"/>
              </a:rPr>
              <a:t>kohm</a:t>
            </a:r>
            <a:r>
              <a:rPr sz="2900" b="1" i="0" dirty="0">
                <a:solidFill>
                  <a:srgbClr val="17324D"/>
                </a:solidFill>
                <a:latin typeface="Aptos Display"/>
              </a:rPr>
              <a:t> total.</a:t>
            </a:r>
            <a:br>
              <a:rPr dirty="0"/>
            </a:br>
            <a:r>
              <a:rPr sz="2900" b="1" i="0" dirty="0">
                <a:solidFill>
                  <a:srgbClr val="17324D"/>
                </a:solidFill>
                <a:latin typeface="Aptos Display"/>
              </a:rPr>
              <a:t>What current should flow?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697408"/>
            <a:ext cx="836676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800" b="0" i="0" dirty="0">
                <a:solidFill>
                  <a:srgbClr val="5F6B73"/>
                </a:solidFill>
                <a:latin typeface="Aptos"/>
              </a:rPr>
              <a:t>How should you connect the ammeter to measure the current?</a:t>
            </a:r>
            <a:endParaRPr sz="1800" b="0" i="0" dirty="0">
              <a:solidFill>
                <a:srgbClr val="5F6B73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590288" y="4919472"/>
            <a:ext cx="3017520" cy="420624"/>
          </a:xfrm>
          <a:prstGeom prst="roundRect">
            <a:avLst/>
          </a:prstGeom>
          <a:solidFill>
            <a:srgbClr val="0F6D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90288" y="5022831"/>
            <a:ext cx="3017520" cy="21390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/>
            <a:r>
              <a:rPr lang="en-US" sz="1150" b="1" i="0" dirty="0">
                <a:solidFill>
                  <a:srgbClr val="FFFFFF"/>
                </a:solidFill>
                <a:latin typeface="Aptos"/>
              </a:rPr>
              <a:t>NEXT</a:t>
            </a:r>
            <a:r>
              <a:rPr sz="1150" b="1" i="0" dirty="0">
                <a:solidFill>
                  <a:srgbClr val="FFFFFF"/>
                </a:solidFill>
                <a:latin typeface="Aptos"/>
              </a:rPr>
              <a:t>: </a:t>
            </a:r>
            <a:r>
              <a:rPr lang="en-US" sz="1150" b="1" i="0" dirty="0">
                <a:solidFill>
                  <a:srgbClr val="FFFFFF"/>
                </a:solidFill>
                <a:latin typeface="Aptos"/>
              </a:rPr>
              <a:t>PARALLEL CIRCUITS &amp; POWER</a:t>
            </a:r>
            <a:endParaRPr sz="1150" b="1" i="0" dirty="0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1241</Words>
  <Application>Microsoft Office PowerPoint</Application>
  <PresentationFormat>Widescreen</PresentationFormat>
  <Paragraphs>244</Paragraphs>
  <Slides>17</Slides>
  <Notes>17</Notes>
  <HiddenSlides>0</HiddenSlides>
  <MMClips>1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Aptos</vt:lpstr>
      <vt:lpstr>Aptos Display</vt:lpstr>
      <vt:lpstr>Arial</vt:lpstr>
      <vt:lpstr>Avenir</vt:lpstr>
      <vt:lpstr>Avenir Black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Jerson Francia</cp:lastModifiedBy>
  <cp:revision>2</cp:revision>
  <dcterms:created xsi:type="dcterms:W3CDTF">2013-01-27T09:14:16Z</dcterms:created>
  <dcterms:modified xsi:type="dcterms:W3CDTF">2026-09-04T06:30:51Z</dcterms:modified>
  <cp:category/>
</cp:coreProperties>
</file>