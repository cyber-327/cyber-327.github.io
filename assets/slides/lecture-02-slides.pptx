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1" r:id="rId3"/>
    <p:sldId id="272" r:id="rId4"/>
    <p:sldId id="258" r:id="rId5"/>
    <p:sldId id="259" r:id="rId6"/>
    <p:sldId id="260" r:id="rId7"/>
    <p:sldId id="274" r:id="rId8"/>
    <p:sldId id="273" r:id="rId9"/>
    <p:sldId id="261" r:id="rId10"/>
    <p:sldId id="275" r:id="rId11"/>
    <p:sldId id="276" r:id="rId12"/>
    <p:sldId id="277" r:id="rId13"/>
    <p:sldId id="278" r:id="rId14"/>
    <p:sldId id="279" r:id="rId15"/>
    <p:sldId id="264" r:id="rId16"/>
    <p:sldId id="280" r:id="rId17"/>
    <p:sldId id="281" r:id="rId18"/>
    <p:sldId id="265" r:id="rId19"/>
    <p:sldId id="282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52" autoAdjust="0"/>
  </p:normalViewPr>
  <p:slideViewPr>
    <p:cSldViewPr snapToGrid="0" snapToObjects="1">
      <p:cViewPr varScale="1">
        <p:scale>
          <a:sx n="71" d="100"/>
          <a:sy n="71" d="100"/>
        </p:scale>
        <p:origin x="106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90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directly to Wednesday and the lab that follows. Keep arithmetic purposeful and measurement-centered.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108FB-C2F1-63EC-E699-7FCC32EE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91A61-2545-E7E8-AC30-44B2B4302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414D5-CB4E-0155-2262-F8A1C8E52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38FC6-D352-D6B5-F310-2CFAB186B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644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6B1A-D877-C8F8-B518-59B6FFE2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3DBB7-EE8A-F0AD-0033-BD8E510C7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F2DFD-2C16-254F-AE12-FE83A816F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14A82-2601-F77A-FF89-7E3FF94A3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2324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3D2D-796A-8052-884F-2B86D441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87F43-5825-9271-A572-9157FEFD8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498A8-5652-3460-71D2-E7BDD2A4F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E7E91-5D85-FB9D-BB36-827A7987A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9337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4BC9-61D2-7E6A-6C1E-997B1CFE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4C985-24BC-AC74-7FF8-722B2515D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70B59-CAB4-8ADE-4724-F67A71E7D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A6D8-A6B6-E33E-0EF4-400005BFA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43682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students trace the path aloud. Use conventional current direction only; avoid electron-flow digression.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20BC-228B-E2E6-1F10-43CB54DE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0BA97-09A7-3B62-B8E9-CF032EDAB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9677F-FB52-73AD-7D84-CF7F229F0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28DA5-288E-AAB0-C3E6-EC8E8D89F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49256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EF5E-52D5-7A4A-F4DF-C1F902B6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7985F-F9F7-AADB-D836-9DC9B0C0FE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7D7A9-8FB7-96D5-BE3F-C4615CA53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F74D3-C52A-31E8-F524-24F64ED2B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05399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3436-E29E-F9BA-EC79-16382506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7A981-70AE-082D-A2B8-72C0797F9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985DB-AD46-BC87-589D-817E9D0C6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519AA-9E48-0AB5-E264-B56F6FAAB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848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DC39-60B5-143B-849A-C71680BC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D09BC-9E3E-E6EA-E6CD-D99FF628E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DE7B3-C087-42C1-BB9C-6C90D17C5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6504-A983-176E-57DC-D389C1C7C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4695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4DD0-281B-A4F1-3990-31F43524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9736D-26A5-1967-92D8-408FC611F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AFE00-6B2A-533E-EADC-FDCF0408C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90746-95E2-58F6-E048-9C97B37C3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6878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209F8-523C-2BD6-4DF7-FC00E410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E3BB8-CF83-49F9-2B2C-A7622DB2F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9DC16-2130-AD04-7CE2-37E7545D8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A5EFC-50BA-1723-8CC0-FFA55F0F8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148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FBA4-E1CF-3433-C410-ED5DB1B2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39240-76A6-F185-2E51-FFA926725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E2C4E-B337-4F33-BE3E-5B61D58FA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6E542-BC1F-D40B-5F63-10BF610C3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1855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4796-C6E7-FA14-7587-2E3B7702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B4685-8000-FA3B-BD7B-771B55471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B6323-8BBF-D472-579F-B09876EF1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4F04B-82E1-DE5C-846A-C76513B6A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04263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HIhgxav9LY?feature=oembed" TargetMode="Externa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Aptos Display"/>
              </a:rPr>
              <a:t>Electrical Foundations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0" i="0" dirty="0">
                <a:solidFill>
                  <a:srgbClr val="D6E1E7"/>
                </a:solidFill>
                <a:latin typeface="Aptos"/>
              </a:rPr>
              <a:t>Ohm’s Law and Series Circuits</a:t>
            </a:r>
            <a:endParaRPr sz="1900" b="0" i="0" dirty="0">
              <a:solidFill>
                <a:srgbClr val="D6E1E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04,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E541F-217E-771C-0D93-0A65D34E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7EFBF9-6F0D-3C29-9F24-478122A7787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CEFEEFE-2ECA-2BE2-00FA-E26C3C7AB0C6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6021F3C-62FE-FCE8-5E25-4CF476D10DD2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E67EDC5-2E60-1B29-DCC2-03306B38C479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E516239-37AC-9773-BCDA-3E08E4BC646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7AEF663-540E-4A7E-68B7-C16440E21B1F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FA7829-4391-9FE9-4695-40A97E21844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322E2-7750-D321-3251-66C9B128DBCF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6C28F-8699-2D96-1D77-36378F633DCE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FROM LAST LECTURE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A4F57-F81F-8C26-CC40-9F209EEA1AC1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Recap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7BBF5DA-EB9E-5D9D-538A-107F89098617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A7DD2D-009E-60BF-0013-E31BB0672A79}"/>
              </a:ext>
            </a:extLst>
          </p:cNvPr>
          <p:cNvSpPr txBox="1"/>
          <p:nvPr/>
        </p:nvSpPr>
        <p:spPr>
          <a:xfrm>
            <a:off x="960120" y="2222659"/>
            <a:ext cx="102870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17324D"/>
                </a:solidFill>
                <a:latin typeface="Aptos Display"/>
              </a:rPr>
              <a:t>Why does a circuit need a complete loop?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38BC60-64B2-D779-327B-61D94B0E33F6}"/>
              </a:ext>
            </a:extLst>
          </p:cNvPr>
          <p:cNvSpPr txBox="1"/>
          <p:nvPr/>
        </p:nvSpPr>
        <p:spPr>
          <a:xfrm>
            <a:off x="1920240" y="3697408"/>
            <a:ext cx="8366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rgbClr val="5F6B73"/>
                </a:solidFill>
                <a:latin typeface="Aptos"/>
              </a:rPr>
              <a:t>Can’t it be just one line?</a:t>
            </a:r>
          </a:p>
        </p:txBody>
      </p:sp>
    </p:spTree>
    <p:extLst>
      <p:ext uri="{BB962C8B-B14F-4D97-AF65-F5344CB8AC3E}">
        <p14:creationId xmlns:p14="http://schemas.microsoft.com/office/powerpoint/2010/main" val="349047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AC50A-12B8-B0A4-D511-3BD094AC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076652-8A04-D619-3E75-9F9A20F4664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944524E-E882-0584-47CA-D62897AEAD9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2FAB94DF-F115-5201-7709-A82EF5B19444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4189DD-3019-83F1-C4D6-5179AE85D2E0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56C02F7-3774-551F-3422-2AA48A24C215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85560A21-0DC6-2765-819F-F8F4998AA828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154CAFE-9D94-D0AC-0166-E7B01C4811B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B3486-B49A-050A-AC65-95DF1AEA120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F01DA-4331-4433-D0B0-80CB81268C75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FROM LAST LECTURE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C0819-BD68-B831-19BE-0432CEE4EC7C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A Thought Experiment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3D20119-8281-50CA-804F-9D054C79650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Online Media 16" title="The Biggest Misconception About Electricity">
            <a:hlinkClick r:id="" action="ppaction://media"/>
            <a:extLst>
              <a:ext uri="{FF2B5EF4-FFF2-40B4-BE49-F238E27FC236}">
                <a16:creationId xmlns:a16="http://schemas.microsoft.com/office/drawing/2014/main" id="{F1F98005-EB25-9188-8F57-5B1125FEB9D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35372" y="1610436"/>
            <a:ext cx="8321256" cy="469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7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FOUNDATION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Electronic Terms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1094A69-031A-B099-EF0D-43FC1EAEC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81213"/>
              </p:ext>
            </p:extLst>
          </p:nvPr>
        </p:nvGraphicFramePr>
        <p:xfrm>
          <a:off x="2790570" y="1984664"/>
          <a:ext cx="6488940" cy="37007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174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65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</a:rPr>
                        <a:t>Term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 U</a:t>
                      </a:r>
                      <a:r>
                        <a:rPr lang="en-US" sz="2400" u="none" dirty="0">
                          <a:effectLst/>
                        </a:rPr>
                        <a:t>nits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</a:rPr>
                        <a:t>Unit Abbrev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</a:rPr>
                        <a:t>Symbol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1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Voltage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Volts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E/V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4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Current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Amperes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3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Resistance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Ohms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Ω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2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Watts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4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Frequency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Hertz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Hz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UNITS AND PREFIXES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ENGINEERING NOTATION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F0FA807-8366-0D29-8373-34EC359D6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23402"/>
              </p:ext>
            </p:extLst>
          </p:nvPr>
        </p:nvGraphicFramePr>
        <p:xfrm>
          <a:off x="359562" y="2042544"/>
          <a:ext cx="11832438" cy="219652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194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7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9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57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6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Prefix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none" strike="noStrike" dirty="0">
                          <a:effectLst/>
                        </a:rPr>
                        <a:t> </a:t>
                      </a:r>
                      <a:r>
                        <a:rPr lang="en-US" sz="2800" u="sng" dirty="0">
                          <a:effectLst/>
                        </a:rPr>
                        <a:t>Symbol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Multiplier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Prefix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Symbol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Multiplier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milli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-3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kilo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micro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µ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-6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Mega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  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illion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nano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ine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-9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Giga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pico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-12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Tera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  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welve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5088FA32-9FC3-4177-66A9-329FF8BA442E}"/>
              </a:ext>
            </a:extLst>
          </p:cNvPr>
          <p:cNvSpPr/>
          <p:nvPr/>
        </p:nvSpPr>
        <p:spPr>
          <a:xfrm>
            <a:off x="594360" y="4908100"/>
            <a:ext cx="3683223" cy="69685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0.00900 V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D9194346-C74A-6ACD-B19E-BDCE6E0C87A9}"/>
              </a:ext>
            </a:extLst>
          </p:cNvPr>
          <p:cNvSpPr/>
          <p:nvPr/>
        </p:nvSpPr>
        <p:spPr>
          <a:xfrm>
            <a:off x="5846634" y="562765"/>
            <a:ext cx="2550773" cy="69685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" panose="020B0503020203020204" pitchFamily="34" charset="0"/>
              </a:rPr>
              <a:t>[1-999] [prefix] [unit]</a:t>
            </a:r>
            <a:endParaRPr dirty="0">
              <a:solidFill>
                <a:schemeClr val="tx1"/>
              </a:solidFill>
              <a:latin typeface="Avenir" panose="020B0503020203020204" pitchFamily="34" charset="0"/>
            </a:endParaRP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554EFB00-F29E-104C-507D-F0BABA47843F}"/>
              </a:ext>
            </a:extLst>
          </p:cNvPr>
          <p:cNvSpPr/>
          <p:nvPr/>
        </p:nvSpPr>
        <p:spPr>
          <a:xfrm>
            <a:off x="4442878" y="4908100"/>
            <a:ext cx="3683223" cy="69685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0.00001383 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5D0AB907-F2C0-BF7B-1736-D2816C2108DC}"/>
              </a:ext>
            </a:extLst>
          </p:cNvPr>
          <p:cNvSpPr/>
          <p:nvPr/>
        </p:nvSpPr>
        <p:spPr>
          <a:xfrm>
            <a:off x="8291397" y="4908100"/>
            <a:ext cx="3683223" cy="69685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2 430 000 000 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7A7CDA48-8F61-5B90-67BD-CD6C2D17DFDA}"/>
              </a:ext>
            </a:extLst>
          </p:cNvPr>
          <p:cNvSpPr/>
          <p:nvPr/>
        </p:nvSpPr>
        <p:spPr>
          <a:xfrm>
            <a:off x="8563356" y="550820"/>
            <a:ext cx="2135124" cy="67759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venir" panose="020B0503020203020204" pitchFamily="34" charset="0"/>
              </a:rPr>
              <a:t>6.7 k Ω</a:t>
            </a:r>
            <a:endParaRPr b="1" dirty="0">
              <a:solidFill>
                <a:schemeClr val="tx1"/>
              </a:solidFill>
              <a:latin typeface="Avenir" panose="020B05030202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A12BAE-4761-45F2-CC8D-68CB73A3C009}"/>
              </a:ext>
            </a:extLst>
          </p:cNvPr>
          <p:cNvSpPr txBox="1"/>
          <p:nvPr/>
        </p:nvSpPr>
        <p:spPr>
          <a:xfrm>
            <a:off x="594360" y="4535065"/>
            <a:ext cx="10881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7324D"/>
                </a:solidFill>
                <a:latin typeface="Avenir Black" panose="020B0803020203020204" pitchFamily="34" charset="0"/>
              </a:rPr>
              <a:t>Convert:</a:t>
            </a:r>
            <a:endParaRPr lang="en-US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CORE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Ohm’s 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Law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1783080"/>
            <a:ext cx="3200400" cy="35661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1783080"/>
            <a:ext cx="82296" cy="35661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069582"/>
            <a:ext cx="2706624" cy="79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Voltage across a resistance equals current through it times resistance.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1783080"/>
            <a:ext cx="3200400" cy="35661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98848" y="1783080"/>
            <a:ext cx="82296" cy="35661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4069582"/>
            <a:ext cx="288341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For a fixed voltage, more total resistance means 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___</a:t>
            </a:r>
            <a:r>
              <a:rPr sz="1700" b="0" i="0" dirty="0">
                <a:solidFill>
                  <a:srgbClr val="182028"/>
                </a:solidFill>
                <a:latin typeface="Aptos"/>
              </a:rPr>
              <a:t>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783080"/>
            <a:ext cx="3200400" cy="35661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783080"/>
            <a:ext cx="82296" cy="35661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11B10A-99C9-FB48-381B-DE7A1F38AA78}"/>
                  </a:ext>
                </a:extLst>
              </p:cNvPr>
              <p:cNvSpPr txBox="1"/>
              <p:nvPr/>
            </p:nvSpPr>
            <p:spPr>
              <a:xfrm>
                <a:off x="1389888" y="2624604"/>
                <a:ext cx="196553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11B10A-99C9-FB48-381B-DE7A1F38A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888" y="2624604"/>
                <a:ext cx="196553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BA0551-DBBD-8E5A-230B-CB2F877FB662}"/>
                  </a:ext>
                </a:extLst>
              </p:cNvPr>
              <p:cNvSpPr txBox="1"/>
              <p:nvPr/>
            </p:nvSpPr>
            <p:spPr>
              <a:xfrm>
                <a:off x="5223161" y="2350276"/>
                <a:ext cx="1469954" cy="1263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BA0551-DBBD-8E5A-230B-CB2F877FB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161" y="2350276"/>
                <a:ext cx="1469954" cy="12632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D8C6BE-3504-0EC8-9C4F-69CA4E1605DA}"/>
                  </a:ext>
                </a:extLst>
              </p:cNvPr>
              <p:cNvSpPr txBox="1"/>
              <p:nvPr/>
            </p:nvSpPr>
            <p:spPr>
              <a:xfrm>
                <a:off x="9003383" y="2350276"/>
                <a:ext cx="1609415" cy="1263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D8C6BE-3504-0EC8-9C4F-69CA4E16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383" y="2350276"/>
                <a:ext cx="1609415" cy="12632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5DDFDC7B-B7F5-CEF2-9755-D273FC59885C}"/>
              </a:ext>
            </a:extLst>
          </p:cNvPr>
          <p:cNvSpPr txBox="1"/>
          <p:nvPr/>
        </p:nvSpPr>
        <p:spPr>
          <a:xfrm>
            <a:off x="8432290" y="4069582"/>
            <a:ext cx="288341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For a fixed 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resistance</a:t>
            </a:r>
            <a:r>
              <a:rPr sz="1700" b="0" i="0" dirty="0">
                <a:solidFill>
                  <a:srgbClr val="182028"/>
                </a:solidFill>
                <a:latin typeface="Aptos"/>
              </a:rPr>
              <a:t>, more 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voltage</a:t>
            </a:r>
            <a:r>
              <a:rPr sz="1700" b="0" i="0" dirty="0">
                <a:solidFill>
                  <a:srgbClr val="182028"/>
                </a:solidFill>
                <a:latin typeface="Aptos"/>
              </a:rPr>
              <a:t> means 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___</a:t>
            </a:r>
            <a:r>
              <a:rPr sz="1700" b="0" i="0" dirty="0">
                <a:solidFill>
                  <a:srgbClr val="182028"/>
                </a:solidFill>
                <a:latin typeface="Aptos"/>
              </a:rPr>
              <a:t> current.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55FEF-FA26-A354-AD00-A5D45523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0CECE-4303-C7DA-23F6-72F58E47224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07ABA35-91EF-AB24-9228-ADA2D3AE9C87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2E74285-535D-B6EF-A85A-66EB10364C7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3455C80-0F6F-CAC9-ED1D-4F5AF71B2F8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BCA6BAA-9B29-1041-440D-6B04912FF31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D82994C-9D6C-35F1-E7EA-A1C00E7AB08D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488D865-8FEA-443F-31A7-198DF7A115A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15E7F-EB73-873C-098A-16FBE4066894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80399-9806-908D-A104-0C7BD0FADDA9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CORE RELATIONSHIPS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AFB717-D5DB-DFF0-F44D-F97FC8A76997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Ohm’s 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Law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DEACB220-12E6-8ADB-39E3-04A860494532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5D4BE95-0FDC-2EFA-FABE-8540AAB45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908" y="1539809"/>
            <a:ext cx="9790768" cy="479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3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8AC91-9142-8522-B71A-D373F1A0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E06E0-4261-9D47-3199-376708B6986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A12427F-53C0-45CC-DEB2-C395A0D4B4C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2AED1ED-1C02-E238-034E-7AFEE1CB005F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3D55859-0C43-78F4-5915-C6AB15E1904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7A7D358-9B00-C025-4C85-45F781E05771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A12FD55-A222-0BFB-105C-D8378B2C5A8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993446-AD9E-CA7E-7F40-E63102479F34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12B92-B647-D81B-D192-0E31B50B4EC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A43A9-4389-2762-0615-01B395EF9632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CORE RELATIONSHIPS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156F5-5A27-FC50-B098-AB900710C62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Power Formula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C475E07-5D1F-DD19-6BA9-6F4457413BF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24AE679-C070-EC1F-7B0B-8A97C192DEEB}"/>
              </a:ext>
            </a:extLst>
          </p:cNvPr>
          <p:cNvSpPr/>
          <p:nvPr/>
        </p:nvSpPr>
        <p:spPr>
          <a:xfrm>
            <a:off x="868680" y="1783080"/>
            <a:ext cx="3200400" cy="35661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1A6F2-686E-C6E3-96ED-48DD23AB579B}"/>
              </a:ext>
            </a:extLst>
          </p:cNvPr>
          <p:cNvSpPr/>
          <p:nvPr/>
        </p:nvSpPr>
        <p:spPr>
          <a:xfrm>
            <a:off x="868680" y="1783080"/>
            <a:ext cx="82296" cy="35661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6C664D2-3E48-AAF3-FC25-DA46D0AF0C4D}"/>
              </a:ext>
            </a:extLst>
          </p:cNvPr>
          <p:cNvSpPr/>
          <p:nvPr/>
        </p:nvSpPr>
        <p:spPr>
          <a:xfrm>
            <a:off x="4498848" y="1783080"/>
            <a:ext cx="3200400" cy="35661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8BFB2F-D58D-5359-6769-4A2867E40EE8}"/>
              </a:ext>
            </a:extLst>
          </p:cNvPr>
          <p:cNvSpPr/>
          <p:nvPr/>
        </p:nvSpPr>
        <p:spPr>
          <a:xfrm>
            <a:off x="4498848" y="1783080"/>
            <a:ext cx="82296" cy="35661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D244740-17D5-045A-123A-929EDAA237F5}"/>
              </a:ext>
            </a:extLst>
          </p:cNvPr>
          <p:cNvSpPr/>
          <p:nvPr/>
        </p:nvSpPr>
        <p:spPr>
          <a:xfrm>
            <a:off x="8138160" y="1783080"/>
            <a:ext cx="3200400" cy="35661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A95B62-652C-F0D9-1D94-BF3D9DC9C147}"/>
              </a:ext>
            </a:extLst>
          </p:cNvPr>
          <p:cNvSpPr/>
          <p:nvPr/>
        </p:nvSpPr>
        <p:spPr>
          <a:xfrm>
            <a:off x="8138160" y="1783080"/>
            <a:ext cx="82296" cy="35661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01D539-C8DE-562E-C85E-57A4474521C5}"/>
                  </a:ext>
                </a:extLst>
              </p:cNvPr>
              <p:cNvSpPr txBox="1"/>
              <p:nvPr/>
            </p:nvSpPr>
            <p:spPr>
              <a:xfrm>
                <a:off x="1518445" y="2188682"/>
                <a:ext cx="195316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01D539-C8DE-562E-C85E-57A447452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445" y="2188682"/>
                <a:ext cx="1953162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DF8A2D-BC59-F3B9-6B1D-67A597B3DCAD}"/>
                  </a:ext>
                </a:extLst>
              </p:cNvPr>
              <p:cNvSpPr txBox="1"/>
              <p:nvPr/>
            </p:nvSpPr>
            <p:spPr>
              <a:xfrm>
                <a:off x="5010912" y="2234979"/>
                <a:ext cx="1872500" cy="1354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DF8A2D-BC59-F3B9-6B1D-67A597B3D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912" y="2234979"/>
                <a:ext cx="1872500" cy="1354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214755-06E1-0EEA-864D-6CAE86BD64C7}"/>
                  </a:ext>
                </a:extLst>
              </p:cNvPr>
              <p:cNvSpPr txBox="1"/>
              <p:nvPr/>
            </p:nvSpPr>
            <p:spPr>
              <a:xfrm>
                <a:off x="9003091" y="2650346"/>
                <a:ext cx="12507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214755-06E1-0EEA-864D-6CAE86BD6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091" y="2650346"/>
                <a:ext cx="125079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25E6C9-6216-7873-317C-F05B12892493}"/>
                  </a:ext>
                </a:extLst>
              </p:cNvPr>
              <p:cNvSpPr txBox="1"/>
              <p:nvPr/>
            </p:nvSpPr>
            <p:spPr>
              <a:xfrm>
                <a:off x="5048277" y="4151617"/>
                <a:ext cx="209544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25E6C9-6216-7873-317C-F05B12892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77" y="4151617"/>
                <a:ext cx="2095445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AFA125-A136-7EEC-17C4-56F3D67DEBFE}"/>
                  </a:ext>
                </a:extLst>
              </p:cNvPr>
              <p:cNvSpPr txBox="1"/>
              <p:nvPr/>
            </p:nvSpPr>
            <p:spPr>
              <a:xfrm>
                <a:off x="1045140" y="3296744"/>
                <a:ext cx="1197957" cy="1033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AFA125-A136-7EEC-17C4-56F3D67DE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140" y="3296744"/>
                <a:ext cx="1197957" cy="1033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71DB0A-79CF-A12C-CAA1-811989D110CC}"/>
                  </a:ext>
                </a:extLst>
              </p:cNvPr>
              <p:cNvSpPr txBox="1"/>
              <p:nvPr/>
            </p:nvSpPr>
            <p:spPr>
              <a:xfrm>
                <a:off x="2573938" y="3296744"/>
                <a:ext cx="1306768" cy="1033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71DB0A-79CF-A12C-CAA1-811989D11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938" y="3296744"/>
                <a:ext cx="1306768" cy="1033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B76FF068-C99E-372F-F05A-3C2DF78AC466}"/>
              </a:ext>
            </a:extLst>
          </p:cNvPr>
          <p:cNvSpPr txBox="1"/>
          <p:nvPr/>
        </p:nvSpPr>
        <p:spPr>
          <a:xfrm>
            <a:off x="8432290" y="2112845"/>
            <a:ext cx="288341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Remember: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E334E8-A981-45FE-2FA6-52E1AC62A193}"/>
                  </a:ext>
                </a:extLst>
              </p:cNvPr>
              <p:cNvSpPr txBox="1"/>
              <p:nvPr/>
            </p:nvSpPr>
            <p:spPr>
              <a:xfrm>
                <a:off x="9093981" y="3221341"/>
                <a:ext cx="1069011" cy="918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E334E8-A981-45FE-2FA6-52E1AC62A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981" y="3221341"/>
                <a:ext cx="1069011" cy="9187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53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THE CIRCUIT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318F63A1-D38C-36A8-6CE8-7E22E9845175}"/>
              </a:ext>
            </a:extLst>
          </p:cNvPr>
          <p:cNvSpPr/>
          <p:nvPr/>
        </p:nvSpPr>
        <p:spPr>
          <a:xfrm>
            <a:off x="4937760" y="115824"/>
            <a:ext cx="5504688" cy="132892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534F2C-F9FD-BCC3-3FE2-42D5437D3740}"/>
              </a:ext>
            </a:extLst>
          </p:cNvPr>
          <p:cNvSpPr txBox="1"/>
          <p:nvPr/>
        </p:nvSpPr>
        <p:spPr>
          <a:xfrm>
            <a:off x="5257010" y="253756"/>
            <a:ext cx="288341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Remember: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C00464-E5C3-F9E0-3EC6-95FF4668537F}"/>
                  </a:ext>
                </a:extLst>
              </p:cNvPr>
              <p:cNvSpPr txBox="1"/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C00464-E5C3-F9E0-3EC6-95FF46685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DC88E45-BD65-CD05-14CA-4DC54FA8EA72}"/>
                  </a:ext>
                </a:extLst>
              </p:cNvPr>
              <p:cNvSpPr txBox="1"/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DC88E45-BD65-CD05-14CA-4DC54FA8E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C8C49E8D-5D42-14C9-2D19-46F18CB2906D}"/>
              </a:ext>
            </a:extLst>
          </p:cNvPr>
          <p:cNvSpPr/>
          <p:nvPr/>
        </p:nvSpPr>
        <p:spPr>
          <a:xfrm>
            <a:off x="8005572" y="2056096"/>
            <a:ext cx="3310128" cy="4637312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029CEB-F0C0-34DE-0B2D-1B8662EBFA79}"/>
              </a:ext>
            </a:extLst>
          </p:cNvPr>
          <p:cNvSpPr txBox="1"/>
          <p:nvPr/>
        </p:nvSpPr>
        <p:spPr>
          <a:xfrm>
            <a:off x="8360228" y="2322576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Let: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6505933-325A-1249-7611-6B0D761B2C41}"/>
                  </a:ext>
                </a:extLst>
              </p:cNvPr>
              <p:cNvSpPr txBox="1"/>
              <p:nvPr/>
            </p:nvSpPr>
            <p:spPr>
              <a:xfrm>
                <a:off x="9138916" y="2706434"/>
                <a:ext cx="10708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6505933-325A-1249-7611-6B0D761B2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916" y="2706434"/>
                <a:ext cx="1070871" cy="307777"/>
              </a:xfrm>
              <a:prstGeom prst="rect">
                <a:avLst/>
              </a:prstGeom>
              <a:blipFill>
                <a:blip r:embed="rId5"/>
                <a:stretch>
                  <a:fillRect l="-5114" r="-454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705528-5F02-A8E7-B48F-A4970BCDFD14}"/>
                  </a:ext>
                </a:extLst>
              </p:cNvPr>
              <p:cNvSpPr txBox="1"/>
              <p:nvPr/>
            </p:nvSpPr>
            <p:spPr>
              <a:xfrm>
                <a:off x="9138916" y="3087929"/>
                <a:ext cx="107971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705528-5F02-A8E7-B48F-A4970BCDF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916" y="3087929"/>
                <a:ext cx="1079719" cy="307777"/>
              </a:xfrm>
              <a:prstGeom prst="rect">
                <a:avLst/>
              </a:prstGeom>
              <a:blipFill>
                <a:blip r:embed="rId6"/>
                <a:stretch>
                  <a:fillRect l="-4520" r="-565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2F1A1FB5-071B-D07B-ECF0-C63A804BA8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76300" y="1382255"/>
            <a:ext cx="6107487" cy="361800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CF56DEE-A3AA-EE01-8890-16CBBE5161D9}"/>
              </a:ext>
            </a:extLst>
          </p:cNvPr>
          <p:cNvSpPr txBox="1"/>
          <p:nvPr/>
        </p:nvSpPr>
        <p:spPr>
          <a:xfrm>
            <a:off x="594360" y="4726284"/>
            <a:ext cx="30129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KIRCHOFF’S VOLTAGE LAW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861A02-0910-3268-829C-4C3B941461F0}"/>
              </a:ext>
            </a:extLst>
          </p:cNvPr>
          <p:cNvSpPr txBox="1"/>
          <p:nvPr/>
        </p:nvSpPr>
        <p:spPr>
          <a:xfrm>
            <a:off x="594360" y="4982553"/>
            <a:ext cx="270662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The total voltage around any closed loop or path in a circuit must add up to zero.</a:t>
            </a:r>
            <a:endParaRPr sz="17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C8D370-D920-2389-95DB-792747D7BEBB}"/>
              </a:ext>
            </a:extLst>
          </p:cNvPr>
          <p:cNvSpPr txBox="1"/>
          <p:nvPr/>
        </p:nvSpPr>
        <p:spPr>
          <a:xfrm>
            <a:off x="4053639" y="4982553"/>
            <a:ext cx="294457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The voltage across the source should be equal to the voltage across all the loads</a:t>
            </a:r>
            <a:endParaRPr sz="1700" b="1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E32BDB-535C-83A2-046A-A2577A53E49B}"/>
              </a:ext>
            </a:extLst>
          </p:cNvPr>
          <p:cNvSpPr txBox="1"/>
          <p:nvPr/>
        </p:nvSpPr>
        <p:spPr>
          <a:xfrm>
            <a:off x="8307324" y="4024359"/>
            <a:ext cx="2706624" cy="246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What is the current passing through R, I</a:t>
            </a:r>
            <a:r>
              <a:rPr lang="en-US" sz="1200" dirty="0">
                <a:latin typeface="Aptos" panose="020B0004020202020204" pitchFamily="34" charset="0"/>
              </a:rPr>
              <a:t>R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  <a:p>
            <a:endParaRPr lang="en-US"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endParaRPr lang="en-US"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power dissipated by R?</a:t>
            </a:r>
            <a:endParaRPr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F19B633C-B9A3-1BEF-D1EF-106BC5AB5AD6}"/>
              </a:ext>
            </a:extLst>
          </p:cNvPr>
          <p:cNvSpPr/>
          <p:nvPr/>
        </p:nvSpPr>
        <p:spPr>
          <a:xfrm>
            <a:off x="3486778" y="5275385"/>
            <a:ext cx="343337" cy="18288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F045BE-861F-6020-6423-281FB87A35A1}"/>
              </a:ext>
            </a:extLst>
          </p:cNvPr>
          <p:cNvSpPr txBox="1"/>
          <p:nvPr/>
        </p:nvSpPr>
        <p:spPr>
          <a:xfrm>
            <a:off x="594361" y="1755083"/>
            <a:ext cx="8927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SOURCE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AB311B-5AA5-7CDC-738B-BA43222E3B78}"/>
              </a:ext>
            </a:extLst>
          </p:cNvPr>
          <p:cNvSpPr txBox="1"/>
          <p:nvPr/>
        </p:nvSpPr>
        <p:spPr>
          <a:xfrm>
            <a:off x="6252317" y="1755083"/>
            <a:ext cx="8927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B1B7C-2D2F-6727-B7A4-588F9F73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7252B8F-C04F-97AD-AD19-B8036F20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2047" y="1477315"/>
            <a:ext cx="6212833" cy="36781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A4B84C-1109-DCA5-4D74-3B393D18EF5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79D2C96-4DE3-C654-DF75-238DFB584170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AD7FFD-4F6E-F848-8DBE-5EC9C76ADCB7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B655E2C-51DC-A75D-C5D8-E15268A263B1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8A82526-06D8-BED8-E6C2-168DDE1D189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04CE5A2-7A9E-7337-58BB-D39EFADB87ED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D96438-FF0C-E940-2710-B31733112B17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BD14C-AA7E-537E-37D3-07674CFA3FB0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8E82C-74AD-D9C7-5618-7E2947F6D1D0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502CC-53F0-5584-3C86-86517D011BA3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THE </a:t>
            </a:r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SERIES </a:t>
            </a:r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CIRCUIT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4727CD7-F2AD-4C81-F970-3C83F793C01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4CE4ACA6-5B24-2BE6-DB96-B37AFA887EC8}"/>
              </a:ext>
            </a:extLst>
          </p:cNvPr>
          <p:cNvSpPr/>
          <p:nvPr/>
        </p:nvSpPr>
        <p:spPr>
          <a:xfrm>
            <a:off x="4937760" y="115824"/>
            <a:ext cx="5504688" cy="132892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7F7AA6-CB05-3307-6A06-C061A3A8DCA0}"/>
              </a:ext>
            </a:extLst>
          </p:cNvPr>
          <p:cNvSpPr txBox="1"/>
          <p:nvPr/>
        </p:nvSpPr>
        <p:spPr>
          <a:xfrm>
            <a:off x="5257010" y="253756"/>
            <a:ext cx="288341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Remember: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4B26BBE-28B2-56ED-9085-0B864643E06C}"/>
                  </a:ext>
                </a:extLst>
              </p:cNvPr>
              <p:cNvSpPr txBox="1"/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4B26BBE-28B2-56ED-9085-0B864643E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817F76-A561-7799-72FB-D1A383DBC65F}"/>
                  </a:ext>
                </a:extLst>
              </p:cNvPr>
              <p:cNvSpPr txBox="1"/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817F76-A561-7799-72FB-D1A383DBC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5F5C4D85-3BED-15B5-75F7-40ABE97F7354}"/>
              </a:ext>
            </a:extLst>
          </p:cNvPr>
          <p:cNvSpPr/>
          <p:nvPr/>
        </p:nvSpPr>
        <p:spPr>
          <a:xfrm>
            <a:off x="7100660" y="1776784"/>
            <a:ext cx="4215040" cy="461101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72F8F-B0DE-BFCB-8943-FDB4943E9678}"/>
              </a:ext>
            </a:extLst>
          </p:cNvPr>
          <p:cNvSpPr txBox="1"/>
          <p:nvPr/>
        </p:nvSpPr>
        <p:spPr>
          <a:xfrm>
            <a:off x="7704075" y="2025451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Let: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701AFCD-9B7F-2164-EF7D-7E46D26F2E63}"/>
                  </a:ext>
                </a:extLst>
              </p:cNvPr>
              <p:cNvSpPr txBox="1"/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701AFCD-9B7F-2164-EF7D-7E46D26F2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blipFill>
                <a:blip r:embed="rId6"/>
                <a:stretch>
                  <a:fillRect l="-4020" r="-402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5F4F60F-9D33-72A9-54F9-3CF1B609DF01}"/>
                  </a:ext>
                </a:extLst>
              </p:cNvPr>
              <p:cNvSpPr txBox="1"/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5F4F60F-9D33-72A9-54F9-3CF1B609D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blipFill>
                <a:blip r:embed="rId7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BC63A3F6-FDCE-D0C1-4856-81F84330B816}"/>
              </a:ext>
            </a:extLst>
          </p:cNvPr>
          <p:cNvSpPr txBox="1"/>
          <p:nvPr/>
        </p:nvSpPr>
        <p:spPr>
          <a:xfrm>
            <a:off x="7557535" y="3361942"/>
            <a:ext cx="3456413" cy="307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What is the total resistance?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What is the current passing through R</a:t>
            </a:r>
            <a:r>
              <a:rPr lang="en-US" sz="1100" dirty="0">
                <a:latin typeface="Aptos" panose="020B0004020202020204" pitchFamily="34" charset="0"/>
              </a:rPr>
              <a:t>TOTAL</a:t>
            </a:r>
            <a:r>
              <a:rPr lang="en-US" sz="2000" dirty="0">
                <a:latin typeface="Aptos" panose="020B0004020202020204" pitchFamily="34" charset="0"/>
              </a:rPr>
              <a:t>, I</a:t>
            </a:r>
            <a:r>
              <a:rPr lang="en-US" sz="1200" dirty="0">
                <a:latin typeface="Aptos" panose="020B0004020202020204" pitchFamily="34" charset="0"/>
              </a:rPr>
              <a:t>R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  <a:p>
            <a:endParaRPr lang="en-US"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R1,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R1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R2,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R2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endParaRPr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C950D-031D-FE0B-01B4-EF3474E142DC}"/>
                  </a:ext>
                </a:extLst>
              </p:cNvPr>
              <p:cNvSpPr txBox="1"/>
              <p:nvPr/>
            </p:nvSpPr>
            <p:spPr>
              <a:xfrm>
                <a:off x="9692729" y="2644412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C950D-031D-FE0B-01B4-EF3474E14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644412"/>
                <a:ext cx="1214884" cy="307777"/>
              </a:xfrm>
              <a:prstGeom prst="rect">
                <a:avLst/>
              </a:prstGeom>
              <a:blipFill>
                <a:blip r:embed="rId8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6014E686-695D-BEA1-CD66-52FCC3E71A21}"/>
              </a:ext>
            </a:extLst>
          </p:cNvPr>
          <p:cNvSpPr/>
          <p:nvPr/>
        </p:nvSpPr>
        <p:spPr>
          <a:xfrm>
            <a:off x="2071769" y="221767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967EA3-2E27-17D0-1423-4220B1069659}"/>
              </a:ext>
            </a:extLst>
          </p:cNvPr>
          <p:cNvSpPr txBox="1"/>
          <p:nvPr/>
        </p:nvSpPr>
        <p:spPr>
          <a:xfrm>
            <a:off x="1873977" y="1932793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953D77-32BC-A131-31A6-13B8EC6AA87E}"/>
              </a:ext>
            </a:extLst>
          </p:cNvPr>
          <p:cNvSpPr txBox="1"/>
          <p:nvPr/>
        </p:nvSpPr>
        <p:spPr>
          <a:xfrm>
            <a:off x="4591403" y="1968695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2F66919-7557-1B8C-9F07-C2E222DCFCAF}"/>
              </a:ext>
            </a:extLst>
          </p:cNvPr>
          <p:cNvSpPr/>
          <p:nvPr/>
        </p:nvSpPr>
        <p:spPr>
          <a:xfrm>
            <a:off x="4850842" y="223080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9D008A-1E71-32AF-FC9A-47E4BACF627B}"/>
              </a:ext>
            </a:extLst>
          </p:cNvPr>
          <p:cNvSpPr txBox="1"/>
          <p:nvPr/>
        </p:nvSpPr>
        <p:spPr>
          <a:xfrm>
            <a:off x="5059747" y="3649491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CDECA47-2CCC-3C0A-0FC5-9516102C0B0D}"/>
              </a:ext>
            </a:extLst>
          </p:cNvPr>
          <p:cNvSpPr/>
          <p:nvPr/>
        </p:nvSpPr>
        <p:spPr>
          <a:xfrm>
            <a:off x="5319186" y="3911599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FE9EE5-F71A-2326-76A8-E361F8C8E414}"/>
              </a:ext>
            </a:extLst>
          </p:cNvPr>
          <p:cNvSpPr txBox="1"/>
          <p:nvPr/>
        </p:nvSpPr>
        <p:spPr>
          <a:xfrm>
            <a:off x="1835542" y="4259004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GROUND</a:t>
            </a:r>
          </a:p>
        </p:txBody>
      </p:sp>
    </p:spTree>
    <p:extLst>
      <p:ext uri="{BB962C8B-B14F-4D97-AF65-F5344CB8AC3E}">
        <p14:creationId xmlns:p14="http://schemas.microsoft.com/office/powerpoint/2010/main" val="830177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29B52-7E2E-3AC3-FAAD-C80FDA0B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502B11-ED6D-2FDF-8DDD-F1CDC95AB15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6E0B5E1-650F-809F-5C97-0CA7AFD1F01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BF0DCDB-78AE-3AA8-965C-E56231F2EBF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74DD139-D756-9AFB-E830-BC7DDC08B99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1A1B427-AF2F-8249-C924-102967C2B4F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B9EA8B3A-ACEF-4D48-5311-85B2F9FBF2AD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A2E29E-AF56-8373-4647-9A583B97C02D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F359D-4DD9-0F81-C8FE-A86234A9DC1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FEC7F-6EDC-0F0A-43AD-B8ACA5902DD4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09BE8-ED60-D881-AC2B-5A128D103069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THE </a:t>
            </a:r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SERIES </a:t>
            </a:r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CIRCUIT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D96BE911-1E21-9532-A2CA-93E0C88593D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558853FB-703B-ADD2-5515-39BEA6C041C4}"/>
              </a:ext>
            </a:extLst>
          </p:cNvPr>
          <p:cNvSpPr/>
          <p:nvPr/>
        </p:nvSpPr>
        <p:spPr>
          <a:xfrm>
            <a:off x="4937760" y="115824"/>
            <a:ext cx="5504688" cy="132892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4D606F-AF06-ECEB-992A-BD8EE22FDA14}"/>
              </a:ext>
            </a:extLst>
          </p:cNvPr>
          <p:cNvSpPr txBox="1"/>
          <p:nvPr/>
        </p:nvSpPr>
        <p:spPr>
          <a:xfrm>
            <a:off x="5257010" y="253756"/>
            <a:ext cx="288341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Remember: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713E73-37E8-E188-4FA7-C032547A5DE7}"/>
                  </a:ext>
                </a:extLst>
              </p:cNvPr>
              <p:cNvSpPr txBox="1"/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713E73-37E8-E188-4FA7-C032547A5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8AFC9F-E0EA-5FEC-29BC-C8B066A0FDCE}"/>
                  </a:ext>
                </a:extLst>
              </p:cNvPr>
              <p:cNvSpPr txBox="1"/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8AFC9F-E0EA-5FEC-29BC-C8B066A0F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71C6C166-5371-5C65-F6D2-87F23E76C87A}"/>
              </a:ext>
            </a:extLst>
          </p:cNvPr>
          <p:cNvSpPr/>
          <p:nvPr/>
        </p:nvSpPr>
        <p:spPr>
          <a:xfrm>
            <a:off x="7100660" y="1776784"/>
            <a:ext cx="4215040" cy="461101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637A8E-454F-E08D-415E-028DF24E5BE3}"/>
              </a:ext>
            </a:extLst>
          </p:cNvPr>
          <p:cNvSpPr txBox="1"/>
          <p:nvPr/>
        </p:nvSpPr>
        <p:spPr>
          <a:xfrm>
            <a:off x="7704075" y="2025451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Let: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9F30F10-D863-BC01-21C5-6E96E346E643}"/>
                  </a:ext>
                </a:extLst>
              </p:cNvPr>
              <p:cNvSpPr txBox="1"/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9F30F10-D863-BC01-21C5-6E96E346E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blipFill>
                <a:blip r:embed="rId5"/>
                <a:stretch>
                  <a:fillRect l="-4020" r="-402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4749C5F-2ACA-7D1B-71D0-5AF5F803F486}"/>
                  </a:ext>
                </a:extLst>
              </p:cNvPr>
              <p:cNvSpPr txBox="1"/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4749C5F-2ACA-7D1B-71D0-5AF5F803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blipFill>
                <a:blip r:embed="rId6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5027BD26-7FA5-D69A-358F-2CE27281CAB4}"/>
              </a:ext>
            </a:extLst>
          </p:cNvPr>
          <p:cNvSpPr txBox="1"/>
          <p:nvPr/>
        </p:nvSpPr>
        <p:spPr>
          <a:xfrm>
            <a:off x="594360" y="4726284"/>
            <a:ext cx="30129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KIRCHOFF’S CURRENT LAW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59607C-344E-8DC5-E9B7-99BB86FB09DD}"/>
              </a:ext>
            </a:extLst>
          </p:cNvPr>
          <p:cNvSpPr txBox="1"/>
          <p:nvPr/>
        </p:nvSpPr>
        <p:spPr>
          <a:xfrm>
            <a:off x="594360" y="4982553"/>
            <a:ext cx="2706624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The total current entering a node must equal the total current leaving that same node.</a:t>
            </a:r>
            <a:endParaRPr sz="17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CA3B40-4C6F-F8F9-0CAC-2FDC47E7CACF}"/>
              </a:ext>
            </a:extLst>
          </p:cNvPr>
          <p:cNvSpPr txBox="1"/>
          <p:nvPr/>
        </p:nvSpPr>
        <p:spPr>
          <a:xfrm>
            <a:off x="4053639" y="4982553"/>
            <a:ext cx="294457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The current across series components are equal</a:t>
            </a:r>
            <a:endParaRPr sz="1700" b="1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BB60AA-E8B2-5C16-525F-6DDD9A6F44DD}"/>
              </a:ext>
            </a:extLst>
          </p:cNvPr>
          <p:cNvSpPr txBox="1"/>
          <p:nvPr/>
        </p:nvSpPr>
        <p:spPr>
          <a:xfrm>
            <a:off x="7557535" y="3361942"/>
            <a:ext cx="3456413" cy="307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What is the total resistance?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What is the current passing through R</a:t>
            </a:r>
            <a:r>
              <a:rPr lang="en-US" sz="1100" dirty="0">
                <a:latin typeface="Aptos" panose="020B0004020202020204" pitchFamily="34" charset="0"/>
              </a:rPr>
              <a:t>TOTAL</a:t>
            </a:r>
            <a:r>
              <a:rPr lang="en-US" sz="2000" dirty="0">
                <a:latin typeface="Aptos" panose="020B0004020202020204" pitchFamily="34" charset="0"/>
              </a:rPr>
              <a:t>, I</a:t>
            </a:r>
            <a:r>
              <a:rPr lang="en-US" sz="1200" dirty="0">
                <a:latin typeface="Aptos" panose="020B0004020202020204" pitchFamily="34" charset="0"/>
              </a:rPr>
              <a:t>R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  <a:p>
            <a:endParaRPr lang="en-US"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R1,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R1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R2,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R2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endParaRPr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4CA1A1A7-001F-738B-1EFA-FE2591624A9F}"/>
              </a:ext>
            </a:extLst>
          </p:cNvPr>
          <p:cNvSpPr/>
          <p:nvPr/>
        </p:nvSpPr>
        <p:spPr>
          <a:xfrm>
            <a:off x="3486778" y="5275385"/>
            <a:ext cx="343337" cy="18288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C5B3DE-5B61-C64C-30A9-8A666D5FF48E}"/>
                  </a:ext>
                </a:extLst>
              </p:cNvPr>
              <p:cNvSpPr txBox="1"/>
              <p:nvPr/>
            </p:nvSpPr>
            <p:spPr>
              <a:xfrm>
                <a:off x="9692729" y="2644412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C5B3DE-5B61-C64C-30A9-8A666D5FF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644412"/>
                <a:ext cx="1214884" cy="307777"/>
              </a:xfrm>
              <a:prstGeom prst="rect">
                <a:avLst/>
              </a:prstGeom>
              <a:blipFill>
                <a:blip r:embed="rId7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ABEE49ED-1A8D-C14C-FCB4-DF1FDD282699}"/>
              </a:ext>
            </a:extLst>
          </p:cNvPr>
          <p:cNvSpPr/>
          <p:nvPr/>
        </p:nvSpPr>
        <p:spPr>
          <a:xfrm>
            <a:off x="2071769" y="221767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D4BAFD-B9B1-BEAA-70A7-C6C901C464BB}"/>
              </a:ext>
            </a:extLst>
          </p:cNvPr>
          <p:cNvSpPr txBox="1"/>
          <p:nvPr/>
        </p:nvSpPr>
        <p:spPr>
          <a:xfrm>
            <a:off x="1873977" y="1932793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A9EE53-ED34-4429-BA5C-5E89A36D6913}"/>
              </a:ext>
            </a:extLst>
          </p:cNvPr>
          <p:cNvSpPr txBox="1"/>
          <p:nvPr/>
        </p:nvSpPr>
        <p:spPr>
          <a:xfrm>
            <a:off x="4591403" y="1968695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39C5B7-B933-9AE7-D836-810779D34C9C}"/>
              </a:ext>
            </a:extLst>
          </p:cNvPr>
          <p:cNvSpPr/>
          <p:nvPr/>
        </p:nvSpPr>
        <p:spPr>
          <a:xfrm>
            <a:off x="4850842" y="223080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74966C-47AD-D972-551D-76D78C16B9A7}"/>
              </a:ext>
            </a:extLst>
          </p:cNvPr>
          <p:cNvSpPr txBox="1"/>
          <p:nvPr/>
        </p:nvSpPr>
        <p:spPr>
          <a:xfrm>
            <a:off x="5059747" y="3649491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10D990E-5450-60F2-BCC8-1F293F54220C}"/>
              </a:ext>
            </a:extLst>
          </p:cNvPr>
          <p:cNvSpPr/>
          <p:nvPr/>
        </p:nvSpPr>
        <p:spPr>
          <a:xfrm>
            <a:off x="5319186" y="3911599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0A0F9A-F2F5-DDCC-154D-B3D1C0C71DDB}"/>
              </a:ext>
            </a:extLst>
          </p:cNvPr>
          <p:cNvSpPr txBox="1"/>
          <p:nvPr/>
        </p:nvSpPr>
        <p:spPr>
          <a:xfrm>
            <a:off x="1835542" y="4259004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GROUND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F3B7D5-A9BE-6384-C682-CABC4E1979E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5964" y="1582683"/>
            <a:ext cx="6108322" cy="366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4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61BB6-AD43-6321-9DC1-C2A167B9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0E4E6D8-0D12-F9DF-7FD1-1AF988264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2047" y="1477315"/>
            <a:ext cx="6212833" cy="36781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AD765C-0424-D948-12CE-946BD3A4A06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4C20F83-5FEE-73F3-CB5A-C9F0AB408D1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4F529FC-F7AD-0B13-6FD1-E7B0570A53AA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F554A45-7C2A-F3C6-A010-0DAC037A979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CD69CEC-C8FE-C4A3-93F5-DDAFA2499541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8FB9A64-1B41-18B2-281E-44C41056B22F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1C9EBC-45DB-5D92-8A0B-71BEA820FA3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C81FF-45AB-FA6D-1086-9FB77F717B8A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D6548-453E-B21F-ACA6-F0BB2F862AFC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8A8E9-A8A2-0DBC-3311-0AEA44CD316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THE </a:t>
            </a:r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SERIES </a:t>
            </a:r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CIRCUIT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4F29577-ADCE-8C0C-6D91-CEFC1D172C6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1D8ABCA9-D679-DF62-5685-2FF0783C46CC}"/>
              </a:ext>
            </a:extLst>
          </p:cNvPr>
          <p:cNvSpPr/>
          <p:nvPr/>
        </p:nvSpPr>
        <p:spPr>
          <a:xfrm>
            <a:off x="4937760" y="115824"/>
            <a:ext cx="5504688" cy="132892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F0C1CA-C646-A0A5-0017-878A980E3474}"/>
              </a:ext>
            </a:extLst>
          </p:cNvPr>
          <p:cNvSpPr txBox="1"/>
          <p:nvPr/>
        </p:nvSpPr>
        <p:spPr>
          <a:xfrm>
            <a:off x="5257010" y="253756"/>
            <a:ext cx="288341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Remember: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DA60B1-6F8A-AAD0-724D-6547243B0F25}"/>
                  </a:ext>
                </a:extLst>
              </p:cNvPr>
              <p:cNvSpPr txBox="1"/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DA60B1-6F8A-AAD0-724D-6547243B0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425" y="672358"/>
                <a:ext cx="125079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DD6BA8B-06F1-BE55-AE5B-9847EC0DD35C}"/>
                  </a:ext>
                </a:extLst>
              </p:cNvPr>
              <p:cNvSpPr txBox="1"/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DD6BA8B-06F1-BE55-AE5B-9847EC0DD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667" y="717244"/>
                <a:ext cx="124264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AC270F10-9BE4-CFA4-A049-99F947A3DD78}"/>
              </a:ext>
            </a:extLst>
          </p:cNvPr>
          <p:cNvSpPr/>
          <p:nvPr/>
        </p:nvSpPr>
        <p:spPr>
          <a:xfrm>
            <a:off x="7100660" y="1776784"/>
            <a:ext cx="4215040" cy="461101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C26FC9-DEA4-0E47-5DC8-FD9D5E791A30}"/>
              </a:ext>
            </a:extLst>
          </p:cNvPr>
          <p:cNvSpPr txBox="1"/>
          <p:nvPr/>
        </p:nvSpPr>
        <p:spPr>
          <a:xfrm>
            <a:off x="7704075" y="2025451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Let: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3312518-A2D4-AE03-2629-CC247E850BA3}"/>
                  </a:ext>
                </a:extLst>
              </p:cNvPr>
              <p:cNvSpPr txBox="1"/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3312518-A2D4-AE03-2629-CC247E85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blipFill>
                <a:blip r:embed="rId6"/>
                <a:stretch>
                  <a:fillRect l="-4020" r="-402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AFC544A-F667-C787-FF2F-26DF09A95759}"/>
                  </a:ext>
                </a:extLst>
              </p:cNvPr>
              <p:cNvSpPr txBox="1"/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AFC544A-F667-C787-FF2F-26DF09A95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blipFill>
                <a:blip r:embed="rId7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E690A9B-E241-FE4F-96DF-B2398A8E93E3}"/>
              </a:ext>
            </a:extLst>
          </p:cNvPr>
          <p:cNvSpPr txBox="1"/>
          <p:nvPr/>
        </p:nvSpPr>
        <p:spPr>
          <a:xfrm>
            <a:off x="7557535" y="3361942"/>
            <a:ext cx="3456413" cy="307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What is the total resistance?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What is the current passing through R</a:t>
            </a:r>
            <a:r>
              <a:rPr lang="en-US" sz="1100" dirty="0">
                <a:latin typeface="Aptos" panose="020B0004020202020204" pitchFamily="34" charset="0"/>
              </a:rPr>
              <a:t>TOTAL</a:t>
            </a:r>
            <a:r>
              <a:rPr lang="en-US" sz="2000" dirty="0">
                <a:latin typeface="Aptos" panose="020B0004020202020204" pitchFamily="34" charset="0"/>
              </a:rPr>
              <a:t>, I</a:t>
            </a:r>
            <a:r>
              <a:rPr lang="en-US" sz="1200" dirty="0">
                <a:latin typeface="Aptos" panose="020B0004020202020204" pitchFamily="34" charset="0"/>
              </a:rPr>
              <a:t>R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  <a:p>
            <a:endParaRPr lang="en-US"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R1,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R1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R2,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R2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endParaRPr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C15A8A-66B9-7854-13EF-8D0C7BA7D1CE}"/>
                  </a:ext>
                </a:extLst>
              </p:cNvPr>
              <p:cNvSpPr txBox="1"/>
              <p:nvPr/>
            </p:nvSpPr>
            <p:spPr>
              <a:xfrm>
                <a:off x="9692729" y="2644412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C15A8A-66B9-7854-13EF-8D0C7BA7D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644412"/>
                <a:ext cx="1214884" cy="307777"/>
              </a:xfrm>
              <a:prstGeom prst="rect">
                <a:avLst/>
              </a:prstGeom>
              <a:blipFill>
                <a:blip r:embed="rId8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829E5564-4D14-AC48-74F7-3084BED1031C}"/>
              </a:ext>
            </a:extLst>
          </p:cNvPr>
          <p:cNvSpPr/>
          <p:nvPr/>
        </p:nvSpPr>
        <p:spPr>
          <a:xfrm>
            <a:off x="2071769" y="221767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357F4-E910-3075-FF23-2C2626BF7ED9}"/>
              </a:ext>
            </a:extLst>
          </p:cNvPr>
          <p:cNvSpPr txBox="1"/>
          <p:nvPr/>
        </p:nvSpPr>
        <p:spPr>
          <a:xfrm>
            <a:off x="1873977" y="1932793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A11540-AD1D-F2C7-887A-6392C6B23BE5}"/>
              </a:ext>
            </a:extLst>
          </p:cNvPr>
          <p:cNvSpPr txBox="1"/>
          <p:nvPr/>
        </p:nvSpPr>
        <p:spPr>
          <a:xfrm>
            <a:off x="4591403" y="1968695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B05AEA6-8CBE-F645-8296-1501CDDDA88A}"/>
              </a:ext>
            </a:extLst>
          </p:cNvPr>
          <p:cNvSpPr/>
          <p:nvPr/>
        </p:nvSpPr>
        <p:spPr>
          <a:xfrm>
            <a:off x="4850842" y="223080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3A7F10-BB2A-1A55-2F7D-0B75AE84850E}"/>
              </a:ext>
            </a:extLst>
          </p:cNvPr>
          <p:cNvSpPr txBox="1"/>
          <p:nvPr/>
        </p:nvSpPr>
        <p:spPr>
          <a:xfrm>
            <a:off x="5059747" y="3649491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097D4B-9D59-A75D-BB10-A0C5A40A7657}"/>
              </a:ext>
            </a:extLst>
          </p:cNvPr>
          <p:cNvSpPr/>
          <p:nvPr/>
        </p:nvSpPr>
        <p:spPr>
          <a:xfrm>
            <a:off x="5319186" y="3911599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C7C9ED-1D4A-B3E5-DA50-E0413A387C39}"/>
              </a:ext>
            </a:extLst>
          </p:cNvPr>
          <p:cNvSpPr txBox="1"/>
          <p:nvPr/>
        </p:nvSpPr>
        <p:spPr>
          <a:xfrm>
            <a:off x="1835542" y="4259004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678F9F-F303-7CC9-8DC3-BF96F55EAFCB}"/>
                  </a:ext>
                </a:extLst>
              </p:cNvPr>
              <p:cNvSpPr txBox="1"/>
              <p:nvPr/>
            </p:nvSpPr>
            <p:spPr>
              <a:xfrm>
                <a:off x="3002407" y="5330287"/>
                <a:ext cx="20717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678F9F-F303-7CC9-8DC3-BF96F55EA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407" y="5330287"/>
                <a:ext cx="207172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62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762A4-C651-241C-9B2C-BB4AA14C5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1E43FFE-4B5A-2B93-3FEC-65A2EA368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6075" y="1456115"/>
            <a:ext cx="6212833" cy="36781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55FC75-0B41-9307-3D9E-7980AA5608E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CF247E7-973F-7550-4F5E-BFE02B7ABE9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014EF9C-1043-0327-280C-B7A7D9866AB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2A3AF90-F9D4-4304-0954-B9FB3FFD332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FB91202-F9D1-09B0-D68A-C3A33F45992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CC94744-96DF-7D3B-5618-8B4486C1AAA6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EEEBA0-B103-CE90-0EB9-411EE643C6DD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D5D8E-9053-F6CD-06E1-2EB4AF82C39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59FA5-BEB0-B840-29B4-DC15B107A1E5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D1834-79FC-D7DE-B35D-1B6C78365AFA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THE </a:t>
            </a:r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VOLTAGE DIVIDER</a:t>
            </a:r>
            <a:endParaRPr lang="en-US"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99003699-5DB0-CD30-6780-BE90E24447E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2285EE25-B838-CE59-0B67-5B55DBF3D4B9}"/>
              </a:ext>
            </a:extLst>
          </p:cNvPr>
          <p:cNvSpPr/>
          <p:nvPr/>
        </p:nvSpPr>
        <p:spPr>
          <a:xfrm>
            <a:off x="7100660" y="1776784"/>
            <a:ext cx="4215040" cy="461101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42D7E3-CF08-C950-C0B6-10D7B9F7B4B9}"/>
              </a:ext>
            </a:extLst>
          </p:cNvPr>
          <p:cNvSpPr txBox="1"/>
          <p:nvPr/>
        </p:nvSpPr>
        <p:spPr>
          <a:xfrm>
            <a:off x="7704075" y="2025451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Let: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3012AF-D5CC-163C-36D5-AEA60AC769D0}"/>
                  </a:ext>
                </a:extLst>
              </p:cNvPr>
              <p:cNvSpPr txBox="1"/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3012AF-D5CC-163C-36D5-AEA60AC76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blipFill>
                <a:blip r:embed="rId4"/>
                <a:stretch>
                  <a:fillRect l="-4020" r="-402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55D7B06-ADD7-7BA0-434A-DFDB5FBB0E44}"/>
                  </a:ext>
                </a:extLst>
              </p:cNvPr>
              <p:cNvSpPr txBox="1"/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55D7B06-ADD7-7BA0-434A-DFDB5FBB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blipFill>
                <a:blip r:embed="rId5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ABF43295-0B2E-3058-4420-5003762DDB38}"/>
              </a:ext>
            </a:extLst>
          </p:cNvPr>
          <p:cNvSpPr txBox="1"/>
          <p:nvPr/>
        </p:nvSpPr>
        <p:spPr>
          <a:xfrm>
            <a:off x="7557535" y="3361942"/>
            <a:ext cx="3456413" cy="307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What is the total resistance?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What is the current passing through R</a:t>
            </a:r>
            <a:r>
              <a:rPr lang="en-US" sz="1100" dirty="0">
                <a:latin typeface="Aptos" panose="020B0004020202020204" pitchFamily="34" charset="0"/>
              </a:rPr>
              <a:t>TOTAL</a:t>
            </a:r>
            <a:r>
              <a:rPr lang="en-US" sz="2000" dirty="0">
                <a:latin typeface="Aptos" panose="020B0004020202020204" pitchFamily="34" charset="0"/>
              </a:rPr>
              <a:t>, I</a:t>
            </a:r>
            <a:r>
              <a:rPr lang="en-US" sz="1200" dirty="0">
                <a:latin typeface="Aptos" panose="020B0004020202020204" pitchFamily="34" charset="0"/>
              </a:rPr>
              <a:t>R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  <a:p>
            <a:endParaRPr lang="en-US"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R1,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R1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drop across R2,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R2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endParaRPr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E67C0F-AA8E-0AA8-B3C1-91B362296D6D}"/>
                  </a:ext>
                </a:extLst>
              </p:cNvPr>
              <p:cNvSpPr txBox="1"/>
              <p:nvPr/>
            </p:nvSpPr>
            <p:spPr>
              <a:xfrm>
                <a:off x="9692729" y="2644412"/>
                <a:ext cx="14040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E67C0F-AA8E-0AA8-B3C1-91B362296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644412"/>
                <a:ext cx="1404038" cy="307777"/>
              </a:xfrm>
              <a:prstGeom prst="rect">
                <a:avLst/>
              </a:prstGeom>
              <a:blipFill>
                <a:blip r:embed="rId6"/>
                <a:stretch>
                  <a:fillRect l="-3478" r="-4348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0E719AC4-7047-97CB-B5AC-F42E2CC7C570}"/>
              </a:ext>
            </a:extLst>
          </p:cNvPr>
          <p:cNvSpPr/>
          <p:nvPr/>
        </p:nvSpPr>
        <p:spPr>
          <a:xfrm>
            <a:off x="2071769" y="221767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E10E30-0711-8B55-DB01-859F76AB26E4}"/>
              </a:ext>
            </a:extLst>
          </p:cNvPr>
          <p:cNvSpPr txBox="1"/>
          <p:nvPr/>
        </p:nvSpPr>
        <p:spPr>
          <a:xfrm>
            <a:off x="1873977" y="1932793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110442-4C27-7743-5236-E7ED1501402E}"/>
              </a:ext>
            </a:extLst>
          </p:cNvPr>
          <p:cNvSpPr txBox="1"/>
          <p:nvPr/>
        </p:nvSpPr>
        <p:spPr>
          <a:xfrm>
            <a:off x="4591403" y="1968695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419D39-AE39-0C46-C7EA-60623D504D76}"/>
              </a:ext>
            </a:extLst>
          </p:cNvPr>
          <p:cNvSpPr/>
          <p:nvPr/>
        </p:nvSpPr>
        <p:spPr>
          <a:xfrm>
            <a:off x="4850842" y="223080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DE6CD4-2CE1-EFE6-8102-D4A7CAE60C6C}"/>
              </a:ext>
            </a:extLst>
          </p:cNvPr>
          <p:cNvSpPr txBox="1"/>
          <p:nvPr/>
        </p:nvSpPr>
        <p:spPr>
          <a:xfrm>
            <a:off x="5059747" y="3649491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BAA658-6F3B-BB18-B3DD-26A0D60C82E9}"/>
              </a:ext>
            </a:extLst>
          </p:cNvPr>
          <p:cNvSpPr/>
          <p:nvPr/>
        </p:nvSpPr>
        <p:spPr>
          <a:xfrm>
            <a:off x="5319186" y="3911599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F7B77B-4BF8-B817-9697-1FFAFAFAF410}"/>
              </a:ext>
            </a:extLst>
          </p:cNvPr>
          <p:cNvSpPr txBox="1"/>
          <p:nvPr/>
        </p:nvSpPr>
        <p:spPr>
          <a:xfrm>
            <a:off x="1835542" y="4259004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51693B-F01D-C6E6-A17F-006BEA2C44B0}"/>
                  </a:ext>
                </a:extLst>
              </p:cNvPr>
              <p:cNvSpPr txBox="1"/>
              <p:nvPr/>
            </p:nvSpPr>
            <p:spPr>
              <a:xfrm>
                <a:off x="546675" y="4868401"/>
                <a:ext cx="2857514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51693B-F01D-C6E6-A17F-006BEA2C4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75" y="4868401"/>
                <a:ext cx="2857514" cy="87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BA4D897-F9CC-0E2C-9C0B-000A4EF7CA68}"/>
                  </a:ext>
                </a:extLst>
              </p:cNvPr>
              <p:cNvSpPr txBox="1"/>
              <p:nvPr/>
            </p:nvSpPr>
            <p:spPr>
              <a:xfrm>
                <a:off x="3966306" y="4868401"/>
                <a:ext cx="2186881" cy="879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BA4D897-F9CC-0E2C-9C0B-000A4EF7C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06" y="4868401"/>
                <a:ext cx="2186881" cy="8794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279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3486D-0E18-9BBE-1589-841FCB54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4FB6059-20D6-EE15-0EC8-52507697A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6075" y="1456115"/>
            <a:ext cx="6212833" cy="36781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889EF8-1F89-5A2B-DE4B-F7FC9D609F8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A8E394A-9B45-7C6D-3468-B5892B94F77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D433CB8-2948-21B5-2F94-7FB62152B0F0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95F86B7-4E81-64F1-1BA3-E4067A4CB5A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C6E3144-9CAD-FE06-BAE9-ED453FDF0DE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A37C4D9-7814-D3ED-1BC9-3E3C87362E6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F6A1E1-8026-4618-5AC3-B20E3F21254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907C4-5CAF-2AC0-FBEB-AF21BCEA68E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80214-5EFE-483A-C4F4-4DFC632C16D5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00BD0-2423-F2F5-7222-D16A0C07DB63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THE </a:t>
            </a:r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VOLTAGE DIVIDER</a:t>
            </a:r>
            <a:endParaRPr lang="en-US"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A7C42EB-151C-4DD4-9EB8-157BCBCBFE1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1F1ED3B2-0971-284D-6B68-B5CEFB0A6768}"/>
              </a:ext>
            </a:extLst>
          </p:cNvPr>
          <p:cNvSpPr/>
          <p:nvPr/>
        </p:nvSpPr>
        <p:spPr>
          <a:xfrm>
            <a:off x="7100660" y="1776784"/>
            <a:ext cx="4215040" cy="461101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E7641E-6C82-C501-0FE4-DFE4716F84A1}"/>
              </a:ext>
            </a:extLst>
          </p:cNvPr>
          <p:cNvSpPr txBox="1"/>
          <p:nvPr/>
        </p:nvSpPr>
        <p:spPr>
          <a:xfrm>
            <a:off x="7704075" y="2025451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Let: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EAFA0FC-BFBF-DB8F-2EE5-913F1F61C568}"/>
                  </a:ext>
                </a:extLst>
              </p:cNvPr>
              <p:cNvSpPr txBox="1"/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EAFA0FC-BFBF-DB8F-2EE5-913F1F61C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263" y="2490523"/>
                <a:ext cx="1213537" cy="307777"/>
              </a:xfrm>
              <a:prstGeom prst="rect">
                <a:avLst/>
              </a:prstGeom>
              <a:blipFill>
                <a:blip r:embed="rId4"/>
                <a:stretch>
                  <a:fillRect l="-4020" r="-402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625F5A8-A3BF-B8AC-9B30-AC4738F8EDC2}"/>
                  </a:ext>
                </a:extLst>
              </p:cNvPr>
              <p:cNvSpPr txBox="1"/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625F5A8-A3BF-B8AC-9B30-AC4738F8E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291876"/>
                <a:ext cx="1214884" cy="307777"/>
              </a:xfrm>
              <a:prstGeom prst="rect">
                <a:avLst/>
              </a:prstGeom>
              <a:blipFill>
                <a:blip r:embed="rId5"/>
                <a:stretch>
                  <a:fillRect l="-4020" r="-502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5449DFEF-E3A6-3E08-3302-22B8C70AF14C}"/>
              </a:ext>
            </a:extLst>
          </p:cNvPr>
          <p:cNvSpPr txBox="1"/>
          <p:nvPr/>
        </p:nvSpPr>
        <p:spPr>
          <a:xfrm>
            <a:off x="7557535" y="3361942"/>
            <a:ext cx="3456413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of Node A,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A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of Node B,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B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What is the voltage of Node C, V</a:t>
            </a:r>
            <a:r>
              <a:rPr lang="en-US" sz="1400" dirty="0">
                <a:solidFill>
                  <a:srgbClr val="182028"/>
                </a:solidFill>
                <a:latin typeface="Aptos" panose="020B0004020202020204" pitchFamily="34" charset="0"/>
              </a:rPr>
              <a:t>C</a:t>
            </a:r>
            <a:r>
              <a:rPr lang="en-US" sz="2000" dirty="0">
                <a:solidFill>
                  <a:srgbClr val="182028"/>
                </a:solidFill>
                <a:latin typeface="Aptos" panose="020B0004020202020204" pitchFamily="34" charset="0"/>
              </a:rPr>
              <a:t>?</a:t>
            </a:r>
          </a:p>
          <a:p>
            <a:endParaRPr sz="20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7BB13A-2FFE-CC99-EE8D-328B74732DFD}"/>
                  </a:ext>
                </a:extLst>
              </p:cNvPr>
              <p:cNvSpPr txBox="1"/>
              <p:nvPr/>
            </p:nvSpPr>
            <p:spPr>
              <a:xfrm>
                <a:off x="9692729" y="2644412"/>
                <a:ext cx="14040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7BB13A-2FFE-CC99-EE8D-328B74732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29" y="2644412"/>
                <a:ext cx="1404038" cy="307777"/>
              </a:xfrm>
              <a:prstGeom prst="rect">
                <a:avLst/>
              </a:prstGeom>
              <a:blipFill>
                <a:blip r:embed="rId6"/>
                <a:stretch>
                  <a:fillRect l="-3478" r="-4348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6F218877-ACA1-33A3-ACE7-02509204BAB0}"/>
              </a:ext>
            </a:extLst>
          </p:cNvPr>
          <p:cNvSpPr/>
          <p:nvPr/>
        </p:nvSpPr>
        <p:spPr>
          <a:xfrm>
            <a:off x="2071769" y="221767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EDA319-419A-BE3A-0B77-0FCA6928F78A}"/>
              </a:ext>
            </a:extLst>
          </p:cNvPr>
          <p:cNvSpPr txBox="1"/>
          <p:nvPr/>
        </p:nvSpPr>
        <p:spPr>
          <a:xfrm>
            <a:off x="1873977" y="1932793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DAE912-F243-D70D-B657-3310B37F3170}"/>
              </a:ext>
            </a:extLst>
          </p:cNvPr>
          <p:cNvSpPr txBox="1"/>
          <p:nvPr/>
        </p:nvSpPr>
        <p:spPr>
          <a:xfrm>
            <a:off x="4591403" y="1968695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48CE2F-BE33-2D14-053C-0419731C4B95}"/>
              </a:ext>
            </a:extLst>
          </p:cNvPr>
          <p:cNvSpPr/>
          <p:nvPr/>
        </p:nvSpPr>
        <p:spPr>
          <a:xfrm>
            <a:off x="4850842" y="223080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1F8E6F-8E9B-4E12-A588-995C8C58F716}"/>
              </a:ext>
            </a:extLst>
          </p:cNvPr>
          <p:cNvSpPr txBox="1"/>
          <p:nvPr/>
        </p:nvSpPr>
        <p:spPr>
          <a:xfrm>
            <a:off x="5059747" y="3649491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6BC1AD-21AA-7E1B-AECA-824F8BDFD5E5}"/>
              </a:ext>
            </a:extLst>
          </p:cNvPr>
          <p:cNvSpPr/>
          <p:nvPr/>
        </p:nvSpPr>
        <p:spPr>
          <a:xfrm>
            <a:off x="5319186" y="3911599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E27335-B90D-1213-528A-C5730F2A3237}"/>
              </a:ext>
            </a:extLst>
          </p:cNvPr>
          <p:cNvSpPr txBox="1"/>
          <p:nvPr/>
        </p:nvSpPr>
        <p:spPr>
          <a:xfrm>
            <a:off x="1835542" y="4259004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16140F-ABD6-01C9-CEFB-35768AADF22C}"/>
                  </a:ext>
                </a:extLst>
              </p:cNvPr>
              <p:cNvSpPr txBox="1"/>
              <p:nvPr/>
            </p:nvSpPr>
            <p:spPr>
              <a:xfrm>
                <a:off x="546675" y="4868401"/>
                <a:ext cx="2857514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16140F-ABD6-01C9-CEFB-35768AADF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75" y="4868401"/>
                <a:ext cx="2857514" cy="87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D44A26-011C-0DAE-70D5-9F37DE0C7C86}"/>
                  </a:ext>
                </a:extLst>
              </p:cNvPr>
              <p:cNvSpPr txBox="1"/>
              <p:nvPr/>
            </p:nvSpPr>
            <p:spPr>
              <a:xfrm>
                <a:off x="3966306" y="4868401"/>
                <a:ext cx="2186881" cy="879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D44A26-011C-0DAE-70D5-9F37DE0C7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06" y="4868401"/>
                <a:ext cx="2186881" cy="8794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468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MEASUREMENT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HOW DOES ONE GET THE MEASUREMENT?</a:t>
            </a:r>
            <a:endParaRPr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17168"/>
              </p:ext>
            </p:extLst>
          </p:nvPr>
        </p:nvGraphicFramePr>
        <p:xfrm>
          <a:off x="713233" y="1773936"/>
          <a:ext cx="3340608" cy="2978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FFFFF"/>
                          </a:solidFill>
                          <a:latin typeface="Aptos"/>
                        </a:rPr>
                        <a:t>Connection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97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Voltage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Across two points (parallel)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Resistance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>
                          <a:solidFill>
                            <a:srgbClr val="182028"/>
                          </a:solidFill>
                          <a:latin typeface="Aptos"/>
                        </a:rPr>
                        <a:t>Across isolated component/path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>
                          <a:solidFill>
                            <a:srgbClr val="182028"/>
                          </a:solidFill>
                          <a:latin typeface="Aptos"/>
                        </a:rPr>
                        <a:t>Open path; insert meter in series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325880" y="5148072"/>
            <a:ext cx="9509760" cy="71323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25880" y="5148072"/>
            <a:ext cx="82296" cy="71323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72768" y="5393119"/>
            <a:ext cx="900684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 i="0" dirty="0">
                <a:solidFill>
                  <a:srgbClr val="17324D"/>
                </a:solidFill>
                <a:latin typeface="Aptos"/>
              </a:rPr>
              <a:t>What if my measurements are off?</a:t>
            </a:r>
            <a:endParaRPr sz="145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C097B7-F3A6-CBC2-F540-94625409D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42305" y="1500457"/>
            <a:ext cx="5647135" cy="33432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96F114-0ADD-55CD-88A7-9CD1353C85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74816" y="1712324"/>
            <a:ext cx="4279184" cy="25664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84E98-F653-76E4-60F5-C6EC9A52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ACA1EF-8B69-38FE-3967-273CFB17D53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2E5E5742-F4F6-2EB2-5D4F-B6988CC1E2DB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F132909-56C7-0B4F-B0DF-71ABEC9CC2A6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E0DB5D8-6047-544D-C584-AC47EF4C36C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BD361DE-092E-C366-A55E-90AA9A6559E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81B8BA3F-3099-55CA-450C-162A22D8B56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775066-E162-5C32-8944-8CC0FA35B79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938D4-12BF-C61E-ACAF-C9609E5C4855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F5F06-DED5-8F59-89F0-4437E075A45C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MEASUREMENT SAFETY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6EFC5-D629-017A-30D4-0DC5A6A5CC9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HOW DOES ONE GET THE MEASUREMENT?</a:t>
            </a:r>
            <a:endParaRPr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C84EC1D-D224-9BFD-3243-BC5D3870CF48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36BF1D1-120A-A93B-B464-BF4351E9D394}"/>
              </a:ext>
            </a:extLst>
          </p:cNvPr>
          <p:cNvGraphicFramePr>
            <a:graphicFrameLocks noGrp="1"/>
          </p:cNvGraphicFramePr>
          <p:nvPr/>
        </p:nvGraphicFramePr>
        <p:xfrm>
          <a:off x="713233" y="1773936"/>
          <a:ext cx="3340608" cy="2978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FFFFF"/>
                          </a:solidFill>
                          <a:latin typeface="Aptos"/>
                        </a:rPr>
                        <a:t>Connection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97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Voltage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Across two points (parallel)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Resistance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>
                          <a:solidFill>
                            <a:srgbClr val="182028"/>
                          </a:solidFill>
                          <a:latin typeface="Aptos"/>
                        </a:rPr>
                        <a:t>Across isolated component/path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>
                          <a:solidFill>
                            <a:srgbClr val="182028"/>
                          </a:solidFill>
                          <a:latin typeface="Aptos"/>
                        </a:rPr>
                        <a:t>Open path; insert meter in series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9C8322-9B3C-4DA4-8943-F22B677D846E}"/>
              </a:ext>
            </a:extLst>
          </p:cNvPr>
          <p:cNvSpPr/>
          <p:nvPr/>
        </p:nvSpPr>
        <p:spPr>
          <a:xfrm>
            <a:off x="1325880" y="5148072"/>
            <a:ext cx="9509760" cy="71323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2DBDFF-1871-D461-385C-883323F53F2A}"/>
              </a:ext>
            </a:extLst>
          </p:cNvPr>
          <p:cNvSpPr/>
          <p:nvPr/>
        </p:nvSpPr>
        <p:spPr>
          <a:xfrm>
            <a:off x="1325880" y="5148072"/>
            <a:ext cx="82296" cy="71323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AD17C-4DB8-202E-DDEC-52ED304841D8}"/>
              </a:ext>
            </a:extLst>
          </p:cNvPr>
          <p:cNvSpPr txBox="1"/>
          <p:nvPr/>
        </p:nvSpPr>
        <p:spPr>
          <a:xfrm>
            <a:off x="1572768" y="5393119"/>
            <a:ext cx="900684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 i="0" dirty="0">
                <a:solidFill>
                  <a:srgbClr val="17324D"/>
                </a:solidFill>
                <a:latin typeface="Aptos"/>
              </a:rPr>
              <a:t>What if my measurements are off?</a:t>
            </a:r>
            <a:endParaRPr sz="145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4FFAF5-ADCB-2815-79C1-371DE80BBB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15"/>
          <a:stretch>
            <a:fillRect/>
          </a:stretch>
        </p:blipFill>
        <p:spPr>
          <a:xfrm>
            <a:off x="6604000" y="1591816"/>
            <a:ext cx="1778000" cy="33432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139A95-B56F-AB14-3A77-99E8A89C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47030" y="1868532"/>
            <a:ext cx="4114203" cy="246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20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5116E-7E09-ECE9-1222-BFC75E28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1349AA3-F6DB-2537-B9E4-E19949C3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42305" y="1500457"/>
            <a:ext cx="5647135" cy="334324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C19657D-0A80-E237-1B26-1E10D9512B4E}"/>
              </a:ext>
            </a:extLst>
          </p:cNvPr>
          <p:cNvSpPr/>
          <p:nvPr/>
        </p:nvSpPr>
        <p:spPr>
          <a:xfrm>
            <a:off x="8341360" y="2169668"/>
            <a:ext cx="406400" cy="31902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C8F6C-B587-AACB-917E-377F760D913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ABD4FD4-28B8-84A3-74D0-FDBDB35DAD86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6282748-CAFC-729A-6F29-7AC2F345605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2E24C49-F229-F3FF-78A0-9827E0D81E69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C35AEB1-DC66-89E2-DEDD-9F473BF8517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01A2B7D-B933-0B29-A7C9-166EFE5D0DF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920765-5F4C-B15B-E5AB-AEA64D34B77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2E35E-72D5-769D-1661-01B4D2813F9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9B3613-1481-ACD0-4956-AA6735CD04A8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MEASUREMENT SAFETY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5164F3-6920-532E-92D7-3AB2ECEBC1E8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HOW DOES ONE GET THE MEASUREMENT?</a:t>
            </a:r>
            <a:endParaRPr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47A17E5-F60A-EE98-811E-205626A8539C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005725-86BC-13B4-39B8-3F976EA3C914}"/>
              </a:ext>
            </a:extLst>
          </p:cNvPr>
          <p:cNvGraphicFramePr>
            <a:graphicFrameLocks noGrp="1"/>
          </p:cNvGraphicFramePr>
          <p:nvPr/>
        </p:nvGraphicFramePr>
        <p:xfrm>
          <a:off x="713233" y="1773936"/>
          <a:ext cx="3340608" cy="2978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FFFFF"/>
                          </a:solidFill>
                          <a:latin typeface="Aptos"/>
                        </a:rPr>
                        <a:t>Connection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97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Voltage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Across two points (parallel)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Resistance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>
                          <a:solidFill>
                            <a:srgbClr val="182028"/>
                          </a:solidFill>
                          <a:latin typeface="Aptos"/>
                        </a:rPr>
                        <a:t>Across isolated component/path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028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>
                          <a:solidFill>
                            <a:srgbClr val="182028"/>
                          </a:solidFill>
                          <a:latin typeface="Aptos"/>
                        </a:rPr>
                        <a:t>Open path; insert meter in series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0AA158A-D444-A119-575B-F94B6ADCAE8F}"/>
              </a:ext>
            </a:extLst>
          </p:cNvPr>
          <p:cNvSpPr/>
          <p:nvPr/>
        </p:nvSpPr>
        <p:spPr>
          <a:xfrm>
            <a:off x="1325880" y="5148072"/>
            <a:ext cx="9509760" cy="71323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9BE234-D8CF-FF05-47D2-2358D7C97876}"/>
              </a:ext>
            </a:extLst>
          </p:cNvPr>
          <p:cNvSpPr/>
          <p:nvPr/>
        </p:nvSpPr>
        <p:spPr>
          <a:xfrm>
            <a:off x="1325880" y="5148072"/>
            <a:ext cx="82296" cy="71323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97840-8A6B-E937-880E-310CAB8DE8BE}"/>
              </a:ext>
            </a:extLst>
          </p:cNvPr>
          <p:cNvSpPr txBox="1"/>
          <p:nvPr/>
        </p:nvSpPr>
        <p:spPr>
          <a:xfrm>
            <a:off x="1572768" y="5393119"/>
            <a:ext cx="900684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 i="0" dirty="0">
                <a:solidFill>
                  <a:srgbClr val="17324D"/>
                </a:solidFill>
                <a:latin typeface="Aptos"/>
              </a:rPr>
              <a:t>What if my measurements are off?</a:t>
            </a:r>
            <a:endParaRPr sz="145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F63D56-C315-B556-F43B-E1FF09D681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9434766">
            <a:off x="7924579" y="234946"/>
            <a:ext cx="3561286" cy="21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70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TOLERANCE AND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What if my measurements are off?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783080"/>
            <a:ext cx="3337560" cy="35661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1783080"/>
            <a:ext cx="82296" cy="35661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194767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Component tolerance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86584"/>
            <a:ext cx="2926080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A 5% resistor may legitimately differ from its printed nominal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1783080"/>
            <a:ext cx="3337560" cy="35661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25696" y="1783080"/>
            <a:ext cx="82296" cy="35661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54296" y="194767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Instrument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386584"/>
            <a:ext cx="2926080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Resolution, accuracy, lead resistance, and reference choice affect measured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783080"/>
            <a:ext cx="3337560" cy="35661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74152" y="1783080"/>
            <a:ext cx="82296" cy="35661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194767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Meaningful deviation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386584"/>
            <a:ext cx="2926080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A fault claim needs a stable pattern larger than plausible variation and consistent with circuit behavior.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623560"/>
            <a:ext cx="635508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5726919"/>
            <a:ext cx="635508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COMPARE AGAINST A MEASURED BASELINE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08EF4-7A22-C734-41B7-5ACE30F4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FD2C0A2-E768-C63D-D369-6D6723A2D0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6075" y="1456115"/>
            <a:ext cx="6212833" cy="36781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42A6E65-A1EB-EA3B-22F4-DE7A533242F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51CB85E-D114-EDAE-F17C-8AAB7C648A0B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0AE28D-C236-E352-BF01-3A30F2FD271D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D003BDBD-0E9F-B274-6FE9-AEF8D12CBA4A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6A3C573-972C-198C-0FFB-BD2250AEA7BB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116C6F3-03B1-21D0-C652-2165AFD14625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274359-D9BE-E20C-5FE7-56BFBBF1AA81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AA1DB-57C9-752F-D1E2-86E19AF37AB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7E977-676C-C902-0DB9-139B146DB2F1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FIRST TOPOLOGY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59A9E-569D-39DD-4A1A-3FD359A5D006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CHANGES TO THE CIRCUIT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7D3AAE8-72B0-7B03-CCAA-F3DD6F7DC15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1AB4BA90-76D9-7844-A440-7902AAAC990A}"/>
              </a:ext>
            </a:extLst>
          </p:cNvPr>
          <p:cNvSpPr/>
          <p:nvPr/>
        </p:nvSpPr>
        <p:spPr>
          <a:xfrm>
            <a:off x="7100660" y="1776784"/>
            <a:ext cx="4215040" cy="461101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CF131F-15A4-211A-30B6-B9C194714FDC}"/>
              </a:ext>
            </a:extLst>
          </p:cNvPr>
          <p:cNvSpPr txBox="1"/>
          <p:nvPr/>
        </p:nvSpPr>
        <p:spPr>
          <a:xfrm>
            <a:off x="7704075" y="2025451"/>
            <a:ext cx="2795451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Your friend says: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DEA98C1-774E-354E-5CDF-3FC725AB7ADC}"/>
                  </a:ext>
                </a:extLst>
              </p:cNvPr>
              <p:cNvSpPr txBox="1"/>
              <p:nvPr/>
            </p:nvSpPr>
            <p:spPr>
              <a:xfrm>
                <a:off x="7557535" y="2580939"/>
                <a:ext cx="12135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DEA98C1-774E-354E-5CDF-3FC725AB7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535" y="2580939"/>
                <a:ext cx="1213537" cy="307777"/>
              </a:xfrm>
              <a:prstGeom prst="rect">
                <a:avLst/>
              </a:prstGeom>
              <a:blipFill>
                <a:blip r:embed="rId4"/>
                <a:stretch>
                  <a:fillRect l="-4523" r="-351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AB2F1C0-CC2E-1DEA-2300-45B7B3BA9E9B}"/>
                  </a:ext>
                </a:extLst>
              </p:cNvPr>
              <p:cNvSpPr txBox="1"/>
              <p:nvPr/>
            </p:nvSpPr>
            <p:spPr>
              <a:xfrm>
                <a:off x="9362001" y="2382292"/>
                <a:ext cx="1214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1=50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AB2F1C0-CC2E-1DEA-2300-45B7B3BA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001" y="2382292"/>
                <a:ext cx="1214884" cy="307777"/>
              </a:xfrm>
              <a:prstGeom prst="rect">
                <a:avLst/>
              </a:prstGeom>
              <a:blipFill>
                <a:blip r:embed="rId5"/>
                <a:stretch>
                  <a:fillRect l="-4523" r="-452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A011D308-3BE2-7938-9328-113BB747FF97}"/>
              </a:ext>
            </a:extLst>
          </p:cNvPr>
          <p:cNvSpPr txBox="1"/>
          <p:nvPr/>
        </p:nvSpPr>
        <p:spPr>
          <a:xfrm>
            <a:off x="7557535" y="3361942"/>
            <a:ext cx="345641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rgbClr val="182028"/>
                </a:solidFill>
                <a:latin typeface="Aptos" panose="020B0004020202020204" pitchFamily="34" charset="0"/>
              </a:rPr>
              <a:t>You measure:</a:t>
            </a:r>
            <a:endParaRPr sz="2000" b="1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9F4520-7584-C775-9DF6-A85602B5C2E2}"/>
                  </a:ext>
                </a:extLst>
              </p:cNvPr>
              <p:cNvSpPr txBox="1"/>
              <p:nvPr/>
            </p:nvSpPr>
            <p:spPr>
              <a:xfrm>
                <a:off x="9362001" y="2734828"/>
                <a:ext cx="14040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2=100 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9F4520-7584-C775-9DF6-A85602B5C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001" y="2734828"/>
                <a:ext cx="1404038" cy="307777"/>
              </a:xfrm>
              <a:prstGeom prst="rect">
                <a:avLst/>
              </a:prstGeom>
              <a:blipFill>
                <a:blip r:embed="rId6"/>
                <a:stretch>
                  <a:fillRect l="-2609" r="-217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32787273-E49E-8D72-855D-438E8469AB80}"/>
              </a:ext>
            </a:extLst>
          </p:cNvPr>
          <p:cNvSpPr/>
          <p:nvPr/>
        </p:nvSpPr>
        <p:spPr>
          <a:xfrm>
            <a:off x="2071769" y="221767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A4E6C-C306-7FEA-A74B-7279F6B393AC}"/>
              </a:ext>
            </a:extLst>
          </p:cNvPr>
          <p:cNvSpPr txBox="1"/>
          <p:nvPr/>
        </p:nvSpPr>
        <p:spPr>
          <a:xfrm>
            <a:off x="1873977" y="1932793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3F6D82-D4B5-63A3-C549-8A851A882399}"/>
              </a:ext>
            </a:extLst>
          </p:cNvPr>
          <p:cNvSpPr txBox="1"/>
          <p:nvPr/>
        </p:nvSpPr>
        <p:spPr>
          <a:xfrm>
            <a:off x="4591403" y="1968695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D85FB5-2914-7164-940C-44E9E621F92F}"/>
              </a:ext>
            </a:extLst>
          </p:cNvPr>
          <p:cNvSpPr/>
          <p:nvPr/>
        </p:nvSpPr>
        <p:spPr>
          <a:xfrm>
            <a:off x="4850842" y="2230803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772EB1-1D32-9DB9-8655-A2E1B75C9D85}"/>
              </a:ext>
            </a:extLst>
          </p:cNvPr>
          <p:cNvSpPr txBox="1"/>
          <p:nvPr/>
        </p:nvSpPr>
        <p:spPr>
          <a:xfrm>
            <a:off x="5059747" y="3649491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NODE 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43F265-E9FF-8269-8490-2AC83A44001C}"/>
              </a:ext>
            </a:extLst>
          </p:cNvPr>
          <p:cNvSpPr/>
          <p:nvPr/>
        </p:nvSpPr>
        <p:spPr>
          <a:xfrm>
            <a:off x="5319186" y="3911599"/>
            <a:ext cx="139270" cy="1392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AC7006-DEAC-302F-750E-70EF79E83E09}"/>
              </a:ext>
            </a:extLst>
          </p:cNvPr>
          <p:cNvSpPr txBox="1"/>
          <p:nvPr/>
        </p:nvSpPr>
        <p:spPr>
          <a:xfrm>
            <a:off x="1835542" y="4259004"/>
            <a:ext cx="797418" cy="1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5C90B1-42F6-2E97-3798-607F0B5C6C68}"/>
                  </a:ext>
                </a:extLst>
              </p:cNvPr>
              <p:cNvSpPr txBox="1"/>
              <p:nvPr/>
            </p:nvSpPr>
            <p:spPr>
              <a:xfrm>
                <a:off x="2114321" y="4868401"/>
                <a:ext cx="2186881" cy="879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5C90B1-42F6-2E97-3798-607F0B5C6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321" y="4868401"/>
                <a:ext cx="2186881" cy="8794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BA53BD-373D-49A8-2A6A-449A61DE1709}"/>
                  </a:ext>
                </a:extLst>
              </p:cNvPr>
              <p:cNvSpPr txBox="1"/>
              <p:nvPr/>
            </p:nvSpPr>
            <p:spPr>
              <a:xfrm>
                <a:off x="8354144" y="3835167"/>
                <a:ext cx="12944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BA53BD-373D-49A8-2A6A-449A61DE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144" y="3835167"/>
                <a:ext cx="1294457" cy="307777"/>
              </a:xfrm>
              <a:prstGeom prst="rect">
                <a:avLst/>
              </a:prstGeom>
              <a:blipFill>
                <a:blip r:embed="rId8"/>
                <a:stretch>
                  <a:fillRect l="-3756" r="-3286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B3F066-C3AF-D626-26CD-BCE511C45A0E}"/>
                  </a:ext>
                </a:extLst>
              </p:cNvPr>
              <p:cNvSpPr txBox="1"/>
              <p:nvPr/>
            </p:nvSpPr>
            <p:spPr>
              <a:xfrm>
                <a:off x="8354144" y="4223487"/>
                <a:ext cx="11709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B3F066-C3AF-D626-26CD-BCE511C45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144" y="4223487"/>
                <a:ext cx="1170962" cy="307777"/>
              </a:xfrm>
              <a:prstGeom prst="rect">
                <a:avLst/>
              </a:prstGeom>
              <a:blipFill>
                <a:blip r:embed="rId9"/>
                <a:stretch>
                  <a:fillRect l="-4145" r="-3627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D9A115-286C-1035-3BE0-4EDE2C71C9D8}"/>
                  </a:ext>
                </a:extLst>
              </p:cNvPr>
              <p:cNvSpPr txBox="1"/>
              <p:nvPr/>
            </p:nvSpPr>
            <p:spPr>
              <a:xfrm>
                <a:off x="8354144" y="4649832"/>
                <a:ext cx="10186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D9A115-286C-1035-3BE0-4EDE2C71C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144" y="4649832"/>
                <a:ext cx="1018677" cy="307777"/>
              </a:xfrm>
              <a:prstGeom prst="rect">
                <a:avLst/>
              </a:prstGeom>
              <a:blipFill>
                <a:blip r:embed="rId10"/>
                <a:stretch>
                  <a:fillRect l="-5357" r="-4167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E605C13-9EEF-5423-37F3-13237D7BACF1}"/>
              </a:ext>
            </a:extLst>
          </p:cNvPr>
          <p:cNvSpPr txBox="1"/>
          <p:nvPr/>
        </p:nvSpPr>
        <p:spPr>
          <a:xfrm>
            <a:off x="7557535" y="5254877"/>
            <a:ext cx="345641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rgbClr val="182028"/>
                </a:solidFill>
                <a:latin typeface="Aptos" panose="020B0004020202020204" pitchFamily="34" charset="0"/>
              </a:rPr>
              <a:t>Does this check out?</a:t>
            </a:r>
            <a:endParaRPr sz="2000" b="1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701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02 | FOUNDATIONS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READY FOR THE </a:t>
            </a:r>
            <a:r>
              <a:rPr lang="en-US" sz="1050" b="1" i="0" dirty="0">
                <a:solidFill>
                  <a:srgbClr val="0F6D74"/>
                </a:solidFill>
                <a:latin typeface="Aptos"/>
              </a:rPr>
              <a:t>LAB?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1737360"/>
            <a:ext cx="102870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900" b="1" i="0" dirty="0">
                <a:solidFill>
                  <a:srgbClr val="17324D"/>
                </a:solidFill>
                <a:latin typeface="Aptos Display"/>
              </a:rPr>
              <a:t>A 5.00 V source drives 5.00 </a:t>
            </a:r>
            <a:r>
              <a:rPr sz="2900" b="1" i="0" dirty="0" err="1">
                <a:solidFill>
                  <a:srgbClr val="17324D"/>
                </a:solidFill>
                <a:latin typeface="Aptos Display"/>
              </a:rPr>
              <a:t>kohm</a:t>
            </a:r>
            <a:r>
              <a:rPr sz="2900" b="1" i="0" dirty="0">
                <a:solidFill>
                  <a:srgbClr val="17324D"/>
                </a:solidFill>
                <a:latin typeface="Aptos Display"/>
              </a:rPr>
              <a:t> total.</a:t>
            </a:r>
            <a:br>
              <a:rPr dirty="0"/>
            </a:br>
            <a:r>
              <a:rPr sz="2900" b="1" i="0" dirty="0">
                <a:solidFill>
                  <a:srgbClr val="17324D"/>
                </a:solidFill>
                <a:latin typeface="Aptos Display"/>
              </a:rPr>
              <a:t>What current should flow?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97408"/>
            <a:ext cx="8366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800" b="0" i="0" dirty="0">
                <a:solidFill>
                  <a:srgbClr val="5F6B73"/>
                </a:solidFill>
                <a:latin typeface="Aptos"/>
              </a:rPr>
              <a:t>How should you connect the ammeter to measure the current?</a:t>
            </a:r>
            <a:endParaRPr sz="1800" b="0" i="0" dirty="0">
              <a:solidFill>
                <a:srgbClr val="5F6B73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90288" y="4919472"/>
            <a:ext cx="30175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5022831"/>
            <a:ext cx="30175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NEXT</a:t>
            </a:r>
            <a:r>
              <a:rPr sz="1150" b="1" i="0" dirty="0">
                <a:solidFill>
                  <a:srgbClr val="FFFFFF"/>
                </a:solidFill>
                <a:latin typeface="Aptos"/>
              </a:rPr>
              <a:t>: </a:t>
            </a:r>
            <a:r>
              <a:rPr lang="en-US" sz="1150" b="1" i="0" dirty="0">
                <a:solidFill>
                  <a:srgbClr val="FFFFFF"/>
                </a:solidFill>
                <a:latin typeface="Aptos"/>
              </a:rPr>
              <a:t>PARALLEL CIRCUITS &amp; POWER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1127</Words>
  <Application>Microsoft Office PowerPoint</Application>
  <PresentationFormat>Widescreen</PresentationFormat>
  <Paragraphs>312</Paragraphs>
  <Slides>20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Avenir</vt:lpstr>
      <vt:lpstr>Avenir Black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4</cp:revision>
  <dcterms:created xsi:type="dcterms:W3CDTF">2013-01-27T09:14:16Z</dcterms:created>
  <dcterms:modified xsi:type="dcterms:W3CDTF">2026-09-05T00:31:33Z</dcterms:modified>
  <cp:category/>
</cp:coreProperties>
</file>