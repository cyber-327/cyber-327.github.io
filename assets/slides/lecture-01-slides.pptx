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57" r:id="rId4"/>
    <p:sldId id="273" r:id="rId5"/>
    <p:sldId id="275" r:id="rId6"/>
    <p:sldId id="310" r:id="rId7"/>
    <p:sldId id="313" r:id="rId8"/>
    <p:sldId id="311" r:id="rId9"/>
    <p:sldId id="312" r:id="rId10"/>
    <p:sldId id="270" r:id="rId11"/>
    <p:sldId id="272" r:id="rId12"/>
    <p:sldId id="261" r:id="rId13"/>
    <p:sldId id="262" r:id="rId14"/>
    <p:sldId id="263" r:id="rId15"/>
    <p:sldId id="264" r:id="rId16"/>
    <p:sldId id="265" r:id="rId17"/>
    <p:sldId id="306" r:id="rId18"/>
    <p:sldId id="304" r:id="rId19"/>
    <p:sldId id="305" r:id="rId20"/>
    <p:sldId id="308" r:id="rId21"/>
    <p:sldId id="307" r:id="rId22"/>
    <p:sldId id="274" r:id="rId23"/>
    <p:sldId id="260" r:id="rId24"/>
    <p:sldId id="2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4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13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students and state that the course begins with electrical foundations before introducing advanced communication and cybersecurity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C2C8-64C3-1726-F354-02A51152E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09AC2-0036-775D-D1D2-EDAD351C9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70FA2-4D34-5FAF-A6C0-183901AA2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F0574-4C59-31BC-8DF2-7352B2E04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8698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222E-43A4-5092-8515-F6A063CA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3ACF1-0BB9-32C3-BBEE-01D0DB823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35BA8-7BE8-9D4D-6788-876FAA4C3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BFD95-CC7A-7938-658D-EA452109E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809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3D50-5D46-F2EE-F03F-04EA1A65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6DD97-E1EB-65CA-D639-3D3B4270A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98B48-7848-D777-2DAF-74167EBA3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4A5B-4799-02EB-90F9-FDC5FD220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9797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8AF1-6AC6-F1BF-C48B-108520B4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918F9-7017-56FF-1952-B62862368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8745C-E2A9-E84A-AFC8-1F141BC5D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1B6B0-B482-5A42-3399-7D357FD06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0122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A1D6E-0420-D221-868E-A521FA80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9583F-02DA-FE2B-41F3-FB58CA34D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E3D46-ED46-52B2-9B66-FC897117E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9198B-7245-7C6B-E7F3-617C756F8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56120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70CF-0910-17F0-9402-5A55138A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1C1F3-CB80-5A7A-0836-46C514F0E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73718-35FB-A7C3-55E1-81D4BB03B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274C1-EA25-9D51-0184-6F04A23C1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717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5C7C-32FE-AD03-6E8B-DCC8A41C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09A64-942D-5729-596A-3FA1F9689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73B75-7DC6-D5ED-AC97-EC959A420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95EE9-62D7-E059-6993-E5C51F3F1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7214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78B2F-3671-06AC-2F49-D040347F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80F86-6126-1CD4-54BC-3D83FA3BA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D916A-16A5-EC0A-ED99-8C3E397BF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64091-3469-5132-C7FA-35A9C0364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94912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A617-463B-DADC-8A72-16186050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51588-162A-C260-56A1-A5CC526CA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0DEFF-B4F8-76ED-27C3-12A1EFBCC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the course overview under five minutes. The 70/30 balance is a semester target, not a quota for each meeting.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778D4-1265-1016-84D9-A92F54FE4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8283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A40A-F335-7343-CF03-338C0E50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14CF7-B940-DB08-862A-38F1C2B15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43BB1-ECF4-4BD8-9D92-7AD0A194F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EC094-FA33-AC45-6AC1-4BF2B65B5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2311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E1C1-BB59-1D24-7F62-9B8C733C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62B1C-85DC-50E1-2297-04589301C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E48C7-1A22-EF21-A97C-8C390E3CC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Connect power to the current-limited bench supply. No calculation is required yet.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E7C9F-E4B5-F6DA-8FD2-4BE1FE8BE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27794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A7C7-E8B8-F4DC-DBDB-84BC61CE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AEA8B-71DD-3401-803E-CC768ABC8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38C7E-DBF1-CBE6-3D6E-96305574B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DB0A0-4E3D-9949-25E4-79A5BEBFA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2711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E4C1-38E3-ABC7-1635-0A9316D5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BFA1F-FA17-BB14-6FCC-42A7F14CD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A34C4-29D7-8BF8-6C23-622234642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5BE9C-0892-7373-39B7-264B39621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28400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0778F-1583-71F4-2E12-569F26CE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0D9AB-B198-CAD7-E735-E581DDFAB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48495-8A9B-D2B8-0006-FD2683043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8C2DA-36F8-940C-70EB-251A2369B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7437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898A-5B67-C544-68CD-3641532B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98ECF-B915-A546-BDC0-63451FFA7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98FA0-8050-B69B-9CBB-D67E8C2D2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6493D-1BC6-874F-A1C2-CAB0A8D5B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670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the physical demonstration. Trace the loop before enabling power, then compare open-switch and closed-switch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dirty="0"/>
              <a:t>open path prevents sustained current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9EB0BC"/>
                </a:solidFill>
                <a:latin typeface="Aptos"/>
              </a:rPr>
              <a:t>LECTURE 01 | FOUNDATIONS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62C6C8"/>
                </a:solidFill>
                <a:latin typeface="Aptos"/>
              </a:rPr>
              <a:t>CYBER 327  /  LECTURE 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975105"/>
            <a:ext cx="996696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Avenir Black" panose="020B0803020203020204" pitchFamily="34" charset="0"/>
              </a:rPr>
              <a:t>WELCOME TO </a:t>
            </a:r>
          </a:p>
          <a:p>
            <a:pPr algn="l"/>
            <a:r>
              <a:rPr lang="en-US" sz="4000" b="1" i="0" dirty="0">
                <a:solidFill>
                  <a:srgbClr val="FFFFFF"/>
                </a:solidFill>
                <a:latin typeface="Avenir Black" panose="020B0803020203020204" pitchFamily="34" charset="0"/>
              </a:rPr>
              <a:t>DIGITAL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0" i="0" dirty="0">
                <a:solidFill>
                  <a:srgbClr val="D6E1E7"/>
                </a:solidFill>
                <a:latin typeface="Avenir Next LT Pro" panose="020B0504020202020204" pitchFamily="34" charset="0"/>
              </a:rPr>
              <a:t>COURSE INTRODUCTION AND ELECTRICAL FOUNDATIONS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SEP 02,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881FD-BCB3-ACD6-AA7C-FA73ACE3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99FF7-56C6-3DD1-2653-6EBC23A080A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3EE3F97A-62E6-7E6F-310F-EADF5432E7F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7D16CA9-0F5D-89E1-6FB5-9B514F1BAB6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B5EAC24-CBCF-EED8-34D5-AF38B5E821F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BED247C-8360-FFF7-5E9A-028A2B31344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6AA0FC9-D27B-8560-C19B-0AE812E44719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884328-5E17-CA65-08E3-BF0694CB3104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64BA5-190C-52AE-4419-45C3CEFD031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4D878-5B34-E729-7DC5-2C36C19CFAA3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PRELIMINARIES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DE49D-5064-24A8-AC18-5F23FAD9BD61}"/>
              </a:ext>
            </a:extLst>
          </p:cNvPr>
          <p:cNvSpPr txBox="1"/>
          <p:nvPr/>
        </p:nvSpPr>
        <p:spPr>
          <a:xfrm>
            <a:off x="594360" y="749808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JERSON FRANCIA</a:t>
            </a:r>
            <a:endParaRPr sz="36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D936C61-5AFE-2F7F-878D-E9F2D3B37E38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AF0C4D4-6BE2-3776-9B83-785F43D9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09"/>
          <a:stretch>
            <a:fillRect/>
          </a:stretch>
        </p:blipFill>
        <p:spPr>
          <a:xfrm>
            <a:off x="3570604" y="2527459"/>
            <a:ext cx="2627923" cy="42476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0F2A437-DFA4-E04B-FF66-2B92890B8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62" y="1765059"/>
            <a:ext cx="2831069" cy="4247640"/>
          </a:xfrm>
          <a:prstGeom prst="rect">
            <a:avLst/>
          </a:prstGeom>
        </p:spPr>
      </p:pic>
      <p:pic>
        <p:nvPicPr>
          <p:cNvPr id="32" name="Picture 31" descr="Philippines | History, Map, Flag, Population, Capital, &amp; Facts | Britannica">
            <a:extLst>
              <a:ext uri="{FF2B5EF4-FFF2-40B4-BE49-F238E27FC236}">
                <a16:creationId xmlns:a16="http://schemas.microsoft.com/office/drawing/2014/main" id="{9965F08B-89AB-A17A-36DE-80039A78A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910" y="1444752"/>
            <a:ext cx="2885090" cy="1442545"/>
          </a:xfrm>
          <a:prstGeom prst="rect">
            <a:avLst/>
          </a:prstGeom>
        </p:spPr>
      </p:pic>
      <p:pic>
        <p:nvPicPr>
          <p:cNvPr id="33" name="Picture 32" descr="What Is Pickleball? - The Complete History of America's Fastest-Growing  Sport | AIM7">
            <a:extLst>
              <a:ext uri="{FF2B5EF4-FFF2-40B4-BE49-F238E27FC236}">
                <a16:creationId xmlns:a16="http://schemas.microsoft.com/office/drawing/2014/main" id="{97362AFF-7B99-F750-7915-5355EF761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764" y="2957428"/>
            <a:ext cx="2875236" cy="1916824"/>
          </a:xfrm>
          <a:prstGeom prst="rect">
            <a:avLst/>
          </a:prstGeom>
        </p:spPr>
      </p:pic>
      <p:pic>
        <p:nvPicPr>
          <p:cNvPr id="34" name="Picture 33" descr="Dota 2 Logo Icons for Gaming and Esports">
            <a:extLst>
              <a:ext uri="{FF2B5EF4-FFF2-40B4-BE49-F238E27FC236}">
                <a16:creationId xmlns:a16="http://schemas.microsoft.com/office/drawing/2014/main" id="{E4DDAABF-3DFB-27E8-1D3A-F1D31B74C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300" y="5155692"/>
            <a:ext cx="1409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6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PRELIMINARIES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dirty="0">
                <a:solidFill>
                  <a:srgbClr val="17324D"/>
                </a:solidFill>
                <a:latin typeface="Avenir Black" panose="020B0803020203020204" pitchFamily="34" charset="0"/>
              </a:rPr>
              <a:t>INTRODUCTIONS</a:t>
            </a:r>
            <a:endParaRPr sz="36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466680" y="1941282"/>
            <a:ext cx="5567591" cy="55399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153786" y="2015148"/>
            <a:ext cx="419337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/>
              </a:rPr>
              <a:t>WHAT IS YOUR NAME?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C50E6D5F-749A-84C6-48F8-0F4EF64C1184}"/>
              </a:ext>
            </a:extLst>
          </p:cNvPr>
          <p:cNvSpPr/>
          <p:nvPr/>
        </p:nvSpPr>
        <p:spPr>
          <a:xfrm>
            <a:off x="3466680" y="2651362"/>
            <a:ext cx="5567591" cy="55399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E075EC-699D-04C8-D9AC-F91B0A7990A9}"/>
              </a:ext>
            </a:extLst>
          </p:cNvPr>
          <p:cNvSpPr txBox="1"/>
          <p:nvPr/>
        </p:nvSpPr>
        <p:spPr>
          <a:xfrm>
            <a:off x="4153786" y="2725228"/>
            <a:ext cx="419337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/>
              </a:rPr>
              <a:t>WHERE IS HOME?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ounded Rectangle 24">
            <a:extLst>
              <a:ext uri="{FF2B5EF4-FFF2-40B4-BE49-F238E27FC236}">
                <a16:creationId xmlns:a16="http://schemas.microsoft.com/office/drawing/2014/main" id="{3DDA3D6C-C345-219E-8F6B-46EDE4AD5307}"/>
              </a:ext>
            </a:extLst>
          </p:cNvPr>
          <p:cNvSpPr/>
          <p:nvPr/>
        </p:nvSpPr>
        <p:spPr>
          <a:xfrm>
            <a:off x="3466680" y="3361442"/>
            <a:ext cx="5567591" cy="55399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EAE0D6-B3E5-1C78-B287-4D8B27CEA8EE}"/>
              </a:ext>
            </a:extLst>
          </p:cNvPr>
          <p:cNvSpPr txBox="1"/>
          <p:nvPr/>
        </p:nvSpPr>
        <p:spPr>
          <a:xfrm>
            <a:off x="4153786" y="3435308"/>
            <a:ext cx="4193378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/>
              </a:rPr>
              <a:t>WHAT YEAR ARE YOU?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Rounded Rectangle 24">
            <a:extLst>
              <a:ext uri="{FF2B5EF4-FFF2-40B4-BE49-F238E27FC236}">
                <a16:creationId xmlns:a16="http://schemas.microsoft.com/office/drawing/2014/main" id="{0C1CFF6E-1D72-006C-8B84-3213C97DA78F}"/>
              </a:ext>
            </a:extLst>
          </p:cNvPr>
          <p:cNvSpPr/>
          <p:nvPr/>
        </p:nvSpPr>
        <p:spPr>
          <a:xfrm>
            <a:off x="3466680" y="4133750"/>
            <a:ext cx="5567591" cy="55399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3F0DD0-0392-38D1-8CF5-7E8897727FBD}"/>
              </a:ext>
            </a:extLst>
          </p:cNvPr>
          <p:cNvSpPr txBox="1"/>
          <p:nvPr/>
        </p:nvSpPr>
        <p:spPr>
          <a:xfrm>
            <a:off x="3567965" y="4207616"/>
            <a:ext cx="536502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/>
              </a:rPr>
              <a:t>WHAT DO YOU DO TO DESTRESS?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399F0-DA62-5CDF-CDE2-8231694B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F9D6D-CBA7-41B5-8728-826729F25F6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AF0C027-CF15-50F1-D4A9-44EBC88625F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8A17CB1-A975-3955-4228-F3CF7896D0DE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BED0B01-7ECF-5ED6-902A-F95F716A45B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C0E125B-34D6-EFAA-41E7-5A32B75B58E4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D9C76CA-E3CF-B3EF-CCEB-B36675949D7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1CBAAC-22EC-1810-D6E6-C3356B48C98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72797-9566-9DC6-D35C-BD206EA2E42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38813-98D9-4C55-1E9A-BBB15BE5C0D1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7E7B0-4B3E-B07A-BC21-789620151A57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SYLLABUS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569136D-F639-B8D2-9796-9C5DA6A7134C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741B23-8162-2C98-A8C4-DF7E06C8F42A}"/>
              </a:ext>
            </a:extLst>
          </p:cNvPr>
          <p:cNvSpPr/>
          <p:nvPr/>
        </p:nvSpPr>
        <p:spPr>
          <a:xfrm>
            <a:off x="1360044" y="2584072"/>
            <a:ext cx="9198864" cy="146303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https://cyber-327.github.io/syllabus/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5D4DCCE-4DAE-BF73-D4F1-2EB519EC8ABE}"/>
              </a:ext>
            </a:extLst>
          </p:cNvPr>
          <p:cNvSpPr/>
          <p:nvPr/>
        </p:nvSpPr>
        <p:spPr>
          <a:xfrm>
            <a:off x="3182112" y="5596128"/>
            <a:ext cx="58521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6BC22D-5FB6-A5C5-0D99-D4125211F63F}"/>
              </a:ext>
            </a:extLst>
          </p:cNvPr>
          <p:cNvSpPr txBox="1"/>
          <p:nvPr/>
        </p:nvSpPr>
        <p:spPr>
          <a:xfrm>
            <a:off x="3182112" y="5699487"/>
            <a:ext cx="585216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QUESTIONS WITH THE SYLLABUS?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6371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F2E5E-471E-D86F-9708-6DE6F7E9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632667-06E9-2649-BF6A-AC8E1939511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30BCB47-4764-2131-EFE5-6373D4B396A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B12D4CC-7C9C-8842-2FC8-33934BA5E9A3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AEF54B9-52DC-B1C4-652A-BAA86CC94A1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BA12678-C6E6-8BF9-0AFA-22B696E55FB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A8C991B-F792-642E-E05A-5DAEB3B72F6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C032BA-681A-8B26-7C50-23B4D4921DC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D4FE4-CFA9-D4CE-4A94-45D7E0C856B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B39CB-596F-63DD-2EE0-815109F7354F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9A0640-B1F6-4695-B409-12F7E6E7DE9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GRADES &amp; POLICIES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0E40A0C-52C5-CA40-36DF-4E465DDFD3E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7F7E3A-56F5-13A9-9D16-7082C9A7BF13}"/>
              </a:ext>
            </a:extLst>
          </p:cNvPr>
          <p:cNvSpPr/>
          <p:nvPr/>
        </p:nvSpPr>
        <p:spPr>
          <a:xfrm>
            <a:off x="6040969" y="1581608"/>
            <a:ext cx="3953021" cy="440721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F57359-6AF0-E434-F017-99FFCCD2E39A}"/>
              </a:ext>
            </a:extLst>
          </p:cNvPr>
          <p:cNvSpPr/>
          <p:nvPr/>
        </p:nvSpPr>
        <p:spPr>
          <a:xfrm>
            <a:off x="4978355" y="1974952"/>
            <a:ext cx="82296" cy="352044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AC491-21E7-03D5-7E54-B4EB2CD57988}"/>
              </a:ext>
            </a:extLst>
          </p:cNvPr>
          <p:cNvSpPr txBox="1"/>
          <p:nvPr/>
        </p:nvSpPr>
        <p:spPr>
          <a:xfrm>
            <a:off x="6372564" y="1804871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Labs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B6518-986F-A083-7A91-2CD9106F21DA}"/>
              </a:ext>
            </a:extLst>
          </p:cNvPr>
          <p:cNvSpPr txBox="1"/>
          <p:nvPr/>
        </p:nvSpPr>
        <p:spPr>
          <a:xfrm>
            <a:off x="6372564" y="2405839"/>
            <a:ext cx="3404482" cy="1688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Venue: </a:t>
            </a:r>
            <a:r>
              <a:rPr lang="en-US" dirty="0">
                <a:solidFill>
                  <a:srgbClr val="182028"/>
                </a:solidFill>
                <a:latin typeface="Aptos"/>
              </a:rPr>
              <a:t>424 EB</a:t>
            </a:r>
            <a:endParaRPr lang="en-US" sz="1800" b="0" i="0" dirty="0">
              <a:solidFill>
                <a:srgbClr val="182028"/>
              </a:solidFill>
              <a:latin typeface="Aptos"/>
            </a:endParaRPr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Work in groups of 1-3</a:t>
            </a:r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Submit individually</a:t>
            </a:r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Reports due on the Thursday before the next lab</a:t>
            </a:r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Please be there for lab hour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AA1136C-E4B9-082A-4DD1-41DA7ABDA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13376"/>
              </p:ext>
            </p:extLst>
          </p:nvPr>
        </p:nvGraphicFramePr>
        <p:xfrm>
          <a:off x="594360" y="1874216"/>
          <a:ext cx="3721608" cy="3721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0804">
                  <a:extLst>
                    <a:ext uri="{9D8B030D-6E8A-4147-A177-3AD203B41FA5}">
                      <a16:colId xmlns:a16="http://schemas.microsoft.com/office/drawing/2014/main" val="3040897673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878214429"/>
                    </a:ext>
                  </a:extLst>
                </a:gridCol>
              </a:tblGrid>
              <a:tr h="465239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14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133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298496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105192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52675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0165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9977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Professionalism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283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2982346-1898-A953-760C-77DE190116A4}"/>
              </a:ext>
            </a:extLst>
          </p:cNvPr>
          <p:cNvSpPr txBox="1"/>
          <p:nvPr/>
        </p:nvSpPr>
        <p:spPr>
          <a:xfrm>
            <a:off x="6372564" y="4263732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Homework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E661B5-D562-F1C5-4631-0F0BB2EC7D5D}"/>
              </a:ext>
            </a:extLst>
          </p:cNvPr>
          <p:cNvSpPr txBox="1"/>
          <p:nvPr/>
        </p:nvSpPr>
        <p:spPr>
          <a:xfrm>
            <a:off x="6372564" y="4744010"/>
            <a:ext cx="3404482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Due every other Tuesday</a:t>
            </a:r>
          </a:p>
        </p:txBody>
      </p:sp>
    </p:spTree>
    <p:extLst>
      <p:ext uri="{BB962C8B-B14F-4D97-AF65-F5344CB8AC3E}">
        <p14:creationId xmlns:p14="http://schemas.microsoft.com/office/powerpoint/2010/main" val="241903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7DEE6-3580-8445-464D-735AE916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9F4C81-AE76-84EF-97EC-3E22D23EFA1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C7B7B5F-A87F-6F7C-4E2B-A44DC6D1BD1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BEB3437-F99A-613C-CDB9-7B3581080D6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1B7277C-189F-2D0A-C9CD-51F20331FEF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8A65C3-8666-E004-2220-5103792F2D1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109B68E-6636-5DD5-2A2D-A73A825EE1E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513066C-570F-8B47-753E-70E482660A0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BE88A-2E88-BC4B-B85F-ECC81450D7E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4EE7E-2C9E-4F18-F186-791A2260E5C6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CD0E5-AFDB-8E5F-1AEC-15EE57B889FC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GRADES &amp; POLICIES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D05E4C9-1E4E-A568-9EEB-D8129AF1E40C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34D5530-8C54-D714-B37D-8440CE5F7163}"/>
              </a:ext>
            </a:extLst>
          </p:cNvPr>
          <p:cNvSpPr/>
          <p:nvPr/>
        </p:nvSpPr>
        <p:spPr>
          <a:xfrm>
            <a:off x="6040969" y="1581608"/>
            <a:ext cx="3953021" cy="440721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BD4FDD-E7DE-2B4B-79F7-9FAA1E505F45}"/>
              </a:ext>
            </a:extLst>
          </p:cNvPr>
          <p:cNvSpPr/>
          <p:nvPr/>
        </p:nvSpPr>
        <p:spPr>
          <a:xfrm>
            <a:off x="4978355" y="1974952"/>
            <a:ext cx="82296" cy="352044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465C1-2929-B843-7D38-702CAC03896B}"/>
              </a:ext>
            </a:extLst>
          </p:cNvPr>
          <p:cNvSpPr txBox="1"/>
          <p:nvPr/>
        </p:nvSpPr>
        <p:spPr>
          <a:xfrm>
            <a:off x="6372564" y="1804871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Extension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96A082-448F-5E48-14C9-8BFC1CB5196A}"/>
              </a:ext>
            </a:extLst>
          </p:cNvPr>
          <p:cNvSpPr txBox="1"/>
          <p:nvPr/>
        </p:nvSpPr>
        <p:spPr>
          <a:xfrm>
            <a:off x="6372564" y="2405839"/>
            <a:ext cx="3404482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Everyone has 4 </a:t>
            </a:r>
            <a:r>
              <a:rPr lang="en-US" b="1" dirty="0"/>
              <a:t>extension credits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82028"/>
                </a:solidFill>
                <a:latin typeface="Aptos"/>
              </a:rPr>
              <a:t>1 credit = </a:t>
            </a:r>
            <a:r>
              <a:rPr lang="en-US" sz="1800" b="1" i="0">
                <a:solidFill>
                  <a:srgbClr val="182028"/>
                </a:solidFill>
                <a:latin typeface="Aptos"/>
              </a:rPr>
              <a:t>1 calendar </a:t>
            </a:r>
            <a:r>
              <a:rPr lang="en-US" sz="1800" b="1" i="0" dirty="0">
                <a:solidFill>
                  <a:srgbClr val="182028"/>
                </a:solidFill>
                <a:latin typeface="Aptos"/>
              </a:rPr>
              <a:t>day extension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82028"/>
                </a:solidFill>
                <a:latin typeface="Aptos"/>
              </a:rPr>
              <a:t>Max 2 credits on 1 assignment</a:t>
            </a:r>
            <a:endParaRPr lang="en-US" sz="1800" i="0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182028"/>
                </a:solidFill>
                <a:latin typeface="Aptos"/>
              </a:rPr>
              <a:t>Late</a:t>
            </a:r>
            <a:r>
              <a:rPr lang="en-US" dirty="0">
                <a:solidFill>
                  <a:srgbClr val="182028"/>
                </a:solidFill>
                <a:latin typeface="Aptos"/>
              </a:rPr>
              <a:t> = 50% cap</a:t>
            </a:r>
            <a:endParaRPr lang="en-US" sz="1800" i="0" dirty="0">
              <a:solidFill>
                <a:srgbClr val="182028"/>
              </a:solidFill>
              <a:latin typeface="Aptos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DA1229A-1AAD-91EF-0E5B-C20EFDB56645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874216"/>
          <a:ext cx="3721608" cy="3721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0804">
                  <a:extLst>
                    <a:ext uri="{9D8B030D-6E8A-4147-A177-3AD203B41FA5}">
                      <a16:colId xmlns:a16="http://schemas.microsoft.com/office/drawing/2014/main" val="3040897673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878214429"/>
                    </a:ext>
                  </a:extLst>
                </a:gridCol>
              </a:tblGrid>
              <a:tr h="465239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14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133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298496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105192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52675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0165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9977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Professionalism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283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E5C461E-7097-2B37-C6DA-B9FAD916B21D}"/>
              </a:ext>
            </a:extLst>
          </p:cNvPr>
          <p:cNvSpPr txBox="1"/>
          <p:nvPr/>
        </p:nvSpPr>
        <p:spPr>
          <a:xfrm>
            <a:off x="6372564" y="3698005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Revision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120099-5847-1045-D2AE-3EC331269094}"/>
              </a:ext>
            </a:extLst>
          </p:cNvPr>
          <p:cNvSpPr txBox="1"/>
          <p:nvPr/>
        </p:nvSpPr>
        <p:spPr>
          <a:xfrm>
            <a:off x="6372564" y="4178283"/>
            <a:ext cx="3404482" cy="1688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Everyone has 2 revision credits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Allows you to revise an assignment to recover any lost points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Must be used on a submitted work</a:t>
            </a:r>
            <a:endParaRPr lang="en-US" sz="18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5EB19C-B705-9E70-F604-7485E87EE4F8}"/>
              </a:ext>
            </a:extLst>
          </p:cNvPr>
          <p:cNvSpPr txBox="1"/>
          <p:nvPr/>
        </p:nvSpPr>
        <p:spPr>
          <a:xfrm>
            <a:off x="5941089" y="6243662"/>
            <a:ext cx="6114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*Exceptional circumstances are handled separately</a:t>
            </a:r>
          </a:p>
        </p:txBody>
      </p:sp>
    </p:spTree>
    <p:extLst>
      <p:ext uri="{BB962C8B-B14F-4D97-AF65-F5344CB8AC3E}">
        <p14:creationId xmlns:p14="http://schemas.microsoft.com/office/powerpoint/2010/main" val="956364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270A4-66BA-5AE5-0F2B-F863B9D2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82B34-23F7-31A8-66F9-76AF1CD320F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1D1057C-E553-BC24-CD77-40DB49FDF9D3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5F4AA28-FEC5-79D1-8937-E8A14E165D7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7C93510-F91E-B2D9-B4E1-44A9A6BD07F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D19684D-C866-610A-08DF-F79DBDFA359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D616EF2-1DAA-1EE6-1B9D-5DFA8906BFA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059BF5-F781-3BF6-51EC-F9FE37F8950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D35C9-1351-FD11-4EE3-0CEA5545860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FFD5B-241A-E176-60B8-807B1AD298FB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AD16E-F8B0-9AB9-5829-F2673C2AB277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GRADES &amp; POLICIES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D0645AC-B3AF-7F7B-4AF6-B00709FAD7A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1674AB-9693-2153-A53E-2F9ECDCEB10F}"/>
              </a:ext>
            </a:extLst>
          </p:cNvPr>
          <p:cNvSpPr/>
          <p:nvPr/>
        </p:nvSpPr>
        <p:spPr>
          <a:xfrm>
            <a:off x="6040969" y="1581608"/>
            <a:ext cx="3953021" cy="440721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A6EA2F-CB6B-121A-DDE3-9946E72E04CC}"/>
              </a:ext>
            </a:extLst>
          </p:cNvPr>
          <p:cNvSpPr/>
          <p:nvPr/>
        </p:nvSpPr>
        <p:spPr>
          <a:xfrm>
            <a:off x="4978355" y="1974952"/>
            <a:ext cx="82296" cy="352044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7ECA6-DCF3-8008-6D33-BC2BA5E20500}"/>
              </a:ext>
            </a:extLst>
          </p:cNvPr>
          <p:cNvSpPr txBox="1"/>
          <p:nvPr/>
        </p:nvSpPr>
        <p:spPr>
          <a:xfrm>
            <a:off x="6372564" y="1804871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Quiz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8E1FC3-93D9-C7BC-7C27-6EAC79A9083D}"/>
              </a:ext>
            </a:extLst>
          </p:cNvPr>
          <p:cNvSpPr txBox="1"/>
          <p:nvPr/>
        </p:nvSpPr>
        <p:spPr>
          <a:xfrm>
            <a:off x="6372564" y="2405839"/>
            <a:ext cx="3404482" cy="332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182028"/>
                </a:solidFill>
                <a:latin typeface="Aptos"/>
              </a:rPr>
              <a:t>Occurs </a:t>
            </a:r>
            <a:r>
              <a:rPr lang="en-US" b="1" dirty="0">
                <a:solidFill>
                  <a:srgbClr val="182028"/>
                </a:solidFill>
                <a:latin typeface="Aptos"/>
              </a:rPr>
              <a:t>at the start of Wednesday lecture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182028"/>
                </a:solidFill>
                <a:latin typeface="Aptos"/>
              </a:rPr>
              <a:t>5-8 minutes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Open book, closed neighbor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12 quizzes throughout semester, but </a:t>
            </a:r>
            <a:r>
              <a:rPr lang="en-US" b="1" dirty="0">
                <a:solidFill>
                  <a:srgbClr val="182028"/>
                </a:solidFill>
                <a:latin typeface="Aptos"/>
              </a:rPr>
              <a:t>2 lowest scores will be dropped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82028"/>
                </a:solidFill>
                <a:latin typeface="Aptos"/>
              </a:rPr>
              <a:t>Missed quizzes are zero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i="0" dirty="0">
              <a:solidFill>
                <a:srgbClr val="182028"/>
              </a:solidFill>
              <a:latin typeface="Aptos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121E546-A9EC-BDD8-F3A1-90B881079C55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874216"/>
          <a:ext cx="3721608" cy="3721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0804">
                  <a:extLst>
                    <a:ext uri="{9D8B030D-6E8A-4147-A177-3AD203B41FA5}">
                      <a16:colId xmlns:a16="http://schemas.microsoft.com/office/drawing/2014/main" val="3040897673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878214429"/>
                    </a:ext>
                  </a:extLst>
                </a:gridCol>
              </a:tblGrid>
              <a:tr h="465239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14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133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298496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105192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52675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0165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9977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Professionalism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283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1CD1AD7-1EFE-F040-9127-FF8FBFB62520}"/>
              </a:ext>
            </a:extLst>
          </p:cNvPr>
          <p:cNvSpPr txBox="1"/>
          <p:nvPr/>
        </p:nvSpPr>
        <p:spPr>
          <a:xfrm>
            <a:off x="5941089" y="6243662"/>
            <a:ext cx="6114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*Exceptional circumstances are handled separately</a:t>
            </a:r>
          </a:p>
        </p:txBody>
      </p:sp>
    </p:spTree>
    <p:extLst>
      <p:ext uri="{BB962C8B-B14F-4D97-AF65-F5344CB8AC3E}">
        <p14:creationId xmlns:p14="http://schemas.microsoft.com/office/powerpoint/2010/main" val="91109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B9C4A-64A8-0BA0-A1CC-43293ED5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71BA1C-F009-E559-524B-8ECE2F7882B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76FC656-24C9-CB38-038B-9C522802610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60CB366-FA94-49A6-C555-746A7F45BA3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2DA2EF7-5644-13CE-7F68-03C08D504AA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17D9F1B-5B5B-C6AF-53BB-11978248DD3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F5A15AE-AB1A-A6A4-664F-DF8FBE170FD8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85EE8C-8D0A-4BE8-F455-B1AE699DE054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79B8F-CAF5-F707-9716-01F18CFDFB8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4D5C8-7E08-5F75-DE8F-985F30E96872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ABC52C-CC03-D9DC-AB75-76D0530E003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GRADES &amp; POLICIES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E6C401C-E120-2229-EB29-7541D68CE58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A053C7-54F8-8C9D-8CA2-2B46DD21E6A1}"/>
              </a:ext>
            </a:extLst>
          </p:cNvPr>
          <p:cNvSpPr/>
          <p:nvPr/>
        </p:nvSpPr>
        <p:spPr>
          <a:xfrm>
            <a:off x="6040969" y="1581608"/>
            <a:ext cx="3953021" cy="440721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2CA096-EC95-8AE3-0A29-CB3B2434CF70}"/>
              </a:ext>
            </a:extLst>
          </p:cNvPr>
          <p:cNvSpPr/>
          <p:nvPr/>
        </p:nvSpPr>
        <p:spPr>
          <a:xfrm>
            <a:off x="4978355" y="1974952"/>
            <a:ext cx="82296" cy="352044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E4241-8B4C-2C10-6A16-62A0487DE165}"/>
              </a:ext>
            </a:extLst>
          </p:cNvPr>
          <p:cNvSpPr txBox="1"/>
          <p:nvPr/>
        </p:nvSpPr>
        <p:spPr>
          <a:xfrm>
            <a:off x="6372564" y="1804871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Midterm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0D108-686B-210D-B8F3-4612C59872D5}"/>
              </a:ext>
            </a:extLst>
          </p:cNvPr>
          <p:cNvSpPr txBox="1"/>
          <p:nvPr/>
        </p:nvSpPr>
        <p:spPr>
          <a:xfrm>
            <a:off x="6372564" y="2405839"/>
            <a:ext cx="3404482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2 midterm exams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182028"/>
                </a:solidFill>
                <a:latin typeface="Aptos"/>
              </a:rPr>
              <a:t>Open-book, closed neighbor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Midterm 1: October 9-11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rgbClr val="182028"/>
                </a:solidFill>
                <a:latin typeface="Aptos"/>
              </a:rPr>
              <a:t>Midterm 2: November 13-15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451B7DA-B8F6-163E-7CA0-085FD5DA0595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874216"/>
          <a:ext cx="3721608" cy="3721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0804">
                  <a:extLst>
                    <a:ext uri="{9D8B030D-6E8A-4147-A177-3AD203B41FA5}">
                      <a16:colId xmlns:a16="http://schemas.microsoft.com/office/drawing/2014/main" val="3040897673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878214429"/>
                    </a:ext>
                  </a:extLst>
                </a:gridCol>
              </a:tblGrid>
              <a:tr h="465239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14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133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298496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105192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52675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0165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9977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Professionalism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283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6A74B6B3-2D23-4DA6-7882-B8EA7363F421}"/>
              </a:ext>
            </a:extLst>
          </p:cNvPr>
          <p:cNvSpPr txBox="1"/>
          <p:nvPr/>
        </p:nvSpPr>
        <p:spPr>
          <a:xfrm>
            <a:off x="6372564" y="4074815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Final Exam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CB8B28-4BA8-39D1-B202-4C9CFBA0544A}"/>
              </a:ext>
            </a:extLst>
          </p:cNvPr>
          <p:cNvSpPr txBox="1"/>
          <p:nvPr/>
        </p:nvSpPr>
        <p:spPr>
          <a:xfrm>
            <a:off x="6372564" y="4555093"/>
            <a:ext cx="3404482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In person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Closed book</a:t>
            </a:r>
            <a:endParaRPr lang="en-US" sz="1800" b="0" i="0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Date &amp; Time TBA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6188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EDEC5-7291-14A8-4FCF-0F191406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EE56B5-1512-8CBC-2126-DCBA69AD04B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0185C6A-17CE-F882-65D1-45C2AACB07B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A81B1E0-3E45-BC41-87D0-427055F9DA2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C033DC-E62D-A52B-7CF1-D89A8E71F93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0F2A00D-2084-84AF-60A2-6C336D2F227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91FF9A7-02EB-C223-FE78-D30D37F9115D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5D2764-E35C-1E2B-502E-894D201266F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65FDB-7C28-B623-5DF9-E2ED863FE94D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A419B-EEC6-2BB5-C83B-502180BC7E32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COURSE </a:t>
            </a:r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INFORMATION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68CD5-D44D-1CD0-D9D5-93865CC0898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GRADES &amp; POLICIES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AD1F6A6-563C-C728-85C4-7888CE47809A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7BE5549-0668-8412-4F6E-873535D62C1E}"/>
              </a:ext>
            </a:extLst>
          </p:cNvPr>
          <p:cNvSpPr/>
          <p:nvPr/>
        </p:nvSpPr>
        <p:spPr>
          <a:xfrm>
            <a:off x="6040969" y="1581608"/>
            <a:ext cx="3953021" cy="440721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D7D9A-5D21-2CB0-DCB7-EE514B2D6487}"/>
              </a:ext>
            </a:extLst>
          </p:cNvPr>
          <p:cNvSpPr/>
          <p:nvPr/>
        </p:nvSpPr>
        <p:spPr>
          <a:xfrm>
            <a:off x="4978355" y="1974952"/>
            <a:ext cx="82296" cy="352044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E32B4-8CA1-5A7D-A869-B3C989D2B610}"/>
              </a:ext>
            </a:extLst>
          </p:cNvPr>
          <p:cNvSpPr txBox="1"/>
          <p:nvPr/>
        </p:nvSpPr>
        <p:spPr>
          <a:xfrm>
            <a:off x="6372563" y="1804871"/>
            <a:ext cx="33240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Excellence Project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FBD0CF-71F4-E283-0B9E-2E5C2A77BF60}"/>
              </a:ext>
            </a:extLst>
          </p:cNvPr>
          <p:cNvSpPr txBox="1"/>
          <p:nvPr/>
        </p:nvSpPr>
        <p:spPr>
          <a:xfrm>
            <a:off x="6372564" y="2405839"/>
            <a:ext cx="340448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be submitted anytime this semester</a:t>
            </a:r>
            <a:endParaRPr lang="en-US" sz="1800" i="0" dirty="0">
              <a:solidFill>
                <a:srgbClr val="182028"/>
              </a:solidFill>
              <a:latin typeface="Aptos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38A7B87-6F01-914E-D65E-F66FFA14C5B8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874216"/>
          <a:ext cx="3721608" cy="37219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0804">
                  <a:extLst>
                    <a:ext uri="{9D8B030D-6E8A-4147-A177-3AD203B41FA5}">
                      <a16:colId xmlns:a16="http://schemas.microsoft.com/office/drawing/2014/main" val="3040897673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878214429"/>
                    </a:ext>
                  </a:extLst>
                </a:gridCol>
              </a:tblGrid>
              <a:tr h="465239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14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133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298496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105192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Midterms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52675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0165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997707"/>
                  </a:ext>
                </a:extLst>
              </a:tr>
              <a:tr h="465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Professionalism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8283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5508179-7B3E-E780-2BCD-6FF48E699965}"/>
              </a:ext>
            </a:extLst>
          </p:cNvPr>
          <p:cNvSpPr txBox="1"/>
          <p:nvPr/>
        </p:nvSpPr>
        <p:spPr>
          <a:xfrm>
            <a:off x="6372564" y="4074815"/>
            <a:ext cx="29260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7324D"/>
                </a:solidFill>
                <a:latin typeface="Aptos"/>
              </a:rPr>
              <a:t>Professionalism</a:t>
            </a:r>
            <a:endParaRPr sz="2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D2E99C-715E-CF5C-EA87-9FDAFCEC6286}"/>
              </a:ext>
            </a:extLst>
          </p:cNvPr>
          <p:cNvSpPr txBox="1"/>
          <p:nvPr/>
        </p:nvSpPr>
        <p:spPr>
          <a:xfrm>
            <a:off x="6372564" y="4555093"/>
            <a:ext cx="3404482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Attendance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Attitude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Participation</a:t>
            </a:r>
          </a:p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1911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D9816-96E9-3E6C-7949-B71ECAB8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5F95C-2160-F4E0-625B-11FD9151C3D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B7EC8E8-3348-0637-61A4-B17797E9BC99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45963F-E95F-70A4-D1D1-3ABC6352A4F7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A53C378-1189-ED1C-4494-8BDDBD83C7B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D1273BA-ACD2-A1FE-14CF-FA850644599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DD6F40F-A63F-EA86-FC3C-3CADBE6D616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452215-4946-3069-7A83-760A0A3B01E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C4097-3569-7BE4-DAF5-A8FF7839F07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EAB93-0027-DEE2-B458-F8F3057A090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THE FOCUS OF THIS CLASS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322E1-FB34-5E77-9A8F-02A3DC6FB51D}"/>
              </a:ext>
            </a:extLst>
          </p:cNvPr>
          <p:cNvSpPr txBox="1"/>
          <p:nvPr/>
        </p:nvSpPr>
        <p:spPr>
          <a:xfrm>
            <a:off x="594360" y="749808"/>
            <a:ext cx="563642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DIGICOMM, IN A NUTSHELL</a:t>
            </a:r>
            <a:endParaRPr lang="en-US"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9C79003-8841-1965-3DFF-5C87A8E1F3D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1B97C5-B078-22F9-C3A9-07AFE8BE2E92}"/>
              </a:ext>
            </a:extLst>
          </p:cNvPr>
          <p:cNvSpPr/>
          <p:nvPr/>
        </p:nvSpPr>
        <p:spPr>
          <a:xfrm>
            <a:off x="6230782" y="743877"/>
            <a:ext cx="1143000" cy="113632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0CB1D-A343-A5EE-632E-640F6381DF69}"/>
              </a:ext>
            </a:extLst>
          </p:cNvPr>
          <p:cNvSpPr/>
          <p:nvPr/>
        </p:nvSpPr>
        <p:spPr>
          <a:xfrm>
            <a:off x="3194773" y="3560089"/>
            <a:ext cx="48634" cy="198253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C6250-086B-AA18-A526-8B081A17E99B}"/>
              </a:ext>
            </a:extLst>
          </p:cNvPr>
          <p:cNvSpPr txBox="1"/>
          <p:nvPr/>
        </p:nvSpPr>
        <p:spPr>
          <a:xfrm>
            <a:off x="400979" y="3510788"/>
            <a:ext cx="2616541" cy="1982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200" b="1" i="0" dirty="0">
                <a:solidFill>
                  <a:srgbClr val="17324D"/>
                </a:solidFill>
                <a:latin typeface="Aptos"/>
              </a:rPr>
              <a:t>FASTER</a:t>
            </a:r>
          </a:p>
          <a:p>
            <a:pPr algn="r">
              <a:lnSpc>
                <a:spcPct val="150000"/>
              </a:lnSpc>
            </a:pPr>
            <a:r>
              <a:rPr lang="en-US" sz="2200" b="1" dirty="0">
                <a:solidFill>
                  <a:srgbClr val="17324D"/>
                </a:solidFill>
                <a:latin typeface="Aptos"/>
              </a:rPr>
              <a:t>MORE RELIABLY</a:t>
            </a:r>
          </a:p>
          <a:p>
            <a:pPr algn="r">
              <a:lnSpc>
                <a:spcPct val="150000"/>
              </a:lnSpc>
            </a:pPr>
            <a:r>
              <a:rPr lang="en-US" sz="2200" b="1" dirty="0">
                <a:solidFill>
                  <a:srgbClr val="17324D"/>
                </a:solidFill>
                <a:latin typeface="Aptos"/>
              </a:rPr>
              <a:t>EFFICIENTLY</a:t>
            </a:r>
          </a:p>
          <a:p>
            <a:pPr algn="r">
              <a:lnSpc>
                <a:spcPct val="150000"/>
              </a:lnSpc>
            </a:pPr>
            <a:r>
              <a:rPr lang="en-US" sz="2200" b="1" dirty="0">
                <a:solidFill>
                  <a:srgbClr val="17324D"/>
                </a:solidFill>
                <a:latin typeface="Aptos"/>
              </a:rPr>
              <a:t>SECURELY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DC455-223D-8827-8B39-FF7EC756CBF0}"/>
              </a:ext>
            </a:extLst>
          </p:cNvPr>
          <p:cNvSpPr txBox="1"/>
          <p:nvPr/>
        </p:nvSpPr>
        <p:spPr>
          <a:xfrm>
            <a:off x="3333917" y="3572523"/>
            <a:ext cx="2926080" cy="185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at a higher data rate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less errors and data loss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at a lower cost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fulfilling CIA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61A19F-E4AA-1229-C6A4-CB5FAADA1727}"/>
              </a:ext>
            </a:extLst>
          </p:cNvPr>
          <p:cNvSpPr/>
          <p:nvPr/>
        </p:nvSpPr>
        <p:spPr>
          <a:xfrm>
            <a:off x="9429323" y="776870"/>
            <a:ext cx="1122853" cy="1136329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8818923-EFE1-B543-C90B-94FB161944C2}"/>
              </a:ext>
            </a:extLst>
          </p:cNvPr>
          <p:cNvSpPr/>
          <p:nvPr/>
        </p:nvSpPr>
        <p:spPr>
          <a:xfrm>
            <a:off x="378622" y="2385560"/>
            <a:ext cx="58521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AC87E-C3AE-D758-837A-E17B74E1E83B}"/>
              </a:ext>
            </a:extLst>
          </p:cNvPr>
          <p:cNvSpPr txBox="1"/>
          <p:nvPr/>
        </p:nvSpPr>
        <p:spPr>
          <a:xfrm>
            <a:off x="378622" y="2423517"/>
            <a:ext cx="585216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  <a:latin typeface="Aptos"/>
              </a:rPr>
              <a:t>HOW CAN WE SEND DATA FROM A TO B: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28E21747-4061-6669-2E1C-F95465665387}"/>
              </a:ext>
            </a:extLst>
          </p:cNvPr>
          <p:cNvSpPr/>
          <p:nvPr/>
        </p:nvSpPr>
        <p:spPr>
          <a:xfrm>
            <a:off x="6601767" y="2365883"/>
            <a:ext cx="5353511" cy="1063103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C5B817-EF50-03CE-8699-4128CFE8EFD6}"/>
              </a:ext>
            </a:extLst>
          </p:cNvPr>
          <p:cNvSpPr txBox="1"/>
          <p:nvPr/>
        </p:nvSpPr>
        <p:spPr>
          <a:xfrm>
            <a:off x="6423475" y="2575890"/>
            <a:ext cx="5613429" cy="65248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  <a:latin typeface="Aptos"/>
              </a:rPr>
              <a:t>TO UNDERSTAND THESE ISSUES,</a:t>
            </a:r>
          </a:p>
          <a:p>
            <a:pPr algn="ctr"/>
            <a:r>
              <a:rPr lang="en-US" sz="2000" b="1" i="0" dirty="0">
                <a:solidFill>
                  <a:srgbClr val="FFFFFF"/>
                </a:solidFill>
                <a:latin typeface="Aptos"/>
              </a:rPr>
              <a:t>WE MUS</a:t>
            </a:r>
            <a:r>
              <a:rPr lang="en-US" sz="2000" b="1" dirty="0">
                <a:solidFill>
                  <a:srgbClr val="FFFFFF"/>
                </a:solidFill>
                <a:latin typeface="Aptos"/>
              </a:rPr>
              <a:t>T FIRST UNDERSTAND: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A8074B-D7BD-B3E3-FD1C-7CE8D22AB866}"/>
              </a:ext>
            </a:extLst>
          </p:cNvPr>
          <p:cNvSpPr txBox="1"/>
          <p:nvPr/>
        </p:nvSpPr>
        <p:spPr>
          <a:xfrm>
            <a:off x="6660551" y="1134430"/>
            <a:ext cx="433586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E46466-4059-3D03-585C-90B7BE5A3EC0}"/>
              </a:ext>
            </a:extLst>
          </p:cNvPr>
          <p:cNvSpPr txBox="1"/>
          <p:nvPr/>
        </p:nvSpPr>
        <p:spPr>
          <a:xfrm>
            <a:off x="9855927" y="1134430"/>
            <a:ext cx="433586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B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6DFA4D-8301-8536-1D7B-9A5792821496}"/>
              </a:ext>
            </a:extLst>
          </p:cNvPr>
          <p:cNvCxnSpPr/>
          <p:nvPr/>
        </p:nvCxnSpPr>
        <p:spPr>
          <a:xfrm>
            <a:off x="7666892" y="1345034"/>
            <a:ext cx="1467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7DE617A-FE12-C090-6C5A-B496E02A8CCF}"/>
              </a:ext>
            </a:extLst>
          </p:cNvPr>
          <p:cNvSpPr txBox="1"/>
          <p:nvPr/>
        </p:nvSpPr>
        <p:spPr>
          <a:xfrm>
            <a:off x="7303544" y="3510788"/>
            <a:ext cx="1220472" cy="210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250000"/>
              </a:lnSpc>
            </a:pPr>
            <a:r>
              <a:rPr lang="en-US" sz="2200" b="1" dirty="0">
                <a:solidFill>
                  <a:srgbClr val="17324D"/>
                </a:solidFill>
                <a:latin typeface="Aptos"/>
              </a:rPr>
              <a:t>WHAT?</a:t>
            </a:r>
          </a:p>
          <a:p>
            <a:pPr algn="r">
              <a:lnSpc>
                <a:spcPct val="200000"/>
              </a:lnSpc>
            </a:pPr>
            <a:endParaRPr lang="en-US" sz="2200" b="1" i="0" dirty="0">
              <a:solidFill>
                <a:srgbClr val="17324D"/>
              </a:solidFill>
              <a:latin typeface="Aptos"/>
            </a:endParaRPr>
          </a:p>
          <a:p>
            <a:pPr algn="r">
              <a:lnSpc>
                <a:spcPct val="200000"/>
              </a:lnSpc>
            </a:pPr>
            <a:r>
              <a:rPr lang="en-US" sz="2200" b="1" i="0" dirty="0">
                <a:solidFill>
                  <a:srgbClr val="17324D"/>
                </a:solidFill>
                <a:latin typeface="Aptos"/>
              </a:rPr>
              <a:t>HOW?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42E402-4A6E-7E64-981F-E2191E8F1E37}"/>
              </a:ext>
            </a:extLst>
          </p:cNvPr>
          <p:cNvSpPr txBox="1"/>
          <p:nvPr/>
        </p:nvSpPr>
        <p:spPr>
          <a:xfrm>
            <a:off x="9029198" y="3572523"/>
            <a:ext cx="2926080" cy="2400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electricity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waves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light</a:t>
            </a:r>
          </a:p>
          <a:p>
            <a:pPr algn="l">
              <a:spcBef>
                <a:spcPts val="600"/>
              </a:spcBef>
            </a:pPr>
            <a:endParaRPr lang="en-US" dirty="0">
              <a:solidFill>
                <a:srgbClr val="182028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wire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optical fiber</a:t>
            </a:r>
          </a:p>
          <a:p>
            <a:pPr algn="l">
              <a:spcBef>
                <a:spcPts val="600"/>
              </a:spcBef>
            </a:pPr>
            <a:r>
              <a:rPr lang="en-US" dirty="0">
                <a:solidFill>
                  <a:srgbClr val="182028"/>
                </a:solidFill>
                <a:latin typeface="Aptos"/>
              </a:rPr>
              <a:t>wireless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AC6B0B-4B45-2832-B9F9-E0062C1D13A6}"/>
              </a:ext>
            </a:extLst>
          </p:cNvPr>
          <p:cNvSpPr/>
          <p:nvPr/>
        </p:nvSpPr>
        <p:spPr>
          <a:xfrm>
            <a:off x="8809238" y="3781586"/>
            <a:ext cx="48634" cy="198253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8A564F-ED59-758D-5DAD-094906C3ED4C}"/>
              </a:ext>
            </a:extLst>
          </p:cNvPr>
          <p:cNvSpPr txBox="1"/>
          <p:nvPr/>
        </p:nvSpPr>
        <p:spPr>
          <a:xfrm>
            <a:off x="5753787" y="3937386"/>
            <a:ext cx="2770229" cy="512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250000"/>
              </a:lnSpc>
            </a:pPr>
            <a:r>
              <a:rPr lang="en-US" sz="1600" i="0" dirty="0">
                <a:solidFill>
                  <a:srgbClr val="17324D"/>
                </a:solidFill>
                <a:latin typeface="Avenir Next LT Pro" panose="020B0504020202020204" pitchFamily="34" charset="0"/>
              </a:rPr>
              <a:t>is being propagated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BA0834-A863-AA43-9ABF-B8178C5CF6EE}"/>
              </a:ext>
            </a:extLst>
          </p:cNvPr>
          <p:cNvSpPr txBox="1"/>
          <p:nvPr/>
        </p:nvSpPr>
        <p:spPr>
          <a:xfrm>
            <a:off x="5753787" y="5286395"/>
            <a:ext cx="2770229" cy="512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250000"/>
              </a:lnSpc>
            </a:pPr>
            <a:r>
              <a:rPr lang="en-US" sz="1600" dirty="0">
                <a:solidFill>
                  <a:srgbClr val="17324D"/>
                </a:solidFill>
                <a:latin typeface="Avenir Next LT Pro" panose="020B0504020202020204" pitchFamily="34" charset="0"/>
              </a:rPr>
              <a:t>i</a:t>
            </a:r>
            <a:r>
              <a:rPr lang="en-US" sz="1600" i="0" dirty="0">
                <a:solidFill>
                  <a:srgbClr val="17324D"/>
                </a:solidFill>
                <a:latin typeface="Avenir Next LT Pro" panose="020B0504020202020204" pitchFamily="34" charset="0"/>
              </a:rPr>
              <a:t>s it being propagated</a:t>
            </a:r>
          </a:p>
        </p:txBody>
      </p:sp>
    </p:spTree>
    <p:extLst>
      <p:ext uri="{BB962C8B-B14F-4D97-AF65-F5344CB8AC3E}">
        <p14:creationId xmlns:p14="http://schemas.microsoft.com/office/powerpoint/2010/main" val="149205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63908-1531-2918-0B87-05035724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107B50-9D24-1155-7E9D-531954FB97C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258B6283-900C-1995-9454-0E20FBEE7D4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8303AB-B947-12F7-805A-8BD1DC58DBD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2D57D55-A9BC-BD18-4F5B-8AB373A4B24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B13C3BB-8AE8-63C2-73C5-DC341BD9AF1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26A5306-C506-351F-9BBC-E04C8D5B782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5EB18F-B55E-4972-CAC1-2D945CF854DD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50FED-0015-A01F-8E4C-AB328C99570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F47FB-691D-793C-36EC-956D3DA6500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FIRST QUESTION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EEFFE-656A-5B69-A969-4F326EF0B798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What Is Electricity?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D733DD4-52D4-0D06-3620-8D8B30F8155B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5CDF3E6-6FCC-D662-A5C6-8D2C695D57DF}"/>
              </a:ext>
            </a:extLst>
          </p:cNvPr>
          <p:cNvSpPr/>
          <p:nvPr/>
        </p:nvSpPr>
        <p:spPr>
          <a:xfrm>
            <a:off x="8074152" y="2568999"/>
            <a:ext cx="3337560" cy="1992914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D1B23A-4EC6-E034-721C-3538E5FC272D}"/>
              </a:ext>
            </a:extLst>
          </p:cNvPr>
          <p:cNvSpPr/>
          <p:nvPr/>
        </p:nvSpPr>
        <p:spPr>
          <a:xfrm>
            <a:off x="8074152" y="2568999"/>
            <a:ext cx="82296" cy="1992914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73B941-5ADF-4FAC-9969-AA9773C9B49A}"/>
              </a:ext>
            </a:extLst>
          </p:cNvPr>
          <p:cNvSpPr txBox="1"/>
          <p:nvPr/>
        </p:nvSpPr>
        <p:spPr>
          <a:xfrm>
            <a:off x="8302752" y="2823849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Push and Pull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18B328-7FAF-4FCA-1C09-FF7026F4322F}"/>
              </a:ext>
            </a:extLst>
          </p:cNvPr>
          <p:cNvSpPr txBox="1"/>
          <p:nvPr/>
        </p:nvSpPr>
        <p:spPr>
          <a:xfrm>
            <a:off x="8302752" y="3262761"/>
            <a:ext cx="2926080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The behavior of electric charges interacting or moving, allowing energy transfer</a:t>
            </a:r>
            <a:endParaRPr lang="en-US" sz="18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0C2BAF7-A2EE-CB8E-F3AC-30A3C7AA6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7106"/>
            <a:ext cx="3140110" cy="31401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35CAF4A-1A0E-2CA4-6B24-3FF7C397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658" y="2286226"/>
            <a:ext cx="4039866" cy="269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5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ELECTRICAL QUANTITY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Voltage is a difference between two points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2068" y="1783080"/>
            <a:ext cx="4297680" cy="361188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82296" cy="361188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17324D"/>
                </a:solidFill>
                <a:latin typeface="Aptos"/>
              </a:rPr>
              <a:t>Potential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86584"/>
            <a:ext cx="3886200" cy="84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800" b="0" i="0" dirty="0">
                <a:solidFill>
                  <a:srgbClr val="182028"/>
                </a:solidFill>
                <a:latin typeface="Aptos"/>
              </a:rPr>
              <a:t>D</a:t>
            </a:r>
            <a:r>
              <a:rPr sz="1800" b="0" i="0" dirty="0">
                <a:solidFill>
                  <a:srgbClr val="182028"/>
                </a:solidFill>
                <a:latin typeface="Aptos"/>
              </a:rPr>
              <a:t>escribes how much electrical potential differs between a selected first point and second 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936" y="3917723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dirty="0">
                <a:solidFill>
                  <a:srgbClr val="182028"/>
                </a:solidFill>
                <a:latin typeface="Aptos"/>
              </a:rPr>
              <a:t>Unit: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Volt</a:t>
            </a:r>
            <a:br>
              <a:rPr dirty="0"/>
            </a:br>
            <a:r>
              <a:rPr sz="2400" b="0" i="0" dirty="0">
                <a:solidFill>
                  <a:srgbClr val="182028"/>
                </a:solidFill>
                <a:latin typeface="Aptos"/>
              </a:rPr>
              <a:t>Symbol: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E/</a:t>
            </a:r>
            <a:r>
              <a:rPr sz="2400" b="1" i="0" dirty="0">
                <a:solidFill>
                  <a:srgbClr val="182028"/>
                </a:solidFill>
                <a:latin typeface="Aptos"/>
              </a:rPr>
              <a:t>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3778180"/>
            <a:ext cx="3017520" cy="161678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8394192" y="3778180"/>
            <a:ext cx="82296" cy="161678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622792" y="3938991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17324D"/>
                </a:solidFill>
                <a:latin typeface="Aptos"/>
              </a:rPr>
              <a:t>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4377903"/>
            <a:ext cx="2606040" cy="7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A voltmeter connects across two points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. </a:t>
            </a:r>
            <a:r>
              <a:rPr lang="en-US" sz="1700" dirty="0">
                <a:solidFill>
                  <a:srgbClr val="182028"/>
                </a:solidFill>
                <a:latin typeface="Aptos"/>
              </a:rPr>
              <a:t>Includes the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reference and polarity.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154680" y="5650992"/>
            <a:ext cx="589788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154680" y="5650992"/>
            <a:ext cx="58978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NEVER SAY 'VOLTAGE AT A POINT' WITHOUT A REFERENCE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6CF80EA-C1F1-45D9-3999-019EA39CD1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8" r="64144" b="-528"/>
          <a:stretch>
            <a:fillRect/>
          </a:stretch>
        </p:blipFill>
        <p:spPr>
          <a:xfrm rot="20301007">
            <a:off x="4038368" y="1141107"/>
            <a:ext cx="1631380" cy="30332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D91C65C-A557-C38A-2768-C866DE40E7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37" t="-4516" r="-1704" b="4516"/>
          <a:stretch>
            <a:fillRect/>
          </a:stretch>
        </p:blipFill>
        <p:spPr>
          <a:xfrm>
            <a:off x="7762789" y="563009"/>
            <a:ext cx="3094726" cy="32661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ELECTRICAL QUANTITY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Current flows through a complete path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783080"/>
            <a:ext cx="4297680" cy="361188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82296" cy="361188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17324D"/>
                </a:solidFill>
                <a:latin typeface="Aptos"/>
              </a:rPr>
              <a:t>Charge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86584"/>
            <a:ext cx="3886200" cy="589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900" dirty="0">
                <a:solidFill>
                  <a:srgbClr val="182028"/>
                </a:solidFill>
                <a:latin typeface="Aptos"/>
              </a:rPr>
              <a:t>D</a:t>
            </a:r>
            <a:r>
              <a:rPr sz="1900" b="0" i="0" dirty="0">
                <a:solidFill>
                  <a:srgbClr val="182028"/>
                </a:solidFill>
                <a:latin typeface="Aptos"/>
              </a:rPr>
              <a:t>escribes the rate at which electric charge moves through a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3677096"/>
            <a:ext cx="3017520" cy="1717863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8394192" y="3677096"/>
            <a:ext cx="82296" cy="1717864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622792" y="3936111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17324D"/>
                </a:solidFill>
                <a:latin typeface="Aptos"/>
              </a:rPr>
              <a:t>Path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4375023"/>
            <a:ext cx="260604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No complete path means no sustained current.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F12258-705E-D1DC-371A-D84C32DBAB92}"/>
              </a:ext>
            </a:extLst>
          </p:cNvPr>
          <p:cNvSpPr txBox="1"/>
          <p:nvPr/>
        </p:nvSpPr>
        <p:spPr>
          <a:xfrm>
            <a:off x="1243936" y="3917723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dirty="0">
                <a:solidFill>
                  <a:srgbClr val="182028"/>
                </a:solidFill>
                <a:latin typeface="Aptos"/>
              </a:rPr>
              <a:t>Unit: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Ampere/Amp</a:t>
            </a:r>
            <a:br>
              <a:rPr dirty="0"/>
            </a:br>
            <a:r>
              <a:rPr sz="2400" b="0" i="0" dirty="0">
                <a:solidFill>
                  <a:srgbClr val="182028"/>
                </a:solidFill>
                <a:latin typeface="Aptos"/>
              </a:rPr>
              <a:t>Symbol: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I</a:t>
            </a:r>
            <a:endParaRPr sz="2400" b="1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ELECTRICAL QUANTITY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Resistance limits current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783080"/>
            <a:ext cx="3337560" cy="356616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77240" y="1783080"/>
            <a:ext cx="82296" cy="35661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Opposition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74152" y="4351091"/>
            <a:ext cx="3337560" cy="2103531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7983868" y="4498848"/>
            <a:ext cx="82296" cy="192024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302752" y="4598577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ptos"/>
              </a:rPr>
              <a:t>Relationship</a:t>
            </a:r>
            <a:r>
              <a:rPr lang="en-US" sz="2200" b="1" i="0" dirty="0">
                <a:solidFill>
                  <a:srgbClr val="17324D"/>
                </a:solidFill>
                <a:latin typeface="Aptos"/>
              </a:rPr>
              <a:t> to I &amp; V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5048327"/>
            <a:ext cx="2926080" cy="84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How much voltage is needed to produce a certain amount of current?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68C789-2A3A-6C4C-34E4-30248C07A524}"/>
              </a:ext>
            </a:extLst>
          </p:cNvPr>
          <p:cNvSpPr txBox="1"/>
          <p:nvPr/>
        </p:nvSpPr>
        <p:spPr>
          <a:xfrm>
            <a:off x="1243936" y="3917723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dirty="0">
                <a:solidFill>
                  <a:srgbClr val="182028"/>
                </a:solidFill>
                <a:latin typeface="Aptos"/>
              </a:rPr>
              <a:t>Unit: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Ohm</a:t>
            </a:r>
            <a:br>
              <a:rPr dirty="0"/>
            </a:br>
            <a:r>
              <a:rPr sz="2400" b="0" i="0" dirty="0">
                <a:solidFill>
                  <a:srgbClr val="182028"/>
                </a:solidFill>
                <a:latin typeface="Aptos"/>
              </a:rPr>
              <a:t>Symbol: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R</a:t>
            </a:r>
            <a:endParaRPr sz="2400" b="1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B0B8E-2467-C784-7B55-3A956A402A1A}"/>
              </a:ext>
            </a:extLst>
          </p:cNvPr>
          <p:cNvSpPr txBox="1"/>
          <p:nvPr/>
        </p:nvSpPr>
        <p:spPr>
          <a:xfrm>
            <a:off x="963168" y="2428146"/>
            <a:ext cx="2926080" cy="84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How strongly something opposes the flow of electric current.</a:t>
            </a:r>
          </a:p>
        </p:txBody>
      </p:sp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176B022D-33BC-FAC7-7993-6D03CDEEB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141" y="775738"/>
            <a:ext cx="5363035" cy="33822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ELECTRICAL QUANTITY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Power sets practical limits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1783080"/>
            <a:ext cx="4800600" cy="361188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68680" y="1783080"/>
            <a:ext cx="82296" cy="361188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19476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7324D"/>
                </a:solidFill>
                <a:latin typeface="Aptos"/>
              </a:rPr>
              <a:t>Energy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86584"/>
            <a:ext cx="4389120" cy="887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0" i="0" dirty="0">
                <a:solidFill>
                  <a:srgbClr val="182028"/>
                </a:solidFill>
                <a:latin typeface="Aptos"/>
              </a:rPr>
              <a:t>Power is the rate at which electrical energy is supplied, converted, or dissipated.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5072" y="5623560"/>
            <a:ext cx="4206240" cy="420624"/>
          </a:xfrm>
          <a:prstGeom prst="roundRect">
            <a:avLst/>
          </a:prstGeom>
          <a:solidFill>
            <a:srgbClr val="D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005072" y="5726919"/>
            <a:ext cx="420624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0F6D74"/>
                </a:solidFill>
                <a:latin typeface="Aptos"/>
              </a:rPr>
              <a:t>WHAT HAPPENS WITH TOO MUCH POWER?</a:t>
            </a:r>
            <a:endParaRPr sz="11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F6FAA-13D1-07B6-F70A-8A4412852BC4}"/>
              </a:ext>
            </a:extLst>
          </p:cNvPr>
          <p:cNvSpPr txBox="1"/>
          <p:nvPr/>
        </p:nvSpPr>
        <p:spPr>
          <a:xfrm>
            <a:off x="1243936" y="3917723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dirty="0">
                <a:solidFill>
                  <a:srgbClr val="182028"/>
                </a:solidFill>
                <a:latin typeface="Aptos"/>
              </a:rPr>
              <a:t>Unit: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Watt (W)</a:t>
            </a:r>
            <a:br>
              <a:rPr dirty="0"/>
            </a:br>
            <a:r>
              <a:rPr sz="2400" b="0" i="0" dirty="0">
                <a:solidFill>
                  <a:srgbClr val="182028"/>
                </a:solidFill>
                <a:latin typeface="Aptos"/>
              </a:rPr>
              <a:t>Symbol: </a:t>
            </a:r>
            <a:r>
              <a:rPr lang="en-US" sz="2400" b="1" i="0" dirty="0">
                <a:solidFill>
                  <a:srgbClr val="182028"/>
                </a:solidFill>
                <a:latin typeface="Aptos"/>
              </a:rPr>
              <a:t>P</a:t>
            </a:r>
            <a:endParaRPr sz="2400" b="1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5" name="Content Placeholder 3">
            <a:extLst>
              <a:ext uri="{FF2B5EF4-FFF2-40B4-BE49-F238E27FC236}">
                <a16:creationId xmlns:a16="http://schemas.microsoft.com/office/drawing/2014/main" id="{2613F446-AA43-B6F7-478C-2A38B3CEB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276" y="733197"/>
            <a:ext cx="5378336" cy="48903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ELECTRONIC TERMS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FADC8EB-7329-4F72-5A4E-6DCDB9791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558290"/>
              </p:ext>
            </p:extLst>
          </p:nvPr>
        </p:nvGraphicFramePr>
        <p:xfrm>
          <a:off x="553151" y="2019719"/>
          <a:ext cx="11085698" cy="37007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174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6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6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Term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 U</a:t>
                      </a:r>
                      <a:r>
                        <a:rPr lang="en-US" sz="2400" u="none" dirty="0">
                          <a:effectLst/>
                        </a:rPr>
                        <a:t>nits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Unit Abbrev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</a:rPr>
                        <a:t>Symbol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r>
                        <a:rPr lang="en-US" sz="2400" u="none" dirty="0">
                          <a:effectLst/>
                        </a:rPr>
                        <a:t>Meaning</a:t>
                      </a:r>
                      <a:endParaRPr lang="en-US" sz="14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1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Voltage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Volts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E/V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</a:rPr>
                        <a:t>ElectroMotive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 Force (EMF)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4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Current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Amperes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Flow of electrons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1 A = 1 Coulomb/sec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Resistance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Ohms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Ω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Opposition to electron flow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2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Watts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Energy/unit time – Joules/sec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1 W = 1 Joule/sec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4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Frequency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Hertz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Hz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Cycles/sec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1 Hz = 1 cycle/sec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921C8-C067-E271-7723-99D30270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2CBFC8-982B-C936-7797-06E42E8B180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63ECA3A-56FB-F0D7-63B9-8E20AEC7358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1C9C14E-1791-5F1B-E76C-47C47110D725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ED8E510-C45B-A19D-71F2-4EC8D88EC091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E601C41-3338-11FA-DD5B-27CCAE52C77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58E8DA7-9489-0F91-6303-D1C628B9FB1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4B60FE-2FCA-4FF6-1409-E62B06A3485D}"/>
              </a:ext>
            </a:extLst>
          </p:cNvPr>
          <p:cNvSpPr txBox="1"/>
          <p:nvPr/>
        </p:nvSpPr>
        <p:spPr>
          <a:xfrm>
            <a:off x="502920" y="6503193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AB12E-2374-6DC3-E6DD-EEAE27157E6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B8C6B-9C1F-0C14-4535-EDED6498A69A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7C140-AD67-4875-93C3-A9493BB13D04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ENGINEERING PREFIXES</a:t>
            </a:r>
            <a:endParaRPr lang="en-US"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71451A3-75A3-C3A4-1AE7-C4C22A2039C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0DDCE9-A683-4696-D364-6CC0290F1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109503"/>
              </p:ext>
            </p:extLst>
          </p:nvPr>
        </p:nvGraphicFramePr>
        <p:xfrm>
          <a:off x="359562" y="2042544"/>
          <a:ext cx="11832438" cy="390340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194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9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5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6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Prefix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none" strike="noStrike" dirty="0">
                          <a:effectLst/>
                        </a:rPr>
                        <a:t> </a:t>
                      </a:r>
                      <a:r>
                        <a:rPr lang="en-US" sz="2800" u="sng" dirty="0">
                          <a:effectLst/>
                        </a:rPr>
                        <a:t>Symbol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Multiplier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Prefix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Symbol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u="sng" dirty="0">
                          <a:effectLst/>
                        </a:rPr>
                        <a:t>Multiplier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milli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-3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kilo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micro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µ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-6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Mega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 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illion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nano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ine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-9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Giga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pico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-12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Tera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 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welve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femto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ifteen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-15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Peta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atto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-18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Exa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     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</a:rPr>
                        <a:t>ighteen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zepto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z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aseline="30000" dirty="0">
                          <a:solidFill>
                            <a:schemeClr val="tx1"/>
                          </a:solidFill>
                          <a:effectLst/>
                        </a:rPr>
                        <a:t>-21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Zetta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Z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yocto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-24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Yotta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800" b="0" baseline="30000" dirty="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634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FCB99-9EAA-EA58-D021-8DDA1DFE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Resistor Color Code Guide: How to Read Resistor Bands">
            <a:extLst>
              <a:ext uri="{FF2B5EF4-FFF2-40B4-BE49-F238E27FC236}">
                <a16:creationId xmlns:a16="http://schemas.microsoft.com/office/drawing/2014/main" id="{87CD4178-A177-8D40-DDE2-A5701E8F4C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45"/>
          <a:stretch>
            <a:fillRect/>
          </a:stretch>
        </p:blipFill>
        <p:spPr>
          <a:xfrm>
            <a:off x="6062472" y="53"/>
            <a:ext cx="2851940" cy="14446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944DF4-6F4D-051C-7D7C-B533CE4B8F6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6B67B30-E860-2A20-F2F4-18804E8EB5A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66D14E5-062E-72C1-F5E7-44F9305E023F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D6BF0CA-8BC8-B739-A1D4-E299988BA86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B0788AD-DE7F-C397-D3BE-36180E6A4B5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5AB3D80-2F6A-2D66-19BB-E55B37A29780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194A85-4C86-BDD9-E7DD-4640CB6F86A4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D0E44-C6E0-619E-5120-EF1785B220A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ED3EE-BD88-9C2D-3580-B591DAEFC3A6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AC943-F0A6-3224-A893-C088FBAA703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RESISTOR COLOR CODE</a:t>
            </a:r>
            <a:endParaRPr sz="2900" b="1" i="0" dirty="0">
              <a:solidFill>
                <a:srgbClr val="17324D"/>
              </a:solidFill>
              <a:latin typeface="Avenir Black" panose="020B0803020203020204" pitchFamily="34" charset="0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49F591C-F271-1ADF-C437-EBDDA7D7A5C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F5F217F-DE54-D816-5A2F-6D0F093E9800}"/>
              </a:ext>
            </a:extLst>
          </p:cNvPr>
          <p:cNvSpPr/>
          <p:nvPr/>
        </p:nvSpPr>
        <p:spPr>
          <a:xfrm>
            <a:off x="1969477" y="5998464"/>
            <a:ext cx="8729003" cy="420624"/>
          </a:xfrm>
          <a:prstGeom prst="roundRect">
            <a:avLst/>
          </a:prstGeom>
          <a:solidFill>
            <a:srgbClr val="D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93222-00D3-4696-4BC3-41C679EA21F4}"/>
              </a:ext>
            </a:extLst>
          </p:cNvPr>
          <p:cNvSpPr txBox="1"/>
          <p:nvPr/>
        </p:nvSpPr>
        <p:spPr>
          <a:xfrm>
            <a:off x="2408319" y="6036421"/>
            <a:ext cx="789077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0F6D74"/>
                </a:solidFill>
                <a:latin typeface="Aptos"/>
              </a:rPr>
              <a:t>Better Boys Realize Our Young Girls Become Very Great Women</a:t>
            </a:r>
            <a:endParaRPr sz="2000" b="1" i="0" dirty="0">
              <a:solidFill>
                <a:srgbClr val="0F6D74"/>
              </a:solidFill>
              <a:latin typeface="Aptos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D18A7F0-E19B-44B1-0605-AC476FA37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58830"/>
              </p:ext>
            </p:extLst>
          </p:nvPr>
        </p:nvGraphicFramePr>
        <p:xfrm>
          <a:off x="964257" y="1761375"/>
          <a:ext cx="10263485" cy="402768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205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2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2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u="none" dirty="0">
                          <a:effectLst/>
                        </a:rPr>
                        <a:t>Color</a:t>
                      </a:r>
                      <a:endParaRPr lang="en-US" sz="1600" u="none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u="none" dirty="0" err="1">
                          <a:effectLst/>
                        </a:rPr>
                        <a:t>Value</a:t>
                      </a:r>
                      <a:endParaRPr lang="en-US" sz="2400" u="none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u="none" dirty="0">
                          <a:effectLst/>
                        </a:rPr>
                        <a:t>Multiplier</a:t>
                      </a:r>
                      <a:endParaRPr lang="en-US" sz="1600" u="none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u="none" dirty="0">
                          <a:effectLst/>
                        </a:rPr>
                        <a:t>Tolerance</a:t>
                      </a:r>
                      <a:endParaRPr lang="en-US" sz="1600" u="none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u="none" dirty="0">
                          <a:effectLst/>
                        </a:rPr>
                        <a:t>Tolerance (%)</a:t>
                      </a:r>
                      <a:endParaRPr lang="en-US" sz="1600" u="none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effectLst/>
                        </a:rPr>
                        <a:t>Black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b="1" dirty="0">
                          <a:effectLst/>
                        </a:rPr>
                        <a:t>Gold</a:t>
                      </a:r>
                      <a:endParaRPr lang="en-US" sz="1600" b="1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±5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Brown</a:t>
                      </a:r>
                      <a:endParaRPr lang="es-MX" sz="2400" dirty="0">
                        <a:effectLst/>
                        <a:latin typeface="Aptos" panose="020B0004020202020204" pitchFamily="34" charset="0"/>
                        <a:ea typeface="+mn-ea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="1" dirty="0" err="1">
                          <a:effectLst/>
                        </a:rPr>
                        <a:t>Silver</a:t>
                      </a:r>
                      <a:endParaRPr lang="en-US" sz="1600" b="1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</a:rPr>
                        <a:t>±10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Red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600" i="1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="1" dirty="0" err="1">
                          <a:effectLst/>
                        </a:rPr>
                        <a:t>Blank</a:t>
                      </a:r>
                      <a:endParaRPr lang="en-US" sz="1600" b="1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</a:rPr>
                        <a:t>±20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Orange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600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 err="1">
                          <a:effectLst/>
                        </a:rPr>
                        <a:t>Yellow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600" i="1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Green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s-MX" sz="2400" baseline="300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600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baseline="30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Blue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240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baseline="30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 err="1">
                          <a:effectLst/>
                        </a:rPr>
                        <a:t>Violet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240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baseline="30000" dirty="0">
                          <a:effectLst/>
                        </a:rPr>
                        <a:t> </a:t>
                      </a:r>
                      <a:endParaRPr lang="en-US" sz="1600" baseline="300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dirty="0">
                          <a:effectLst/>
                        </a:rPr>
                        <a:t>Gray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aseline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2400" i="0" baseline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400" baseline="300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600" baseline="30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627">
                <a:tc>
                  <a:txBody>
                    <a:bodyPr/>
                    <a:lstStyle/>
                    <a:p>
                      <a:pPr marL="0" marR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effectLst/>
                        </a:rPr>
                        <a:t>White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24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608965" algn="l"/>
                          <a:tab pos="-457200" algn="l"/>
                          <a:tab pos="0" algn="l"/>
                          <a:tab pos="305435" algn="l"/>
                          <a:tab pos="648335" algn="l"/>
                          <a:tab pos="991235" algn="l"/>
                          <a:tab pos="1334135" algn="l"/>
                          <a:tab pos="1677035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  <a:tab pos="10972800" algn="l"/>
                          <a:tab pos="11430000" algn="l"/>
                          <a:tab pos="11887200" algn="l"/>
                        </a:tabLst>
                      </a:pPr>
                      <a:endParaRPr lang="en-US" sz="16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100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9C978-4B7E-1F72-7C3F-8A402040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BFD79-6CD3-4560-A9FF-FE984444B22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F15A3D4-75E2-E516-743F-B5F1E6D2BCC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4EBAFD8-6D6A-DD4D-FF53-4F1A291A475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FBE0452-52BF-B30B-054C-959BC26C654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43925C2-ABAC-C3FF-8AC7-F28CAF2BCA9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70D6EE9-A42B-2BDF-1D22-10F69AFE1430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2F2E2BC-3AEA-920F-DBE3-EC9F23F9D59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E69DAA-11F7-BFDF-51AB-00C416C66A1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0D59D-033A-6E9E-AA25-27C29D5AE660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56C07-64D2-B2DB-E638-C71A4E5D5B56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RESISTOR COLOR CODE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C0A8361-F37F-5054-3E0A-C24CFE2E57C6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629017F-A8FA-66B1-9BF2-CBE57431AD31}"/>
              </a:ext>
            </a:extLst>
          </p:cNvPr>
          <p:cNvSpPr/>
          <p:nvPr/>
        </p:nvSpPr>
        <p:spPr>
          <a:xfrm>
            <a:off x="1969477" y="5998464"/>
            <a:ext cx="8729003" cy="420624"/>
          </a:xfrm>
          <a:prstGeom prst="roundRect">
            <a:avLst/>
          </a:prstGeom>
          <a:solidFill>
            <a:srgbClr val="D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94E81-DDED-D09C-06B6-C2653E8788E4}"/>
              </a:ext>
            </a:extLst>
          </p:cNvPr>
          <p:cNvSpPr txBox="1"/>
          <p:nvPr/>
        </p:nvSpPr>
        <p:spPr>
          <a:xfrm>
            <a:off x="2408319" y="6036421"/>
            <a:ext cx="789077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0F6D74"/>
                </a:solidFill>
                <a:latin typeface="Aptos"/>
              </a:rPr>
              <a:t>Better Boys Realize Our Young Girls Become Very Great Women</a:t>
            </a:r>
            <a:endParaRPr sz="2000" b="1" i="0" dirty="0">
              <a:solidFill>
                <a:srgbClr val="0F6D74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7FE24D-AF55-F636-113C-3D66C2873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6" y="2483223"/>
            <a:ext cx="2886075" cy="1581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C564CB-4948-02ED-14E5-2B7543004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292" y="2220285"/>
            <a:ext cx="2530394" cy="24174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0FA59A-B2C0-EA8F-1FA7-EBB1865F3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78" y="1991098"/>
            <a:ext cx="2819400" cy="2565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E3715B-47EE-F7BD-D663-214DF7D5AA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000" y="2592460"/>
            <a:ext cx="2530394" cy="18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D62E1-6B17-211D-CCDA-23805227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F613D-D6C9-5C5C-0977-FC755FB17AC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C52E8F0-3D2D-B143-1306-D7E54A448583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E85A0F8-81B0-9904-889B-AAD8BD427A8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7FECCA4-385E-DDAD-3B3F-6F44A56DE2C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F229D00-851E-7A52-A7AD-3F233FAF719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0758CEF-AADC-369E-0387-3C822BAED50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69C613-4F44-E398-AF68-7DD37D3D84A6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C4376-93F0-E618-EDCC-A584B2D80CA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30C6F-B8E1-0C36-8BF0-1F9EC9B954BE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A82B2-E1B0-A2DD-AA71-C4CF40C976F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RESISTOR COLOR CODE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5C3CA0E-5ABF-5095-6D0F-8177B484D32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DBAAEE6-E962-2681-BEF9-CF772D9A5F5E}"/>
              </a:ext>
            </a:extLst>
          </p:cNvPr>
          <p:cNvSpPr/>
          <p:nvPr/>
        </p:nvSpPr>
        <p:spPr>
          <a:xfrm>
            <a:off x="1969477" y="5998464"/>
            <a:ext cx="8729003" cy="420624"/>
          </a:xfrm>
          <a:prstGeom prst="roundRect">
            <a:avLst/>
          </a:prstGeom>
          <a:solidFill>
            <a:srgbClr val="D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49355-F7D6-0719-EE7F-B4E4BA74FC0C}"/>
              </a:ext>
            </a:extLst>
          </p:cNvPr>
          <p:cNvSpPr txBox="1"/>
          <p:nvPr/>
        </p:nvSpPr>
        <p:spPr>
          <a:xfrm>
            <a:off x="2408319" y="6036421"/>
            <a:ext cx="789077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0F6D74"/>
                </a:solidFill>
                <a:latin typeface="Aptos"/>
              </a:rPr>
              <a:t>Better Boys Realize Our Young Girls Become Very Great Women</a:t>
            </a:r>
            <a:endParaRPr sz="2000" b="1" i="0" dirty="0">
              <a:solidFill>
                <a:srgbClr val="0F6D74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B80A8-12F3-B315-51E8-EC18430F9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6" y="2483223"/>
            <a:ext cx="2886075" cy="1581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59C846-CDD8-11CB-5E36-BDF32664B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292" y="2220285"/>
            <a:ext cx="2530394" cy="24174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88ABB3-215E-84C1-560C-0966371FF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78" y="1991098"/>
            <a:ext cx="2819400" cy="2565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A46BAC-33E9-6539-9F79-A972F78419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000" y="2592460"/>
            <a:ext cx="2530394" cy="18054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0A3AF7-68C0-8D2D-A35C-DAF94D705E36}"/>
              </a:ext>
            </a:extLst>
          </p:cNvPr>
          <p:cNvSpPr txBox="1"/>
          <p:nvPr/>
        </p:nvSpPr>
        <p:spPr>
          <a:xfrm>
            <a:off x="870461" y="4225575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F6D74"/>
                </a:solidFill>
                <a:latin typeface="Aptos"/>
              </a:rPr>
              <a:t>10MΩ ±5%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8CC2A-C5B6-E59C-F665-E0CF23856416}"/>
              </a:ext>
            </a:extLst>
          </p:cNvPr>
          <p:cNvSpPr txBox="1"/>
          <p:nvPr/>
        </p:nvSpPr>
        <p:spPr>
          <a:xfrm>
            <a:off x="3973066" y="4681132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F6D74"/>
                </a:solidFill>
                <a:latin typeface="Aptos"/>
              </a:rPr>
              <a:t>1.1M</a:t>
            </a:r>
            <a:r>
              <a:rPr lang="el-GR" sz="2000" b="1" dirty="0">
                <a:solidFill>
                  <a:srgbClr val="0F6D74"/>
                </a:solidFill>
                <a:latin typeface="Aptos"/>
              </a:rPr>
              <a:t>Ω ±5%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6AE4A7-5837-B99D-0E20-6E0678DF82A2}"/>
              </a:ext>
            </a:extLst>
          </p:cNvPr>
          <p:cNvSpPr txBox="1"/>
          <p:nvPr/>
        </p:nvSpPr>
        <p:spPr>
          <a:xfrm>
            <a:off x="6997277" y="4681132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F6D74"/>
                </a:solidFill>
                <a:latin typeface="Aptos"/>
              </a:rPr>
              <a:t>5.6k</a:t>
            </a:r>
            <a:r>
              <a:rPr lang="el-GR" sz="2000" b="1" dirty="0">
                <a:solidFill>
                  <a:srgbClr val="0F6D74"/>
                </a:solidFill>
                <a:latin typeface="Aptos"/>
              </a:rPr>
              <a:t>Ω ±5%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2D89A-1AC2-ED0A-B04B-4C8F99A7D59D}"/>
              </a:ext>
            </a:extLst>
          </p:cNvPr>
          <p:cNvSpPr txBox="1"/>
          <p:nvPr/>
        </p:nvSpPr>
        <p:spPr>
          <a:xfrm>
            <a:off x="10117600" y="4681132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F6D74"/>
                </a:solidFill>
                <a:latin typeface="Aptos"/>
              </a:rPr>
              <a:t>1.0k</a:t>
            </a:r>
            <a:r>
              <a:rPr lang="el-GR" sz="2000" b="1" dirty="0">
                <a:solidFill>
                  <a:srgbClr val="0F6D74"/>
                </a:solidFill>
                <a:latin typeface="Aptos"/>
              </a:rPr>
              <a:t>Ω ±5%</a:t>
            </a:r>
          </a:p>
        </p:txBody>
      </p:sp>
    </p:spTree>
    <p:extLst>
      <p:ext uri="{BB962C8B-B14F-4D97-AF65-F5344CB8AC3E}">
        <p14:creationId xmlns:p14="http://schemas.microsoft.com/office/powerpoint/2010/main" val="198703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E6053-79B9-6AC3-0F3C-90B3522E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32F62-5C18-1832-4470-91DF55E3751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8F11E1E-689D-9D37-3C46-C54ACCEC2E59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7653E57-E4B0-F223-E83D-0BB1CF3EF91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D83CB67-DE4C-6AC2-2FB4-E7B977785EC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184ACAE-C260-FAB6-31B8-FA523C64439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21CD03B-BBB0-442F-D1D9-EE2C84AEEF34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B11A84-E295-086D-2DD3-FBAB58D4689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83E61-4247-FF29-4FE2-60628825ED5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CCD94-8A34-811B-F1DD-8FF829ACB848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50" b="1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4B5CC-771B-9038-CF7E-715A489CB871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venir Black" panose="020B0803020203020204" pitchFamily="34" charset="0"/>
              </a:rPr>
              <a:t>RESISTOR COLOR CODE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3FF5642-653C-0D45-019E-84757F5C5D8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205B9BA-772C-DAEF-B058-B263DCCAC6B9}"/>
              </a:ext>
            </a:extLst>
          </p:cNvPr>
          <p:cNvSpPr/>
          <p:nvPr/>
        </p:nvSpPr>
        <p:spPr>
          <a:xfrm>
            <a:off x="1969477" y="5998464"/>
            <a:ext cx="8729003" cy="420624"/>
          </a:xfrm>
          <a:prstGeom prst="roundRect">
            <a:avLst/>
          </a:prstGeom>
          <a:solidFill>
            <a:srgbClr val="D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0CE9E9-165B-26D8-F720-3578DC41007C}"/>
              </a:ext>
            </a:extLst>
          </p:cNvPr>
          <p:cNvSpPr txBox="1"/>
          <p:nvPr/>
        </p:nvSpPr>
        <p:spPr>
          <a:xfrm>
            <a:off x="2408319" y="6036421"/>
            <a:ext cx="789077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i="0" dirty="0">
                <a:solidFill>
                  <a:srgbClr val="0F6D74"/>
                </a:solidFill>
                <a:latin typeface="Aptos"/>
              </a:rPr>
              <a:t>Better Boys Realize Our Young Girls Become Very Great Women</a:t>
            </a:r>
            <a:endParaRPr sz="200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6E3D4C-D353-E1AF-C893-8247B3FFB9E7}"/>
              </a:ext>
            </a:extLst>
          </p:cNvPr>
          <p:cNvSpPr txBox="1"/>
          <p:nvPr/>
        </p:nvSpPr>
        <p:spPr>
          <a:xfrm>
            <a:off x="2694441" y="3997588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F6D74"/>
                </a:solidFill>
                <a:latin typeface="Aptos"/>
              </a:rPr>
              <a:t>360k</a:t>
            </a:r>
            <a:r>
              <a:rPr lang="el-GR" sz="2000" b="1" dirty="0">
                <a:solidFill>
                  <a:srgbClr val="0F6D74"/>
                </a:solidFill>
                <a:latin typeface="Aptos"/>
              </a:rPr>
              <a:t>Ω ±10%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FC716-8067-92AF-D3C3-2AE571C0584C}"/>
              </a:ext>
            </a:extLst>
          </p:cNvPr>
          <p:cNvSpPr txBox="1"/>
          <p:nvPr/>
        </p:nvSpPr>
        <p:spPr>
          <a:xfrm>
            <a:off x="7761294" y="3997588"/>
            <a:ext cx="1902424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l-GR" sz="2000" b="1" dirty="0">
                <a:solidFill>
                  <a:srgbClr val="0F6D74"/>
                </a:solidFill>
                <a:latin typeface="Aptos"/>
              </a:rPr>
              <a:t>10Ω ±20%</a:t>
            </a:r>
          </a:p>
        </p:txBody>
      </p:sp>
    </p:spTree>
    <p:extLst>
      <p:ext uri="{BB962C8B-B14F-4D97-AF65-F5344CB8AC3E}">
        <p14:creationId xmlns:p14="http://schemas.microsoft.com/office/powerpoint/2010/main" val="1601560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80DE1-D667-5816-1BB4-C87D14C6D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2D181-992D-3DC0-30F0-6119A5F8DCC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0B63CDF-1627-65A5-737F-B7EEBB21E9A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4198695-F17A-57DC-7DDB-9076984DD81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096EB25-D107-2979-A9DE-04E8E4B0A49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D078EB8-23E4-CD06-7BFA-F9508E6FCBE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51E99BF-E8F6-043D-43AE-3DC7001C2A14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3C6A49-4360-B45A-180C-9B3FD958AD1E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D005C-24CC-0C2B-74FD-582DF6920BB4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DA181-139C-B8CD-A66B-DC4C060896B1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BRIDGE TO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3A786-D8C7-39BF-38C0-B01398F12996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venir Black" panose="020B0803020203020204" pitchFamily="34" charset="0"/>
              </a:rPr>
              <a:t>A signal is a controlled physical change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A01C788-DD76-EBDD-5FA7-89FEFA90F36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D461DB-90CD-6760-75A2-E4084BC2F19F}"/>
              </a:ext>
            </a:extLst>
          </p:cNvPr>
          <p:cNvSpPr/>
          <p:nvPr/>
        </p:nvSpPr>
        <p:spPr>
          <a:xfrm>
            <a:off x="868680" y="1783080"/>
            <a:ext cx="4892040" cy="16459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42B4E1-B1CE-2823-FF0A-259752906F6B}"/>
              </a:ext>
            </a:extLst>
          </p:cNvPr>
          <p:cNvSpPr/>
          <p:nvPr/>
        </p:nvSpPr>
        <p:spPr>
          <a:xfrm>
            <a:off x="868680" y="1783080"/>
            <a:ext cx="82296" cy="18644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EF393C-2800-6315-E85F-B7C637853A4E}"/>
              </a:ext>
            </a:extLst>
          </p:cNvPr>
          <p:cNvSpPr txBox="1"/>
          <p:nvPr/>
        </p:nvSpPr>
        <p:spPr>
          <a:xfrm>
            <a:off x="1097280" y="1947672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7324D"/>
                </a:solidFill>
                <a:latin typeface="Aptos"/>
              </a:rPr>
              <a:t>Steady DC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18800-C56D-F97D-C660-CD674E6E41AD}"/>
              </a:ext>
            </a:extLst>
          </p:cNvPr>
          <p:cNvSpPr txBox="1"/>
          <p:nvPr/>
        </p:nvSpPr>
        <p:spPr>
          <a:xfrm>
            <a:off x="1097280" y="2386584"/>
            <a:ext cx="4480560" cy="2862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0" i="0" dirty="0">
                <a:solidFill>
                  <a:srgbClr val="182028"/>
                </a:solidFill>
                <a:latin typeface="Aptos"/>
              </a:rPr>
              <a:t>A node remains near one voltage. The value can power a circuit or represent one stable condition.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804821-EC7D-68BB-3154-17E4B602FB03}"/>
              </a:ext>
            </a:extLst>
          </p:cNvPr>
          <p:cNvSpPr/>
          <p:nvPr/>
        </p:nvSpPr>
        <p:spPr>
          <a:xfrm>
            <a:off x="868680" y="3647552"/>
            <a:ext cx="5212080" cy="1747408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361DA-8961-FF53-A180-BB7639A1E76E}"/>
              </a:ext>
            </a:extLst>
          </p:cNvPr>
          <p:cNvSpPr/>
          <p:nvPr/>
        </p:nvSpPr>
        <p:spPr>
          <a:xfrm>
            <a:off x="868680" y="3647552"/>
            <a:ext cx="82296" cy="1747408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B7069D-C1E4-F59B-E82C-B68E46036C1B}"/>
              </a:ext>
            </a:extLst>
          </p:cNvPr>
          <p:cNvSpPr txBox="1"/>
          <p:nvPr/>
        </p:nvSpPr>
        <p:spPr>
          <a:xfrm>
            <a:off x="1097280" y="381762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7324D"/>
                </a:solidFill>
                <a:latin typeface="Aptos"/>
              </a:rPr>
              <a:t>Changing voltage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14E9CB-964D-984A-576D-02EBD57CAF64}"/>
              </a:ext>
            </a:extLst>
          </p:cNvPr>
          <p:cNvSpPr txBox="1"/>
          <p:nvPr/>
        </p:nvSpPr>
        <p:spPr>
          <a:xfrm>
            <a:off x="1097280" y="4291852"/>
            <a:ext cx="4800600" cy="2862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0" i="0" dirty="0">
                <a:solidFill>
                  <a:srgbClr val="182028"/>
                </a:solidFill>
                <a:latin typeface="Aptos"/>
              </a:rPr>
              <a:t>A node moves between distinguishable levels. A receiver can interpret the measured pattern as information.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DC9B68-05E9-CC60-FD38-381C03C58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78524" y="932688"/>
            <a:ext cx="4741164" cy="31607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E7BDEBD-37D2-FC56-F8F8-044681F523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82384" y="3722625"/>
            <a:ext cx="3921252" cy="26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78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START WITH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A circuit needs a complete path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011680"/>
            <a:ext cx="1956816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1956816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SOURCE +</a:t>
            </a:r>
          </a:p>
        </p:txBody>
      </p:sp>
      <p:sp>
        <p:nvSpPr>
          <p:cNvPr id="15" name="Chevron 14"/>
          <p:cNvSpPr/>
          <p:nvPr/>
        </p:nvSpPr>
        <p:spPr>
          <a:xfrm>
            <a:off x="2889504" y="231343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3008376" y="2011680"/>
            <a:ext cx="1956816" cy="841248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3008376" y="2011680"/>
            <a:ext cx="1956816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SWITCH</a:t>
            </a:r>
          </a:p>
        </p:txBody>
      </p:sp>
      <p:sp>
        <p:nvSpPr>
          <p:cNvPr id="18" name="Chevron 17"/>
          <p:cNvSpPr/>
          <p:nvPr/>
        </p:nvSpPr>
        <p:spPr>
          <a:xfrm>
            <a:off x="4983480" y="231343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102352" y="2011680"/>
            <a:ext cx="1956816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102352" y="2011680"/>
            <a:ext cx="1956816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RESISTOR</a:t>
            </a:r>
          </a:p>
        </p:txBody>
      </p:sp>
      <p:sp>
        <p:nvSpPr>
          <p:cNvPr id="21" name="Chevron 20"/>
          <p:cNvSpPr/>
          <p:nvPr/>
        </p:nvSpPr>
        <p:spPr>
          <a:xfrm>
            <a:off x="7077456" y="231343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196328" y="2011680"/>
            <a:ext cx="1956816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196328" y="2011680"/>
            <a:ext cx="1956816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24" name="Chevron 23"/>
          <p:cNvSpPr/>
          <p:nvPr/>
        </p:nvSpPr>
        <p:spPr>
          <a:xfrm>
            <a:off x="9171432" y="231343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9290304" y="2011680"/>
            <a:ext cx="1956816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9290304" y="2011680"/>
            <a:ext cx="1956816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RETURN -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362523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316736" y="3520440"/>
            <a:ext cx="9747504" cy="4366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0" i="0" dirty="0">
                <a:solidFill>
                  <a:srgbClr val="182028"/>
                </a:solidFill>
                <a:latin typeface="Aptos"/>
              </a:rPr>
              <a:t>The source provides an electrical potential difference.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413500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316736" y="4030218"/>
            <a:ext cx="9747504" cy="4366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0" i="0" dirty="0">
                <a:solidFill>
                  <a:srgbClr val="182028"/>
                </a:solidFill>
                <a:latin typeface="Aptos"/>
              </a:rPr>
              <a:t>The load receives electrical energy.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4644786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316736" y="4539996"/>
            <a:ext cx="9747504" cy="4366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0" i="0" dirty="0">
                <a:solidFill>
                  <a:srgbClr val="182028"/>
                </a:solidFill>
                <a:latin typeface="Aptos"/>
              </a:rPr>
              <a:t>The return conductor completes the path back to the source.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5F6B73"/>
                </a:solidFill>
                <a:latin typeface="Aptos"/>
              </a:rPr>
              <a:t>LECTURE 01 | FOUNDATIONS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 dirty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BEFORE YOU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Exit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257562"/>
            <a:ext cx="1046988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 dirty="0">
                <a:solidFill>
                  <a:srgbClr val="17324D"/>
                </a:solidFill>
                <a:latin typeface="Aptos Display"/>
              </a:rPr>
              <a:t>Why does </a:t>
            </a:r>
            <a:r>
              <a:rPr lang="en-US" sz="3400" b="1" dirty="0">
                <a:solidFill>
                  <a:srgbClr val="17324D"/>
                </a:solidFill>
                <a:latin typeface="Aptos Display"/>
              </a:rPr>
              <a:t>a circuit need a complete loop</a:t>
            </a:r>
            <a:r>
              <a:rPr sz="3400" b="1" i="0" dirty="0">
                <a:solidFill>
                  <a:srgbClr val="17324D"/>
                </a:solidFill>
                <a:latin typeface="Aptos Display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334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800" b="0" i="0" dirty="0">
                <a:solidFill>
                  <a:srgbClr val="5F6B73"/>
                </a:solidFill>
                <a:latin typeface="Aptos"/>
              </a:rPr>
              <a:t>Can’t it be just one line?</a:t>
            </a:r>
            <a:endParaRPr sz="1800" b="0" i="0" dirty="0">
              <a:solidFill>
                <a:srgbClr val="5F6B7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67328" y="4937760"/>
            <a:ext cx="466344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767328" y="4937760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NEXT: OHM'S LAW + SERIES CIRCUITS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1293</Words>
  <Application>Microsoft Office PowerPoint</Application>
  <PresentationFormat>Widescreen</PresentationFormat>
  <Paragraphs>435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Avenir Black</vt:lpstr>
      <vt:lpstr>Avenir Next LT Pro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4</cp:revision>
  <dcterms:created xsi:type="dcterms:W3CDTF">2013-01-27T09:14:16Z</dcterms:created>
  <dcterms:modified xsi:type="dcterms:W3CDTF">2026-09-04T06:30:29Z</dcterms:modified>
  <cp:category/>
</cp:coreProperties>
</file>