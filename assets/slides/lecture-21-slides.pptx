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76" r:id="rId5"/>
    <p:sldId id="275" r:id="rId6"/>
    <p:sldId id="279" r:id="rId7"/>
    <p:sldId id="278" r:id="rId8"/>
    <p:sldId id="263" r:id="rId9"/>
    <p:sldId id="265" r:id="rId10"/>
    <p:sldId id="266" r:id="rId11"/>
    <p:sldId id="267" r:id="rId12"/>
    <p:sldId id="269" r:id="rId13"/>
    <p:sldId id="27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252" autoAdjust="0"/>
  </p:normalViewPr>
  <p:slideViewPr>
    <p:cSldViewPr snapToGrid="0" snapToObjects="1">
      <p:cViewPr varScale="1">
        <p:scale>
          <a:sx n="91" d="100"/>
          <a:sy n="91" d="100"/>
        </p:scale>
        <p:origin x="5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928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Reserve minutes 0–10 for the scheduled Quiz 7; coverage is unchanged. Say: Last lecture asked whether the bits arrived correctly. Today asks whether the receiver should obey them. Our running example is a classroom toy door receiving OPEN or LOCK, not an actual access-control product. After the quiz, spend seven minutes reviewing Lecture 20 using parity, code rate, information rate and the random-remainder CRC estimate. Do not add minimum-distance formulas. By the end, students should select a protection for corruption, forgery, replay, or eavesdropping. They do not need to calculate a cryptographic MAC or write encryption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Code rate: </a:t>
            </a: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k/n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Added bits: n − k</a:t>
            </a:r>
          </a:p>
          <a:p>
            <a:r>
              <a:rPr lang="en-US" sz="1200" b="0" i="0" dirty="0">
                <a:solidFill>
                  <a:srgbClr val="182028"/>
                </a:solidFill>
                <a:latin typeface="+mn-lt"/>
              </a:rPr>
              <a:t>Information bitrate </a:t>
            </a:r>
            <a:r>
              <a:rPr lang="en-US" sz="1200" b="0" i="0" dirty="0" err="1">
                <a:solidFill>
                  <a:srgbClr val="182028"/>
                </a:solidFill>
                <a:latin typeface="+mn-lt"/>
              </a:rPr>
              <a:t>R_coded</a:t>
            </a: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 × </a:t>
            </a:r>
            <a:r>
              <a:rPr lang="en-US" sz="1200" b="0" i="0" dirty="0" err="1">
                <a:solidFill>
                  <a:srgbClr val="182028"/>
                </a:solidFill>
                <a:latin typeface="+mn-lt"/>
              </a:rPr>
              <a:t>R_c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owner sends LOCK, but interference damages some bits. How would the receiver notice?</a:t>
            </a:r>
          </a:p>
          <a:p>
            <a:r>
              <a:rPr lang="en-US" dirty="0"/>
              <a:t>  Solution: Add a CRC and reject messages that fail the check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7AB9F-F2A6-52CD-5938-45546E183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2B13B-F4F2-6542-DE6D-8BEB042C7B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007F8-F349-9284-EA48-FB8906CBF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The owner sends LOCK, but interference damages some bits. How would the receiver notice?</a:t>
            </a:r>
          </a:p>
          <a:p>
            <a:r>
              <a:rPr lang="en-US" dirty="0"/>
              <a:t>  Solution: Add a CRC and reject messages that fail the check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762E4-9F03-E53C-3EEA-76933458E7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8346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51274-5AA6-416B-2CA4-860F34FFE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9345B4-2EB1-2845-4389-A0B2D843B9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A610E-104B-9EEA-BB00-0B06A5327A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Say: Imagine the receiver has recovered every bit perfectly. That still does not tell us who sent OPEN. Ask: Could an attacker also send a perfectly readable signal? Expected: yes</a:t>
            </a:r>
          </a:p>
          <a:p>
            <a:endParaRPr lang="en-US" dirty="0"/>
          </a:p>
          <a:p>
            <a:r>
              <a:rPr lang="en-US" dirty="0"/>
              <a:t>The attacker in this example can replace the command and the attached check. No secret is needed to calculate a CRC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626AD-C4C4-CDEC-B9DB-3957A85882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8704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679EC-2132-2B98-6A43-9923AFE9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23CFC-DAC3-46D5-8E49-A35EAA117B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7C8FB-BF67-3EDA-489C-BECD2C65CC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Say: Imagine the receiver has recovered every bit perfectly. That still does not tell us who sent OPEN. Ask: Could an attacker also send a perfectly readable signal? Expected: yes</a:t>
            </a:r>
          </a:p>
          <a:p>
            <a:endParaRPr lang="en-US" dirty="0"/>
          </a:p>
          <a:p>
            <a:r>
              <a:rPr lang="en-US" dirty="0"/>
              <a:t>The attacker in this example can replace the command and the attached check. No secret is needed to calculate a CRC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39CD90-BE7A-F0C7-7BAF-BCAEF4F2B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4498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65488-4AD1-5C09-AE6A-781DF93EA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15A93B-3E81-2B9D-95A1-61DB8781D3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49167-9FA2-739D-E8ED-70CD4507D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Upgrade, we now only approve from a whitelist of CRCs</a:t>
            </a:r>
          </a:p>
          <a:p>
            <a:endParaRPr lang="en-US" dirty="0"/>
          </a:p>
          <a:p>
            <a:r>
              <a:rPr lang="en-US" dirty="0"/>
              <a:t>Assume the attacker has found a second well-formed message with the approved CRC. </a:t>
            </a:r>
          </a:p>
          <a:p>
            <a:endParaRPr lang="en-US" dirty="0"/>
          </a:p>
          <a:p>
            <a:r>
              <a:rPr lang="en-US" dirty="0"/>
              <a:t>We need a check that depends on a secret, not just a different CRC rule 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51C66C-EFE7-64DA-C50F-3207586E4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38290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Trace left to right. Both endpoints already store key K. The controller calculates tag T from OPEN and K; it sends OPEN and T, not K. The door independently calculates the expected tag from the received message and its stored K. Ask: If an outsider changes OPEN to LOCK but keeps T, what should happen? Expected: verification should fail. T is a placeholder, not a computed example or recommended tag length. Correct verification rejects a mismatch. A match supports the key-holder claim but is not permission to act immediately. It could still be an old message. Use an established cryptographic library in a real implementation; students are not designing a MAC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Define replay first: recording a valid message and sending that same message again later. Ask: Does the observer need to learn the key or calculate a new tag? Expected: no. The bits and tag are unchanged, so MAC verification alone cannot distinguish the replay. This is not a CRC collision; it is reuse of a genuine message. Transition: We must give the receiver a way to recognize previously accepted commands.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Define freshness: evidence that a message belongs to the current exchange, rather than being an old accepted message reused. </a:t>
            </a:r>
            <a:endParaRPr lang="en-US" dirty="0"/>
          </a:p>
          <a:p>
            <a:r>
              <a:rPr dirty="0"/>
              <a:t>A counter is a message number that increases. </a:t>
            </a:r>
            <a:endParaRPr lang="en-US" dirty="0"/>
          </a:p>
          <a:p>
            <a:endParaRPr lang="en-US" dirty="0"/>
          </a:p>
          <a:p>
            <a:r>
              <a:rPr lang="en-US" dirty="0"/>
              <a:t>Ne </a:t>
            </a:r>
            <a:r>
              <a:rPr lang="en-US" dirty="0" err="1"/>
              <a:t>wproblem</a:t>
            </a:r>
            <a:r>
              <a:rPr lang="en-US" dirty="0"/>
              <a:t>: </a:t>
            </a:r>
            <a:r>
              <a:rPr dirty="0"/>
              <a:t>these checks do not hide OPEN from an observer. Encryption is not a replacement for the counter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An attacker can copy an encrypted OPEN message and resend it without understanding its contents.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Stolen secret key: someone who obtains the controller’s key can create valid commands.</a:t>
            </a:r>
          </a:p>
          <a:p>
            <a:pPr marL="171450" indent="-171450">
              <a:buFontTx/>
              <a:buChar char="-"/>
            </a:pPr>
            <a:r>
              <a:rPr lang="en-US" dirty="0"/>
              <a:t> Counter reset: if restarting the door makes it forget accepted counters, previously rejected replays might become acceptable again.</a:t>
            </a:r>
          </a:p>
          <a:p>
            <a:pPr marL="171450" indent="-171450">
              <a:buFontTx/>
              <a:buChar char="-"/>
            </a:pPr>
            <a:r>
              <a:rPr lang="en-US" dirty="0"/>
              <a:t> Delayed commands: our counter rule rejects previously accepted commands. A valid command that was never received earlier might still pass later if its counter is higher. </a:t>
            </a:r>
          </a:p>
          <a:p>
            <a:pPr marL="171450" indent="-171450">
              <a:buFontTx/>
              <a:buChar char="-"/>
            </a:pPr>
            <a:r>
              <a:rPr lang="en-US" dirty="0"/>
              <a:t>- Blocked communication: an attacker could prevent reception. Encryption does not make the radio signal immune to interference.</a:t>
            </a:r>
          </a:p>
          <a:p>
            <a:pPr marL="171450" indent="-171450">
              <a:buFontTx/>
              <a:buChar char="-"/>
            </a:pPr>
            <a:r>
              <a:rPr lang="en-US" dirty="0"/>
              <a:t>- Device or software compromise: an attacker controlling the receiver’s software could bypass the checks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21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Aptos Display"/>
              </a:rPr>
              <a:t>Integrity, Authentication, and Encryption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WEDNESDAY, OCTOBER 21, 2026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ounded Rectangle 18">
            <a:extLst>
              <a:ext uri="{FF2B5EF4-FFF2-40B4-BE49-F238E27FC236}">
                <a16:creationId xmlns:a16="http://schemas.microsoft.com/office/drawing/2014/main" id="{40116796-BD9D-85D8-87EF-011879E49882}"/>
              </a:ext>
            </a:extLst>
          </p:cNvPr>
          <p:cNvSpPr/>
          <p:nvPr/>
        </p:nvSpPr>
        <p:spPr>
          <a:xfrm>
            <a:off x="818546" y="3561438"/>
            <a:ext cx="2633053" cy="1636631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18">
            <a:extLst>
              <a:ext uri="{FF2B5EF4-FFF2-40B4-BE49-F238E27FC236}">
                <a16:creationId xmlns:a16="http://schemas.microsoft.com/office/drawing/2014/main" id="{4A7E98AD-4F79-3DD2-7862-D22193377319}"/>
              </a:ext>
            </a:extLst>
          </p:cNvPr>
          <p:cNvSpPr/>
          <p:nvPr/>
        </p:nvSpPr>
        <p:spPr>
          <a:xfrm>
            <a:off x="4081794" y="1653651"/>
            <a:ext cx="2633053" cy="1636631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18">
            <a:extLst>
              <a:ext uri="{FF2B5EF4-FFF2-40B4-BE49-F238E27FC236}">
                <a16:creationId xmlns:a16="http://schemas.microsoft.com/office/drawing/2014/main" id="{3D02DE38-1CBF-8E17-A74E-70421E9C7523}"/>
              </a:ext>
            </a:extLst>
          </p:cNvPr>
          <p:cNvSpPr/>
          <p:nvPr/>
        </p:nvSpPr>
        <p:spPr>
          <a:xfrm>
            <a:off x="804881" y="1653651"/>
            <a:ext cx="2633053" cy="1636631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LECTURE 20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69895" y="2112144"/>
            <a:ext cx="2390264" cy="761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0" i="0" dirty="0">
                <a:solidFill>
                  <a:srgbClr val="182028"/>
                </a:solidFill>
                <a:latin typeface="Aptos"/>
              </a:rPr>
              <a:t>Data 1011010 uses even parity. Which parity bit should be added?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889" y="2028630"/>
            <a:ext cx="2200865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0" i="0" dirty="0">
                <a:solidFill>
                  <a:srgbClr val="182028"/>
                </a:solidFill>
                <a:latin typeface="Aptos"/>
              </a:rPr>
              <a:t>The complete received word is 10100100. Does its even-parity check pass?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895" y="3823028"/>
            <a:ext cx="2214739" cy="101566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dirty="0">
                <a:solidFill>
                  <a:srgbClr val="182028"/>
                </a:solidFill>
                <a:latin typeface="Aptos"/>
              </a:rPr>
              <a:t>A valid word 10110100 changes to 1000010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1</a:t>
            </a:r>
            <a:r>
              <a:rPr sz="1650" b="0" i="0" dirty="0">
                <a:solidFill>
                  <a:srgbClr val="182028"/>
                </a:solidFill>
                <a:latin typeface="Aptos"/>
              </a:rPr>
              <a:t>. </a:t>
            </a:r>
            <a:r>
              <a:rPr lang="en-US" sz="1650" b="0" i="0" dirty="0">
                <a:solidFill>
                  <a:srgbClr val="182028"/>
                </a:solidFill>
                <a:latin typeface="Aptos"/>
              </a:rPr>
              <a:t>Does parity detect the error?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4" name="Rounded Rectangle 18">
            <a:extLst>
              <a:ext uri="{FF2B5EF4-FFF2-40B4-BE49-F238E27FC236}">
                <a16:creationId xmlns:a16="http://schemas.microsoft.com/office/drawing/2014/main" id="{7015D052-4FF1-9220-3584-11B18BC679D0}"/>
              </a:ext>
            </a:extLst>
          </p:cNvPr>
          <p:cNvSpPr/>
          <p:nvPr/>
        </p:nvSpPr>
        <p:spPr>
          <a:xfrm>
            <a:off x="7571231" y="1828800"/>
            <a:ext cx="3703320" cy="3611880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1C7282-8534-DCD4-A79E-C6293334224F}"/>
              </a:ext>
            </a:extLst>
          </p:cNvPr>
          <p:cNvSpPr/>
          <p:nvPr/>
        </p:nvSpPr>
        <p:spPr>
          <a:xfrm>
            <a:off x="7571231" y="1828800"/>
            <a:ext cx="82296" cy="361188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6DFDF2E-631B-0DF3-9CE4-0120C51C948C}"/>
              </a:ext>
            </a:extLst>
          </p:cNvPr>
          <p:cNvSpPr txBox="1"/>
          <p:nvPr/>
        </p:nvSpPr>
        <p:spPr>
          <a:xfrm>
            <a:off x="7799831" y="1993392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i="0" dirty="0">
                <a:solidFill>
                  <a:srgbClr val="17324D"/>
                </a:solidFill>
                <a:latin typeface="Aptos"/>
              </a:rPr>
              <a:t>Rate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E4738B-573B-C515-AA6F-7720EB048173}"/>
              </a:ext>
            </a:extLst>
          </p:cNvPr>
          <p:cNvSpPr txBox="1"/>
          <p:nvPr/>
        </p:nvSpPr>
        <p:spPr>
          <a:xfrm>
            <a:off x="7799831" y="2432304"/>
            <a:ext cx="3291840" cy="2709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k = 12 information bits </a:t>
            </a:r>
            <a:endParaRPr lang="en-US" sz="1700" b="0" i="0" dirty="0">
              <a:solidFill>
                <a:srgbClr val="182028"/>
              </a:solidFill>
              <a:latin typeface="Aptos"/>
            </a:endParaRPr>
          </a:p>
          <a:p>
            <a:pPr algn="l">
              <a:lnSpc>
                <a:spcPct val="102000"/>
              </a:lnSpc>
            </a:pPr>
            <a:r>
              <a:rPr sz="1700" b="0" i="0" dirty="0">
                <a:solidFill>
                  <a:srgbClr val="182028"/>
                </a:solidFill>
                <a:latin typeface="Aptos"/>
              </a:rPr>
              <a:t>n = 16 transmitted bits</a:t>
            </a:r>
            <a:endParaRPr lang="en-US" sz="1700" dirty="0">
              <a:solidFill>
                <a:srgbClr val="182028"/>
              </a:solidFill>
              <a:latin typeface="Aptos"/>
            </a:endParaRPr>
          </a:p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C</a:t>
            </a:r>
            <a:r>
              <a:rPr sz="1700" b="0" i="0" dirty="0">
                <a:solidFill>
                  <a:srgbClr val="182028"/>
                </a:solidFill>
                <a:latin typeface="Aptos"/>
              </a:rPr>
              <a:t>oded rate = 8.00 Mbit/s. Ignore other overhead and retries.</a:t>
            </a:r>
            <a:endParaRPr lang="en-US" sz="1700" b="0" i="0" dirty="0">
              <a:solidFill>
                <a:srgbClr val="182028"/>
              </a:solidFill>
              <a:latin typeface="Aptos"/>
            </a:endParaRPr>
          </a:p>
          <a:p>
            <a:pPr algn="l">
              <a:lnSpc>
                <a:spcPct val="102000"/>
              </a:lnSpc>
            </a:pPr>
            <a:endParaRPr lang="en-US" sz="1700" dirty="0">
              <a:solidFill>
                <a:srgbClr val="182028"/>
              </a:solidFill>
              <a:latin typeface="Aptos"/>
            </a:endParaRPr>
          </a:p>
          <a:p>
            <a:pPr algn="l">
              <a:lnSpc>
                <a:spcPct val="102000"/>
              </a:lnSpc>
            </a:pPr>
            <a:endParaRPr lang="en-US" sz="1700" b="0" i="0" dirty="0">
              <a:solidFill>
                <a:srgbClr val="182028"/>
              </a:solidFill>
              <a:latin typeface="Aptos"/>
            </a:endParaRPr>
          </a:p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Calculate the code rate and the added bits per codeword.</a:t>
            </a:r>
          </a:p>
          <a:p>
            <a:pPr>
              <a:lnSpc>
                <a:spcPct val="102000"/>
              </a:lnSpc>
            </a:pPr>
            <a:r>
              <a:rPr lang="en-US" dirty="0">
                <a:solidFill>
                  <a:srgbClr val="182028"/>
                </a:solidFill>
                <a:latin typeface="Aptos"/>
              </a:rPr>
              <a:t>Find the information bit rate.</a:t>
            </a:r>
          </a:p>
          <a:p>
            <a:pPr algn="l">
              <a:lnSpc>
                <a:spcPct val="102000"/>
              </a:lnSpc>
            </a:pP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DD2B1022-AEF2-CED3-5439-AD1433DBD315}"/>
              </a:ext>
            </a:extLst>
          </p:cNvPr>
          <p:cNvSpPr/>
          <p:nvPr/>
        </p:nvSpPr>
        <p:spPr>
          <a:xfrm>
            <a:off x="4115009" y="3561438"/>
            <a:ext cx="2633053" cy="1636631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2A6FE6-A8D0-9836-F59B-45662EB8D8E0}"/>
              </a:ext>
            </a:extLst>
          </p:cNvPr>
          <p:cNvSpPr txBox="1"/>
          <p:nvPr/>
        </p:nvSpPr>
        <p:spPr>
          <a:xfrm>
            <a:off x="4290950" y="3949986"/>
            <a:ext cx="2214739" cy="7617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650" dirty="0">
                <a:solidFill>
                  <a:srgbClr val="182028"/>
                </a:solidFill>
                <a:latin typeface="Aptos"/>
              </a:rPr>
              <a:t>What is the probability of a random corruption for a 16-bit CRC?</a:t>
            </a:r>
            <a:endParaRPr sz="1650" b="0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PURPOSE</a:t>
            </a:r>
            <a:r>
              <a:rPr sz="1050" b="1" i="0" dirty="0">
                <a:solidFill>
                  <a:srgbClr val="0F6D74"/>
                </a:solidFill>
                <a:latin typeface="Aptos"/>
              </a:rPr>
              <a:t> IN THE COMMUNICATION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Our current situation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121FC3BF-6B82-C42C-FDE8-9D6EB7627C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52985" y="1594944"/>
            <a:ext cx="9764110" cy="48820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9E527A-E941-96C7-65DC-635C74FDC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061D4A-7697-CA78-0CBA-D96173BB060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71CE8145-3CFA-A6A3-2D3E-D672560C6168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343B43B5-B16B-18A8-88AF-37FA5104409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560AE71-D771-8B50-F25D-22B6960B3AC7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ABF90498-B9E6-2973-5868-BA6A14AB262E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87B7B6E0-F464-2D09-FA11-B2C10D087E39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8EBABF2-AB8F-F88D-8D1D-2F3AC021A89C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7BDA54-BD10-B753-24C5-32789F7D73D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3C674C-DD9B-2775-5BCC-AB70E9C6F489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PURPOSE</a:t>
            </a:r>
            <a:r>
              <a:rPr sz="1050" b="1" i="0" dirty="0">
                <a:solidFill>
                  <a:srgbClr val="0F6D74"/>
                </a:solidFill>
                <a:latin typeface="Aptos"/>
              </a:rPr>
              <a:t> IN THE COMMUNICATION CHAIN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D9145B-9FF6-62AF-170B-102DB389ED2C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Our current situation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06B38D6-1B5D-C985-05E4-26F78FDFC40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4C9E9C3-3185-16B7-E6CC-29BA86904E85}"/>
              </a:ext>
            </a:extLst>
          </p:cNvPr>
          <p:cNvGraphicFramePr>
            <a:graphicFrameLocks noGrp="1"/>
          </p:cNvGraphicFramePr>
          <p:nvPr/>
        </p:nvGraphicFramePr>
        <p:xfrm>
          <a:off x="2015615" y="1617417"/>
          <a:ext cx="8093714" cy="475062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86629">
                  <a:extLst>
                    <a:ext uri="{9D8B030D-6E8A-4147-A177-3AD203B41FA5}">
                      <a16:colId xmlns:a16="http://schemas.microsoft.com/office/drawing/2014/main" val="2774858419"/>
                    </a:ext>
                  </a:extLst>
                </a:gridCol>
                <a:gridCol w="1586629">
                  <a:extLst>
                    <a:ext uri="{9D8B030D-6E8A-4147-A177-3AD203B41FA5}">
                      <a16:colId xmlns:a16="http://schemas.microsoft.com/office/drawing/2014/main" val="2330827001"/>
                    </a:ext>
                  </a:extLst>
                </a:gridCol>
                <a:gridCol w="1586629">
                  <a:extLst>
                    <a:ext uri="{9D8B030D-6E8A-4147-A177-3AD203B41FA5}">
                      <a16:colId xmlns:a16="http://schemas.microsoft.com/office/drawing/2014/main" val="3911653197"/>
                    </a:ext>
                  </a:extLst>
                </a:gridCol>
                <a:gridCol w="1586629">
                  <a:extLst>
                    <a:ext uri="{9D8B030D-6E8A-4147-A177-3AD203B41FA5}">
                      <a16:colId xmlns:a16="http://schemas.microsoft.com/office/drawing/2014/main" val="49080958"/>
                    </a:ext>
                  </a:extLst>
                </a:gridCol>
                <a:gridCol w="1747198">
                  <a:extLst>
                    <a:ext uri="{9D8B030D-6E8A-4147-A177-3AD203B41FA5}">
                      <a16:colId xmlns:a16="http://schemas.microsoft.com/office/drawing/2014/main" val="2811947547"/>
                    </a:ext>
                  </a:extLst>
                </a:gridCol>
              </a:tblGrid>
              <a:tr h="4665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Technique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Detect errors?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Correct errors?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Typical overhead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Common applications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3579556850"/>
                  </a:ext>
                </a:extLst>
              </a:tr>
              <a:tr h="1059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Parity bits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No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1 bit per protected group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UART, legacy memory, RAID parity (different construction)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1437594632"/>
                  </a:ext>
                </a:extLst>
              </a:tr>
              <a:tr h="625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Checksums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No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Often 16 or 32 bits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TCP, UDP, IPv4, files, software packages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1460089451"/>
                  </a:ext>
                </a:extLst>
              </a:tr>
              <a:tr h="6257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CRC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No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Typically 8, 16, or 32 bits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Ethernet, Wi-Fi, USB, CAN, storage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2930632003"/>
                  </a:ext>
                </a:extLst>
              </a:tr>
              <a:tr h="8838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Cryptographic hashes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No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256 bits for SHA-256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Software downloads, Git, digital signatures, file integrity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4261171123"/>
                  </a:ext>
                </a:extLst>
              </a:tr>
              <a:tr h="1059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ECC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Yes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>
                          <a:latin typeface="Aptos" panose="020B0004020202020204" pitchFamily="34" charset="0"/>
                        </a:rPr>
                        <a:t>Varies by code</a:t>
                      </a:r>
                    </a:p>
                  </a:txBody>
                  <a:tcPr marL="50288" marR="50288" marT="25144" marB="2514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Aptos" panose="020B0004020202020204" pitchFamily="34" charset="0"/>
                        </a:rPr>
                        <a:t>ECC RAM, SSDs, QR codes, satellite communications, cellular networks</a:t>
                      </a:r>
                    </a:p>
                  </a:txBody>
                  <a:tcPr marL="50288" marR="50288" marT="25144" marB="25144" anchor="ctr"/>
                </a:tc>
                <a:extLst>
                  <a:ext uri="{0D108BD9-81ED-4DB2-BD59-A6C34878D82A}">
                    <a16:rowId xmlns:a16="http://schemas.microsoft.com/office/drawing/2014/main" val="32183685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1439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F1AF81-C8EA-0C7A-49ED-669EA884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A5A4C2-63B4-FF72-37FF-0CE6F9D2055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C10B73A-19AC-EF6C-A47B-99A5A38DFB26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7FE571A-1226-FF95-6413-54C0C30E89E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11F0115E-B6BF-1392-1BE8-42E54BE5760B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EA91E258-0F40-E1EA-0899-C34C554A10E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832BF92-DBCF-6ED9-F4B2-D9755E587F0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3F57A6-8BE2-415B-5E44-C915D6E1E8E2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AD8E70-F00A-11D4-FE8C-D517DA5A28C0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938B25-626D-96F6-DCE4-36A9A1BEA0B4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PURPOSE</a:t>
            </a:r>
            <a:r>
              <a:rPr sz="1050" b="1" i="0" dirty="0">
                <a:solidFill>
                  <a:srgbClr val="0F6D74"/>
                </a:solidFill>
                <a:latin typeface="Aptos"/>
              </a:rPr>
              <a:t> IN THE COMMUNICATION CHAIN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EFA3F-1746-ECB9-3FDC-ED8FB0C2FA2B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The bits arrived. Should the door obey?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6E18C68-C939-6D4A-D982-37E8C159063F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BC65D808-8681-CAD5-9866-373678F40B0E}"/>
              </a:ext>
            </a:extLst>
          </p:cNvPr>
          <p:cNvSpPr/>
          <p:nvPr/>
        </p:nvSpPr>
        <p:spPr>
          <a:xfrm>
            <a:off x="1682115" y="497458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8880497-9B3D-6DBF-E0E1-1A3AE28EE718}"/>
              </a:ext>
            </a:extLst>
          </p:cNvPr>
          <p:cNvSpPr/>
          <p:nvPr/>
        </p:nvSpPr>
        <p:spPr>
          <a:xfrm>
            <a:off x="1682115" y="589356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E75B95C9-5CC0-0E10-6AD8-27664D1A3FC3}"/>
              </a:ext>
            </a:extLst>
          </p:cNvPr>
          <p:cNvSpPr/>
          <p:nvPr/>
        </p:nvSpPr>
        <p:spPr>
          <a:xfrm>
            <a:off x="1288923" y="4331949"/>
            <a:ext cx="3703320" cy="166219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4D418E2-5589-B28F-7FC5-28EA3B5790C3}"/>
              </a:ext>
            </a:extLst>
          </p:cNvPr>
          <p:cNvSpPr/>
          <p:nvPr/>
        </p:nvSpPr>
        <p:spPr>
          <a:xfrm>
            <a:off x="1288923" y="4331949"/>
            <a:ext cx="82296" cy="166219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2A12DC-C330-4461-B488-75959A464E5A}"/>
              </a:ext>
            </a:extLst>
          </p:cNvPr>
          <p:cNvSpPr txBox="1"/>
          <p:nvPr/>
        </p:nvSpPr>
        <p:spPr>
          <a:xfrm>
            <a:off x="1517523" y="4496541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So far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3C8D14-2A8D-6B7F-8DB7-CAB2C4B6928F}"/>
              </a:ext>
            </a:extLst>
          </p:cNvPr>
          <p:cNvSpPr txBox="1"/>
          <p:nvPr/>
        </p:nvSpPr>
        <p:spPr>
          <a:xfrm>
            <a:off x="1517523" y="4935453"/>
            <a:ext cx="329184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represent the information and recover the bits reliably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A85976-5BEE-30F4-3095-6723183BF0FB}"/>
              </a:ext>
            </a:extLst>
          </p:cNvPr>
          <p:cNvSpPr/>
          <p:nvPr/>
        </p:nvSpPr>
        <p:spPr>
          <a:xfrm>
            <a:off x="7463790" y="4974589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AEC0349-10EE-F1D2-9EF9-1C18163FFA0F}"/>
              </a:ext>
            </a:extLst>
          </p:cNvPr>
          <p:cNvSpPr/>
          <p:nvPr/>
        </p:nvSpPr>
        <p:spPr>
          <a:xfrm>
            <a:off x="7463790" y="5893561"/>
            <a:ext cx="100584" cy="100584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18">
            <a:extLst>
              <a:ext uri="{FF2B5EF4-FFF2-40B4-BE49-F238E27FC236}">
                <a16:creationId xmlns:a16="http://schemas.microsoft.com/office/drawing/2014/main" id="{F75B328A-95F8-D478-1213-E80551B43EEF}"/>
              </a:ext>
            </a:extLst>
          </p:cNvPr>
          <p:cNvSpPr/>
          <p:nvPr/>
        </p:nvSpPr>
        <p:spPr>
          <a:xfrm>
            <a:off x="7070598" y="4331949"/>
            <a:ext cx="3703320" cy="1662196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C7BA04-B6E3-C7EE-2307-546C6A4174AB}"/>
              </a:ext>
            </a:extLst>
          </p:cNvPr>
          <p:cNvSpPr/>
          <p:nvPr/>
        </p:nvSpPr>
        <p:spPr>
          <a:xfrm>
            <a:off x="7070598" y="4331949"/>
            <a:ext cx="82296" cy="1662196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217A1F8-3884-960C-36B0-0D1AA1C60BF4}"/>
              </a:ext>
            </a:extLst>
          </p:cNvPr>
          <p:cNvSpPr txBox="1"/>
          <p:nvPr/>
        </p:nvSpPr>
        <p:spPr>
          <a:xfrm>
            <a:off x="7299198" y="4496541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Today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43A106-52D8-633A-F2E0-F69AA587C2DF}"/>
              </a:ext>
            </a:extLst>
          </p:cNvPr>
          <p:cNvSpPr txBox="1"/>
          <p:nvPr/>
        </p:nvSpPr>
        <p:spPr>
          <a:xfrm>
            <a:off x="7299198" y="4935453"/>
            <a:ext cx="3291840" cy="79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check whether a received command should be trusted and allowed.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522299C-DA00-D77C-0F65-98A2DCB13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45439" y="1599396"/>
            <a:ext cx="6166307" cy="2568765"/>
          </a:xfrm>
          <a:prstGeom prst="rect">
            <a:avLst/>
          </a:prstGeom>
        </p:spPr>
      </p:pic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D73D995-618C-3C5F-A904-0A1A4745A4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9670382"/>
              </p:ext>
            </p:extLst>
          </p:nvPr>
        </p:nvGraphicFramePr>
        <p:xfrm>
          <a:off x="7370904" y="1657078"/>
          <a:ext cx="4432214" cy="2453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06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01504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Integrity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Was protected content changed or forged?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1504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Message authentication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Was this formed by someone with the trusted key?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504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182028"/>
                          </a:solidFill>
                          <a:latin typeface="Aptos"/>
                        </a:rPr>
                        <a:t>Authorization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Is that sender allowed to request this action?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2893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A6030-2940-D1AE-D506-B141E7A28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0932FE-D9AE-6093-3BE9-4F77FDEB8B0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F370C0AB-CA22-125A-C00D-A9B7D119016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BC761C0C-9B44-C5FB-44A2-46F8F996959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B1A30A86-E7E2-DE5D-2FB5-62168EEA49B0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A4C2086-771B-8605-3AE7-7F1886300E78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AA19B83-8718-2935-1733-C9BC709856D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D24B603-D573-44ED-9C84-B62B2D67FB5E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AA6015-DF70-F94A-46EF-B7F072EC1700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CCD3D1-149B-1FD6-6001-94F91C02B8F0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PURPOSE</a:t>
            </a:r>
            <a:r>
              <a:rPr sz="1050" b="1" i="0" dirty="0">
                <a:solidFill>
                  <a:srgbClr val="0F6D74"/>
                </a:solidFill>
                <a:latin typeface="Aptos"/>
              </a:rPr>
              <a:t> IN THE COMMUNICATION CHAIN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2FC521-FBF9-9327-7868-71B357503F3A}"/>
              </a:ext>
            </a:extLst>
          </p:cNvPr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The bits arrived. Should the door obey?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2AD2B41-DF7C-787C-E3F5-5D032418ABC3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3286A42-9A26-91EA-8DD2-29CE32D86B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074"/>
          <a:stretch>
            <a:fillRect/>
          </a:stretch>
        </p:blipFill>
        <p:spPr>
          <a:xfrm>
            <a:off x="915542" y="1697950"/>
            <a:ext cx="10262998" cy="2262781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ADE73EE-0CA5-8D2A-2340-59D121A73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194426"/>
              </p:ext>
            </p:extLst>
          </p:nvPr>
        </p:nvGraphicFramePr>
        <p:xfrm>
          <a:off x="2437209" y="4032504"/>
          <a:ext cx="7195662" cy="202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78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7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988"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What is sent?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CRC check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988"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Authorized controller sends LOCK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Matching CRC: pass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98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Attacker changes LOCK to OPEN; keeps old CRC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Fails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988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Attacker sends OPEN with a newly calculated CRC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3535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D7E4E6-5C25-F7F7-F978-366CE7769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24F081-9BF1-D63D-74A5-82D2757CAA98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DA0F9AAB-BCA1-FE67-AAD2-F20F7292E9B4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EE1EE8F-9B86-A4C4-91BF-CED4DAAF6C3A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CBCDFC2A-7BEE-1598-D4CA-613A72798F65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61ABBDAE-E847-CD49-0D13-7C99EF18E6E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6EC6D0F4-0027-6F18-27D3-C1C3B80791BA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DDA3F1-6E87-D578-053F-3081E405823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EF2EE-B793-5488-BC35-DFBDAF2D688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895DC1-06CF-234F-0DF3-65A1BD241800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PURPOSE</a:t>
            </a:r>
            <a:r>
              <a:rPr sz="1050" b="1" i="0" dirty="0">
                <a:solidFill>
                  <a:srgbClr val="0F6D74"/>
                </a:solidFill>
                <a:latin typeface="Aptos"/>
              </a:rPr>
              <a:t> IN THE COMMUNICATION CHAIN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DE2AA-D71D-9CB7-246C-B819D344D0D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900" b="1" dirty="0">
                <a:solidFill>
                  <a:srgbClr val="17324D"/>
                </a:solidFill>
                <a:latin typeface="Aptos Display"/>
              </a:rPr>
              <a:t>A matching CRC does not give permission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F34C048A-9665-30DB-4BD5-98A0F8E8953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0C49D51-E3BC-B0EE-37B8-EC8AD1F3C1A9}"/>
              </a:ext>
            </a:extLst>
          </p:cNvPr>
          <p:cNvSpPr/>
          <p:nvPr/>
        </p:nvSpPr>
        <p:spPr>
          <a:xfrm>
            <a:off x="1682115" y="5605174"/>
            <a:ext cx="100584" cy="75210"/>
          </a:xfrm>
          <a:prstGeom prst="ellipse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13FECF81-B6C5-6E7D-E05A-026416F5A68A}"/>
              </a:ext>
            </a:extLst>
          </p:cNvPr>
          <p:cNvSpPr/>
          <p:nvPr/>
        </p:nvSpPr>
        <p:spPr>
          <a:xfrm>
            <a:off x="1288923" y="4962534"/>
            <a:ext cx="3703320" cy="1364694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9348A65-4D52-4518-BA1B-71138D9A9C45}"/>
              </a:ext>
            </a:extLst>
          </p:cNvPr>
          <p:cNvSpPr/>
          <p:nvPr/>
        </p:nvSpPr>
        <p:spPr>
          <a:xfrm>
            <a:off x="1288923" y="4962534"/>
            <a:ext cx="82296" cy="1242881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49F35A3-E6AF-FAFD-B75F-FD195B91F46C}"/>
              </a:ext>
            </a:extLst>
          </p:cNvPr>
          <p:cNvSpPr txBox="1"/>
          <p:nvPr/>
        </p:nvSpPr>
        <p:spPr>
          <a:xfrm>
            <a:off x="1517523" y="5127126"/>
            <a:ext cx="329184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200" b="1" i="0" dirty="0">
                <a:solidFill>
                  <a:srgbClr val="17324D"/>
                </a:solidFill>
                <a:latin typeface="Aptos"/>
              </a:rPr>
              <a:t>Collision</a:t>
            </a:r>
            <a:endParaRPr sz="22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50976A-F644-4E2C-AC32-3B77A44181A2}"/>
              </a:ext>
            </a:extLst>
          </p:cNvPr>
          <p:cNvSpPr txBox="1"/>
          <p:nvPr/>
        </p:nvSpPr>
        <p:spPr>
          <a:xfrm>
            <a:off x="1517523" y="5566038"/>
            <a:ext cx="3291840" cy="5274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Two different inputs produce the same output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5F1DEA1-C318-BDF6-EBEF-3878FA9E2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7846"/>
          <a:stretch>
            <a:fillRect/>
          </a:stretch>
        </p:blipFill>
        <p:spPr>
          <a:xfrm>
            <a:off x="1755648" y="1600200"/>
            <a:ext cx="8481060" cy="3059738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074443B-29EA-ACB9-152A-42369F4DEB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6714244"/>
              </p:ext>
            </p:extLst>
          </p:nvPr>
        </p:nvGraphicFramePr>
        <p:xfrm>
          <a:off x="6371463" y="5049197"/>
          <a:ext cx="4807077" cy="13900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8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21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343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Aptos"/>
                        </a:rPr>
                        <a:t>Different messages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Calculated CRC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/>
                        </a:rPr>
                        <a:t>Decision</a:t>
                      </a:r>
                      <a:endParaRPr sz="14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343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82028"/>
                          </a:solidFill>
                          <a:latin typeface="Aptos"/>
                        </a:rPr>
                        <a:t>LOCK + extra byte A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028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82028"/>
                          </a:solidFill>
                          <a:latin typeface="Aptos"/>
                        </a:rPr>
                        <a:t>Accept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343"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82028"/>
                          </a:solidFill>
                          <a:latin typeface="Aptos"/>
                        </a:rPr>
                        <a:t>OPEN + </a:t>
                      </a:r>
                      <a:r>
                        <a:rPr lang="en-US" sz="1400" dirty="0">
                          <a:solidFill>
                            <a:srgbClr val="182028"/>
                          </a:solidFill>
                          <a:latin typeface="Aptos"/>
                        </a:rPr>
                        <a:t>e</a:t>
                      </a:r>
                      <a:r>
                        <a:rPr sz="1400" dirty="0">
                          <a:solidFill>
                            <a:srgbClr val="182028"/>
                          </a:solidFill>
                          <a:latin typeface="Aptos"/>
                        </a:rPr>
                        <a:t>xtra byte B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82028"/>
                          </a:solidFill>
                          <a:latin typeface="Aptos"/>
                        </a:rPr>
                        <a:t>X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dirty="0">
                          <a:solidFill>
                            <a:srgbClr val="182028"/>
                          </a:solidFill>
                          <a:latin typeface="Aptos"/>
                        </a:rPr>
                        <a:t>Accept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0956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FF93B1D0-B6CE-3EAA-532A-EBFEB3487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303" y="1236759"/>
            <a:ext cx="9343697" cy="467184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MAKE IT VISIBLE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Make check depend on a secret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18">
            <a:extLst>
              <a:ext uri="{FF2B5EF4-FFF2-40B4-BE49-F238E27FC236}">
                <a16:creationId xmlns:a16="http://schemas.microsoft.com/office/drawing/2014/main" id="{59E1F90B-E40A-57E6-ED8F-B7C5956D1222}"/>
              </a:ext>
            </a:extLst>
          </p:cNvPr>
          <p:cNvSpPr/>
          <p:nvPr/>
        </p:nvSpPr>
        <p:spPr>
          <a:xfrm>
            <a:off x="526044" y="1761427"/>
            <a:ext cx="2196136" cy="17553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875AB2-A744-2561-06BE-428B8D1EDCDF}"/>
              </a:ext>
            </a:extLst>
          </p:cNvPr>
          <p:cNvSpPr/>
          <p:nvPr/>
        </p:nvSpPr>
        <p:spPr>
          <a:xfrm>
            <a:off x="526043" y="1761431"/>
            <a:ext cx="48803" cy="1755312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1DD44E-2B12-F588-065F-BEA025C779B6}"/>
              </a:ext>
            </a:extLst>
          </p:cNvPr>
          <p:cNvSpPr txBox="1"/>
          <p:nvPr/>
        </p:nvSpPr>
        <p:spPr>
          <a:xfrm>
            <a:off x="754643" y="1902792"/>
            <a:ext cx="1952121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Message authentication code (MAC)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F47C94-0DA6-9F9A-CC93-78CB88330DFC}"/>
              </a:ext>
            </a:extLst>
          </p:cNvPr>
          <p:cNvSpPr txBox="1"/>
          <p:nvPr/>
        </p:nvSpPr>
        <p:spPr>
          <a:xfrm>
            <a:off x="754643" y="2729063"/>
            <a:ext cx="1952121" cy="654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b="0" i="0" dirty="0">
                <a:solidFill>
                  <a:srgbClr val="182028"/>
                </a:solidFill>
                <a:latin typeface="Aptos"/>
              </a:rPr>
              <a:t>a check calculated from the message and a secret key.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 VALID MESSAGE CAN STILL BE THE WRONG MESSAGE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Replay: send an old valid message again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336555"/>
              </p:ext>
            </p:extLst>
          </p:nvPr>
        </p:nvGraphicFramePr>
        <p:xfrm>
          <a:off x="1078992" y="4668699"/>
          <a:ext cx="10360152" cy="1543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7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9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3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92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Time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What happens?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What does the door see?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92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09:00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Owner sends OPEN; observer records message + tag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Valid tag; door opens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92"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09:10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Owner sends LOCK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Valid tag; door locks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92"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09:15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Observer resends the recorded OPEN + original tag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Tag is still valid; opening is unsafe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886E4051-41A1-F3B9-0F91-31BE5FBD9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875" y="1363931"/>
            <a:ext cx="6348249" cy="3174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ADD A COUNTER AND A RECEIVER RULE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Freshness: is this a new command?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2851921"/>
              </p:ext>
            </p:extLst>
          </p:nvPr>
        </p:nvGraphicFramePr>
        <p:xfrm>
          <a:off x="4361583" y="4808798"/>
          <a:ext cx="7559249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50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Received command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Valid tag?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Receiver starts with last = 41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Door A | 42 | OPEN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Accept; remember 42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82028"/>
                          </a:solidFill>
                          <a:latin typeface="Aptos"/>
                        </a:rPr>
                        <a:t>Door A | 42 | OPEN, repeated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82028"/>
                          </a:solidFill>
                          <a:latin typeface="Aptos"/>
                        </a:rPr>
                        <a:t>Reject: already accepted 42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Door A | 43 | LOCK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82028"/>
                          </a:solidFill>
                          <a:latin typeface="Aptos"/>
                        </a:rPr>
                        <a:t>Yes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dirty="0">
                          <a:solidFill>
                            <a:srgbClr val="182028"/>
                          </a:solidFill>
                          <a:latin typeface="Aptos"/>
                        </a:rPr>
                        <a:t>Accept; remember 43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Rounded Rectangle 18">
            <a:extLst>
              <a:ext uri="{FF2B5EF4-FFF2-40B4-BE49-F238E27FC236}">
                <a16:creationId xmlns:a16="http://schemas.microsoft.com/office/drawing/2014/main" id="{89CAB34E-663A-41F6-47FF-7C284BDFC393}"/>
              </a:ext>
            </a:extLst>
          </p:cNvPr>
          <p:cNvSpPr/>
          <p:nvPr/>
        </p:nvSpPr>
        <p:spPr>
          <a:xfrm>
            <a:off x="526043" y="5196318"/>
            <a:ext cx="2585019" cy="911874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C96860-D8AF-3ACD-7D27-188B65015100}"/>
              </a:ext>
            </a:extLst>
          </p:cNvPr>
          <p:cNvSpPr txBox="1"/>
          <p:nvPr/>
        </p:nvSpPr>
        <p:spPr>
          <a:xfrm>
            <a:off x="754643" y="5341308"/>
            <a:ext cx="195212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Counter/Nonce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FF45EF-2F0E-65B8-292C-AA4363889EE8}"/>
              </a:ext>
            </a:extLst>
          </p:cNvPr>
          <p:cNvSpPr txBox="1"/>
          <p:nvPr/>
        </p:nvSpPr>
        <p:spPr>
          <a:xfrm>
            <a:off x="754643" y="5621548"/>
            <a:ext cx="2148314" cy="43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dirty="0">
                <a:solidFill>
                  <a:srgbClr val="182028"/>
                </a:solidFill>
                <a:latin typeface="Aptos"/>
              </a:rPr>
              <a:t>An increasing message number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AD505B0-BDA2-2743-B133-A2CA3AD8D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764" y="1363951"/>
            <a:ext cx="6778472" cy="33892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 DIFFERENT PROBLEM NEEDS A DIFFERENT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Encryption: keep the message private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849F4971-F164-F37C-DA99-4B372C7DC3AF}"/>
              </a:ext>
            </a:extLst>
          </p:cNvPr>
          <p:cNvSpPr/>
          <p:nvPr/>
        </p:nvSpPr>
        <p:spPr>
          <a:xfrm>
            <a:off x="526043" y="5562078"/>
            <a:ext cx="2416853" cy="78167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2D3142-6EBF-F0DC-ABF6-63CCC663C7D7}"/>
              </a:ext>
            </a:extLst>
          </p:cNvPr>
          <p:cNvSpPr txBox="1"/>
          <p:nvPr/>
        </p:nvSpPr>
        <p:spPr>
          <a:xfrm>
            <a:off x="754643" y="5707068"/>
            <a:ext cx="195212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Plaintext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93BFED-B691-F2B8-CFE7-C2B2292C4759}"/>
              </a:ext>
            </a:extLst>
          </p:cNvPr>
          <p:cNvSpPr txBox="1"/>
          <p:nvPr/>
        </p:nvSpPr>
        <p:spPr>
          <a:xfrm>
            <a:off x="754643" y="5987308"/>
            <a:ext cx="2148314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dirty="0">
                <a:solidFill>
                  <a:srgbClr val="182028"/>
                </a:solidFill>
                <a:latin typeface="Aptos"/>
              </a:rPr>
              <a:t>The readable message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0" name="Rounded Rectangle 18">
            <a:extLst>
              <a:ext uri="{FF2B5EF4-FFF2-40B4-BE49-F238E27FC236}">
                <a16:creationId xmlns:a16="http://schemas.microsoft.com/office/drawing/2014/main" id="{2F2F301A-046C-2535-4C31-5108D7D3E126}"/>
              </a:ext>
            </a:extLst>
          </p:cNvPr>
          <p:cNvSpPr/>
          <p:nvPr/>
        </p:nvSpPr>
        <p:spPr>
          <a:xfrm>
            <a:off x="3275838" y="5562078"/>
            <a:ext cx="2416853" cy="78167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C11813E-53B2-7D38-81B6-23DFA940BCCA}"/>
              </a:ext>
            </a:extLst>
          </p:cNvPr>
          <p:cNvSpPr txBox="1"/>
          <p:nvPr/>
        </p:nvSpPr>
        <p:spPr>
          <a:xfrm>
            <a:off x="3504438" y="5707068"/>
            <a:ext cx="195212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00" b="1" i="0" dirty="0">
                <a:solidFill>
                  <a:srgbClr val="17324D"/>
                </a:solidFill>
                <a:latin typeface="Aptos"/>
              </a:rPr>
              <a:t>Ciphertext</a:t>
            </a:r>
            <a:endParaRPr sz="1600" b="1" i="0" dirty="0">
              <a:solidFill>
                <a:srgbClr val="17324D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A94708-34D1-E611-2D93-97A9C4976A19}"/>
              </a:ext>
            </a:extLst>
          </p:cNvPr>
          <p:cNvSpPr txBox="1"/>
          <p:nvPr/>
        </p:nvSpPr>
        <p:spPr>
          <a:xfrm>
            <a:off x="3504438" y="5987308"/>
            <a:ext cx="2148314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dirty="0">
                <a:solidFill>
                  <a:srgbClr val="182028"/>
                </a:solidFill>
                <a:latin typeface="Aptos"/>
              </a:rPr>
              <a:t>The encrypted text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3" name="Rounded Rectangle 18">
            <a:extLst>
              <a:ext uri="{FF2B5EF4-FFF2-40B4-BE49-F238E27FC236}">
                <a16:creationId xmlns:a16="http://schemas.microsoft.com/office/drawing/2014/main" id="{7CDFB296-18AF-548F-7C1A-4BA89961290F}"/>
              </a:ext>
            </a:extLst>
          </p:cNvPr>
          <p:cNvSpPr/>
          <p:nvPr/>
        </p:nvSpPr>
        <p:spPr>
          <a:xfrm>
            <a:off x="8601667" y="5562078"/>
            <a:ext cx="2416853" cy="781679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08381B-188A-5A40-34EC-493FA21A63FC}"/>
              </a:ext>
            </a:extLst>
          </p:cNvPr>
          <p:cNvSpPr txBox="1"/>
          <p:nvPr/>
        </p:nvSpPr>
        <p:spPr>
          <a:xfrm>
            <a:off x="8830267" y="5700991"/>
            <a:ext cx="2148314" cy="4964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600" dirty="0">
                <a:solidFill>
                  <a:srgbClr val="182028"/>
                </a:solidFill>
                <a:latin typeface="Aptos"/>
              </a:rPr>
              <a:t>What if we only use encryption?</a:t>
            </a:r>
            <a:endParaRPr sz="1600" b="0" i="0" dirty="0">
              <a:solidFill>
                <a:srgbClr val="182028"/>
              </a:solidFill>
              <a:latin typeface="Aptos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B3C028B-B85E-43CF-A0C6-F7892C425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317" y="1508760"/>
            <a:ext cx="7749698" cy="38748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PAUSE AND ASK BEFORE GIVING EACH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Choose the tool for the problem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746197"/>
              </p:ext>
            </p:extLst>
          </p:nvPr>
        </p:nvGraphicFramePr>
        <p:xfrm>
          <a:off x="1755648" y="2221992"/>
          <a:ext cx="8558784" cy="319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9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9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251"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FFFFFF"/>
                          </a:solidFill>
                          <a:latin typeface="Aptos"/>
                        </a:rPr>
                        <a:t>Problem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ptos"/>
                        </a:rPr>
                        <a:t>Useful protection</a:t>
                      </a:r>
                    </a:p>
                  </a:txBody>
                  <a:tcPr marL="82296" marR="82296" marT="54864" marB="36576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251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Noise changes bits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CRC with retry, or error-correcting coding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251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Outsider replaces OPEN and recalculates CRC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MAC / authenticated encryption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251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Observer resends a previously accepted OPEN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Protected counter + remembered state</a:t>
                      </a:r>
                    </a:p>
                  </a:txBody>
                  <a:tcPr marL="82296" marR="82296" marB="27432">
                    <a:solidFill>
                      <a:srgbClr val="FB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251">
                <a:tc>
                  <a:txBody>
                    <a:bodyPr/>
                    <a:lstStyle/>
                    <a:p>
                      <a:pPr algn="ctr"/>
                      <a:r>
                        <a:rPr sz="1700">
                          <a:solidFill>
                            <a:srgbClr val="182028"/>
                          </a:solidFill>
                          <a:latin typeface="Aptos"/>
                        </a:rPr>
                        <a:t>Observer reads the command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dirty="0">
                          <a:solidFill>
                            <a:srgbClr val="182028"/>
                          </a:solidFill>
                          <a:latin typeface="Aptos"/>
                        </a:rPr>
                        <a:t>Encryption / authenticated encryption</a:t>
                      </a:r>
                    </a:p>
                  </a:txBody>
                  <a:tcPr marL="82296" marR="82296" marB="27432">
                    <a:solidFill>
                      <a:srgbClr val="E3E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21 | INTEGRITY AUTHENTICATION 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CHECK UNDERSTANDING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Exit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i="0" dirty="0">
                <a:solidFill>
                  <a:srgbClr val="17324D"/>
                </a:solidFill>
                <a:latin typeface="Aptos Display"/>
              </a:rPr>
              <a:t>What can still go wrong with our final design?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BITS INTO WAVEFORMS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1490</Words>
  <Application>Microsoft Office PowerPoint</Application>
  <PresentationFormat>Widescreen</PresentationFormat>
  <Paragraphs>200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3</cp:revision>
  <dcterms:created xsi:type="dcterms:W3CDTF">2013-01-27T09:14:16Z</dcterms:created>
  <dcterms:modified xsi:type="dcterms:W3CDTF">2026-10-21T16:47:10Z</dcterms:modified>
  <cp:category/>
</cp:coreProperties>
</file>