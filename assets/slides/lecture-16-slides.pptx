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7" r:id="rId3"/>
    <p:sldId id="258" r:id="rId4"/>
    <p:sldId id="266" r:id="rId5"/>
    <p:sldId id="273" r:id="rId6"/>
    <p:sldId id="259" r:id="rId7"/>
    <p:sldId id="269" r:id="rId8"/>
    <p:sldId id="272" r:id="rId9"/>
    <p:sldId id="270" r:id="rId10"/>
    <p:sldId id="271" r:id="rId11"/>
    <p:sldId id="263"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1E8"/>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2" d="100"/>
          <a:sy n="102" d="100"/>
        </p:scale>
        <p:origin x="83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6964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distinction or case in Slide 2. Preserve the communications model before adding the cybersecurity application. The step may remain outside lock or tracking range even if initial acquisition was possible.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7043E-3BA6-02C4-2F95-B011DBAE8F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7EAFC-0AA9-2E81-5539-AFE341B9F56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797C2EB-7C48-1C16-5BBE-2022C35E6E24}"/>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E5AFF9BE-66A4-53F2-53C3-D650C50F08BB}"/>
              </a:ext>
            </a:extLst>
          </p:cNvPr>
          <p:cNvSpPr>
            <a:spLocks noGrp="1"/>
          </p:cNvSpPr>
          <p:nvPr>
            <p:ph type="sldNum" sz="quarter" idx="5"/>
          </p:nvPr>
        </p:nvSpPr>
        <p:spPr/>
      </p:sp>
    </p:spTree>
    <p:extLst>
      <p:ext uri="{BB962C8B-B14F-4D97-AF65-F5344CB8AC3E}">
        <p14:creationId xmlns:p14="http://schemas.microsoft.com/office/powerpoint/2010/main" val="108206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BB08C-7403-DD77-CA5D-B3E37BC90E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AFE58C-1D8C-1D9C-DA95-9F63A543907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9288ADE-2450-14D5-2F79-12B633C5CB58}"/>
              </a:ext>
            </a:extLst>
          </p:cNvPr>
          <p:cNvSpPr>
            <a:spLocks noGrp="1"/>
          </p:cNvSpPr>
          <p:nvPr>
            <p:ph type="body" sz="quarter" idx="3"/>
          </p:nvPr>
        </p:nvSpPr>
        <p:spPr/>
        <p:txBody>
          <a:bodyPr/>
          <a:lstStyle/>
          <a:p>
            <a:r>
              <a:rPr lang="en-US" dirty="0"/>
              <a:t>Imagine a digital signal carrying 1,000 bits per second. Each bit lasts 1 </a:t>
            </a:r>
            <a:r>
              <a:rPr lang="en-US" dirty="0" err="1"/>
              <a:t>ms</a:t>
            </a:r>
            <a:r>
              <a:rPr lang="en-US" dirty="0"/>
              <a:t>, but the receiver still needs to locate those bit intervals.</a:t>
            </a:r>
            <a:endParaRPr dirty="0"/>
          </a:p>
        </p:txBody>
      </p:sp>
      <p:sp>
        <p:nvSpPr>
          <p:cNvPr id="4" name="Slide Number Placeholder 3">
            <a:extLst>
              <a:ext uri="{FF2B5EF4-FFF2-40B4-BE49-F238E27FC236}">
                <a16:creationId xmlns:a16="http://schemas.microsoft.com/office/drawing/2014/main" id="{656FBF50-F3FA-E306-4DAE-2464730F78E3}"/>
              </a:ext>
            </a:extLst>
          </p:cNvPr>
          <p:cNvSpPr>
            <a:spLocks noGrp="1"/>
          </p:cNvSpPr>
          <p:nvPr>
            <p:ph type="sldNum" sz="quarter" idx="5"/>
          </p:nvPr>
        </p:nvSpPr>
        <p:spPr/>
      </p:sp>
    </p:spTree>
    <p:extLst>
      <p:ext uri="{BB962C8B-B14F-4D97-AF65-F5344CB8AC3E}">
        <p14:creationId xmlns:p14="http://schemas.microsoft.com/office/powerpoint/2010/main" val="16096169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Imagine a digital signal carrying 1,000 bits per second. Each bit lasts 1 </a:t>
            </a:r>
            <a:r>
              <a:rPr lang="en-US" dirty="0" err="1"/>
              <a:t>ms</a:t>
            </a:r>
            <a:r>
              <a:rPr lang="en-US" dirty="0"/>
              <a:t>, but the receiver still needs to locate those bit intervals.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D9125-0244-66D9-ACED-50E3E33A8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1D88C5-4A4F-1B2E-29F3-8F211D00994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2D9419F-1794-58E5-2F41-D99F57BB05EE}"/>
              </a:ext>
            </a:extLst>
          </p:cNvPr>
          <p:cNvSpPr>
            <a:spLocks noGrp="1"/>
          </p:cNvSpPr>
          <p:nvPr>
            <p:ph type="body" sz="quarter" idx="3"/>
          </p:nvPr>
        </p:nvSpPr>
        <p:spPr/>
        <p:txBody>
          <a:bodyPr/>
          <a:lstStyle/>
          <a:p>
            <a:r>
              <a:rPr lang="en-US" dirty="0"/>
              <a:t>Imagine a digital signal carrying 1,000 bits per second. Each bit lasts 1 </a:t>
            </a:r>
            <a:r>
              <a:rPr lang="en-US" dirty="0" err="1"/>
              <a:t>ms</a:t>
            </a:r>
            <a:r>
              <a:rPr lang="en-US" dirty="0"/>
              <a:t>, but the receiver still needs to locate those bit intervals.</a:t>
            </a:r>
            <a:endParaRPr dirty="0"/>
          </a:p>
        </p:txBody>
      </p:sp>
      <p:sp>
        <p:nvSpPr>
          <p:cNvPr id="4" name="Slide Number Placeholder 3">
            <a:extLst>
              <a:ext uri="{FF2B5EF4-FFF2-40B4-BE49-F238E27FC236}">
                <a16:creationId xmlns:a16="http://schemas.microsoft.com/office/drawing/2014/main" id="{57601F03-DB16-2C9B-1EC4-F10EE5CF2B1C}"/>
              </a:ext>
            </a:extLst>
          </p:cNvPr>
          <p:cNvSpPr>
            <a:spLocks noGrp="1"/>
          </p:cNvSpPr>
          <p:nvPr>
            <p:ph type="sldNum" sz="quarter" idx="5"/>
          </p:nvPr>
        </p:nvSpPr>
        <p:spPr/>
      </p:sp>
    </p:spTree>
    <p:extLst>
      <p:ext uri="{BB962C8B-B14F-4D97-AF65-F5344CB8AC3E}">
        <p14:creationId xmlns:p14="http://schemas.microsoft.com/office/powerpoint/2010/main" val="23187067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3D870-998F-7DEE-E1DF-090867C06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C5CC16-48A9-BB58-C88F-DFB6A919A45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C23D48A-BDEB-8698-C089-6A56F7FB4D6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F435E77-B3F9-10E6-F0C3-49A880A215BE}"/>
              </a:ext>
            </a:extLst>
          </p:cNvPr>
          <p:cNvSpPr>
            <a:spLocks noGrp="1"/>
          </p:cNvSpPr>
          <p:nvPr>
            <p:ph type="sldNum" sz="quarter" idx="5"/>
          </p:nvPr>
        </p:nvSpPr>
        <p:spPr/>
      </p:sp>
    </p:spTree>
    <p:extLst>
      <p:ext uri="{BB962C8B-B14F-4D97-AF65-F5344CB8AC3E}">
        <p14:creationId xmlns:p14="http://schemas.microsoft.com/office/powerpoint/2010/main" val="2119744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F5F90-2109-D945-571B-FE1EE7848F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418F1-9C0C-0B62-F0A8-1C311F37496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2DAEF70-E7CC-9C78-D086-537512C3543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14A6BE9-1CE9-211D-5852-C10CABA2FC27}"/>
              </a:ext>
            </a:extLst>
          </p:cNvPr>
          <p:cNvSpPr>
            <a:spLocks noGrp="1"/>
          </p:cNvSpPr>
          <p:nvPr>
            <p:ph type="sldNum" sz="quarter" idx="5"/>
          </p:nvPr>
        </p:nvSpPr>
        <p:spPr/>
      </p:sp>
    </p:spTree>
    <p:extLst>
      <p:ext uri="{BB962C8B-B14F-4D97-AF65-F5344CB8AC3E}">
        <p14:creationId xmlns:p14="http://schemas.microsoft.com/office/powerpoint/2010/main" val="8919825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C3C6C-D247-8DAF-6116-A25514E7E1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C128B4-BC01-584E-93E0-43EE22FCEED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51C7594-A00C-1F86-E4EE-87F729851FDB}"/>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B496F7F5-52DF-0E4F-6AD3-12D24C520AAC}"/>
              </a:ext>
            </a:extLst>
          </p:cNvPr>
          <p:cNvSpPr>
            <a:spLocks noGrp="1"/>
          </p:cNvSpPr>
          <p:nvPr>
            <p:ph type="sldNum" sz="quarter" idx="5"/>
          </p:nvPr>
        </p:nvSpPr>
        <p:spPr/>
      </p:sp>
    </p:spTree>
    <p:extLst>
      <p:ext uri="{BB962C8B-B14F-4D97-AF65-F5344CB8AC3E}">
        <p14:creationId xmlns:p14="http://schemas.microsoft.com/office/powerpoint/2010/main" val="11137812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hyperlink" Target="https://wwv.mcodes.org/"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jp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24D"/>
        </a:solidFill>
        <a:effectLst/>
      </p:bgPr>
    </p:bg>
    <p:spTree>
      <p:nvGrpSpPr>
        <p:cNvPr id="1" name=""/>
        <p:cNvGrpSpPr/>
        <p:nvPr/>
      </p:nvGrpSpPr>
      <p:grpSpPr>
        <a:xfrm>
          <a:off x="0" y="0"/>
          <a:ext cx="0" cy="0"/>
          <a:chOff x="0" y="0"/>
          <a:chExt cx="0" cy="0"/>
        </a:xfrm>
      </p:grpSpPr>
      <p:sp>
        <p:nvSpPr>
          <p:cNvPr id="2" name="TextBox 1"/>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9EB0BC"/>
                </a:solidFill>
                <a:latin typeface="Aptos"/>
              </a:rPr>
              <a:t>LECTURE 16 | FILTERS CLOCK RECOVERY PLLS </a:t>
            </a:r>
          </a:p>
        </p:txBody>
      </p:sp>
      <p:sp>
        <p:nvSpPr>
          <p:cNvPr id="3" name="TextBox 2"/>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9EB0BC"/>
                </a:solidFill>
                <a:latin typeface="Aptos"/>
              </a:rPr>
              <a:t>01</a:t>
            </a:r>
          </a:p>
        </p:txBody>
      </p:sp>
      <p:sp>
        <p:nvSpPr>
          <p:cNvPr id="4" name="TextBox 3"/>
          <p:cNvSpPr txBox="1"/>
          <p:nvPr/>
        </p:nvSpPr>
        <p:spPr>
          <a:xfrm>
            <a:off x="713232" y="658368"/>
            <a:ext cx="2743200" cy="365760"/>
          </a:xfrm>
          <a:prstGeom prst="rect">
            <a:avLst/>
          </a:prstGeom>
          <a:noFill/>
        </p:spPr>
        <p:txBody>
          <a:bodyPr wrap="square" lIns="0" tIns="0" rIns="0" bIns="0" anchor="t">
            <a:spAutoFit/>
          </a:bodyPr>
          <a:lstStyle/>
          <a:p>
            <a:pPr algn="l"/>
            <a:r>
              <a:rPr sz="1200" b="1" i="0">
                <a:solidFill>
                  <a:srgbClr val="62C6C8"/>
                </a:solidFill>
                <a:latin typeface="Aptos"/>
              </a:rPr>
              <a:t>CYBER 327  /  LECTURE 16</a:t>
            </a:r>
          </a:p>
        </p:txBody>
      </p:sp>
      <p:cxnSp>
        <p:nvCxnSpPr>
          <p:cNvPr id="5" name="Connector 4"/>
          <p:cNvCxnSpPr/>
          <p:nvPr/>
        </p:nvCxnSpPr>
        <p:spPr>
          <a:xfrm>
            <a:off x="731520" y="1152144"/>
            <a:ext cx="1371600" cy="0"/>
          </a:xfrm>
          <a:prstGeom prst="line">
            <a:avLst/>
          </a:prstGeom>
          <a:ln w="50800">
            <a:solidFill>
              <a:srgbClr val="D96F3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13232" y="1481328"/>
            <a:ext cx="9966960" cy="1508760"/>
          </a:xfrm>
          <a:prstGeom prst="rect">
            <a:avLst/>
          </a:prstGeom>
          <a:noFill/>
        </p:spPr>
        <p:txBody>
          <a:bodyPr wrap="square" lIns="0" tIns="0" rIns="0" bIns="0" anchor="t">
            <a:spAutoFit/>
          </a:bodyPr>
          <a:lstStyle/>
          <a:p>
            <a:pPr algn="l"/>
            <a:r>
              <a:rPr sz="4000" b="1" i="0">
                <a:solidFill>
                  <a:srgbClr val="FFFFFF"/>
                </a:solidFill>
                <a:latin typeface="Aptos Display"/>
              </a:rPr>
              <a:t>Filters, Clock Recovery, PLLs, and Synchronization</a:t>
            </a:r>
          </a:p>
        </p:txBody>
      </p:sp>
      <p:sp>
        <p:nvSpPr>
          <p:cNvPr id="7" name="TextBox 6"/>
          <p:cNvSpPr txBox="1"/>
          <p:nvPr/>
        </p:nvSpPr>
        <p:spPr>
          <a:xfrm>
            <a:off x="749808" y="3182112"/>
            <a:ext cx="8961120" cy="777240"/>
          </a:xfrm>
          <a:prstGeom prst="rect">
            <a:avLst/>
          </a:prstGeom>
          <a:noFill/>
        </p:spPr>
        <p:txBody>
          <a:bodyPr wrap="square" lIns="0" tIns="0" rIns="0" bIns="0" anchor="t">
            <a:spAutoFit/>
          </a:bodyPr>
          <a:lstStyle/>
          <a:p>
            <a:pPr algn="l"/>
            <a:r>
              <a:rPr sz="1900" b="0" i="0">
                <a:solidFill>
                  <a:srgbClr val="D6E1E7"/>
                </a:solidFill>
                <a:latin typeface="Aptos"/>
              </a:rPr>
              <a:t>A receiver must select a channel and recover timing before it can trust symbols.</a:t>
            </a:r>
          </a:p>
        </p:txBody>
      </p:sp>
      <p:sp>
        <p:nvSpPr>
          <p:cNvPr id="8" name="Rounded Rectangle 7"/>
          <p:cNvSpPr/>
          <p:nvPr/>
        </p:nvSpPr>
        <p:spPr>
          <a:xfrm>
            <a:off x="749808" y="5230368"/>
            <a:ext cx="1965960" cy="420624"/>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5230368"/>
            <a:ext cx="1965960" cy="420624"/>
          </a:xfrm>
          <a:prstGeom prst="rect">
            <a:avLst/>
          </a:prstGeom>
          <a:noFill/>
        </p:spPr>
        <p:txBody>
          <a:bodyPr wrap="square" lIns="18288" tIns="18288" rIns="18288" bIns="18288" anchor="ctr">
            <a:spAutoFit/>
          </a:bodyPr>
          <a:lstStyle/>
          <a:p>
            <a:pPr algn="ctr"/>
            <a:r>
              <a:rPr sz="1150" b="1" i="0">
                <a:solidFill>
                  <a:srgbClr val="FFFFFF"/>
                </a:solidFill>
                <a:latin typeface="Aptos"/>
              </a:rPr>
              <a:t>MONDAY, OCTOBER 12, 2026</a:t>
            </a:r>
          </a:p>
        </p:txBody>
      </p:sp>
      <p:sp>
        <p:nvSpPr>
          <p:cNvPr id="10" name="Rounded Rectangle 9"/>
          <p:cNvSpPr/>
          <p:nvPr/>
        </p:nvSpPr>
        <p:spPr>
          <a:xfrm>
            <a:off x="2871216" y="5230368"/>
            <a:ext cx="2377440" cy="420624"/>
          </a:xfrm>
          <a:prstGeom prst="round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Connector 11"/>
          <p:cNvCxnSpPr/>
          <p:nvPr/>
        </p:nvCxnSpPr>
        <p:spPr>
          <a:xfrm>
            <a:off x="7086600" y="4574286"/>
            <a:ext cx="346710" cy="220827"/>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7433310" y="4679899"/>
            <a:ext cx="346710" cy="115214"/>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80020" y="4679899"/>
            <a:ext cx="346710" cy="566471"/>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8126730" y="4929530"/>
            <a:ext cx="346710" cy="316840"/>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473440" y="4929530"/>
            <a:ext cx="346710" cy="480060"/>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8820150" y="4766310"/>
            <a:ext cx="346710" cy="643280"/>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166860" y="4766310"/>
            <a:ext cx="346710" cy="316839"/>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513570" y="4641494"/>
            <a:ext cx="346710" cy="441655"/>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860280" y="4641494"/>
            <a:ext cx="346710" cy="518465"/>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206990" y="4871923"/>
            <a:ext cx="346710" cy="288036"/>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0553700" y="4871923"/>
            <a:ext cx="346710" cy="460857"/>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900410" y="4699101"/>
            <a:ext cx="346710" cy="633679"/>
          </a:xfrm>
          <a:prstGeom prst="line">
            <a:avLst/>
          </a:prstGeom>
          <a:ln w="27940">
            <a:solidFill>
              <a:srgbClr val="62C6C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02</a:t>
            </a:r>
          </a:p>
        </p:txBody>
      </p:sp>
      <p:sp>
        <p:nvSpPr>
          <p:cNvPr id="10" name="TextBox 9"/>
          <p:cNvSpPr txBox="1"/>
          <p:nvPr/>
        </p:nvSpPr>
        <p:spPr>
          <a:xfrm>
            <a:off x="621792" y="384048"/>
            <a:ext cx="10881360" cy="161583"/>
          </a:xfrm>
          <a:prstGeom prst="rect">
            <a:avLst/>
          </a:prstGeom>
          <a:noFill/>
        </p:spPr>
        <p:txBody>
          <a:bodyPr wrap="square" lIns="0" tIns="0" rIns="0" bIns="0" anchor="t">
            <a:spAutoFit/>
          </a:bodyPr>
          <a:lstStyle/>
          <a:p>
            <a:pPr algn="l"/>
            <a:r>
              <a:rPr lang="en-US" sz="1050" b="1" i="0" dirty="0">
                <a:solidFill>
                  <a:srgbClr val="0F6D74"/>
                </a:solidFill>
                <a:latin typeface="Aptos"/>
              </a:rPr>
              <a:t>RECALL</a:t>
            </a:r>
            <a:endParaRPr sz="1050" b="1" i="0" dirty="0">
              <a:solidFill>
                <a:srgbClr val="0F6D74"/>
              </a:solidFill>
              <a:latin typeface="Aptos"/>
            </a:endParaRPr>
          </a:p>
        </p:txBody>
      </p:sp>
      <p:sp>
        <p:nvSpPr>
          <p:cNvPr id="11" name="TextBox 10"/>
          <p:cNvSpPr txBox="1"/>
          <p:nvPr/>
        </p:nvSpPr>
        <p:spPr>
          <a:xfrm>
            <a:off x="594360" y="749808"/>
            <a:ext cx="10881360" cy="415498"/>
          </a:xfrm>
          <a:prstGeom prst="rect">
            <a:avLst/>
          </a:prstGeom>
          <a:noFill/>
        </p:spPr>
        <p:txBody>
          <a:bodyPr wrap="square" lIns="0" tIns="0" rIns="0" bIns="0" anchor="t">
            <a:spAutoFit/>
          </a:bodyPr>
          <a:lstStyle/>
          <a:p>
            <a:pPr algn="l"/>
            <a:r>
              <a:rPr lang="en-US" sz="2700" b="1" i="0" dirty="0">
                <a:solidFill>
                  <a:srgbClr val="17324D"/>
                </a:solidFill>
                <a:latin typeface="Aptos Display"/>
              </a:rPr>
              <a:t>The Communication System</a:t>
            </a:r>
            <a:endParaRPr sz="2700" b="1" i="0" dirty="0">
              <a:solidFill>
                <a:srgbClr val="17324D"/>
              </a:solidFill>
              <a:latin typeface="Aptos Display"/>
            </a:endParaRP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71892" y="1969173"/>
            <a:ext cx="1865376" cy="566926"/>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71892" y="2128756"/>
            <a:ext cx="1865376" cy="247760"/>
          </a:xfrm>
          <a:prstGeom prst="rect">
            <a:avLst/>
          </a:prstGeom>
          <a:noFill/>
        </p:spPr>
        <p:txBody>
          <a:bodyPr wrap="square" lIns="27432" tIns="27432" rIns="27432" bIns="27432" anchor="ctr">
            <a:spAutoFit/>
          </a:bodyPr>
          <a:lstStyle/>
          <a:p>
            <a:pPr algn="ctr"/>
            <a:r>
              <a:rPr sz="1250" b="1" i="0" dirty="0">
                <a:solidFill>
                  <a:srgbClr val="FFFFFF"/>
                </a:solidFill>
                <a:latin typeface="Aptos"/>
              </a:rPr>
              <a:t>Message</a:t>
            </a:r>
          </a:p>
        </p:txBody>
      </p:sp>
      <p:sp>
        <p:nvSpPr>
          <p:cNvPr id="15" name="Chevron 14"/>
          <p:cNvSpPr/>
          <p:nvPr/>
        </p:nvSpPr>
        <p:spPr>
          <a:xfrm>
            <a:off x="2261036" y="2171036"/>
            <a:ext cx="90792" cy="154056"/>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2962656" y="2194561"/>
            <a:ext cx="1865376" cy="566926"/>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962656" y="2354144"/>
            <a:ext cx="1865376" cy="247760"/>
          </a:xfrm>
          <a:prstGeom prst="rect">
            <a:avLst/>
          </a:prstGeom>
          <a:noFill/>
        </p:spPr>
        <p:txBody>
          <a:bodyPr wrap="square" lIns="27432" tIns="27432" rIns="27432" bIns="27432" anchor="ctr">
            <a:spAutoFit/>
          </a:bodyPr>
          <a:lstStyle/>
          <a:p>
            <a:pPr algn="ctr"/>
            <a:r>
              <a:rPr sz="1250" b="1" i="0" dirty="0">
                <a:solidFill>
                  <a:srgbClr val="FFFFFF"/>
                </a:solidFill>
                <a:latin typeface="Aptos"/>
              </a:rPr>
              <a:t>Transmitter</a:t>
            </a:r>
          </a:p>
        </p:txBody>
      </p:sp>
      <p:sp>
        <p:nvSpPr>
          <p:cNvPr id="18" name="Chevron 17"/>
          <p:cNvSpPr/>
          <p:nvPr/>
        </p:nvSpPr>
        <p:spPr>
          <a:xfrm>
            <a:off x="4951800" y="2396424"/>
            <a:ext cx="90792" cy="154056"/>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5128840" y="3020084"/>
            <a:ext cx="1865376" cy="566926"/>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236140" y="3179667"/>
            <a:ext cx="1650776" cy="247760"/>
          </a:xfrm>
          <a:prstGeom prst="rect">
            <a:avLst/>
          </a:prstGeom>
          <a:noFill/>
        </p:spPr>
        <p:txBody>
          <a:bodyPr wrap="square" lIns="27432" tIns="27432" rIns="27432" bIns="27432" anchor="ctr">
            <a:spAutoFit/>
          </a:bodyPr>
          <a:lstStyle/>
          <a:p>
            <a:pPr algn="ctr"/>
            <a:r>
              <a:rPr sz="1250" b="1" i="0">
                <a:solidFill>
                  <a:srgbClr val="FFFFFF"/>
                </a:solidFill>
                <a:latin typeface="Aptos"/>
              </a:rPr>
              <a:t>Medium</a:t>
            </a:r>
          </a:p>
        </p:txBody>
      </p:sp>
      <p:sp>
        <p:nvSpPr>
          <p:cNvPr id="21" name="Chevron 20"/>
          <p:cNvSpPr/>
          <p:nvPr/>
        </p:nvSpPr>
        <p:spPr>
          <a:xfrm>
            <a:off x="7155504" y="3273371"/>
            <a:ext cx="90792" cy="154056"/>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370064" y="2194561"/>
            <a:ext cx="1865376" cy="566926"/>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77364" y="2354144"/>
            <a:ext cx="1650776" cy="247760"/>
          </a:xfrm>
          <a:prstGeom prst="rect">
            <a:avLst/>
          </a:prstGeom>
          <a:noFill/>
        </p:spPr>
        <p:txBody>
          <a:bodyPr wrap="square" lIns="27432" tIns="27432" rIns="27432" bIns="27432" anchor="ctr">
            <a:spAutoFit/>
          </a:bodyPr>
          <a:lstStyle/>
          <a:p>
            <a:pPr algn="ctr"/>
            <a:r>
              <a:rPr sz="1250" b="1" i="0">
                <a:solidFill>
                  <a:srgbClr val="FFFFFF"/>
                </a:solidFill>
                <a:latin typeface="Aptos"/>
              </a:rPr>
              <a:t>Receiver</a:t>
            </a:r>
          </a:p>
        </p:txBody>
      </p:sp>
      <p:sp>
        <p:nvSpPr>
          <p:cNvPr id="24" name="Chevron 23"/>
          <p:cNvSpPr/>
          <p:nvPr/>
        </p:nvSpPr>
        <p:spPr>
          <a:xfrm>
            <a:off x="9359208" y="2396424"/>
            <a:ext cx="90792" cy="154056"/>
          </a:xfrm>
          <a:prstGeom prst="chevron">
            <a:avLst/>
          </a:prstGeom>
          <a:solidFill>
            <a:srgbClr val="5F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9573768" y="2194561"/>
            <a:ext cx="1865376" cy="566926"/>
          </a:xfrm>
          <a:prstGeom prst="roundRect">
            <a:avLst/>
          </a:prstGeom>
          <a:solidFill>
            <a:srgbClr val="173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573768" y="2354144"/>
            <a:ext cx="1865376" cy="247760"/>
          </a:xfrm>
          <a:prstGeom prst="rect">
            <a:avLst/>
          </a:prstGeom>
          <a:noFill/>
        </p:spPr>
        <p:txBody>
          <a:bodyPr wrap="square" lIns="27432" tIns="27432" rIns="27432" bIns="27432" anchor="ctr">
            <a:spAutoFit/>
          </a:bodyPr>
          <a:lstStyle/>
          <a:p>
            <a:pPr algn="ctr"/>
            <a:r>
              <a:rPr sz="1250" b="1" i="0">
                <a:solidFill>
                  <a:srgbClr val="FFFFFF"/>
                </a:solidFill>
                <a:latin typeface="Aptos"/>
              </a:rPr>
              <a:t>Recovered message</a:t>
            </a:r>
          </a:p>
        </p:txBody>
      </p:sp>
      <p:pic>
        <p:nvPicPr>
          <p:cNvPr id="34" name="Picture 33">
            <a:extLst>
              <a:ext uri="{FF2B5EF4-FFF2-40B4-BE49-F238E27FC236}">
                <a16:creationId xmlns:a16="http://schemas.microsoft.com/office/drawing/2014/main" id="{F6DE57B6-709F-0B76-7379-0C6EC8EED22A}"/>
              </a:ext>
            </a:extLst>
          </p:cNvPr>
          <p:cNvPicPr>
            <a:picLocks noChangeAspect="1"/>
          </p:cNvPicPr>
          <p:nvPr/>
        </p:nvPicPr>
        <p:blipFill>
          <a:blip r:embed="rId3"/>
          <a:srcRect/>
          <a:stretch>
            <a:fillRect/>
          </a:stretch>
        </p:blipFill>
        <p:spPr>
          <a:xfrm>
            <a:off x="855706" y="2731944"/>
            <a:ext cx="3999300" cy="2666200"/>
          </a:xfrm>
          <a:prstGeom prst="rect">
            <a:avLst/>
          </a:prstGeom>
        </p:spPr>
      </p:pic>
      <p:pic>
        <p:nvPicPr>
          <p:cNvPr id="36" name="Picture 35">
            <a:extLst>
              <a:ext uri="{FF2B5EF4-FFF2-40B4-BE49-F238E27FC236}">
                <a16:creationId xmlns:a16="http://schemas.microsoft.com/office/drawing/2014/main" id="{E87F4398-806A-E781-F7F8-7911BFE6ED61}"/>
              </a:ext>
            </a:extLst>
          </p:cNvPr>
          <p:cNvPicPr>
            <a:picLocks noChangeAspect="1"/>
          </p:cNvPicPr>
          <p:nvPr/>
        </p:nvPicPr>
        <p:blipFill>
          <a:blip r:embed="rId4"/>
          <a:srcRect/>
          <a:stretch>
            <a:fillRect/>
          </a:stretch>
        </p:blipFill>
        <p:spPr>
          <a:xfrm flipH="1">
            <a:off x="7489755" y="2791206"/>
            <a:ext cx="3686175" cy="2457450"/>
          </a:xfrm>
          <a:prstGeom prst="rect">
            <a:avLst/>
          </a:prstGeom>
        </p:spPr>
      </p:pic>
      <p:sp>
        <p:nvSpPr>
          <p:cNvPr id="28" name="TextBox 27">
            <a:extLst>
              <a:ext uri="{FF2B5EF4-FFF2-40B4-BE49-F238E27FC236}">
                <a16:creationId xmlns:a16="http://schemas.microsoft.com/office/drawing/2014/main" id="{05ECF53B-5670-31A1-6682-2D63B7C44FB3}"/>
              </a:ext>
            </a:extLst>
          </p:cNvPr>
          <p:cNvSpPr txBox="1"/>
          <p:nvPr/>
        </p:nvSpPr>
        <p:spPr>
          <a:xfrm>
            <a:off x="6994216" y="1454891"/>
            <a:ext cx="3076108" cy="615553"/>
          </a:xfrm>
          <a:prstGeom prst="rect">
            <a:avLst/>
          </a:prstGeom>
          <a:noFill/>
        </p:spPr>
        <p:txBody>
          <a:bodyPr wrap="square">
            <a:spAutoFit/>
          </a:bodyPr>
          <a:lstStyle/>
          <a:p>
            <a:r>
              <a:rPr lang="en-US" sz="1700" b="1" dirty="0">
                <a:latin typeface="Aptos" panose="020B0004020202020204" pitchFamily="34" charset="0"/>
              </a:rPr>
              <a:t>Distance α cost, power, size	</a:t>
            </a:r>
          </a:p>
          <a:p>
            <a:r>
              <a:rPr lang="en-US" sz="1700" b="1" dirty="0">
                <a:latin typeface="Aptos" panose="020B0004020202020204" pitchFamily="34" charset="0"/>
              </a:rPr>
              <a:t>Must amplify weak signal</a:t>
            </a:r>
          </a:p>
        </p:txBody>
      </p:sp>
      <p:sp>
        <p:nvSpPr>
          <p:cNvPr id="35" name="TextBox 34">
            <a:extLst>
              <a:ext uri="{FF2B5EF4-FFF2-40B4-BE49-F238E27FC236}">
                <a16:creationId xmlns:a16="http://schemas.microsoft.com/office/drawing/2014/main" id="{29440F65-0592-2A67-BEAA-CB3F76833514}"/>
              </a:ext>
            </a:extLst>
          </p:cNvPr>
          <p:cNvSpPr txBox="1"/>
          <p:nvPr/>
        </p:nvSpPr>
        <p:spPr>
          <a:xfrm>
            <a:off x="3021902" y="1537069"/>
            <a:ext cx="2865120" cy="527452"/>
          </a:xfrm>
          <a:prstGeom prst="rect">
            <a:avLst/>
          </a:prstGeom>
          <a:noFill/>
        </p:spPr>
        <p:txBody>
          <a:bodyPr wrap="square" lIns="0" tIns="0" rIns="0" bIns="0" anchor="t">
            <a:spAutoFit/>
          </a:bodyPr>
          <a:lstStyle/>
          <a:p>
            <a:pPr algn="l">
              <a:lnSpc>
                <a:spcPct val="102000"/>
              </a:lnSpc>
            </a:pPr>
            <a:r>
              <a:rPr lang="en-US" sz="1700" b="1" i="0" dirty="0">
                <a:solidFill>
                  <a:srgbClr val="182028"/>
                </a:solidFill>
                <a:latin typeface="Aptos"/>
              </a:rPr>
              <a:t>Must produce high dv/dt	</a:t>
            </a:r>
          </a:p>
          <a:p>
            <a:pPr algn="l">
              <a:lnSpc>
                <a:spcPct val="102000"/>
              </a:lnSpc>
            </a:pPr>
            <a:r>
              <a:rPr lang="en-US" sz="1700" b="1" i="0" dirty="0">
                <a:solidFill>
                  <a:srgbClr val="182028"/>
                </a:solidFill>
                <a:latin typeface="Aptos"/>
              </a:rPr>
              <a:t>Must deal with noise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16 | FILTERS CLOCK RECOVERY PLLS </a:t>
            </a:r>
          </a:p>
        </p:txBody>
      </p:sp>
      <p:sp>
        <p:nvSpPr>
          <p:cNvPr id="9" name="TextBox 8"/>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03</a:t>
            </a:r>
          </a:p>
        </p:txBody>
      </p:sp>
      <p:sp>
        <p:nvSpPr>
          <p:cNvPr id="10" name="TextBox 9"/>
          <p:cNvSpPr txBox="1"/>
          <p:nvPr/>
        </p:nvSpPr>
        <p:spPr>
          <a:xfrm>
            <a:off x="621792" y="384048"/>
            <a:ext cx="10881360" cy="292608"/>
          </a:xfrm>
          <a:prstGeom prst="rect">
            <a:avLst/>
          </a:prstGeom>
          <a:noFill/>
        </p:spPr>
        <p:txBody>
          <a:bodyPr wrap="square" lIns="0" tIns="0" rIns="0" bIns="0" anchor="t">
            <a:spAutoFit/>
          </a:bodyPr>
          <a:lstStyle/>
          <a:p>
            <a:pPr algn="l"/>
            <a:r>
              <a:rPr lang="en-US" sz="1050" b="1" i="0" dirty="0">
                <a:solidFill>
                  <a:srgbClr val="0F6D74"/>
                </a:solidFill>
                <a:latin typeface="Aptos"/>
              </a:rPr>
              <a:t>COMMUNICATIONS FOUNDATION</a:t>
            </a:r>
            <a:endParaRPr sz="1050" b="1" i="0" dirty="0">
              <a:solidFill>
                <a:srgbClr val="0F6D74"/>
              </a:solidFill>
              <a:latin typeface="Aptos"/>
            </a:endParaRPr>
          </a:p>
        </p:txBody>
      </p:sp>
      <p:sp>
        <p:nvSpPr>
          <p:cNvPr id="11" name="TextBox 10"/>
          <p:cNvSpPr txBox="1"/>
          <p:nvPr/>
        </p:nvSpPr>
        <p:spPr>
          <a:xfrm>
            <a:off x="594360" y="749808"/>
            <a:ext cx="10881360" cy="446276"/>
          </a:xfrm>
          <a:prstGeom prst="rect">
            <a:avLst/>
          </a:prstGeom>
          <a:noFill/>
        </p:spPr>
        <p:txBody>
          <a:bodyPr wrap="square" lIns="0" tIns="0" rIns="0" bIns="0" anchor="t">
            <a:spAutoFit/>
          </a:bodyPr>
          <a:lstStyle/>
          <a:p>
            <a:pPr algn="l"/>
            <a:r>
              <a:rPr lang="en-US" sz="2900" b="1" i="0" dirty="0">
                <a:solidFill>
                  <a:srgbClr val="17324D"/>
                </a:solidFill>
                <a:latin typeface="Aptos Display"/>
              </a:rPr>
              <a:t>Filters keep the signal you want</a:t>
            </a:r>
            <a:endParaRPr sz="2900" b="1" i="0" dirty="0">
              <a:solidFill>
                <a:srgbClr val="17324D"/>
              </a:solidFill>
              <a:latin typeface="Aptos Display"/>
            </a:endParaRP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p:cNvGraphicFramePr>
            <a:graphicFrameLocks noGrp="1"/>
          </p:cNvGraphicFramePr>
          <p:nvPr>
            <p:extLst>
              <p:ext uri="{D42A27DB-BD31-4B8C-83A1-F6EECF244321}">
                <p14:modId xmlns:p14="http://schemas.microsoft.com/office/powerpoint/2010/main" val="3297006964"/>
              </p:ext>
            </p:extLst>
          </p:nvPr>
        </p:nvGraphicFramePr>
        <p:xfrm>
          <a:off x="564215" y="1726436"/>
          <a:ext cx="4619932" cy="3321055"/>
        </p:xfrm>
        <a:graphic>
          <a:graphicData uri="http://schemas.openxmlformats.org/drawingml/2006/table">
            <a:tbl>
              <a:tblPr firstRow="1" bandRow="1">
                <a:tableStyleId>{5C22544A-7EE6-4342-B048-85BDC9FD1C3A}</a:tableStyleId>
              </a:tblPr>
              <a:tblGrid>
                <a:gridCol w="2098598">
                  <a:extLst>
                    <a:ext uri="{9D8B030D-6E8A-4147-A177-3AD203B41FA5}">
                      <a16:colId xmlns:a16="http://schemas.microsoft.com/office/drawing/2014/main" val="20001"/>
                    </a:ext>
                  </a:extLst>
                </a:gridCol>
                <a:gridCol w="2521334">
                  <a:extLst>
                    <a:ext uri="{9D8B030D-6E8A-4147-A177-3AD203B41FA5}">
                      <a16:colId xmlns:a16="http://schemas.microsoft.com/office/drawing/2014/main" val="20002"/>
                    </a:ext>
                  </a:extLst>
                </a:gridCol>
              </a:tblGrid>
              <a:tr h="664211">
                <a:tc>
                  <a:txBody>
                    <a:bodyPr/>
                    <a:lstStyle/>
                    <a:p>
                      <a:pPr algn="ctr"/>
                      <a:r>
                        <a:rPr lang="en-US" sz="1250" b="1" dirty="0">
                          <a:solidFill>
                            <a:srgbClr val="FFFFFF"/>
                          </a:solidFill>
                          <a:latin typeface="Aptos"/>
                        </a:rPr>
                        <a:t>Filter</a:t>
                      </a:r>
                      <a:endParaRPr sz="1250" b="1" dirty="0">
                        <a:solidFill>
                          <a:srgbClr val="FFFFFF"/>
                        </a:solidFill>
                        <a:latin typeface="Aptos"/>
                      </a:endParaRPr>
                    </a:p>
                  </a:txBody>
                  <a:tcPr marL="82296" marR="82296" marT="54864" marB="36576">
                    <a:solidFill>
                      <a:srgbClr val="17324D"/>
                    </a:solidFill>
                  </a:tcPr>
                </a:tc>
                <a:tc>
                  <a:txBody>
                    <a:bodyPr/>
                    <a:lstStyle/>
                    <a:p>
                      <a:pPr algn="ctr"/>
                      <a:r>
                        <a:rPr lang="en-US" sz="1250" b="1" dirty="0">
                          <a:solidFill>
                            <a:srgbClr val="FFFFFF"/>
                          </a:solidFill>
                          <a:latin typeface="Aptos"/>
                        </a:rPr>
                        <a:t>V across</a:t>
                      </a:r>
                      <a:endParaRPr sz="1250" b="1" dirty="0">
                        <a:solidFill>
                          <a:srgbClr val="FFFFFF"/>
                        </a:solidFill>
                        <a:latin typeface="Aptos"/>
                      </a:endParaRPr>
                    </a:p>
                  </a:txBody>
                  <a:tcPr marL="82296" marR="82296" marT="54864" marB="36576">
                    <a:solidFill>
                      <a:srgbClr val="17324D"/>
                    </a:solidFill>
                  </a:tcPr>
                </a:tc>
                <a:extLst>
                  <a:ext uri="{0D108BD9-81ED-4DB2-BD59-A6C34878D82A}">
                    <a16:rowId xmlns:a16="http://schemas.microsoft.com/office/drawing/2014/main" val="10000"/>
                  </a:ext>
                </a:extLst>
              </a:tr>
              <a:tr h="664211">
                <a:tc>
                  <a:txBody>
                    <a:bodyPr/>
                    <a:lstStyle/>
                    <a:p>
                      <a:pPr algn="ctr"/>
                      <a:r>
                        <a:rPr lang="en-US" sz="1250" dirty="0">
                          <a:solidFill>
                            <a:srgbClr val="182028"/>
                          </a:solidFill>
                          <a:latin typeface="Aptos"/>
                        </a:rPr>
                        <a:t>Low pass</a:t>
                      </a:r>
                      <a:endParaRPr sz="1250" dirty="0">
                        <a:solidFill>
                          <a:srgbClr val="182028"/>
                        </a:solidFill>
                        <a:latin typeface="Aptos"/>
                      </a:endParaRPr>
                    </a:p>
                  </a:txBody>
                  <a:tcPr marL="82296" marR="82296" marB="27432" anchor="ctr">
                    <a:solidFill>
                      <a:srgbClr val="FBF9F4"/>
                    </a:solidFill>
                  </a:tcPr>
                </a:tc>
                <a:tc>
                  <a:txBody>
                    <a:bodyPr/>
                    <a:lstStyle/>
                    <a:p>
                      <a:pPr algn="ctr"/>
                      <a:endParaRPr lang="en-US" sz="1250" dirty="0">
                        <a:solidFill>
                          <a:srgbClr val="182028"/>
                        </a:solidFill>
                        <a:latin typeface="Aptos"/>
                      </a:endParaRPr>
                    </a:p>
                  </a:txBody>
                  <a:tcPr marL="82296" marR="82296" marB="27432" anchor="ctr">
                    <a:solidFill>
                      <a:srgbClr val="FBF9F4"/>
                    </a:solidFill>
                  </a:tcPr>
                </a:tc>
                <a:extLst>
                  <a:ext uri="{0D108BD9-81ED-4DB2-BD59-A6C34878D82A}">
                    <a16:rowId xmlns:a16="http://schemas.microsoft.com/office/drawing/2014/main" val="10001"/>
                  </a:ext>
                </a:extLst>
              </a:tr>
              <a:tr h="664211">
                <a:tc>
                  <a:txBody>
                    <a:bodyPr/>
                    <a:lstStyle/>
                    <a:p>
                      <a:pPr algn="ctr"/>
                      <a:r>
                        <a:rPr lang="en-US" sz="1250" dirty="0">
                          <a:solidFill>
                            <a:srgbClr val="182028"/>
                          </a:solidFill>
                          <a:latin typeface="Aptos"/>
                        </a:rPr>
                        <a:t>High-pass</a:t>
                      </a:r>
                      <a:endParaRPr sz="1250" dirty="0">
                        <a:solidFill>
                          <a:srgbClr val="182028"/>
                        </a:solidFill>
                        <a:latin typeface="Aptos"/>
                      </a:endParaRPr>
                    </a:p>
                  </a:txBody>
                  <a:tcPr marL="82296" marR="82296" marB="27432" anchor="ctr">
                    <a:solidFill>
                      <a:srgbClr val="E3EBF1"/>
                    </a:solidFill>
                  </a:tcPr>
                </a:tc>
                <a:tc>
                  <a:txBody>
                    <a:bodyPr/>
                    <a:lstStyle/>
                    <a:p>
                      <a:pPr algn="ctr"/>
                      <a:endParaRPr lang="en-US" sz="1250" dirty="0">
                        <a:solidFill>
                          <a:srgbClr val="182028"/>
                        </a:solidFill>
                        <a:latin typeface="Aptos"/>
                      </a:endParaRPr>
                    </a:p>
                  </a:txBody>
                  <a:tcPr marL="82296" marR="82296" marB="27432" anchor="ctr">
                    <a:solidFill>
                      <a:srgbClr val="E3EBF1"/>
                    </a:solidFill>
                  </a:tcPr>
                </a:tc>
                <a:extLst>
                  <a:ext uri="{0D108BD9-81ED-4DB2-BD59-A6C34878D82A}">
                    <a16:rowId xmlns:a16="http://schemas.microsoft.com/office/drawing/2014/main" val="10002"/>
                  </a:ext>
                </a:extLst>
              </a:tr>
              <a:tr h="664211">
                <a:tc>
                  <a:txBody>
                    <a:bodyPr/>
                    <a:lstStyle/>
                    <a:p>
                      <a:pPr algn="ctr"/>
                      <a:r>
                        <a:rPr lang="en-US" sz="1250" dirty="0">
                          <a:solidFill>
                            <a:srgbClr val="182028"/>
                          </a:solidFill>
                          <a:latin typeface="Aptos"/>
                        </a:rPr>
                        <a:t>Band-pass</a:t>
                      </a:r>
                      <a:endParaRPr sz="1250" dirty="0">
                        <a:solidFill>
                          <a:srgbClr val="182028"/>
                        </a:solidFill>
                        <a:latin typeface="Aptos"/>
                      </a:endParaRPr>
                    </a:p>
                  </a:txBody>
                  <a:tcPr marL="82296" marR="82296" marB="27432" anchor="ctr">
                    <a:solidFill>
                      <a:srgbClr val="FBF9F4"/>
                    </a:solidFill>
                  </a:tcPr>
                </a:tc>
                <a:tc>
                  <a:txBody>
                    <a:bodyPr/>
                    <a:lstStyle/>
                    <a:p>
                      <a:pPr algn="ctr"/>
                      <a:endParaRPr lang="en-US" sz="1250" dirty="0">
                        <a:solidFill>
                          <a:srgbClr val="182028"/>
                        </a:solidFill>
                        <a:latin typeface="Aptos"/>
                      </a:endParaRPr>
                    </a:p>
                  </a:txBody>
                  <a:tcPr marL="82296" marR="82296" marB="27432" anchor="ctr">
                    <a:solidFill>
                      <a:srgbClr val="FBF9F4"/>
                    </a:solidFill>
                  </a:tcPr>
                </a:tc>
                <a:extLst>
                  <a:ext uri="{0D108BD9-81ED-4DB2-BD59-A6C34878D82A}">
                    <a16:rowId xmlns:a16="http://schemas.microsoft.com/office/drawing/2014/main" val="10003"/>
                  </a:ext>
                </a:extLst>
              </a:tr>
              <a:tr h="664211">
                <a:tc>
                  <a:txBody>
                    <a:bodyPr/>
                    <a:lstStyle/>
                    <a:p>
                      <a:pPr algn="ctr"/>
                      <a:r>
                        <a:rPr lang="en-US" sz="1250" dirty="0">
                          <a:solidFill>
                            <a:srgbClr val="182028"/>
                          </a:solidFill>
                          <a:latin typeface="Aptos"/>
                        </a:rPr>
                        <a:t>Band-stop</a:t>
                      </a:r>
                    </a:p>
                  </a:txBody>
                  <a:tcPr marL="82296" marR="82296" marB="27432" anchor="ctr">
                    <a:solidFill>
                      <a:srgbClr val="E3EBF1"/>
                    </a:solidFill>
                  </a:tcPr>
                </a:tc>
                <a:tc>
                  <a:txBody>
                    <a:bodyPr/>
                    <a:lstStyle/>
                    <a:p>
                      <a:pPr algn="ctr"/>
                      <a:endParaRPr lang="en-US" sz="1250" dirty="0">
                        <a:solidFill>
                          <a:srgbClr val="182028"/>
                        </a:solidFill>
                        <a:latin typeface="Aptos"/>
                      </a:endParaRPr>
                    </a:p>
                  </a:txBody>
                  <a:tcPr marL="82296" marR="82296" marB="27432" anchor="ctr">
                    <a:solidFill>
                      <a:srgbClr val="E3EBF1"/>
                    </a:solidFill>
                  </a:tcPr>
                </a:tc>
                <a:extLst>
                  <a:ext uri="{0D108BD9-81ED-4DB2-BD59-A6C34878D82A}">
                    <a16:rowId xmlns:a16="http://schemas.microsoft.com/office/drawing/2014/main" val="10004"/>
                  </a:ext>
                </a:extLst>
              </a:tr>
            </a:tbl>
          </a:graphicData>
        </a:graphic>
      </p:graphicFrame>
      <p:pic>
        <p:nvPicPr>
          <p:cNvPr id="16" name="Picture 15">
            <a:extLst>
              <a:ext uri="{FF2B5EF4-FFF2-40B4-BE49-F238E27FC236}">
                <a16:creationId xmlns:a16="http://schemas.microsoft.com/office/drawing/2014/main" id="{5C8CAD8E-D106-163C-EAA2-7628BB962DA2}"/>
              </a:ext>
            </a:extLst>
          </p:cNvPr>
          <p:cNvPicPr>
            <a:picLocks noChangeAspect="1"/>
          </p:cNvPicPr>
          <p:nvPr/>
        </p:nvPicPr>
        <p:blipFill>
          <a:blip r:embed="rId3"/>
          <a:srcRect/>
          <a:stretch>
            <a:fillRect/>
          </a:stretch>
        </p:blipFill>
        <p:spPr>
          <a:xfrm>
            <a:off x="6096000" y="478803"/>
            <a:ext cx="4619932" cy="2332216"/>
          </a:xfrm>
          <a:prstGeom prst="rect">
            <a:avLst/>
          </a:prstGeom>
        </p:spPr>
      </p:pic>
      <p:pic>
        <p:nvPicPr>
          <p:cNvPr id="18" name="Picture 17">
            <a:extLst>
              <a:ext uri="{FF2B5EF4-FFF2-40B4-BE49-F238E27FC236}">
                <a16:creationId xmlns:a16="http://schemas.microsoft.com/office/drawing/2014/main" id="{D9E0BF15-9407-D102-DE3E-956A272B423E}"/>
              </a:ext>
            </a:extLst>
          </p:cNvPr>
          <p:cNvPicPr>
            <a:picLocks noChangeAspect="1"/>
          </p:cNvPicPr>
          <p:nvPr/>
        </p:nvPicPr>
        <p:blipFill>
          <a:blip r:embed="rId4"/>
          <a:srcRect/>
          <a:stretch>
            <a:fillRect/>
          </a:stretch>
        </p:blipFill>
        <p:spPr>
          <a:xfrm>
            <a:off x="6095999" y="2239934"/>
            <a:ext cx="4619931" cy="2332215"/>
          </a:xfrm>
          <a:prstGeom prst="rect">
            <a:avLst/>
          </a:prstGeom>
        </p:spPr>
      </p:pic>
      <p:pic>
        <p:nvPicPr>
          <p:cNvPr id="20" name="Picture 19">
            <a:extLst>
              <a:ext uri="{FF2B5EF4-FFF2-40B4-BE49-F238E27FC236}">
                <a16:creationId xmlns:a16="http://schemas.microsoft.com/office/drawing/2014/main" id="{688EC6DD-A10D-65C2-6053-5C198315127B}"/>
              </a:ext>
            </a:extLst>
          </p:cNvPr>
          <p:cNvPicPr>
            <a:picLocks noChangeAspect="1"/>
          </p:cNvPicPr>
          <p:nvPr/>
        </p:nvPicPr>
        <p:blipFill>
          <a:blip r:embed="rId5"/>
          <a:srcRect/>
          <a:stretch>
            <a:fillRect/>
          </a:stretch>
        </p:blipFill>
        <p:spPr>
          <a:xfrm>
            <a:off x="6035040" y="4067627"/>
            <a:ext cx="4766737" cy="24063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70E4F383-4055-A4F8-5941-2432965643C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F9C0216-206D-6C0D-291A-C4D5996F769A}"/>
              </a:ext>
            </a:extLst>
          </p:cNvPr>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a:extLst>
              <a:ext uri="{FF2B5EF4-FFF2-40B4-BE49-F238E27FC236}">
                <a16:creationId xmlns:a16="http://schemas.microsoft.com/office/drawing/2014/main" id="{0D64DE2B-E868-FA52-E2E0-905B5AEA0885}"/>
              </a:ext>
            </a:extLst>
          </p:cNvPr>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FF2B5EF4-FFF2-40B4-BE49-F238E27FC236}">
                <a16:creationId xmlns:a16="http://schemas.microsoft.com/office/drawing/2014/main" id="{BFC6E6BF-FEA0-8E42-80BE-1697288661A8}"/>
              </a:ext>
            </a:extLst>
          </p:cNvPr>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FF2B5EF4-FFF2-40B4-BE49-F238E27FC236}">
                <a16:creationId xmlns:a16="http://schemas.microsoft.com/office/drawing/2014/main" id="{4C5F438D-5DB2-8257-C0C3-3E1E94B26BE9}"/>
              </a:ext>
            </a:extLst>
          </p:cNvPr>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FF2B5EF4-FFF2-40B4-BE49-F238E27FC236}">
                <a16:creationId xmlns:a16="http://schemas.microsoft.com/office/drawing/2014/main" id="{47F62409-AA0A-4DF0-793A-F63C966A58FB}"/>
              </a:ext>
            </a:extLst>
          </p:cNvPr>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7378C8F4-DF74-4A7D-CEED-5EE1A4AEE85B}"/>
              </a:ext>
            </a:extLst>
          </p:cNvPr>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734F54E1-C784-13AE-2FA1-528053199FFB}"/>
              </a:ext>
            </a:extLst>
          </p:cNvPr>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16 | FILTERS CLOCK RECOVERY PLLS </a:t>
            </a:r>
          </a:p>
        </p:txBody>
      </p:sp>
      <p:sp>
        <p:nvSpPr>
          <p:cNvPr id="9" name="TextBox 8">
            <a:extLst>
              <a:ext uri="{FF2B5EF4-FFF2-40B4-BE49-F238E27FC236}">
                <a16:creationId xmlns:a16="http://schemas.microsoft.com/office/drawing/2014/main" id="{873D87E2-8BA9-FE29-50B8-264FDA2FB621}"/>
              </a:ext>
            </a:extLst>
          </p:cNvPr>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03</a:t>
            </a:r>
          </a:p>
        </p:txBody>
      </p:sp>
      <p:sp>
        <p:nvSpPr>
          <p:cNvPr id="10" name="TextBox 9">
            <a:extLst>
              <a:ext uri="{FF2B5EF4-FFF2-40B4-BE49-F238E27FC236}">
                <a16:creationId xmlns:a16="http://schemas.microsoft.com/office/drawing/2014/main" id="{74819C47-236D-60BD-D5E1-DED2FD9315C9}"/>
              </a:ext>
            </a:extLst>
          </p:cNvPr>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COMMUNICATIONS FOUNDATION</a:t>
            </a:r>
          </a:p>
        </p:txBody>
      </p:sp>
      <p:sp>
        <p:nvSpPr>
          <p:cNvPr id="11" name="TextBox 10">
            <a:extLst>
              <a:ext uri="{FF2B5EF4-FFF2-40B4-BE49-F238E27FC236}">
                <a16:creationId xmlns:a16="http://schemas.microsoft.com/office/drawing/2014/main" id="{4D0B23CD-2A18-BDD7-CA9E-4BE4161692D9}"/>
              </a:ext>
            </a:extLst>
          </p:cNvPr>
          <p:cNvSpPr txBox="1"/>
          <p:nvPr/>
        </p:nvSpPr>
        <p:spPr>
          <a:xfrm>
            <a:off x="594360" y="749808"/>
            <a:ext cx="10881360" cy="446276"/>
          </a:xfrm>
          <a:prstGeom prst="rect">
            <a:avLst/>
          </a:prstGeom>
          <a:noFill/>
        </p:spPr>
        <p:txBody>
          <a:bodyPr wrap="square" lIns="0" tIns="0" rIns="0" bIns="0" anchor="t">
            <a:spAutoFit/>
          </a:bodyPr>
          <a:lstStyle/>
          <a:p>
            <a:pPr algn="l"/>
            <a:r>
              <a:rPr lang="en-US" sz="2900" b="1" i="0" dirty="0">
                <a:solidFill>
                  <a:srgbClr val="17324D"/>
                </a:solidFill>
                <a:latin typeface="Aptos Display"/>
              </a:rPr>
              <a:t>Filters keep the signal you want</a:t>
            </a:r>
            <a:endParaRPr sz="2900" b="1" i="0" dirty="0">
              <a:solidFill>
                <a:srgbClr val="17324D"/>
              </a:solidFill>
              <a:latin typeface="Aptos Display"/>
            </a:endParaRPr>
          </a:p>
        </p:txBody>
      </p:sp>
      <p:cxnSp>
        <p:nvCxnSpPr>
          <p:cNvPr id="12" name="Connector 11">
            <a:extLst>
              <a:ext uri="{FF2B5EF4-FFF2-40B4-BE49-F238E27FC236}">
                <a16:creationId xmlns:a16="http://schemas.microsoft.com/office/drawing/2014/main" id="{79689624-62B9-B7AD-D062-61AA629FD6E8}"/>
              </a:ext>
            </a:extLst>
          </p:cNvPr>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graphicFrame>
        <p:nvGraphicFramePr>
          <p:cNvPr id="13" name="Table 12">
            <a:extLst>
              <a:ext uri="{FF2B5EF4-FFF2-40B4-BE49-F238E27FC236}">
                <a16:creationId xmlns:a16="http://schemas.microsoft.com/office/drawing/2014/main" id="{E0EEBDA4-BEA5-7437-9933-141E184DF321}"/>
              </a:ext>
            </a:extLst>
          </p:cNvPr>
          <p:cNvGraphicFramePr>
            <a:graphicFrameLocks noGrp="1"/>
          </p:cNvGraphicFramePr>
          <p:nvPr/>
        </p:nvGraphicFramePr>
        <p:xfrm>
          <a:off x="564215" y="1726436"/>
          <a:ext cx="4619932" cy="3321055"/>
        </p:xfrm>
        <a:graphic>
          <a:graphicData uri="http://schemas.openxmlformats.org/drawingml/2006/table">
            <a:tbl>
              <a:tblPr firstRow="1" bandRow="1">
                <a:tableStyleId>{5C22544A-7EE6-4342-B048-85BDC9FD1C3A}</a:tableStyleId>
              </a:tblPr>
              <a:tblGrid>
                <a:gridCol w="2098598">
                  <a:extLst>
                    <a:ext uri="{9D8B030D-6E8A-4147-A177-3AD203B41FA5}">
                      <a16:colId xmlns:a16="http://schemas.microsoft.com/office/drawing/2014/main" val="20001"/>
                    </a:ext>
                  </a:extLst>
                </a:gridCol>
                <a:gridCol w="2521334">
                  <a:extLst>
                    <a:ext uri="{9D8B030D-6E8A-4147-A177-3AD203B41FA5}">
                      <a16:colId xmlns:a16="http://schemas.microsoft.com/office/drawing/2014/main" val="20002"/>
                    </a:ext>
                  </a:extLst>
                </a:gridCol>
              </a:tblGrid>
              <a:tr h="664211">
                <a:tc>
                  <a:txBody>
                    <a:bodyPr/>
                    <a:lstStyle/>
                    <a:p>
                      <a:pPr algn="ctr"/>
                      <a:r>
                        <a:rPr lang="en-US" sz="1250" b="1" dirty="0">
                          <a:solidFill>
                            <a:srgbClr val="FFFFFF"/>
                          </a:solidFill>
                          <a:latin typeface="Aptos"/>
                        </a:rPr>
                        <a:t>Filter</a:t>
                      </a:r>
                      <a:endParaRPr sz="1250" b="1" dirty="0">
                        <a:solidFill>
                          <a:srgbClr val="FFFFFF"/>
                        </a:solidFill>
                        <a:latin typeface="Aptos"/>
                      </a:endParaRPr>
                    </a:p>
                  </a:txBody>
                  <a:tcPr marL="82296" marR="82296" marT="54864" marB="36576">
                    <a:solidFill>
                      <a:srgbClr val="17324D"/>
                    </a:solidFill>
                  </a:tcPr>
                </a:tc>
                <a:tc>
                  <a:txBody>
                    <a:bodyPr/>
                    <a:lstStyle/>
                    <a:p>
                      <a:pPr algn="ctr"/>
                      <a:r>
                        <a:rPr lang="en-US" sz="1250" b="1" dirty="0">
                          <a:solidFill>
                            <a:srgbClr val="FFFFFF"/>
                          </a:solidFill>
                          <a:latin typeface="Aptos"/>
                        </a:rPr>
                        <a:t>V across</a:t>
                      </a:r>
                      <a:endParaRPr sz="1250" b="1" dirty="0">
                        <a:solidFill>
                          <a:srgbClr val="FFFFFF"/>
                        </a:solidFill>
                        <a:latin typeface="Aptos"/>
                      </a:endParaRPr>
                    </a:p>
                  </a:txBody>
                  <a:tcPr marL="82296" marR="82296" marT="54864" marB="36576">
                    <a:solidFill>
                      <a:srgbClr val="17324D"/>
                    </a:solidFill>
                  </a:tcPr>
                </a:tc>
                <a:extLst>
                  <a:ext uri="{0D108BD9-81ED-4DB2-BD59-A6C34878D82A}">
                    <a16:rowId xmlns:a16="http://schemas.microsoft.com/office/drawing/2014/main" val="10000"/>
                  </a:ext>
                </a:extLst>
              </a:tr>
              <a:tr h="664211">
                <a:tc>
                  <a:txBody>
                    <a:bodyPr/>
                    <a:lstStyle/>
                    <a:p>
                      <a:pPr algn="ctr"/>
                      <a:r>
                        <a:rPr lang="en-US" sz="1250" dirty="0">
                          <a:solidFill>
                            <a:srgbClr val="182028"/>
                          </a:solidFill>
                          <a:latin typeface="Aptos"/>
                        </a:rPr>
                        <a:t>Low pass</a:t>
                      </a:r>
                      <a:endParaRPr sz="1250" dirty="0">
                        <a:solidFill>
                          <a:srgbClr val="182028"/>
                        </a:solidFill>
                        <a:latin typeface="Aptos"/>
                      </a:endParaRPr>
                    </a:p>
                  </a:txBody>
                  <a:tcPr marL="82296" marR="82296" marB="27432" anchor="ctr">
                    <a:solidFill>
                      <a:srgbClr val="FBF9F4"/>
                    </a:solidFill>
                  </a:tcPr>
                </a:tc>
                <a:tc>
                  <a:txBody>
                    <a:bodyPr/>
                    <a:lstStyle/>
                    <a:p>
                      <a:pPr algn="ctr"/>
                      <a:r>
                        <a:rPr lang="en-US" sz="1250">
                          <a:solidFill>
                            <a:srgbClr val="182028"/>
                          </a:solidFill>
                          <a:latin typeface="Aptos"/>
                        </a:rPr>
                        <a:t>C in RC</a:t>
                      </a:r>
                    </a:p>
                    <a:p>
                      <a:pPr algn="ctr"/>
                      <a:r>
                        <a:rPr lang="en-US" sz="1250">
                          <a:solidFill>
                            <a:srgbClr val="182028"/>
                          </a:solidFill>
                          <a:latin typeface="Aptos"/>
                        </a:rPr>
                        <a:t>R in RL</a:t>
                      </a:r>
                    </a:p>
                    <a:p>
                      <a:pPr algn="ctr"/>
                      <a:r>
                        <a:rPr lang="en-US" sz="1250">
                          <a:solidFill>
                            <a:srgbClr val="182028"/>
                          </a:solidFill>
                          <a:latin typeface="Aptos"/>
                        </a:rPr>
                        <a:t>C in RLC</a:t>
                      </a:r>
                      <a:endParaRPr lang="en-US" sz="1250" dirty="0">
                        <a:solidFill>
                          <a:srgbClr val="182028"/>
                        </a:solidFill>
                        <a:latin typeface="Aptos"/>
                      </a:endParaRPr>
                    </a:p>
                  </a:txBody>
                  <a:tcPr marL="82296" marR="82296" marB="27432" anchor="ctr">
                    <a:solidFill>
                      <a:srgbClr val="FBF9F4"/>
                    </a:solidFill>
                  </a:tcPr>
                </a:tc>
                <a:extLst>
                  <a:ext uri="{0D108BD9-81ED-4DB2-BD59-A6C34878D82A}">
                    <a16:rowId xmlns:a16="http://schemas.microsoft.com/office/drawing/2014/main" val="10001"/>
                  </a:ext>
                </a:extLst>
              </a:tr>
              <a:tr h="664211">
                <a:tc>
                  <a:txBody>
                    <a:bodyPr/>
                    <a:lstStyle/>
                    <a:p>
                      <a:pPr algn="ctr"/>
                      <a:r>
                        <a:rPr lang="en-US" sz="1250" dirty="0">
                          <a:solidFill>
                            <a:srgbClr val="182028"/>
                          </a:solidFill>
                          <a:latin typeface="Aptos"/>
                        </a:rPr>
                        <a:t>High-pass</a:t>
                      </a:r>
                      <a:endParaRPr sz="1250" dirty="0">
                        <a:solidFill>
                          <a:srgbClr val="182028"/>
                        </a:solidFill>
                        <a:latin typeface="Aptos"/>
                      </a:endParaRPr>
                    </a:p>
                  </a:txBody>
                  <a:tcPr marL="82296" marR="82296" marB="27432" anchor="ctr">
                    <a:solidFill>
                      <a:srgbClr val="E3EBF1"/>
                    </a:solidFill>
                  </a:tcPr>
                </a:tc>
                <a:tc>
                  <a:txBody>
                    <a:bodyPr/>
                    <a:lstStyle/>
                    <a:p>
                      <a:pPr algn="ctr"/>
                      <a:r>
                        <a:rPr lang="en-US" sz="1250">
                          <a:solidFill>
                            <a:srgbClr val="182028"/>
                          </a:solidFill>
                          <a:latin typeface="Aptos"/>
                        </a:rPr>
                        <a:t>R in RC</a:t>
                      </a:r>
                    </a:p>
                    <a:p>
                      <a:pPr algn="ctr"/>
                      <a:r>
                        <a:rPr lang="en-US" sz="1250">
                          <a:solidFill>
                            <a:srgbClr val="182028"/>
                          </a:solidFill>
                          <a:latin typeface="Aptos"/>
                        </a:rPr>
                        <a:t>L in RL</a:t>
                      </a:r>
                    </a:p>
                    <a:p>
                      <a:pPr algn="ctr"/>
                      <a:r>
                        <a:rPr lang="en-US" sz="1250">
                          <a:solidFill>
                            <a:srgbClr val="182028"/>
                          </a:solidFill>
                          <a:latin typeface="Aptos"/>
                        </a:rPr>
                        <a:t>L in RLC</a:t>
                      </a:r>
                      <a:endParaRPr lang="en-US" sz="1250" dirty="0">
                        <a:solidFill>
                          <a:srgbClr val="182028"/>
                        </a:solidFill>
                        <a:latin typeface="Aptos"/>
                      </a:endParaRPr>
                    </a:p>
                  </a:txBody>
                  <a:tcPr marL="82296" marR="82296" marB="27432" anchor="ctr">
                    <a:solidFill>
                      <a:srgbClr val="E3EBF1"/>
                    </a:solidFill>
                  </a:tcPr>
                </a:tc>
                <a:extLst>
                  <a:ext uri="{0D108BD9-81ED-4DB2-BD59-A6C34878D82A}">
                    <a16:rowId xmlns:a16="http://schemas.microsoft.com/office/drawing/2014/main" val="10002"/>
                  </a:ext>
                </a:extLst>
              </a:tr>
              <a:tr h="664211">
                <a:tc>
                  <a:txBody>
                    <a:bodyPr/>
                    <a:lstStyle/>
                    <a:p>
                      <a:pPr algn="ctr"/>
                      <a:r>
                        <a:rPr lang="en-US" sz="1250" dirty="0">
                          <a:solidFill>
                            <a:srgbClr val="182028"/>
                          </a:solidFill>
                          <a:latin typeface="Aptos"/>
                        </a:rPr>
                        <a:t>Band-pass</a:t>
                      </a:r>
                      <a:endParaRPr sz="1250" dirty="0">
                        <a:solidFill>
                          <a:srgbClr val="182028"/>
                        </a:solidFill>
                        <a:latin typeface="Aptos"/>
                      </a:endParaRPr>
                    </a:p>
                  </a:txBody>
                  <a:tcPr marL="82296" marR="82296" marB="27432" anchor="ctr">
                    <a:solidFill>
                      <a:srgbClr val="FBF9F4"/>
                    </a:solidFill>
                  </a:tcPr>
                </a:tc>
                <a:tc>
                  <a:txBody>
                    <a:bodyPr/>
                    <a:lstStyle/>
                    <a:p>
                      <a:pPr algn="ctr"/>
                      <a:r>
                        <a:rPr lang="en-US" sz="1250">
                          <a:solidFill>
                            <a:srgbClr val="182028"/>
                          </a:solidFill>
                          <a:latin typeface="Aptos"/>
                        </a:rPr>
                        <a:t>R in RLC</a:t>
                      </a:r>
                      <a:endParaRPr lang="en-US" sz="1250" dirty="0">
                        <a:solidFill>
                          <a:srgbClr val="182028"/>
                        </a:solidFill>
                        <a:latin typeface="Aptos"/>
                      </a:endParaRPr>
                    </a:p>
                  </a:txBody>
                  <a:tcPr marL="82296" marR="82296" marB="27432" anchor="ctr">
                    <a:solidFill>
                      <a:srgbClr val="FBF9F4"/>
                    </a:solidFill>
                  </a:tcPr>
                </a:tc>
                <a:extLst>
                  <a:ext uri="{0D108BD9-81ED-4DB2-BD59-A6C34878D82A}">
                    <a16:rowId xmlns:a16="http://schemas.microsoft.com/office/drawing/2014/main" val="10003"/>
                  </a:ext>
                </a:extLst>
              </a:tr>
              <a:tr h="664211">
                <a:tc>
                  <a:txBody>
                    <a:bodyPr/>
                    <a:lstStyle/>
                    <a:p>
                      <a:pPr algn="ctr"/>
                      <a:r>
                        <a:rPr lang="en-US" sz="1250" dirty="0">
                          <a:solidFill>
                            <a:srgbClr val="182028"/>
                          </a:solidFill>
                          <a:latin typeface="Aptos"/>
                        </a:rPr>
                        <a:t>Band-stop</a:t>
                      </a:r>
                    </a:p>
                  </a:txBody>
                  <a:tcPr marL="82296" marR="82296" marB="27432" anchor="ctr">
                    <a:solidFill>
                      <a:srgbClr val="E3EBF1"/>
                    </a:solidFill>
                  </a:tcPr>
                </a:tc>
                <a:tc>
                  <a:txBody>
                    <a:bodyPr/>
                    <a:lstStyle/>
                    <a:p>
                      <a:pPr algn="ctr"/>
                      <a:r>
                        <a:rPr lang="en-US" sz="1250" dirty="0">
                          <a:solidFill>
                            <a:srgbClr val="182028"/>
                          </a:solidFill>
                          <a:latin typeface="Aptos"/>
                        </a:rPr>
                        <a:t>LC in RLC</a:t>
                      </a:r>
                    </a:p>
                  </a:txBody>
                  <a:tcPr marL="82296" marR="82296" marB="27432" anchor="ctr">
                    <a:solidFill>
                      <a:srgbClr val="E3EBF1"/>
                    </a:solidFill>
                  </a:tcPr>
                </a:tc>
                <a:extLst>
                  <a:ext uri="{0D108BD9-81ED-4DB2-BD59-A6C34878D82A}">
                    <a16:rowId xmlns:a16="http://schemas.microsoft.com/office/drawing/2014/main" val="10004"/>
                  </a:ext>
                </a:extLst>
              </a:tr>
            </a:tbl>
          </a:graphicData>
        </a:graphic>
      </p:graphicFrame>
      <p:pic>
        <p:nvPicPr>
          <p:cNvPr id="16" name="Picture 15">
            <a:extLst>
              <a:ext uri="{FF2B5EF4-FFF2-40B4-BE49-F238E27FC236}">
                <a16:creationId xmlns:a16="http://schemas.microsoft.com/office/drawing/2014/main" id="{F5E36E93-828F-5271-951B-72AAAE847CB8}"/>
              </a:ext>
            </a:extLst>
          </p:cNvPr>
          <p:cNvPicPr>
            <a:picLocks noChangeAspect="1"/>
          </p:cNvPicPr>
          <p:nvPr/>
        </p:nvPicPr>
        <p:blipFill>
          <a:blip r:embed="rId3"/>
          <a:srcRect/>
          <a:stretch>
            <a:fillRect/>
          </a:stretch>
        </p:blipFill>
        <p:spPr>
          <a:xfrm>
            <a:off x="6096000" y="478803"/>
            <a:ext cx="4619932" cy="2332216"/>
          </a:xfrm>
          <a:prstGeom prst="rect">
            <a:avLst/>
          </a:prstGeom>
        </p:spPr>
      </p:pic>
      <p:pic>
        <p:nvPicPr>
          <p:cNvPr id="18" name="Picture 17">
            <a:extLst>
              <a:ext uri="{FF2B5EF4-FFF2-40B4-BE49-F238E27FC236}">
                <a16:creationId xmlns:a16="http://schemas.microsoft.com/office/drawing/2014/main" id="{29CCE520-A26D-325C-59D4-73150DD1CCB8}"/>
              </a:ext>
            </a:extLst>
          </p:cNvPr>
          <p:cNvPicPr>
            <a:picLocks noChangeAspect="1"/>
          </p:cNvPicPr>
          <p:nvPr/>
        </p:nvPicPr>
        <p:blipFill>
          <a:blip r:embed="rId4"/>
          <a:srcRect/>
          <a:stretch>
            <a:fillRect/>
          </a:stretch>
        </p:blipFill>
        <p:spPr>
          <a:xfrm>
            <a:off x="6095999" y="2239934"/>
            <a:ext cx="4619931" cy="2332215"/>
          </a:xfrm>
          <a:prstGeom prst="rect">
            <a:avLst/>
          </a:prstGeom>
        </p:spPr>
      </p:pic>
      <p:pic>
        <p:nvPicPr>
          <p:cNvPr id="20" name="Picture 19">
            <a:extLst>
              <a:ext uri="{FF2B5EF4-FFF2-40B4-BE49-F238E27FC236}">
                <a16:creationId xmlns:a16="http://schemas.microsoft.com/office/drawing/2014/main" id="{D46CD194-8491-F590-6D6B-A8D71EB3A688}"/>
              </a:ext>
            </a:extLst>
          </p:cNvPr>
          <p:cNvPicPr>
            <a:picLocks noChangeAspect="1"/>
          </p:cNvPicPr>
          <p:nvPr/>
        </p:nvPicPr>
        <p:blipFill>
          <a:blip r:embed="rId5"/>
          <a:srcRect/>
          <a:stretch>
            <a:fillRect/>
          </a:stretch>
        </p:blipFill>
        <p:spPr>
          <a:xfrm>
            <a:off x="6035040" y="4067627"/>
            <a:ext cx="4766737" cy="2406325"/>
          </a:xfrm>
          <a:prstGeom prst="rect">
            <a:avLst/>
          </a:prstGeom>
        </p:spPr>
      </p:pic>
    </p:spTree>
    <p:extLst>
      <p:ext uri="{BB962C8B-B14F-4D97-AF65-F5344CB8AC3E}">
        <p14:creationId xmlns:p14="http://schemas.microsoft.com/office/powerpoint/2010/main" val="426516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0BDFD5ED-1F34-4CBF-E7DF-829B95893F6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7811509-49C1-2B77-47E9-82E81091969C}"/>
              </a:ext>
            </a:extLst>
          </p:cNvPr>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a:extLst>
              <a:ext uri="{FF2B5EF4-FFF2-40B4-BE49-F238E27FC236}">
                <a16:creationId xmlns:a16="http://schemas.microsoft.com/office/drawing/2014/main" id="{CEF86D87-FEBF-941E-3726-1A4464708FF3}"/>
              </a:ext>
            </a:extLst>
          </p:cNvPr>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FF2B5EF4-FFF2-40B4-BE49-F238E27FC236}">
                <a16:creationId xmlns:a16="http://schemas.microsoft.com/office/drawing/2014/main" id="{924A34D9-9AFC-4A72-354A-C97E28EDC53B}"/>
              </a:ext>
            </a:extLst>
          </p:cNvPr>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FF2B5EF4-FFF2-40B4-BE49-F238E27FC236}">
                <a16:creationId xmlns:a16="http://schemas.microsoft.com/office/drawing/2014/main" id="{504ACE06-F995-A3A6-9819-8A3287D03FC6}"/>
              </a:ext>
            </a:extLst>
          </p:cNvPr>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FF2B5EF4-FFF2-40B4-BE49-F238E27FC236}">
                <a16:creationId xmlns:a16="http://schemas.microsoft.com/office/drawing/2014/main" id="{5E10BD84-654C-67C9-4126-EF3E2FE2FBA6}"/>
              </a:ext>
            </a:extLst>
          </p:cNvPr>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8F3094DA-4429-B723-18DD-F79AC1B678A4}"/>
              </a:ext>
            </a:extLst>
          </p:cNvPr>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1667D297-7182-9297-ACA8-53AD95078053}"/>
              </a:ext>
            </a:extLst>
          </p:cNvPr>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16 | FILTERS CLOCK RECOVERY PLLS </a:t>
            </a:r>
          </a:p>
        </p:txBody>
      </p:sp>
      <p:sp>
        <p:nvSpPr>
          <p:cNvPr id="9" name="TextBox 8">
            <a:extLst>
              <a:ext uri="{FF2B5EF4-FFF2-40B4-BE49-F238E27FC236}">
                <a16:creationId xmlns:a16="http://schemas.microsoft.com/office/drawing/2014/main" id="{9341F18A-CA9E-0E76-A101-C3717FF732BB}"/>
              </a:ext>
            </a:extLst>
          </p:cNvPr>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04</a:t>
            </a:r>
          </a:p>
        </p:txBody>
      </p:sp>
      <p:sp>
        <p:nvSpPr>
          <p:cNvPr id="10" name="TextBox 9">
            <a:extLst>
              <a:ext uri="{FF2B5EF4-FFF2-40B4-BE49-F238E27FC236}">
                <a16:creationId xmlns:a16="http://schemas.microsoft.com/office/drawing/2014/main" id="{79A9A5EF-03CA-23C2-C393-C0089DCDD44F}"/>
              </a:ext>
            </a:extLst>
          </p:cNvPr>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WORKING VOCABULARY</a:t>
            </a:r>
          </a:p>
        </p:txBody>
      </p:sp>
      <p:sp>
        <p:nvSpPr>
          <p:cNvPr id="11" name="TextBox 10">
            <a:extLst>
              <a:ext uri="{FF2B5EF4-FFF2-40B4-BE49-F238E27FC236}">
                <a16:creationId xmlns:a16="http://schemas.microsoft.com/office/drawing/2014/main" id="{8FC0C0BB-C2AB-AB36-9187-773971ECE76A}"/>
              </a:ext>
            </a:extLst>
          </p:cNvPr>
          <p:cNvSpPr txBox="1"/>
          <p:nvPr/>
        </p:nvSpPr>
        <p:spPr>
          <a:xfrm>
            <a:off x="594360" y="749808"/>
            <a:ext cx="10881360" cy="446276"/>
          </a:xfrm>
          <a:prstGeom prst="rect">
            <a:avLst/>
          </a:prstGeom>
          <a:noFill/>
        </p:spPr>
        <p:txBody>
          <a:bodyPr wrap="square" lIns="0" tIns="0" rIns="0" bIns="0" anchor="t">
            <a:spAutoFit/>
          </a:bodyPr>
          <a:lstStyle/>
          <a:p>
            <a:pPr algn="l"/>
            <a:r>
              <a:rPr lang="en-US" sz="2900" b="1" i="0" dirty="0">
                <a:solidFill>
                  <a:srgbClr val="17324D"/>
                </a:solidFill>
                <a:latin typeface="Aptos Display"/>
              </a:rPr>
              <a:t>Determine when to read each bit </a:t>
            </a:r>
            <a:endParaRPr sz="2900" b="1" i="0" dirty="0">
              <a:solidFill>
                <a:srgbClr val="17324D"/>
              </a:solidFill>
              <a:latin typeface="Aptos Display"/>
            </a:endParaRPr>
          </a:p>
        </p:txBody>
      </p:sp>
      <p:cxnSp>
        <p:nvCxnSpPr>
          <p:cNvPr id="12" name="Connector 11">
            <a:extLst>
              <a:ext uri="{FF2B5EF4-FFF2-40B4-BE49-F238E27FC236}">
                <a16:creationId xmlns:a16="http://schemas.microsoft.com/office/drawing/2014/main" id="{2F39E29C-DFFC-3DBB-6366-01780D759E3F}"/>
              </a:ext>
            </a:extLst>
          </p:cNvPr>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37" name="Rounded Rectangle 20">
            <a:extLst>
              <a:ext uri="{FF2B5EF4-FFF2-40B4-BE49-F238E27FC236}">
                <a16:creationId xmlns:a16="http://schemas.microsoft.com/office/drawing/2014/main" id="{89159328-54FC-0CCA-7488-442424B81FCB}"/>
              </a:ext>
            </a:extLst>
          </p:cNvPr>
          <p:cNvSpPr/>
          <p:nvPr/>
        </p:nvSpPr>
        <p:spPr>
          <a:xfrm>
            <a:off x="629027" y="1828800"/>
            <a:ext cx="3832860" cy="4590288"/>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ar-AE" dirty="0">
              <a:solidFill>
                <a:schemeClr val="tx1"/>
              </a:solidFill>
            </a:endParaRPr>
          </a:p>
        </p:txBody>
      </p:sp>
      <p:sp>
        <p:nvSpPr>
          <p:cNvPr id="39" name="Rectangle 38">
            <a:extLst>
              <a:ext uri="{FF2B5EF4-FFF2-40B4-BE49-F238E27FC236}">
                <a16:creationId xmlns:a16="http://schemas.microsoft.com/office/drawing/2014/main" id="{51086FDE-096E-9B6F-7254-18E143B15E96}"/>
              </a:ext>
            </a:extLst>
          </p:cNvPr>
          <p:cNvSpPr/>
          <p:nvPr/>
        </p:nvSpPr>
        <p:spPr>
          <a:xfrm>
            <a:off x="629026" y="1828800"/>
            <a:ext cx="96267" cy="4590288"/>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54A02FAE-7414-6C0F-AE76-CE4B1CDEFA8E}"/>
              </a:ext>
            </a:extLst>
          </p:cNvPr>
          <p:cNvSpPr txBox="1"/>
          <p:nvPr/>
        </p:nvSpPr>
        <p:spPr>
          <a:xfrm>
            <a:off x="857627" y="2116502"/>
            <a:ext cx="2865120" cy="246221"/>
          </a:xfrm>
          <a:prstGeom prst="rect">
            <a:avLst/>
          </a:prstGeom>
          <a:noFill/>
        </p:spPr>
        <p:txBody>
          <a:bodyPr wrap="square" lIns="0" tIns="0" rIns="0" bIns="0" anchor="t">
            <a:spAutoFit/>
          </a:bodyPr>
          <a:lstStyle/>
          <a:p>
            <a:pPr algn="l"/>
            <a:r>
              <a:rPr lang="en-US" sz="1600" b="1" dirty="0">
                <a:solidFill>
                  <a:srgbClr val="17324D"/>
                </a:solidFill>
                <a:latin typeface="Aptos"/>
              </a:rPr>
              <a:t>Clock Recovery</a:t>
            </a:r>
            <a:endParaRPr sz="1600" b="1" i="0" dirty="0">
              <a:solidFill>
                <a:srgbClr val="17324D"/>
              </a:solidFill>
              <a:latin typeface="Aptos"/>
            </a:endParaRPr>
          </a:p>
        </p:txBody>
      </p:sp>
      <p:sp>
        <p:nvSpPr>
          <p:cNvPr id="43" name="TextBox 42">
            <a:extLst>
              <a:ext uri="{FF2B5EF4-FFF2-40B4-BE49-F238E27FC236}">
                <a16:creationId xmlns:a16="http://schemas.microsoft.com/office/drawing/2014/main" id="{9D7E5D12-3B51-D632-AE0D-1CB2FEEA3535}"/>
              </a:ext>
            </a:extLst>
          </p:cNvPr>
          <p:cNvSpPr txBox="1"/>
          <p:nvPr/>
        </p:nvSpPr>
        <p:spPr>
          <a:xfrm>
            <a:off x="857627" y="2432304"/>
            <a:ext cx="3604260" cy="430887"/>
          </a:xfrm>
          <a:prstGeom prst="rect">
            <a:avLst/>
          </a:prstGeom>
          <a:noFill/>
        </p:spPr>
        <p:txBody>
          <a:bodyPr wrap="square" lIns="0" tIns="0" rIns="0" bIns="0" anchor="t">
            <a:spAutoFit/>
          </a:bodyPr>
          <a:lstStyle/>
          <a:p>
            <a:r>
              <a:rPr lang="en-US" sz="1400" dirty="0"/>
              <a:t>Extraction of symbol timing from a received signal.</a:t>
            </a:r>
            <a:endParaRPr lang="en-US" sz="1400" dirty="0">
              <a:latin typeface="Aptos" panose="020B0004020202020204" pitchFamily="34" charset="0"/>
            </a:endParaRPr>
          </a:p>
        </p:txBody>
      </p:sp>
      <p:pic>
        <p:nvPicPr>
          <p:cNvPr id="14" name="Picture 13">
            <a:extLst>
              <a:ext uri="{FF2B5EF4-FFF2-40B4-BE49-F238E27FC236}">
                <a16:creationId xmlns:a16="http://schemas.microsoft.com/office/drawing/2014/main" id="{ECBA2267-FEDA-E678-DCD6-B7977C0DE6DB}"/>
              </a:ext>
            </a:extLst>
          </p:cNvPr>
          <p:cNvPicPr>
            <a:picLocks noChangeAspect="1"/>
          </p:cNvPicPr>
          <p:nvPr/>
        </p:nvPicPr>
        <p:blipFill>
          <a:blip r:embed="rId3"/>
          <a:srcRect/>
          <a:stretch>
            <a:fillRect/>
          </a:stretch>
        </p:blipFill>
        <p:spPr>
          <a:xfrm>
            <a:off x="4664169" y="2347273"/>
            <a:ext cx="7395101" cy="3863283"/>
          </a:xfrm>
          <a:prstGeom prst="rect">
            <a:avLst/>
          </a:prstGeom>
        </p:spPr>
      </p:pic>
      <p:sp>
        <p:nvSpPr>
          <p:cNvPr id="15" name="TextBox 14">
            <a:extLst>
              <a:ext uri="{FF2B5EF4-FFF2-40B4-BE49-F238E27FC236}">
                <a16:creationId xmlns:a16="http://schemas.microsoft.com/office/drawing/2014/main" id="{0D931D8C-75FE-5305-8B07-DDF7E9626BA5}"/>
              </a:ext>
            </a:extLst>
          </p:cNvPr>
          <p:cNvSpPr txBox="1"/>
          <p:nvPr/>
        </p:nvSpPr>
        <p:spPr>
          <a:xfrm>
            <a:off x="857627" y="3091118"/>
            <a:ext cx="2865120" cy="246221"/>
          </a:xfrm>
          <a:prstGeom prst="rect">
            <a:avLst/>
          </a:prstGeom>
          <a:noFill/>
        </p:spPr>
        <p:txBody>
          <a:bodyPr wrap="square" lIns="0" tIns="0" rIns="0" bIns="0" anchor="t">
            <a:spAutoFit/>
          </a:bodyPr>
          <a:lstStyle/>
          <a:p>
            <a:pPr algn="l"/>
            <a:r>
              <a:rPr lang="en-US" sz="1600" b="1" dirty="0">
                <a:solidFill>
                  <a:srgbClr val="17324D"/>
                </a:solidFill>
                <a:latin typeface="Aptos"/>
              </a:rPr>
              <a:t>Symbol</a:t>
            </a:r>
            <a:endParaRPr sz="1600" b="1" i="0" dirty="0">
              <a:solidFill>
                <a:srgbClr val="17324D"/>
              </a:solidFill>
              <a:latin typeface="Aptos"/>
            </a:endParaRPr>
          </a:p>
        </p:txBody>
      </p:sp>
      <p:sp>
        <p:nvSpPr>
          <p:cNvPr id="16" name="TextBox 15">
            <a:extLst>
              <a:ext uri="{FF2B5EF4-FFF2-40B4-BE49-F238E27FC236}">
                <a16:creationId xmlns:a16="http://schemas.microsoft.com/office/drawing/2014/main" id="{98C8C2B6-D36D-D305-29EC-068E564C9CC1}"/>
              </a:ext>
            </a:extLst>
          </p:cNvPr>
          <p:cNvSpPr txBox="1"/>
          <p:nvPr/>
        </p:nvSpPr>
        <p:spPr>
          <a:xfrm>
            <a:off x="857627" y="3406920"/>
            <a:ext cx="3604260" cy="430887"/>
          </a:xfrm>
          <a:prstGeom prst="rect">
            <a:avLst/>
          </a:prstGeom>
          <a:noFill/>
        </p:spPr>
        <p:txBody>
          <a:bodyPr wrap="square" lIns="0" tIns="0" rIns="0" bIns="0" anchor="t">
            <a:spAutoFit/>
          </a:bodyPr>
          <a:lstStyle/>
          <a:p>
            <a:r>
              <a:rPr lang="en-US" sz="1400" dirty="0"/>
              <a:t>The physical signal state that represents one or more bits of information.</a:t>
            </a:r>
            <a:endParaRPr lang="en-US" sz="1400" dirty="0">
              <a:latin typeface="Aptos" panose="020B0004020202020204" pitchFamily="34" charset="0"/>
            </a:endParaRPr>
          </a:p>
        </p:txBody>
      </p:sp>
      <p:sp>
        <p:nvSpPr>
          <p:cNvPr id="17" name="TextBox 16">
            <a:extLst>
              <a:ext uri="{FF2B5EF4-FFF2-40B4-BE49-F238E27FC236}">
                <a16:creationId xmlns:a16="http://schemas.microsoft.com/office/drawing/2014/main" id="{3B8DBB8D-9025-428F-E42A-838550CB3D07}"/>
              </a:ext>
            </a:extLst>
          </p:cNvPr>
          <p:cNvSpPr txBox="1"/>
          <p:nvPr/>
        </p:nvSpPr>
        <p:spPr>
          <a:xfrm>
            <a:off x="857627" y="4347412"/>
            <a:ext cx="2865120" cy="246221"/>
          </a:xfrm>
          <a:prstGeom prst="rect">
            <a:avLst/>
          </a:prstGeom>
          <a:noFill/>
        </p:spPr>
        <p:txBody>
          <a:bodyPr wrap="square" lIns="0" tIns="0" rIns="0" bIns="0" anchor="t">
            <a:spAutoFit/>
          </a:bodyPr>
          <a:lstStyle/>
          <a:p>
            <a:pPr algn="l"/>
            <a:r>
              <a:rPr lang="en-US" sz="1600" b="1" dirty="0">
                <a:solidFill>
                  <a:srgbClr val="17324D"/>
                </a:solidFill>
                <a:latin typeface="Aptos"/>
              </a:rPr>
              <a:t>Bit Interval</a:t>
            </a:r>
            <a:endParaRPr sz="1600" b="1" i="0" dirty="0">
              <a:solidFill>
                <a:srgbClr val="17324D"/>
              </a:solidFill>
              <a:latin typeface="Aptos"/>
            </a:endParaRP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A68C3020-67DE-F21A-4369-DD4811D14C96}"/>
                  </a:ext>
                </a:extLst>
              </p:cNvPr>
              <p:cNvSpPr txBox="1"/>
              <p:nvPr/>
            </p:nvSpPr>
            <p:spPr>
              <a:xfrm>
                <a:off x="857627" y="5514567"/>
                <a:ext cx="3604260" cy="215444"/>
              </a:xfrm>
              <a:prstGeom prst="rect">
                <a:avLst/>
              </a:prstGeom>
              <a:noFill/>
            </p:spPr>
            <p:txBody>
              <a:bodyPr wrap="square" lIns="0" tIns="0" rIns="0" bIns="0" anchor="t">
                <a:spAutoFit/>
              </a:bodyPr>
              <a:lstStyle/>
              <a:p>
                <a14:m>
                  <m:oMath xmlns:m="http://schemas.openxmlformats.org/officeDocument/2006/math">
                    <m:sSub>
                      <m:sSubPr>
                        <m:ctrlPr>
                          <a:rPr lang="en-US" sz="1400" i="1" dirty="0" err="1" smtClean="0">
                            <a:latin typeface="Cambria Math" panose="02040503050406030204" pitchFamily="18" charset="0"/>
                          </a:rPr>
                        </m:ctrlPr>
                      </m:sSubPr>
                      <m:e>
                        <m:r>
                          <a:rPr lang="en-US" sz="1400" i="1" dirty="0" err="1" smtClean="0">
                            <a:latin typeface="Cambria Math" panose="02040503050406030204" pitchFamily="18" charset="0"/>
                          </a:rPr>
                          <m:t>𝑅</m:t>
                        </m:r>
                      </m:e>
                      <m:sub>
                        <m:r>
                          <a:rPr lang="en-US" sz="1400" i="1" dirty="0" err="1" smtClean="0">
                            <a:latin typeface="Cambria Math" panose="02040503050406030204" pitchFamily="18" charset="0"/>
                          </a:rPr>
                          <m:t>𝑏</m:t>
                        </m:r>
                      </m:sub>
                    </m:sSub>
                  </m:oMath>
                </a14:m>
                <a:r>
                  <a:rPr lang="en-US" sz="1400" dirty="0">
                    <a:latin typeface="Aptos" panose="020B0004020202020204" pitchFamily="34" charset="0"/>
                  </a:rPr>
                  <a:t>= bit rate</a:t>
                </a:r>
              </a:p>
            </p:txBody>
          </p:sp>
        </mc:Choice>
        <mc:Fallback>
          <p:sp>
            <p:nvSpPr>
              <p:cNvPr id="18" name="TextBox 17">
                <a:extLst>
                  <a:ext uri="{FF2B5EF4-FFF2-40B4-BE49-F238E27FC236}">
                    <a16:creationId xmlns:a16="http://schemas.microsoft.com/office/drawing/2014/main" id="{A68C3020-67DE-F21A-4369-DD4811D14C96}"/>
                  </a:ext>
                </a:extLst>
              </p:cNvPr>
              <p:cNvSpPr txBox="1">
                <a:spLocks noRot="1" noChangeAspect="1" noMove="1" noResize="1" noEditPoints="1" noAdjustHandles="1" noChangeArrowheads="1" noChangeShapeType="1" noTextEdit="1"/>
              </p:cNvSpPr>
              <p:nvPr/>
            </p:nvSpPr>
            <p:spPr>
              <a:xfrm>
                <a:off x="857627" y="5514567"/>
                <a:ext cx="3604260" cy="215444"/>
              </a:xfrm>
              <a:prstGeom prst="rect">
                <a:avLst/>
              </a:prstGeom>
              <a:blipFill>
                <a:blip r:embed="rId4"/>
                <a:stretch>
                  <a:fillRect l="-1692" t="-28571" b="-5142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2BB3439D-B684-68EF-2A7C-E6FA4DAE441B}"/>
                  </a:ext>
                </a:extLst>
              </p:cNvPr>
              <p:cNvSpPr txBox="1"/>
              <p:nvPr/>
            </p:nvSpPr>
            <p:spPr>
              <a:xfrm>
                <a:off x="1648638" y="4659226"/>
                <a:ext cx="1283098" cy="659540"/>
              </a:xfrm>
              <a:prstGeom prst="rect">
                <a:avLst/>
              </a:prstGeom>
              <a:noFill/>
            </p:spPr>
            <p:txBody>
              <a:bodyPr wrap="square">
                <a:spAutoFit/>
              </a:bodyPr>
              <a:lstStyle/>
              <a:p>
                <a:pPr/>
                <a14:m>
                  <m:oMathPara xmlns:m="http://schemas.openxmlformats.org/officeDocument/2006/math">
                    <m:oMath>
                      <m:sSub>
                        <m:sSubPr>
                          <m:ctrlPr>
                            <a:rPr lang="en-US" sz="1800" b="0" i="1" smtClean="0">
                              <a:solidFill>
                                <a:schemeClr val="tx1"/>
                              </a:solidFill>
                              <a:latin typeface="Cambria Math" panose="02040503050406030204" pitchFamily="18" charset="0"/>
                            </a:rPr>
                          </m:ctrlPr>
                        </m:sSubPr>
                        <m:e>
                          <m:r>
                            <m:rPr>
                              <m:sty m:val="p"/>
                            </m:rPr>
                            <a:rPr lang="en-US" sz="1800" b="0" i="1" smtClean="0">
                              <a:solidFill>
                                <a:schemeClr val="tx1"/>
                              </a:solidFill>
                              <a:latin typeface="Cambria Math" panose="02040503050406030204" pitchFamily="18" charset="0"/>
                            </a:rPr>
                            <m:t>T</m:t>
                          </m:r>
                        </m:e>
                        <m:sub>
                          <m:r>
                            <m:rPr>
                              <m:sty m:val="p"/>
                            </m:rPr>
                            <a:rPr lang="en-US" sz="1800" b="0" i="1" smtClean="0">
                              <a:solidFill>
                                <a:schemeClr val="tx1"/>
                              </a:solidFill>
                              <a:latin typeface="Cambria Math" panose="02040503050406030204" pitchFamily="18" charset="0"/>
                            </a:rPr>
                            <m:t>b</m:t>
                          </m:r>
                        </m:sub>
                      </m:sSub>
                      <m:r>
                        <a:rPr lang="ar-AE" sz="1800" b="0" i="1" smtClean="0">
                          <a:solidFill>
                            <a:schemeClr val="tx1"/>
                          </a:solidFill>
                          <a:latin typeface="Cambria Math" panose="02040503050406030204" pitchFamily="18" charset="0"/>
                        </a:rPr>
                        <m:t>=</m:t>
                      </m:r>
                      <m:f>
                        <m:fPr>
                          <m:ctrlPr>
                            <a:rPr lang="ar-AE" sz="1800" b="0" i="1" smtClean="0">
                              <a:solidFill>
                                <a:schemeClr val="tx1"/>
                              </a:solidFill>
                              <a:latin typeface="Cambria Math" panose="02040503050406030204" pitchFamily="18" charset="0"/>
                            </a:rPr>
                          </m:ctrlPr>
                        </m:fPr>
                        <m:num>
                          <m:r>
                            <a:rPr lang="ar-AE" sz="1800" b="0" i="1" smtClean="0">
                              <a:solidFill>
                                <a:schemeClr val="tx1"/>
                              </a:solidFill>
                              <a:latin typeface="Cambria Math" panose="02040503050406030204" pitchFamily="18" charset="0"/>
                            </a:rPr>
                            <m:t>1</m:t>
                          </m:r>
                        </m:num>
                        <m:den>
                          <m:sSub>
                            <m:sSubPr>
                              <m:ctrlPr>
                                <a:rPr lang="en-US" sz="1800" b="0" i="1" smtClean="0">
                                  <a:solidFill>
                                    <a:schemeClr val="tx1"/>
                                  </a:solidFill>
                                  <a:latin typeface="Cambria Math" panose="02040503050406030204" pitchFamily="18" charset="0"/>
                                </a:rPr>
                              </m:ctrlPr>
                            </m:sSubPr>
                            <m:e>
                              <m:r>
                                <m:rPr>
                                  <m:sty m:val="p"/>
                                </m:rPr>
                                <a:rPr lang="en-US" sz="1800" b="0" i="1" smtClean="0">
                                  <a:solidFill>
                                    <a:schemeClr val="tx1"/>
                                  </a:solidFill>
                                  <a:latin typeface="Cambria Math" panose="02040503050406030204" pitchFamily="18" charset="0"/>
                                </a:rPr>
                                <m:t>R</m:t>
                              </m:r>
                            </m:e>
                            <m:sub>
                              <m:r>
                                <m:rPr>
                                  <m:sty m:val="p"/>
                                </m:rPr>
                                <a:rPr lang="en-US" sz="1800" b="0" i="1" smtClean="0">
                                  <a:solidFill>
                                    <a:schemeClr val="tx1"/>
                                  </a:solidFill>
                                  <a:latin typeface="Cambria Math" panose="02040503050406030204" pitchFamily="18" charset="0"/>
                                </a:rPr>
                                <m:t>b</m:t>
                              </m:r>
                            </m:sub>
                          </m:sSub>
                        </m:den>
                      </m:f>
                    </m:oMath>
                  </m:oMathPara>
                </a14:m>
                <a:endParaRPr lang="en-US" dirty="0"/>
              </a:p>
            </p:txBody>
          </p:sp>
        </mc:Choice>
        <mc:Fallback>
          <p:sp>
            <p:nvSpPr>
              <p:cNvPr id="20" name="TextBox 19">
                <a:extLst>
                  <a:ext uri="{FF2B5EF4-FFF2-40B4-BE49-F238E27FC236}">
                    <a16:creationId xmlns:a16="http://schemas.microsoft.com/office/drawing/2014/main" id="{2BB3439D-B684-68EF-2A7C-E6FA4DAE441B}"/>
                  </a:ext>
                </a:extLst>
              </p:cNvPr>
              <p:cNvSpPr txBox="1">
                <a:spLocks noRot="1" noChangeAspect="1" noMove="1" noResize="1" noEditPoints="1" noAdjustHandles="1" noChangeArrowheads="1" noChangeShapeType="1" noTextEdit="1"/>
              </p:cNvSpPr>
              <p:nvPr/>
            </p:nvSpPr>
            <p:spPr>
              <a:xfrm>
                <a:off x="1648638" y="4659226"/>
                <a:ext cx="1283098" cy="65954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3274582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16 | FILTERS CLOCK RECOVERY PLLS </a:t>
            </a:r>
          </a:p>
        </p:txBody>
      </p:sp>
      <p:sp>
        <p:nvSpPr>
          <p:cNvPr id="9" name="TextBox 8"/>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04</a:t>
            </a:r>
          </a:p>
        </p:txBody>
      </p:sp>
      <p:sp>
        <p:nvSpPr>
          <p:cNvPr id="10" name="TextBox 9"/>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WORKING VOCABULARY</a:t>
            </a:r>
          </a:p>
        </p:txBody>
      </p:sp>
      <p:sp>
        <p:nvSpPr>
          <p:cNvPr id="11" name="TextBox 10"/>
          <p:cNvSpPr txBox="1"/>
          <p:nvPr/>
        </p:nvSpPr>
        <p:spPr>
          <a:xfrm>
            <a:off x="594360" y="749808"/>
            <a:ext cx="10881360" cy="446276"/>
          </a:xfrm>
          <a:prstGeom prst="rect">
            <a:avLst/>
          </a:prstGeom>
          <a:noFill/>
        </p:spPr>
        <p:txBody>
          <a:bodyPr wrap="square" lIns="0" tIns="0" rIns="0" bIns="0" anchor="t">
            <a:spAutoFit/>
          </a:bodyPr>
          <a:lstStyle/>
          <a:p>
            <a:pPr algn="l"/>
            <a:r>
              <a:rPr lang="en-US" sz="2900" b="1" i="0" dirty="0">
                <a:solidFill>
                  <a:srgbClr val="17324D"/>
                </a:solidFill>
                <a:latin typeface="Aptos Display"/>
              </a:rPr>
              <a:t>Determine when to read each bit </a:t>
            </a:r>
            <a:endParaRPr sz="2900" b="1" i="0" dirty="0">
              <a:solidFill>
                <a:srgbClr val="17324D"/>
              </a:solidFill>
              <a:latin typeface="Aptos Display"/>
            </a:endParaRP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37" name="Rounded Rectangle 20">
            <a:extLst>
              <a:ext uri="{FF2B5EF4-FFF2-40B4-BE49-F238E27FC236}">
                <a16:creationId xmlns:a16="http://schemas.microsoft.com/office/drawing/2014/main" id="{E2F196CA-7FB8-71C2-DBE1-FB10DFA4A345}"/>
              </a:ext>
            </a:extLst>
          </p:cNvPr>
          <p:cNvSpPr/>
          <p:nvPr/>
        </p:nvSpPr>
        <p:spPr>
          <a:xfrm>
            <a:off x="629027" y="1828800"/>
            <a:ext cx="3832860" cy="4590288"/>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a:extLst>
              <a:ext uri="{FF2B5EF4-FFF2-40B4-BE49-F238E27FC236}">
                <a16:creationId xmlns:a16="http://schemas.microsoft.com/office/drawing/2014/main" id="{153E9485-72CD-AF12-4334-B038C7E30714}"/>
              </a:ext>
            </a:extLst>
          </p:cNvPr>
          <p:cNvSpPr/>
          <p:nvPr/>
        </p:nvSpPr>
        <p:spPr>
          <a:xfrm>
            <a:off x="629026" y="1828800"/>
            <a:ext cx="96267" cy="4590288"/>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E7754F7C-95BA-8A63-EA98-167514CB8338}"/>
              </a:ext>
            </a:extLst>
          </p:cNvPr>
          <p:cNvSpPr txBox="1"/>
          <p:nvPr/>
        </p:nvSpPr>
        <p:spPr>
          <a:xfrm>
            <a:off x="857627" y="1993392"/>
            <a:ext cx="2865120" cy="246221"/>
          </a:xfrm>
          <a:prstGeom prst="rect">
            <a:avLst/>
          </a:prstGeom>
          <a:noFill/>
        </p:spPr>
        <p:txBody>
          <a:bodyPr wrap="square" lIns="0" tIns="0" rIns="0" bIns="0" anchor="t">
            <a:spAutoFit/>
          </a:bodyPr>
          <a:lstStyle/>
          <a:p>
            <a:pPr algn="l"/>
            <a:r>
              <a:rPr lang="en-US" sz="1600" b="1" dirty="0">
                <a:solidFill>
                  <a:srgbClr val="17324D"/>
                </a:solidFill>
                <a:latin typeface="Aptos"/>
              </a:rPr>
              <a:t>Synchronizing options</a:t>
            </a:r>
            <a:endParaRPr sz="1600" b="1" i="0" dirty="0">
              <a:solidFill>
                <a:srgbClr val="17324D"/>
              </a:solidFill>
              <a:latin typeface="Aptos"/>
            </a:endParaRPr>
          </a:p>
        </p:txBody>
      </p:sp>
      <p:sp>
        <p:nvSpPr>
          <p:cNvPr id="43" name="TextBox 42">
            <a:extLst>
              <a:ext uri="{FF2B5EF4-FFF2-40B4-BE49-F238E27FC236}">
                <a16:creationId xmlns:a16="http://schemas.microsoft.com/office/drawing/2014/main" id="{AAC5FAD8-97EA-411A-3BEC-3706A5209FF5}"/>
              </a:ext>
            </a:extLst>
          </p:cNvPr>
          <p:cNvSpPr txBox="1"/>
          <p:nvPr/>
        </p:nvSpPr>
        <p:spPr>
          <a:xfrm>
            <a:off x="857627" y="2432304"/>
            <a:ext cx="3604260" cy="4308872"/>
          </a:xfrm>
          <a:prstGeom prst="rect">
            <a:avLst/>
          </a:prstGeom>
          <a:noFill/>
        </p:spPr>
        <p:txBody>
          <a:bodyPr wrap="square" lIns="0" tIns="0" rIns="0" bIns="0" anchor="t">
            <a:spAutoFit/>
          </a:bodyPr>
          <a:lstStyle/>
          <a:p>
            <a:pPr marL="280988" indent="-280988">
              <a:buAutoNum type="arabicPeriod"/>
            </a:pPr>
            <a:r>
              <a:rPr lang="en-US" sz="1400" b="1" dirty="0">
                <a:latin typeface="Aptos" panose="020B0004020202020204" pitchFamily="34" charset="0"/>
              </a:rPr>
              <a:t>Send the clock as a separate signal</a:t>
            </a:r>
          </a:p>
          <a:p>
            <a:pPr marL="401638" lvl="1" indent="-230188">
              <a:buAutoNum type="alphaUcPeriod"/>
            </a:pPr>
            <a:r>
              <a:rPr lang="en-US" sz="1400" dirty="0">
                <a:latin typeface="Aptos" panose="020B0004020202020204" pitchFamily="34" charset="0"/>
              </a:rPr>
              <a:t>Requires separate channel, more BW</a:t>
            </a:r>
          </a:p>
          <a:p>
            <a:pPr marL="401638" lvl="1" indent="-230188">
              <a:buAutoNum type="alphaUcPeriod"/>
            </a:pPr>
            <a:r>
              <a:rPr lang="en-US" sz="1400" dirty="0">
                <a:latin typeface="Aptos" panose="020B0004020202020204" pitchFamily="34" charset="0"/>
              </a:rPr>
              <a:t>Common for short-distance communication, where each channel is nearly free</a:t>
            </a:r>
          </a:p>
          <a:p>
            <a:pPr marL="280988" indent="-280988">
              <a:buAutoNum type="arabicPeriod"/>
            </a:pPr>
            <a:r>
              <a:rPr lang="en-US" sz="1400" b="1" dirty="0">
                <a:latin typeface="Aptos" panose="020B0004020202020204" pitchFamily="34" charset="0"/>
              </a:rPr>
              <a:t>Reference a common signal</a:t>
            </a:r>
          </a:p>
          <a:p>
            <a:pPr marL="401638" lvl="1" indent="-230188">
              <a:buFontTx/>
              <a:buAutoNum type="alphaUcPeriod"/>
            </a:pPr>
            <a:r>
              <a:rPr lang="en-US" sz="1400" dirty="0">
                <a:latin typeface="Aptos" panose="020B0004020202020204" pitchFamily="34" charset="0"/>
              </a:rPr>
              <a:t>50 Hz, 60 Hz</a:t>
            </a:r>
          </a:p>
          <a:p>
            <a:pPr marL="401638" lvl="1" indent="-230188">
              <a:buFontTx/>
              <a:buAutoNum type="alphaUcPeriod"/>
            </a:pPr>
            <a:r>
              <a:rPr lang="en-US" sz="1400" dirty="0">
                <a:latin typeface="Aptos" panose="020B0004020202020204" pitchFamily="34" charset="0"/>
              </a:rPr>
              <a:t>GPS clock</a:t>
            </a:r>
          </a:p>
          <a:p>
            <a:pPr marL="401638" lvl="1" indent="-230188">
              <a:buFontTx/>
              <a:buAutoNum type="alphaUcPeriod"/>
              <a:tabLst>
                <a:tab pos="171450" algn="l"/>
              </a:tabLst>
            </a:pPr>
            <a:r>
              <a:rPr lang="en-US" sz="1400" dirty="0">
                <a:latin typeface="Aptos" panose="020B0004020202020204" pitchFamily="34" charset="0"/>
                <a:hlinkClick r:id="rId3">
                  <a:extLst>
                    <a:ext uri="{A12FA001-AC4F-418D-AE19-62706E023703}">
                      <ahyp:hlinkClr xmlns:ahyp="http://schemas.microsoft.com/office/drawing/2018/hyperlinkcolor" val="tx"/>
                    </a:ext>
                  </a:extLst>
                </a:hlinkClick>
              </a:rPr>
              <a:t>WWV</a:t>
            </a:r>
            <a:r>
              <a:rPr lang="en-US" sz="1400" dirty="0">
                <a:latin typeface="Aptos" panose="020B0004020202020204" pitchFamily="34" charset="0"/>
              </a:rPr>
              <a:t>, WWVH – Short wave signal of atomic clock (Coordinated Universal Time)</a:t>
            </a:r>
          </a:p>
          <a:p>
            <a:pPr marL="280988" indent="-280988">
              <a:buFontTx/>
              <a:buAutoNum type="arabicPeriod"/>
            </a:pPr>
            <a:r>
              <a:rPr lang="en-US" sz="1400" b="1" dirty="0">
                <a:latin typeface="Aptos" panose="020B0004020202020204" pitchFamily="34" charset="0"/>
              </a:rPr>
              <a:t>Derive clock timing from the received data</a:t>
            </a:r>
          </a:p>
          <a:p>
            <a:pPr marL="280988" indent="-280988">
              <a:buFontTx/>
              <a:buAutoNum type="arabicPeriod"/>
            </a:pPr>
            <a:r>
              <a:rPr lang="en-US" sz="1400" b="1" dirty="0">
                <a:latin typeface="Aptos" panose="020B0004020202020204" pitchFamily="34" charset="0"/>
              </a:rPr>
              <a:t>Use special bits as part of the data stream</a:t>
            </a:r>
          </a:p>
          <a:p>
            <a:pPr marL="457200" indent="-457200">
              <a:buFontTx/>
              <a:buAutoNum type="arabicPeriod"/>
            </a:pPr>
            <a:endParaRPr lang="en-US" sz="1400" b="1" dirty="0">
              <a:latin typeface="Aptos" panose="020B0004020202020204" pitchFamily="34" charset="0"/>
            </a:endParaRPr>
          </a:p>
          <a:p>
            <a:r>
              <a:rPr lang="en-US" sz="1400" dirty="0">
                <a:latin typeface="Aptos" panose="020B0004020202020204" pitchFamily="34" charset="0"/>
              </a:rPr>
              <a:t>#3, 4 together by far the most common for distances over about 15 feet.</a:t>
            </a:r>
          </a:p>
          <a:p>
            <a:pPr marL="457200" indent="-457200">
              <a:buAutoNum type="arabicPeriod"/>
            </a:pPr>
            <a:endParaRPr lang="en-US" sz="1400" dirty="0">
              <a:latin typeface="Aptos" panose="020B0004020202020204" pitchFamily="34" charset="0"/>
            </a:endParaRPr>
          </a:p>
          <a:p>
            <a:pPr marL="914400" lvl="1" indent="-457200">
              <a:buAutoNum type="arabicPeriod"/>
            </a:pPr>
            <a:endParaRPr lang="en-US" sz="1400" dirty="0">
              <a:latin typeface="Aptos" panose="020B0004020202020204" pitchFamily="34" charset="0"/>
            </a:endParaRPr>
          </a:p>
        </p:txBody>
      </p:sp>
      <p:pic>
        <p:nvPicPr>
          <p:cNvPr id="45" name="Picture 44">
            <a:extLst>
              <a:ext uri="{FF2B5EF4-FFF2-40B4-BE49-F238E27FC236}">
                <a16:creationId xmlns:a16="http://schemas.microsoft.com/office/drawing/2014/main" id="{35785657-472C-0261-64FA-A8C934B03AFE}"/>
              </a:ext>
            </a:extLst>
          </p:cNvPr>
          <p:cNvPicPr>
            <a:picLocks noChangeAspect="1"/>
          </p:cNvPicPr>
          <p:nvPr/>
        </p:nvPicPr>
        <p:blipFill>
          <a:blip r:embed="rId4"/>
          <a:srcRect/>
          <a:stretch>
            <a:fillRect/>
          </a:stretch>
        </p:blipFill>
        <p:spPr>
          <a:xfrm>
            <a:off x="5718435" y="736879"/>
            <a:ext cx="6364219" cy="3182110"/>
          </a:xfrm>
          <a:prstGeom prst="rect">
            <a:avLst/>
          </a:prstGeom>
        </p:spPr>
      </p:pic>
      <p:pic>
        <p:nvPicPr>
          <p:cNvPr id="47" name="Picture 46">
            <a:extLst>
              <a:ext uri="{FF2B5EF4-FFF2-40B4-BE49-F238E27FC236}">
                <a16:creationId xmlns:a16="http://schemas.microsoft.com/office/drawing/2014/main" id="{903D8585-F16A-E0B2-E4F8-EA163DA774FF}"/>
              </a:ext>
            </a:extLst>
          </p:cNvPr>
          <p:cNvPicPr>
            <a:picLocks noChangeAspect="1"/>
          </p:cNvPicPr>
          <p:nvPr/>
        </p:nvPicPr>
        <p:blipFill>
          <a:blip r:embed="rId5"/>
          <a:srcRect/>
          <a:stretch>
            <a:fillRect/>
          </a:stretch>
        </p:blipFill>
        <p:spPr>
          <a:xfrm>
            <a:off x="4941578" y="3654087"/>
            <a:ext cx="6561574" cy="328078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F11181A7-341E-9979-858C-4A821C3FBF8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98FE362-0E69-F9DD-F40B-F87BCD1042B8}"/>
              </a:ext>
            </a:extLst>
          </p:cNvPr>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a:extLst>
              <a:ext uri="{FF2B5EF4-FFF2-40B4-BE49-F238E27FC236}">
                <a16:creationId xmlns:a16="http://schemas.microsoft.com/office/drawing/2014/main" id="{BDF82504-AB20-07D0-2929-5C6C0CFE1CD6}"/>
              </a:ext>
            </a:extLst>
          </p:cNvPr>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FF2B5EF4-FFF2-40B4-BE49-F238E27FC236}">
                <a16:creationId xmlns:a16="http://schemas.microsoft.com/office/drawing/2014/main" id="{D07CCC34-BEF0-A34E-345E-542750148E5D}"/>
              </a:ext>
            </a:extLst>
          </p:cNvPr>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FF2B5EF4-FFF2-40B4-BE49-F238E27FC236}">
                <a16:creationId xmlns:a16="http://schemas.microsoft.com/office/drawing/2014/main" id="{D8AD7127-46FF-C0CD-6EF2-A3BE6FA7EC19}"/>
              </a:ext>
            </a:extLst>
          </p:cNvPr>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FF2B5EF4-FFF2-40B4-BE49-F238E27FC236}">
                <a16:creationId xmlns:a16="http://schemas.microsoft.com/office/drawing/2014/main" id="{B1861273-EF67-F027-DA2E-9821FABD3590}"/>
              </a:ext>
            </a:extLst>
          </p:cNvPr>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8EB476C4-058F-E405-F2DC-747D13A26579}"/>
              </a:ext>
            </a:extLst>
          </p:cNvPr>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FC32131A-32CF-F717-819F-8549FDE2D275}"/>
              </a:ext>
            </a:extLst>
          </p:cNvPr>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16 | FILTERS CLOCK RECOVERY PLLS </a:t>
            </a:r>
          </a:p>
        </p:txBody>
      </p:sp>
      <p:sp>
        <p:nvSpPr>
          <p:cNvPr id="9" name="TextBox 8">
            <a:extLst>
              <a:ext uri="{FF2B5EF4-FFF2-40B4-BE49-F238E27FC236}">
                <a16:creationId xmlns:a16="http://schemas.microsoft.com/office/drawing/2014/main" id="{A424C77E-A247-1FC5-65EE-6CE04DBAD78F}"/>
              </a:ext>
            </a:extLst>
          </p:cNvPr>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04</a:t>
            </a:r>
          </a:p>
        </p:txBody>
      </p:sp>
      <p:sp>
        <p:nvSpPr>
          <p:cNvPr id="10" name="TextBox 9">
            <a:extLst>
              <a:ext uri="{FF2B5EF4-FFF2-40B4-BE49-F238E27FC236}">
                <a16:creationId xmlns:a16="http://schemas.microsoft.com/office/drawing/2014/main" id="{29ED6AF0-E846-98A9-AE34-13AB490A45E5}"/>
              </a:ext>
            </a:extLst>
          </p:cNvPr>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WORKING VOCABULARY</a:t>
            </a:r>
          </a:p>
        </p:txBody>
      </p:sp>
      <p:sp>
        <p:nvSpPr>
          <p:cNvPr id="11" name="TextBox 10">
            <a:extLst>
              <a:ext uri="{FF2B5EF4-FFF2-40B4-BE49-F238E27FC236}">
                <a16:creationId xmlns:a16="http://schemas.microsoft.com/office/drawing/2014/main" id="{0DBA824F-A3F0-B735-0910-3D5004165BC3}"/>
              </a:ext>
            </a:extLst>
          </p:cNvPr>
          <p:cNvSpPr txBox="1"/>
          <p:nvPr/>
        </p:nvSpPr>
        <p:spPr>
          <a:xfrm>
            <a:off x="594360" y="749808"/>
            <a:ext cx="10881360" cy="446276"/>
          </a:xfrm>
          <a:prstGeom prst="rect">
            <a:avLst/>
          </a:prstGeom>
          <a:noFill/>
        </p:spPr>
        <p:txBody>
          <a:bodyPr wrap="square" lIns="0" tIns="0" rIns="0" bIns="0" anchor="t">
            <a:spAutoFit/>
          </a:bodyPr>
          <a:lstStyle/>
          <a:p>
            <a:pPr algn="l"/>
            <a:r>
              <a:rPr lang="en-US" sz="2900" b="1" i="0" dirty="0">
                <a:solidFill>
                  <a:srgbClr val="17324D"/>
                </a:solidFill>
                <a:latin typeface="Aptos Display"/>
              </a:rPr>
              <a:t>Continually Correct </a:t>
            </a:r>
            <a:r>
              <a:rPr lang="en-US" sz="2900" b="1" dirty="0">
                <a:solidFill>
                  <a:srgbClr val="17324D"/>
                </a:solidFill>
                <a:latin typeface="Aptos Display"/>
              </a:rPr>
              <a:t>the Timing</a:t>
            </a:r>
            <a:endParaRPr sz="2900" b="1" i="0" dirty="0">
              <a:solidFill>
                <a:srgbClr val="17324D"/>
              </a:solidFill>
              <a:latin typeface="Aptos Display"/>
            </a:endParaRPr>
          </a:p>
        </p:txBody>
      </p:sp>
      <p:cxnSp>
        <p:nvCxnSpPr>
          <p:cNvPr id="12" name="Connector 11">
            <a:extLst>
              <a:ext uri="{FF2B5EF4-FFF2-40B4-BE49-F238E27FC236}">
                <a16:creationId xmlns:a16="http://schemas.microsoft.com/office/drawing/2014/main" id="{85FA4B19-C6AF-1101-AD24-F4C7447D69A9}"/>
              </a:ext>
            </a:extLst>
          </p:cNvPr>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37" name="Rounded Rectangle 20">
            <a:extLst>
              <a:ext uri="{FF2B5EF4-FFF2-40B4-BE49-F238E27FC236}">
                <a16:creationId xmlns:a16="http://schemas.microsoft.com/office/drawing/2014/main" id="{D9D242FC-4B42-6D6C-9463-FFA0105A2DEB}"/>
              </a:ext>
            </a:extLst>
          </p:cNvPr>
          <p:cNvSpPr/>
          <p:nvPr/>
        </p:nvSpPr>
        <p:spPr>
          <a:xfrm>
            <a:off x="629027" y="1828800"/>
            <a:ext cx="3832860" cy="4590288"/>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a:extLst>
              <a:ext uri="{FF2B5EF4-FFF2-40B4-BE49-F238E27FC236}">
                <a16:creationId xmlns:a16="http://schemas.microsoft.com/office/drawing/2014/main" id="{C9E4BD56-335B-A073-4718-48DD554E25CA}"/>
              </a:ext>
            </a:extLst>
          </p:cNvPr>
          <p:cNvSpPr/>
          <p:nvPr/>
        </p:nvSpPr>
        <p:spPr>
          <a:xfrm>
            <a:off x="629026" y="1828800"/>
            <a:ext cx="96267" cy="4590288"/>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FE8C5833-FE70-AE18-35A1-8DDABB874A5E}"/>
              </a:ext>
            </a:extLst>
          </p:cNvPr>
          <p:cNvSpPr txBox="1"/>
          <p:nvPr/>
        </p:nvSpPr>
        <p:spPr>
          <a:xfrm>
            <a:off x="857627" y="1993392"/>
            <a:ext cx="2865120" cy="307777"/>
          </a:xfrm>
          <a:prstGeom prst="rect">
            <a:avLst/>
          </a:prstGeom>
          <a:noFill/>
        </p:spPr>
        <p:txBody>
          <a:bodyPr wrap="square" lIns="0" tIns="0" rIns="0" bIns="0" anchor="t">
            <a:spAutoFit/>
          </a:bodyPr>
          <a:lstStyle/>
          <a:p>
            <a:pPr algn="l"/>
            <a:r>
              <a:rPr lang="en-US" sz="2000" b="1" dirty="0">
                <a:solidFill>
                  <a:srgbClr val="17324D"/>
                </a:solidFill>
                <a:latin typeface="Aptos"/>
              </a:rPr>
              <a:t>Phase Locked Loop (PLL)</a:t>
            </a:r>
            <a:endParaRPr sz="2000" b="1" i="0" dirty="0">
              <a:solidFill>
                <a:srgbClr val="17324D"/>
              </a:solidFill>
              <a:latin typeface="Aptos"/>
            </a:endParaRPr>
          </a:p>
        </p:txBody>
      </p:sp>
      <p:sp>
        <p:nvSpPr>
          <p:cNvPr id="43" name="TextBox 42">
            <a:extLst>
              <a:ext uri="{FF2B5EF4-FFF2-40B4-BE49-F238E27FC236}">
                <a16:creationId xmlns:a16="http://schemas.microsoft.com/office/drawing/2014/main" id="{0C0A0B96-6762-1199-8713-7DA13D6ED8A6}"/>
              </a:ext>
            </a:extLst>
          </p:cNvPr>
          <p:cNvSpPr txBox="1"/>
          <p:nvPr/>
        </p:nvSpPr>
        <p:spPr>
          <a:xfrm>
            <a:off x="857627" y="2432304"/>
            <a:ext cx="3604260" cy="1938992"/>
          </a:xfrm>
          <a:prstGeom prst="rect">
            <a:avLst/>
          </a:prstGeom>
          <a:noFill/>
        </p:spPr>
        <p:txBody>
          <a:bodyPr wrap="square" lIns="0" tIns="0" rIns="0" bIns="0" anchor="t">
            <a:spAutoFit/>
          </a:bodyPr>
          <a:lstStyle/>
          <a:p>
            <a:pPr marL="285750" lvl="1" indent="-285750">
              <a:buFont typeface="Arial" panose="020B0604020202020204" pitchFamily="34" charset="0"/>
              <a:buChar char="•"/>
            </a:pPr>
            <a:r>
              <a:rPr lang="en-US" dirty="0">
                <a:latin typeface="Aptos" panose="020B0004020202020204" pitchFamily="34" charset="0"/>
              </a:rPr>
              <a:t>A circuit that is used to recover the clock.</a:t>
            </a:r>
          </a:p>
          <a:p>
            <a:pPr marL="285750" lvl="1" indent="-285750">
              <a:buFont typeface="Arial" panose="020B0604020202020204" pitchFamily="34" charset="0"/>
              <a:buChar char="•"/>
            </a:pPr>
            <a:r>
              <a:rPr lang="en-US" dirty="0">
                <a:latin typeface="Aptos" panose="020B0004020202020204" pitchFamily="34" charset="0"/>
              </a:rPr>
              <a:t>A feedback system. </a:t>
            </a:r>
          </a:p>
          <a:p>
            <a:pPr marL="285750" lvl="1" indent="-285750">
              <a:buFont typeface="Arial" panose="020B0604020202020204" pitchFamily="34" charset="0"/>
              <a:buChar char="•"/>
            </a:pPr>
            <a:r>
              <a:rPr lang="en-US" dirty="0">
                <a:latin typeface="Aptos" panose="020B0004020202020204" pitchFamily="34" charset="0"/>
              </a:rPr>
              <a:t>It compares an incoming timing reference with a local oscillator and adjusts the oscillator to stay aligned.</a:t>
            </a:r>
          </a:p>
        </p:txBody>
      </p:sp>
      <p:pic>
        <p:nvPicPr>
          <p:cNvPr id="14" name="Picture 13">
            <a:extLst>
              <a:ext uri="{FF2B5EF4-FFF2-40B4-BE49-F238E27FC236}">
                <a16:creationId xmlns:a16="http://schemas.microsoft.com/office/drawing/2014/main" id="{7749094D-6C15-1FF9-3B59-076C75DB3E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4500" y="977963"/>
            <a:ext cx="6134100" cy="5829300"/>
          </a:xfrm>
          <a:prstGeom prst="rect">
            <a:avLst/>
          </a:prstGeom>
        </p:spPr>
      </p:pic>
    </p:spTree>
    <p:extLst>
      <p:ext uri="{BB962C8B-B14F-4D97-AF65-F5344CB8AC3E}">
        <p14:creationId xmlns:p14="http://schemas.microsoft.com/office/powerpoint/2010/main" val="2513675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445A9B2F-2402-1B12-2B3E-05EE17FBE74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544DFB-3273-9363-B82E-3B85481D9F5D}"/>
              </a:ext>
            </a:extLst>
          </p:cNvPr>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a:extLst>
              <a:ext uri="{FF2B5EF4-FFF2-40B4-BE49-F238E27FC236}">
                <a16:creationId xmlns:a16="http://schemas.microsoft.com/office/drawing/2014/main" id="{0D6942D1-CB82-F9A9-1C1B-994927D0587A}"/>
              </a:ext>
            </a:extLst>
          </p:cNvPr>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FF2B5EF4-FFF2-40B4-BE49-F238E27FC236}">
                <a16:creationId xmlns:a16="http://schemas.microsoft.com/office/drawing/2014/main" id="{66161115-D1DF-FF11-B70C-418164A5ECC4}"/>
              </a:ext>
            </a:extLst>
          </p:cNvPr>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FF2B5EF4-FFF2-40B4-BE49-F238E27FC236}">
                <a16:creationId xmlns:a16="http://schemas.microsoft.com/office/drawing/2014/main" id="{34A7B1AF-3CB3-EED3-97A6-F359E5DBDBBC}"/>
              </a:ext>
            </a:extLst>
          </p:cNvPr>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FF2B5EF4-FFF2-40B4-BE49-F238E27FC236}">
                <a16:creationId xmlns:a16="http://schemas.microsoft.com/office/drawing/2014/main" id="{D5E84B42-20E2-E7DA-B163-513D1674582D}"/>
              </a:ext>
            </a:extLst>
          </p:cNvPr>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E3204370-4A53-BE76-F961-7C5AE327E45D}"/>
              </a:ext>
            </a:extLst>
          </p:cNvPr>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29A0462-725F-0DD3-8D7E-77197EE6373D}"/>
              </a:ext>
            </a:extLst>
          </p:cNvPr>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16 | FILTERS CLOCK RECOVERY PLLS </a:t>
            </a:r>
          </a:p>
        </p:txBody>
      </p:sp>
      <p:sp>
        <p:nvSpPr>
          <p:cNvPr id="9" name="TextBox 8">
            <a:extLst>
              <a:ext uri="{FF2B5EF4-FFF2-40B4-BE49-F238E27FC236}">
                <a16:creationId xmlns:a16="http://schemas.microsoft.com/office/drawing/2014/main" id="{9324BDBC-1B3E-1A75-2A4E-6D42A30D2502}"/>
              </a:ext>
            </a:extLst>
          </p:cNvPr>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04</a:t>
            </a:r>
          </a:p>
        </p:txBody>
      </p:sp>
      <p:sp>
        <p:nvSpPr>
          <p:cNvPr id="10" name="TextBox 9">
            <a:extLst>
              <a:ext uri="{FF2B5EF4-FFF2-40B4-BE49-F238E27FC236}">
                <a16:creationId xmlns:a16="http://schemas.microsoft.com/office/drawing/2014/main" id="{83B7C69A-89A6-9428-B2B8-99EFEC3932C9}"/>
              </a:ext>
            </a:extLst>
          </p:cNvPr>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WORKING VOCABULARY</a:t>
            </a:r>
          </a:p>
        </p:txBody>
      </p:sp>
      <p:sp>
        <p:nvSpPr>
          <p:cNvPr id="11" name="TextBox 10">
            <a:extLst>
              <a:ext uri="{FF2B5EF4-FFF2-40B4-BE49-F238E27FC236}">
                <a16:creationId xmlns:a16="http://schemas.microsoft.com/office/drawing/2014/main" id="{E7640CB5-D829-A9CE-2C44-43EAD5A044B3}"/>
              </a:ext>
            </a:extLst>
          </p:cNvPr>
          <p:cNvSpPr txBox="1"/>
          <p:nvPr/>
        </p:nvSpPr>
        <p:spPr>
          <a:xfrm>
            <a:off x="594360" y="749808"/>
            <a:ext cx="10881360" cy="446276"/>
          </a:xfrm>
          <a:prstGeom prst="rect">
            <a:avLst/>
          </a:prstGeom>
          <a:noFill/>
        </p:spPr>
        <p:txBody>
          <a:bodyPr wrap="square" lIns="0" tIns="0" rIns="0" bIns="0" anchor="t">
            <a:spAutoFit/>
          </a:bodyPr>
          <a:lstStyle/>
          <a:p>
            <a:pPr algn="l"/>
            <a:r>
              <a:rPr lang="en-US" sz="2900" b="1" i="0" dirty="0">
                <a:solidFill>
                  <a:srgbClr val="17324D"/>
                </a:solidFill>
                <a:latin typeface="Aptos Display"/>
              </a:rPr>
              <a:t>Continually Correct </a:t>
            </a:r>
            <a:r>
              <a:rPr lang="en-US" sz="2900" b="1" dirty="0">
                <a:solidFill>
                  <a:srgbClr val="17324D"/>
                </a:solidFill>
                <a:latin typeface="Aptos Display"/>
              </a:rPr>
              <a:t>the Timing</a:t>
            </a:r>
            <a:endParaRPr sz="2900" b="1" i="0" dirty="0">
              <a:solidFill>
                <a:srgbClr val="17324D"/>
              </a:solidFill>
              <a:latin typeface="Aptos Display"/>
            </a:endParaRPr>
          </a:p>
        </p:txBody>
      </p:sp>
      <p:cxnSp>
        <p:nvCxnSpPr>
          <p:cNvPr id="12" name="Connector 11">
            <a:extLst>
              <a:ext uri="{FF2B5EF4-FFF2-40B4-BE49-F238E27FC236}">
                <a16:creationId xmlns:a16="http://schemas.microsoft.com/office/drawing/2014/main" id="{41599F6A-E02B-04B4-1E7F-A2A7BE056FDA}"/>
              </a:ext>
            </a:extLst>
          </p:cNvPr>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37" name="Rounded Rectangle 20">
            <a:extLst>
              <a:ext uri="{FF2B5EF4-FFF2-40B4-BE49-F238E27FC236}">
                <a16:creationId xmlns:a16="http://schemas.microsoft.com/office/drawing/2014/main" id="{453F097C-35D3-3583-22AD-1AEC2B49561C}"/>
              </a:ext>
            </a:extLst>
          </p:cNvPr>
          <p:cNvSpPr/>
          <p:nvPr/>
        </p:nvSpPr>
        <p:spPr>
          <a:xfrm>
            <a:off x="629027" y="1828800"/>
            <a:ext cx="3832860" cy="4590288"/>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a:extLst>
              <a:ext uri="{FF2B5EF4-FFF2-40B4-BE49-F238E27FC236}">
                <a16:creationId xmlns:a16="http://schemas.microsoft.com/office/drawing/2014/main" id="{BD128C78-4519-D860-AC1A-FAB1A6B930F9}"/>
              </a:ext>
            </a:extLst>
          </p:cNvPr>
          <p:cNvSpPr/>
          <p:nvPr/>
        </p:nvSpPr>
        <p:spPr>
          <a:xfrm>
            <a:off x="629026" y="1828800"/>
            <a:ext cx="96267" cy="4590288"/>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8BBF6469-13BD-6B06-3C0E-2B441F92DAEC}"/>
              </a:ext>
            </a:extLst>
          </p:cNvPr>
          <p:cNvSpPr txBox="1"/>
          <p:nvPr/>
        </p:nvSpPr>
        <p:spPr>
          <a:xfrm>
            <a:off x="857627" y="1993392"/>
            <a:ext cx="2865120" cy="307777"/>
          </a:xfrm>
          <a:prstGeom prst="rect">
            <a:avLst/>
          </a:prstGeom>
          <a:noFill/>
        </p:spPr>
        <p:txBody>
          <a:bodyPr wrap="square" lIns="0" tIns="0" rIns="0" bIns="0" anchor="t">
            <a:spAutoFit/>
          </a:bodyPr>
          <a:lstStyle/>
          <a:p>
            <a:pPr algn="l"/>
            <a:r>
              <a:rPr lang="en-US" sz="2000" b="1" dirty="0">
                <a:solidFill>
                  <a:srgbClr val="17324D"/>
                </a:solidFill>
                <a:latin typeface="Aptos"/>
              </a:rPr>
              <a:t>Capture range</a:t>
            </a:r>
            <a:endParaRPr sz="2000" b="1" i="0" dirty="0">
              <a:solidFill>
                <a:srgbClr val="17324D"/>
              </a:solidFill>
              <a:latin typeface="Aptos"/>
            </a:endParaRPr>
          </a:p>
        </p:txBody>
      </p:sp>
      <p:sp>
        <p:nvSpPr>
          <p:cNvPr id="43" name="TextBox 42">
            <a:extLst>
              <a:ext uri="{FF2B5EF4-FFF2-40B4-BE49-F238E27FC236}">
                <a16:creationId xmlns:a16="http://schemas.microsoft.com/office/drawing/2014/main" id="{D6CC0661-E138-8349-ECF6-97ED9813FC8F}"/>
              </a:ext>
            </a:extLst>
          </p:cNvPr>
          <p:cNvSpPr txBox="1"/>
          <p:nvPr/>
        </p:nvSpPr>
        <p:spPr>
          <a:xfrm>
            <a:off x="857627" y="2432304"/>
            <a:ext cx="3604260" cy="3046988"/>
          </a:xfrm>
          <a:prstGeom prst="rect">
            <a:avLst/>
          </a:prstGeom>
          <a:noFill/>
        </p:spPr>
        <p:txBody>
          <a:bodyPr wrap="square" lIns="0" tIns="0" rIns="0" bIns="0" anchor="t">
            <a:spAutoFit/>
          </a:bodyPr>
          <a:lstStyle/>
          <a:p>
            <a:pPr marL="285750" lvl="1" indent="-285750">
              <a:buFont typeface="Arial" panose="020B0604020202020204" pitchFamily="34" charset="0"/>
              <a:buChar char="•"/>
            </a:pPr>
            <a:r>
              <a:rPr lang="en-US" dirty="0">
                <a:latin typeface="Aptos" panose="020B0004020202020204" pitchFamily="34" charset="0"/>
              </a:rPr>
              <a:t>The frequencies at which a PLL can initially synchronize with an incoming signal.</a:t>
            </a:r>
          </a:p>
          <a:p>
            <a:pPr marL="285750" lvl="1" indent="-285750">
              <a:buFont typeface="Arial" panose="020B0604020202020204" pitchFamily="34" charset="0"/>
              <a:buChar char="•"/>
            </a:pPr>
            <a:endParaRPr lang="en-US" dirty="0">
              <a:latin typeface="Aptos" panose="020B0004020202020204" pitchFamily="34" charset="0"/>
            </a:endParaRPr>
          </a:p>
          <a:p>
            <a:pPr marL="285750" lvl="1" indent="-285750">
              <a:buFont typeface="Arial" panose="020B0604020202020204" pitchFamily="34" charset="0"/>
              <a:buChar char="•"/>
            </a:pPr>
            <a:endParaRPr lang="en-US" dirty="0">
              <a:latin typeface="Aptos" panose="020B0004020202020204" pitchFamily="34" charset="0"/>
            </a:endParaRPr>
          </a:p>
          <a:p>
            <a:pPr marL="285750" lvl="1" indent="-285750">
              <a:buFont typeface="Arial" panose="020B0604020202020204" pitchFamily="34" charset="0"/>
              <a:buChar char="•"/>
            </a:pPr>
            <a:endParaRPr lang="en-US" dirty="0">
              <a:latin typeface="Aptos" panose="020B0004020202020204" pitchFamily="34" charset="0"/>
            </a:endParaRPr>
          </a:p>
          <a:p>
            <a:pPr marL="285750" lvl="1" indent="-285750">
              <a:buFont typeface="Arial" panose="020B0604020202020204" pitchFamily="34" charset="0"/>
              <a:buChar char="•"/>
            </a:pPr>
            <a:endParaRPr lang="en-US" dirty="0">
              <a:latin typeface="Aptos" panose="020B0004020202020204" pitchFamily="34" charset="0"/>
            </a:endParaRPr>
          </a:p>
          <a:p>
            <a:pPr marL="285750" lvl="1" indent="-285750">
              <a:buFont typeface="Arial" panose="020B0604020202020204" pitchFamily="34" charset="0"/>
              <a:buChar char="•"/>
            </a:pPr>
            <a:endParaRPr lang="en-US" dirty="0">
              <a:latin typeface="Aptos" panose="020B0004020202020204" pitchFamily="34" charset="0"/>
            </a:endParaRPr>
          </a:p>
          <a:p>
            <a:pPr marL="285750" lvl="1" indent="-285750">
              <a:buFont typeface="Arial" panose="020B0604020202020204" pitchFamily="34" charset="0"/>
              <a:buChar char="•"/>
            </a:pPr>
            <a:r>
              <a:rPr lang="en-US" dirty="0">
                <a:latin typeface="Aptos" panose="020B0004020202020204" pitchFamily="34" charset="0"/>
              </a:rPr>
              <a:t>The frequencies over which a PLL can remain synchronized after it has already locked.</a:t>
            </a:r>
          </a:p>
        </p:txBody>
      </p:sp>
      <p:sp>
        <p:nvSpPr>
          <p:cNvPr id="16" name="TextBox 15">
            <a:extLst>
              <a:ext uri="{FF2B5EF4-FFF2-40B4-BE49-F238E27FC236}">
                <a16:creationId xmlns:a16="http://schemas.microsoft.com/office/drawing/2014/main" id="{586FA6A7-320B-92A6-23E8-5885721D4655}"/>
              </a:ext>
            </a:extLst>
          </p:cNvPr>
          <p:cNvSpPr txBox="1"/>
          <p:nvPr/>
        </p:nvSpPr>
        <p:spPr>
          <a:xfrm>
            <a:off x="857627" y="4224126"/>
            <a:ext cx="2865120" cy="307777"/>
          </a:xfrm>
          <a:prstGeom prst="rect">
            <a:avLst/>
          </a:prstGeom>
          <a:noFill/>
        </p:spPr>
        <p:txBody>
          <a:bodyPr wrap="square" lIns="0" tIns="0" rIns="0" bIns="0" anchor="t">
            <a:spAutoFit/>
          </a:bodyPr>
          <a:lstStyle/>
          <a:p>
            <a:pPr algn="l"/>
            <a:r>
              <a:rPr lang="en-US" sz="2000" b="1" dirty="0">
                <a:solidFill>
                  <a:srgbClr val="17324D"/>
                </a:solidFill>
                <a:latin typeface="Aptos"/>
              </a:rPr>
              <a:t>Lock range</a:t>
            </a:r>
            <a:endParaRPr sz="2000" b="1" i="0" dirty="0">
              <a:solidFill>
                <a:srgbClr val="17324D"/>
              </a:solidFill>
              <a:latin typeface="Aptos"/>
            </a:endParaRPr>
          </a:p>
        </p:txBody>
      </p:sp>
      <p:pic>
        <p:nvPicPr>
          <p:cNvPr id="18" name="Picture 17">
            <a:extLst>
              <a:ext uri="{FF2B5EF4-FFF2-40B4-BE49-F238E27FC236}">
                <a16:creationId xmlns:a16="http://schemas.microsoft.com/office/drawing/2014/main" id="{8D167DCE-1DB3-4A99-8062-DE744B164C4B}"/>
              </a:ext>
            </a:extLst>
          </p:cNvPr>
          <p:cNvPicPr>
            <a:picLocks noChangeAspect="1"/>
          </p:cNvPicPr>
          <p:nvPr/>
        </p:nvPicPr>
        <p:blipFill>
          <a:blip r:embed="rId3"/>
          <a:srcRect/>
          <a:stretch>
            <a:fillRect/>
          </a:stretch>
        </p:blipFill>
        <p:spPr>
          <a:xfrm>
            <a:off x="4461887" y="1212272"/>
            <a:ext cx="7664160" cy="2786967"/>
          </a:xfrm>
          <a:prstGeom prst="rect">
            <a:avLst/>
          </a:prstGeom>
        </p:spPr>
      </p:pic>
      <p:pic>
        <p:nvPicPr>
          <p:cNvPr id="20" name="Picture 19">
            <a:extLst>
              <a:ext uri="{FF2B5EF4-FFF2-40B4-BE49-F238E27FC236}">
                <a16:creationId xmlns:a16="http://schemas.microsoft.com/office/drawing/2014/main" id="{48D8BF00-A16B-8410-0AA9-5467AD202FC5}"/>
              </a:ext>
            </a:extLst>
          </p:cNvPr>
          <p:cNvPicPr>
            <a:picLocks noChangeAspect="1"/>
          </p:cNvPicPr>
          <p:nvPr/>
        </p:nvPicPr>
        <p:blipFill>
          <a:blip r:embed="rId4">
            <a:extLst>
              <a:ext uri="{28A0092B-C50C-407E-A947-70E740481C1C}">
                <a14:useLocalDpi xmlns:a14="http://schemas.microsoft.com/office/drawing/2010/main" val="0"/>
              </a:ext>
            </a:extLst>
          </a:blip>
          <a:srcRect b="54747"/>
          <a:stretch>
            <a:fillRect/>
          </a:stretch>
        </p:blipFill>
        <p:spPr>
          <a:xfrm>
            <a:off x="5524500" y="4100269"/>
            <a:ext cx="6134100" cy="2637965"/>
          </a:xfrm>
          <a:prstGeom prst="rect">
            <a:avLst/>
          </a:prstGeom>
        </p:spPr>
      </p:pic>
    </p:spTree>
    <p:extLst>
      <p:ext uri="{BB962C8B-B14F-4D97-AF65-F5344CB8AC3E}">
        <p14:creationId xmlns:p14="http://schemas.microsoft.com/office/powerpoint/2010/main" val="1647287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B8400427-D961-88F7-8FED-70CC38A94C8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54E649D-BE9E-AD96-DCD4-7ACF99CDBCA4}"/>
              </a:ext>
            </a:extLst>
          </p:cNvPr>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a:extLst>
              <a:ext uri="{FF2B5EF4-FFF2-40B4-BE49-F238E27FC236}">
                <a16:creationId xmlns:a16="http://schemas.microsoft.com/office/drawing/2014/main" id="{9DC0D5AC-CEFC-BFCC-B07B-EDC053EC4408}"/>
              </a:ext>
            </a:extLst>
          </p:cNvPr>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FF2B5EF4-FFF2-40B4-BE49-F238E27FC236}">
                <a16:creationId xmlns:a16="http://schemas.microsoft.com/office/drawing/2014/main" id="{3CD639F0-79BA-57C7-FD0B-3E10C5CFAABB}"/>
              </a:ext>
            </a:extLst>
          </p:cNvPr>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FF2B5EF4-FFF2-40B4-BE49-F238E27FC236}">
                <a16:creationId xmlns:a16="http://schemas.microsoft.com/office/drawing/2014/main" id="{A2A99BBF-479A-4354-39A5-BD7517DA9EAB}"/>
              </a:ext>
            </a:extLst>
          </p:cNvPr>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FF2B5EF4-FFF2-40B4-BE49-F238E27FC236}">
                <a16:creationId xmlns:a16="http://schemas.microsoft.com/office/drawing/2014/main" id="{45DF17B8-132E-213E-175B-E0569975D028}"/>
              </a:ext>
            </a:extLst>
          </p:cNvPr>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8DBE22BC-20C7-9FC1-FEFA-C555FEAF3836}"/>
              </a:ext>
            </a:extLst>
          </p:cNvPr>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4D0A758C-6115-7F2F-0CA0-888DEBD40663}"/>
              </a:ext>
            </a:extLst>
          </p:cNvPr>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16 | FILTERS CLOCK RECOVERY PLLS </a:t>
            </a:r>
          </a:p>
        </p:txBody>
      </p:sp>
      <p:sp>
        <p:nvSpPr>
          <p:cNvPr id="9" name="TextBox 8">
            <a:extLst>
              <a:ext uri="{FF2B5EF4-FFF2-40B4-BE49-F238E27FC236}">
                <a16:creationId xmlns:a16="http://schemas.microsoft.com/office/drawing/2014/main" id="{4AFA5DE0-E614-35B4-AB10-7F6C9CF42848}"/>
              </a:ext>
            </a:extLst>
          </p:cNvPr>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04</a:t>
            </a:r>
          </a:p>
        </p:txBody>
      </p:sp>
      <p:sp>
        <p:nvSpPr>
          <p:cNvPr id="10" name="TextBox 9">
            <a:extLst>
              <a:ext uri="{FF2B5EF4-FFF2-40B4-BE49-F238E27FC236}">
                <a16:creationId xmlns:a16="http://schemas.microsoft.com/office/drawing/2014/main" id="{7A430CD9-2694-57C1-BEE3-6D352E2966DA}"/>
              </a:ext>
            </a:extLst>
          </p:cNvPr>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WORKING VOCABULARY</a:t>
            </a:r>
          </a:p>
        </p:txBody>
      </p:sp>
      <p:sp>
        <p:nvSpPr>
          <p:cNvPr id="11" name="TextBox 10">
            <a:extLst>
              <a:ext uri="{FF2B5EF4-FFF2-40B4-BE49-F238E27FC236}">
                <a16:creationId xmlns:a16="http://schemas.microsoft.com/office/drawing/2014/main" id="{8BA646F6-33E2-7C52-9B43-C77DACFFA6B5}"/>
              </a:ext>
            </a:extLst>
          </p:cNvPr>
          <p:cNvSpPr txBox="1"/>
          <p:nvPr/>
        </p:nvSpPr>
        <p:spPr>
          <a:xfrm>
            <a:off x="594360" y="749808"/>
            <a:ext cx="10881360" cy="446276"/>
          </a:xfrm>
          <a:prstGeom prst="rect">
            <a:avLst/>
          </a:prstGeom>
          <a:noFill/>
        </p:spPr>
        <p:txBody>
          <a:bodyPr wrap="square" lIns="0" tIns="0" rIns="0" bIns="0" anchor="t">
            <a:spAutoFit/>
          </a:bodyPr>
          <a:lstStyle/>
          <a:p>
            <a:pPr algn="l"/>
            <a:r>
              <a:rPr lang="en-US" sz="2900" b="1" i="0" dirty="0">
                <a:solidFill>
                  <a:srgbClr val="17324D"/>
                </a:solidFill>
                <a:latin typeface="Aptos Display"/>
              </a:rPr>
              <a:t>Types of Encoding</a:t>
            </a:r>
            <a:endParaRPr sz="2900" b="1" i="0" dirty="0">
              <a:solidFill>
                <a:srgbClr val="17324D"/>
              </a:solidFill>
              <a:latin typeface="Aptos Display"/>
            </a:endParaRPr>
          </a:p>
        </p:txBody>
      </p:sp>
      <p:cxnSp>
        <p:nvCxnSpPr>
          <p:cNvPr id="12" name="Connector 11">
            <a:extLst>
              <a:ext uri="{FF2B5EF4-FFF2-40B4-BE49-F238E27FC236}">
                <a16:creationId xmlns:a16="http://schemas.microsoft.com/office/drawing/2014/main" id="{D92F4C1A-FA7B-02CF-90DF-D34CF46765DC}"/>
              </a:ext>
            </a:extLst>
          </p:cNvPr>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37" name="Rounded Rectangle 20">
            <a:extLst>
              <a:ext uri="{FF2B5EF4-FFF2-40B4-BE49-F238E27FC236}">
                <a16:creationId xmlns:a16="http://schemas.microsoft.com/office/drawing/2014/main" id="{8C559A22-C08E-1408-F662-0EB680714E8D}"/>
              </a:ext>
            </a:extLst>
          </p:cNvPr>
          <p:cNvSpPr/>
          <p:nvPr/>
        </p:nvSpPr>
        <p:spPr>
          <a:xfrm>
            <a:off x="629027" y="1828800"/>
            <a:ext cx="3832860" cy="2300935"/>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a:extLst>
              <a:ext uri="{FF2B5EF4-FFF2-40B4-BE49-F238E27FC236}">
                <a16:creationId xmlns:a16="http://schemas.microsoft.com/office/drawing/2014/main" id="{A5BC3F93-384F-3FDE-F12C-853031FD3C46}"/>
              </a:ext>
            </a:extLst>
          </p:cNvPr>
          <p:cNvSpPr/>
          <p:nvPr/>
        </p:nvSpPr>
        <p:spPr>
          <a:xfrm>
            <a:off x="629026" y="1828800"/>
            <a:ext cx="96267" cy="2300935"/>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895747BE-4726-6A62-7905-1BDE724B0826}"/>
              </a:ext>
            </a:extLst>
          </p:cNvPr>
          <p:cNvSpPr txBox="1"/>
          <p:nvPr/>
        </p:nvSpPr>
        <p:spPr>
          <a:xfrm>
            <a:off x="857627" y="2432304"/>
            <a:ext cx="3282294" cy="1107996"/>
          </a:xfrm>
          <a:prstGeom prst="rect">
            <a:avLst/>
          </a:prstGeom>
          <a:noFill/>
        </p:spPr>
        <p:txBody>
          <a:bodyPr wrap="square" lIns="0" tIns="0" rIns="0" bIns="0" anchor="t">
            <a:spAutoFit/>
          </a:bodyPr>
          <a:lstStyle/>
          <a:p>
            <a:pPr marL="0" lvl="1"/>
            <a:r>
              <a:rPr lang="en-US" sz="2400" dirty="0">
                <a:latin typeface="Aptos" panose="020B0004020202020204" pitchFamily="34" charset="0"/>
              </a:rPr>
              <a:t>Can you recover the timing if you transmit a lot of zeroes/ones?</a:t>
            </a:r>
          </a:p>
        </p:txBody>
      </p:sp>
      <p:pic>
        <p:nvPicPr>
          <p:cNvPr id="15" name="Picture 2" descr="C:\Documents and Settings\anuj.garawal\Desktop\C09\AAHWWBS0.jpg">
            <a:extLst>
              <a:ext uri="{FF2B5EF4-FFF2-40B4-BE49-F238E27FC236}">
                <a16:creationId xmlns:a16="http://schemas.microsoft.com/office/drawing/2014/main" id="{3E2BB4D5-1BD1-E807-C7ED-2D61343BA5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2753" y="25843"/>
            <a:ext cx="5665787" cy="6832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4623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a:extLst>
            <a:ext uri="{FF2B5EF4-FFF2-40B4-BE49-F238E27FC236}">
              <a16:creationId xmlns:a16="http://schemas.microsoft.com/office/drawing/2014/main" id="{9938D679-40EE-965D-F59A-BE9808CC2CE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67E10D-8F26-54A6-088D-9EFEB6BBDB41}"/>
              </a:ext>
            </a:extLst>
          </p:cNvPr>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a:extLst>
              <a:ext uri="{FF2B5EF4-FFF2-40B4-BE49-F238E27FC236}">
                <a16:creationId xmlns:a16="http://schemas.microsoft.com/office/drawing/2014/main" id="{4510518E-8FBB-76A1-F12F-17C124DFDDC4}"/>
              </a:ext>
            </a:extLst>
          </p:cNvPr>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a:extLst>
              <a:ext uri="{FF2B5EF4-FFF2-40B4-BE49-F238E27FC236}">
                <a16:creationId xmlns:a16="http://schemas.microsoft.com/office/drawing/2014/main" id="{288E5373-0C85-A83B-1338-A98B46BB66FC}"/>
              </a:ext>
            </a:extLst>
          </p:cNvPr>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a:extLst>
              <a:ext uri="{FF2B5EF4-FFF2-40B4-BE49-F238E27FC236}">
                <a16:creationId xmlns:a16="http://schemas.microsoft.com/office/drawing/2014/main" id="{9ABA06F0-AF46-74CF-20A7-7656E63093E8}"/>
              </a:ext>
            </a:extLst>
          </p:cNvPr>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a:extLst>
              <a:ext uri="{FF2B5EF4-FFF2-40B4-BE49-F238E27FC236}">
                <a16:creationId xmlns:a16="http://schemas.microsoft.com/office/drawing/2014/main" id="{0BF32833-7F79-40D4-69B0-FD66FC93C0B0}"/>
              </a:ext>
            </a:extLst>
          </p:cNvPr>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a:extLst>
              <a:ext uri="{FF2B5EF4-FFF2-40B4-BE49-F238E27FC236}">
                <a16:creationId xmlns:a16="http://schemas.microsoft.com/office/drawing/2014/main" id="{438FA707-30F5-FF28-2F1E-21268B08AC78}"/>
              </a:ext>
            </a:extLst>
          </p:cNvPr>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04F1A740-3A2A-9D75-3509-B156B9960FC1}"/>
              </a:ext>
            </a:extLst>
          </p:cNvPr>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16 | FILTERS CLOCK RECOVERY PLLS </a:t>
            </a:r>
          </a:p>
        </p:txBody>
      </p:sp>
      <p:sp>
        <p:nvSpPr>
          <p:cNvPr id="9" name="TextBox 8">
            <a:extLst>
              <a:ext uri="{FF2B5EF4-FFF2-40B4-BE49-F238E27FC236}">
                <a16:creationId xmlns:a16="http://schemas.microsoft.com/office/drawing/2014/main" id="{08C5DB6F-D7CB-C2C2-F413-DB0EF992E5DF}"/>
              </a:ext>
            </a:extLst>
          </p:cNvPr>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04</a:t>
            </a:r>
          </a:p>
        </p:txBody>
      </p:sp>
      <p:sp>
        <p:nvSpPr>
          <p:cNvPr id="10" name="TextBox 9">
            <a:extLst>
              <a:ext uri="{FF2B5EF4-FFF2-40B4-BE49-F238E27FC236}">
                <a16:creationId xmlns:a16="http://schemas.microsoft.com/office/drawing/2014/main" id="{8460ABA2-F930-9E2D-E657-DCAFBFB4E4B9}"/>
              </a:ext>
            </a:extLst>
          </p:cNvPr>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WORKING VOCABULARY</a:t>
            </a:r>
          </a:p>
        </p:txBody>
      </p:sp>
      <p:sp>
        <p:nvSpPr>
          <p:cNvPr id="11" name="TextBox 10">
            <a:extLst>
              <a:ext uri="{FF2B5EF4-FFF2-40B4-BE49-F238E27FC236}">
                <a16:creationId xmlns:a16="http://schemas.microsoft.com/office/drawing/2014/main" id="{D55D189E-A2E0-365D-C338-3F529611DA46}"/>
              </a:ext>
            </a:extLst>
          </p:cNvPr>
          <p:cNvSpPr txBox="1"/>
          <p:nvPr/>
        </p:nvSpPr>
        <p:spPr>
          <a:xfrm>
            <a:off x="594360" y="749808"/>
            <a:ext cx="10881360" cy="446276"/>
          </a:xfrm>
          <a:prstGeom prst="rect">
            <a:avLst/>
          </a:prstGeom>
          <a:noFill/>
        </p:spPr>
        <p:txBody>
          <a:bodyPr wrap="square" lIns="0" tIns="0" rIns="0" bIns="0" anchor="t">
            <a:spAutoFit/>
          </a:bodyPr>
          <a:lstStyle/>
          <a:p>
            <a:r>
              <a:rPr lang="en-US" sz="2900" b="1" dirty="0">
                <a:solidFill>
                  <a:srgbClr val="17324D"/>
                </a:solidFill>
                <a:latin typeface="Aptos Display"/>
              </a:rPr>
              <a:t>Continually Correct the Timing</a:t>
            </a:r>
          </a:p>
        </p:txBody>
      </p:sp>
      <p:cxnSp>
        <p:nvCxnSpPr>
          <p:cNvPr id="12" name="Connector 11">
            <a:extLst>
              <a:ext uri="{FF2B5EF4-FFF2-40B4-BE49-F238E27FC236}">
                <a16:creationId xmlns:a16="http://schemas.microsoft.com/office/drawing/2014/main" id="{47C30894-5AC6-783B-7713-9C50CBE8BFBE}"/>
              </a:ext>
            </a:extLst>
          </p:cNvPr>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37" name="Rounded Rectangle 20">
            <a:extLst>
              <a:ext uri="{FF2B5EF4-FFF2-40B4-BE49-F238E27FC236}">
                <a16:creationId xmlns:a16="http://schemas.microsoft.com/office/drawing/2014/main" id="{48C18269-1309-0765-1B54-65076A1139DF}"/>
              </a:ext>
            </a:extLst>
          </p:cNvPr>
          <p:cNvSpPr/>
          <p:nvPr/>
        </p:nvSpPr>
        <p:spPr>
          <a:xfrm>
            <a:off x="629027" y="1828801"/>
            <a:ext cx="3832860" cy="1795714"/>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a:extLst>
              <a:ext uri="{FF2B5EF4-FFF2-40B4-BE49-F238E27FC236}">
                <a16:creationId xmlns:a16="http://schemas.microsoft.com/office/drawing/2014/main" id="{82759087-4168-5DBE-E2E9-D77F026F1F84}"/>
              </a:ext>
            </a:extLst>
          </p:cNvPr>
          <p:cNvSpPr/>
          <p:nvPr/>
        </p:nvSpPr>
        <p:spPr>
          <a:xfrm>
            <a:off x="629026" y="1828801"/>
            <a:ext cx="96267" cy="1795714"/>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72244908-E82A-09BA-C362-A8231EDBA5CD}"/>
              </a:ext>
            </a:extLst>
          </p:cNvPr>
          <p:cNvSpPr txBox="1"/>
          <p:nvPr/>
        </p:nvSpPr>
        <p:spPr>
          <a:xfrm>
            <a:off x="857627" y="2432304"/>
            <a:ext cx="3282294" cy="923330"/>
          </a:xfrm>
          <a:prstGeom prst="rect">
            <a:avLst/>
          </a:prstGeom>
          <a:noFill/>
        </p:spPr>
        <p:txBody>
          <a:bodyPr wrap="square" lIns="0" tIns="0" rIns="0" bIns="0" anchor="t">
            <a:spAutoFit/>
          </a:bodyPr>
          <a:lstStyle/>
          <a:p>
            <a:pPr marL="0" lvl="1"/>
            <a:r>
              <a:rPr lang="en-US" sz="2000" dirty="0">
                <a:latin typeface="Aptos" panose="020B0004020202020204" pitchFamily="34" charset="0"/>
              </a:rPr>
              <a:t>Encode the data so that long sequences without transitions are avoided.</a:t>
            </a:r>
          </a:p>
        </p:txBody>
      </p:sp>
      <p:pic>
        <p:nvPicPr>
          <p:cNvPr id="14" name="Picture 13">
            <a:extLst>
              <a:ext uri="{FF2B5EF4-FFF2-40B4-BE49-F238E27FC236}">
                <a16:creationId xmlns:a16="http://schemas.microsoft.com/office/drawing/2014/main" id="{DEF44552-CF79-173F-CC62-AB375D58CA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2227" y="0"/>
            <a:ext cx="4691743" cy="6858000"/>
          </a:xfrm>
          <a:prstGeom prst="rect">
            <a:avLst/>
          </a:prstGeom>
        </p:spPr>
      </p:pic>
      <p:sp>
        <p:nvSpPr>
          <p:cNvPr id="17" name="TextBox 16">
            <a:extLst>
              <a:ext uri="{FF2B5EF4-FFF2-40B4-BE49-F238E27FC236}">
                <a16:creationId xmlns:a16="http://schemas.microsoft.com/office/drawing/2014/main" id="{727A4469-C8E1-F60C-789C-2D3024E82E93}"/>
              </a:ext>
            </a:extLst>
          </p:cNvPr>
          <p:cNvSpPr txBox="1"/>
          <p:nvPr/>
        </p:nvSpPr>
        <p:spPr>
          <a:xfrm>
            <a:off x="857627" y="1993392"/>
            <a:ext cx="3282294" cy="307777"/>
          </a:xfrm>
          <a:prstGeom prst="rect">
            <a:avLst/>
          </a:prstGeom>
          <a:noFill/>
        </p:spPr>
        <p:txBody>
          <a:bodyPr wrap="square" lIns="0" tIns="0" rIns="0" bIns="0" anchor="t">
            <a:spAutoFit/>
          </a:bodyPr>
          <a:lstStyle/>
          <a:p>
            <a:pPr algn="l"/>
            <a:r>
              <a:rPr lang="en-US" sz="2000" b="1" dirty="0">
                <a:solidFill>
                  <a:srgbClr val="17324D"/>
                </a:solidFill>
                <a:latin typeface="Aptos"/>
              </a:rPr>
              <a:t>Run-Length Limiting (RLL)</a:t>
            </a:r>
          </a:p>
        </p:txBody>
      </p:sp>
      <p:pic>
        <p:nvPicPr>
          <p:cNvPr id="19" name="Picture 18">
            <a:extLst>
              <a:ext uri="{FF2B5EF4-FFF2-40B4-BE49-F238E27FC236}">
                <a16:creationId xmlns:a16="http://schemas.microsoft.com/office/drawing/2014/main" id="{3C30E154-A377-9048-15A4-4F9D62BDB51B}"/>
              </a:ext>
            </a:extLst>
          </p:cNvPr>
          <p:cNvPicPr>
            <a:picLocks noChangeAspect="1"/>
          </p:cNvPicPr>
          <p:nvPr/>
        </p:nvPicPr>
        <p:blipFill>
          <a:blip r:embed="rId4"/>
          <a:srcRect/>
          <a:stretch>
            <a:fillRect/>
          </a:stretch>
        </p:blipFill>
        <p:spPr>
          <a:xfrm>
            <a:off x="1101437" y="3888732"/>
            <a:ext cx="4365620" cy="2182810"/>
          </a:xfrm>
          <a:prstGeom prst="rect">
            <a:avLst/>
          </a:prstGeom>
        </p:spPr>
      </p:pic>
    </p:spTree>
    <p:extLst>
      <p:ext uri="{BB962C8B-B14F-4D97-AF65-F5344CB8AC3E}">
        <p14:creationId xmlns:p14="http://schemas.microsoft.com/office/powerpoint/2010/main" val="36135308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16 | FILTERS CLOCK RECOVERY PLLS </a:t>
            </a:r>
          </a:p>
        </p:txBody>
      </p:sp>
      <p:sp>
        <p:nvSpPr>
          <p:cNvPr id="9" name="TextBox 8"/>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08</a:t>
            </a:r>
          </a:p>
        </p:txBody>
      </p:sp>
      <p:sp>
        <p:nvSpPr>
          <p:cNvPr id="10" name="TextBox 9"/>
          <p:cNvSpPr txBox="1"/>
          <p:nvPr/>
        </p:nvSpPr>
        <p:spPr>
          <a:xfrm>
            <a:off x="621792" y="384048"/>
            <a:ext cx="10881360" cy="161583"/>
          </a:xfrm>
          <a:prstGeom prst="rect">
            <a:avLst/>
          </a:prstGeom>
          <a:noFill/>
        </p:spPr>
        <p:txBody>
          <a:bodyPr wrap="square" lIns="0" tIns="0" rIns="0" bIns="0" anchor="t">
            <a:spAutoFit/>
          </a:bodyPr>
          <a:lstStyle/>
          <a:p>
            <a:pPr algn="l"/>
            <a:r>
              <a:rPr sz="1050" b="1" i="0" dirty="0">
                <a:solidFill>
                  <a:srgbClr val="0F6D74"/>
                </a:solidFill>
                <a:latin typeface="Aptos"/>
              </a:rPr>
              <a:t>APPLICATION</a:t>
            </a:r>
          </a:p>
        </p:txBody>
      </p:sp>
      <p:sp>
        <p:nvSpPr>
          <p:cNvPr id="11" name="TextBox 10"/>
          <p:cNvSpPr txBox="1"/>
          <p:nvPr/>
        </p:nvSpPr>
        <p:spPr>
          <a:xfrm>
            <a:off x="594360" y="749808"/>
            <a:ext cx="10881360" cy="685800"/>
          </a:xfrm>
          <a:prstGeom prst="rect">
            <a:avLst/>
          </a:prstGeom>
          <a:noFill/>
        </p:spPr>
        <p:txBody>
          <a:bodyPr wrap="square" lIns="0" tIns="0" rIns="0" bIns="0" anchor="t">
            <a:spAutoFit/>
          </a:bodyPr>
          <a:lstStyle/>
          <a:p>
            <a:pPr algn="l"/>
            <a:r>
              <a:rPr sz="2900" b="1" i="0">
                <a:solidFill>
                  <a:srgbClr val="17324D"/>
                </a:solidFill>
                <a:latin typeface="Aptos Display"/>
              </a:rPr>
              <a:t>Cybersecurity follows the physical behavior</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30" name="Rounded Rectangle 20">
            <a:extLst>
              <a:ext uri="{FF2B5EF4-FFF2-40B4-BE49-F238E27FC236}">
                <a16:creationId xmlns:a16="http://schemas.microsoft.com/office/drawing/2014/main" id="{01B58269-AB02-2156-B962-BA4BA4020F70}"/>
              </a:ext>
            </a:extLst>
          </p:cNvPr>
          <p:cNvSpPr/>
          <p:nvPr/>
        </p:nvSpPr>
        <p:spPr>
          <a:xfrm>
            <a:off x="621791" y="4818887"/>
            <a:ext cx="4673689" cy="1600201"/>
          </a:xfrm>
          <a:prstGeom prst="roundRect">
            <a:avLst/>
          </a:prstGeom>
          <a:solidFill>
            <a:srgbClr val="F4E3D8"/>
          </a:solidFill>
          <a:ln w="10160">
            <a:solidFill>
              <a:srgbClr val="CCD1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a:extLst>
              <a:ext uri="{FF2B5EF4-FFF2-40B4-BE49-F238E27FC236}">
                <a16:creationId xmlns:a16="http://schemas.microsoft.com/office/drawing/2014/main" id="{3CA9D947-DD3A-8544-AD9E-35DEFC8AD78F}"/>
              </a:ext>
            </a:extLst>
          </p:cNvPr>
          <p:cNvSpPr/>
          <p:nvPr/>
        </p:nvSpPr>
        <p:spPr>
          <a:xfrm>
            <a:off x="621792" y="4818887"/>
            <a:ext cx="103860" cy="1600201"/>
          </a:xfrm>
          <a:prstGeom prst="rect">
            <a:avLst/>
          </a:prstGeom>
          <a:solidFill>
            <a:srgbClr val="D96F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a:extLst>
              <a:ext uri="{FF2B5EF4-FFF2-40B4-BE49-F238E27FC236}">
                <a16:creationId xmlns:a16="http://schemas.microsoft.com/office/drawing/2014/main" id="{F49FB700-3D48-FEA1-24F4-9A1DED89BAA1}"/>
              </a:ext>
            </a:extLst>
          </p:cNvPr>
          <p:cNvSpPr txBox="1"/>
          <p:nvPr/>
        </p:nvSpPr>
        <p:spPr>
          <a:xfrm>
            <a:off x="850392" y="4983480"/>
            <a:ext cx="3291840" cy="338554"/>
          </a:xfrm>
          <a:prstGeom prst="rect">
            <a:avLst/>
          </a:prstGeom>
          <a:noFill/>
        </p:spPr>
        <p:txBody>
          <a:bodyPr wrap="square" lIns="0" tIns="0" rIns="0" bIns="0" anchor="t">
            <a:spAutoFit/>
          </a:bodyPr>
          <a:lstStyle/>
          <a:p>
            <a:pPr algn="l"/>
            <a:r>
              <a:rPr lang="en-US" sz="2200" b="1" i="0" dirty="0">
                <a:solidFill>
                  <a:srgbClr val="17324D"/>
                </a:solidFill>
                <a:latin typeface="Aptos"/>
              </a:rPr>
              <a:t>Network receivers</a:t>
            </a:r>
            <a:endParaRPr sz="2200" b="1" i="0" dirty="0">
              <a:solidFill>
                <a:srgbClr val="17324D"/>
              </a:solidFill>
              <a:latin typeface="Aptos"/>
            </a:endParaRPr>
          </a:p>
        </p:txBody>
      </p:sp>
      <p:sp>
        <p:nvSpPr>
          <p:cNvPr id="36" name="TextBox 35">
            <a:extLst>
              <a:ext uri="{FF2B5EF4-FFF2-40B4-BE49-F238E27FC236}">
                <a16:creationId xmlns:a16="http://schemas.microsoft.com/office/drawing/2014/main" id="{928A9234-AC70-7AB3-8BA3-5AA4367418F7}"/>
              </a:ext>
            </a:extLst>
          </p:cNvPr>
          <p:cNvSpPr txBox="1"/>
          <p:nvPr/>
        </p:nvSpPr>
        <p:spPr>
          <a:xfrm>
            <a:off x="850392" y="5422392"/>
            <a:ext cx="4445088" cy="794320"/>
          </a:xfrm>
          <a:prstGeom prst="rect">
            <a:avLst/>
          </a:prstGeom>
          <a:noFill/>
        </p:spPr>
        <p:txBody>
          <a:bodyPr wrap="square" lIns="0" tIns="0" rIns="0" bIns="0" anchor="t">
            <a:spAutoFit/>
          </a:bodyPr>
          <a:lstStyle/>
          <a:p>
            <a:pPr algn="l">
              <a:lnSpc>
                <a:spcPct val="102000"/>
              </a:lnSpc>
            </a:pPr>
            <a:r>
              <a:rPr lang="en-US" sz="1700" b="0" i="0" dirty="0">
                <a:solidFill>
                  <a:srgbClr val="182028"/>
                </a:solidFill>
                <a:latin typeface="Aptos"/>
              </a:rPr>
              <a:t>An attacker does not need to access the message. They can disturb the timing to misread bits, reject message or lose sync.</a:t>
            </a:r>
            <a:endParaRPr sz="1700" b="0" i="0" dirty="0">
              <a:solidFill>
                <a:srgbClr val="182028"/>
              </a:solidFill>
              <a:latin typeface="Aptos"/>
            </a:endParaRPr>
          </a:p>
        </p:txBody>
      </p:sp>
      <p:pic>
        <p:nvPicPr>
          <p:cNvPr id="38" name="Picture 37">
            <a:extLst>
              <a:ext uri="{FF2B5EF4-FFF2-40B4-BE49-F238E27FC236}">
                <a16:creationId xmlns:a16="http://schemas.microsoft.com/office/drawing/2014/main" id="{7631A314-D000-914D-DE3D-B623377F35A1}"/>
              </a:ext>
            </a:extLst>
          </p:cNvPr>
          <p:cNvPicPr>
            <a:picLocks noChangeAspect="1"/>
          </p:cNvPicPr>
          <p:nvPr/>
        </p:nvPicPr>
        <p:blipFill>
          <a:blip r:embed="rId3"/>
          <a:srcRect/>
          <a:stretch>
            <a:fillRect/>
          </a:stretch>
        </p:blipFill>
        <p:spPr>
          <a:xfrm>
            <a:off x="1588135" y="862546"/>
            <a:ext cx="9247833" cy="462391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 name="Connector 2"/>
          <p:cNvCxnSpPr/>
          <p:nvPr/>
        </p:nvCxnSpPr>
        <p:spPr>
          <a:xfrm>
            <a:off x="10698480" y="384048"/>
            <a:ext cx="960120"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698480" y="521207"/>
            <a:ext cx="850392"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698480" y="658368"/>
            <a:ext cx="740664"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698480" y="795527"/>
            <a:ext cx="630936"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698480" y="932688"/>
            <a:ext cx="521208" cy="0"/>
          </a:xfrm>
          <a:prstGeom prst="line">
            <a:avLst/>
          </a:prstGeom>
          <a:ln w="8890">
            <a:solidFill>
              <a:srgbClr val="CCD1D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02920" y="6473952"/>
            <a:ext cx="5029200" cy="182880"/>
          </a:xfrm>
          <a:prstGeom prst="rect">
            <a:avLst/>
          </a:prstGeom>
          <a:noFill/>
        </p:spPr>
        <p:txBody>
          <a:bodyPr wrap="square" lIns="0" tIns="0" rIns="0" bIns="0" anchor="t">
            <a:spAutoFit/>
          </a:bodyPr>
          <a:lstStyle/>
          <a:p>
            <a:pPr algn="l"/>
            <a:r>
              <a:rPr sz="850" b="1" i="0">
                <a:solidFill>
                  <a:srgbClr val="5F6B73"/>
                </a:solidFill>
                <a:latin typeface="Aptos"/>
              </a:rPr>
              <a:t>LECTURE 16 | FILTERS CLOCK RECOVERY PLLS </a:t>
            </a:r>
          </a:p>
        </p:txBody>
      </p:sp>
      <p:sp>
        <p:nvSpPr>
          <p:cNvPr id="9" name="TextBox 8"/>
          <p:cNvSpPr txBox="1"/>
          <p:nvPr/>
        </p:nvSpPr>
        <p:spPr>
          <a:xfrm>
            <a:off x="11018520" y="6419088"/>
            <a:ext cx="594360" cy="228600"/>
          </a:xfrm>
          <a:prstGeom prst="rect">
            <a:avLst/>
          </a:prstGeom>
          <a:noFill/>
        </p:spPr>
        <p:txBody>
          <a:bodyPr wrap="square" lIns="0" tIns="0" rIns="0" bIns="0" anchor="t">
            <a:spAutoFit/>
          </a:bodyPr>
          <a:lstStyle/>
          <a:p>
            <a:pPr algn="r"/>
            <a:r>
              <a:rPr sz="1000" b="1" i="0">
                <a:solidFill>
                  <a:srgbClr val="5F6B73"/>
                </a:solidFill>
                <a:latin typeface="Aptos"/>
              </a:rPr>
              <a:t>10</a:t>
            </a:r>
          </a:p>
        </p:txBody>
      </p:sp>
      <p:sp>
        <p:nvSpPr>
          <p:cNvPr id="10" name="TextBox 9"/>
          <p:cNvSpPr txBox="1"/>
          <p:nvPr/>
        </p:nvSpPr>
        <p:spPr>
          <a:xfrm>
            <a:off x="621792" y="384048"/>
            <a:ext cx="10881360" cy="292608"/>
          </a:xfrm>
          <a:prstGeom prst="rect">
            <a:avLst/>
          </a:prstGeom>
          <a:noFill/>
        </p:spPr>
        <p:txBody>
          <a:bodyPr wrap="square" lIns="0" tIns="0" rIns="0" bIns="0" anchor="t">
            <a:spAutoFit/>
          </a:bodyPr>
          <a:lstStyle/>
          <a:p>
            <a:pPr algn="l"/>
            <a:r>
              <a:rPr sz="1050" b="1" i="0">
                <a:solidFill>
                  <a:srgbClr val="0F6D74"/>
                </a:solidFill>
                <a:latin typeface="Aptos"/>
              </a:rPr>
              <a:t>BRIDGE FORWARD</a:t>
            </a:r>
          </a:p>
        </p:txBody>
      </p:sp>
      <p:sp>
        <p:nvSpPr>
          <p:cNvPr id="11" name="TextBox 10"/>
          <p:cNvSpPr txBox="1"/>
          <p:nvPr/>
        </p:nvSpPr>
        <p:spPr>
          <a:xfrm>
            <a:off x="594360" y="749808"/>
            <a:ext cx="10881360" cy="685800"/>
          </a:xfrm>
          <a:prstGeom prst="rect">
            <a:avLst/>
          </a:prstGeom>
          <a:noFill/>
        </p:spPr>
        <p:txBody>
          <a:bodyPr wrap="square" lIns="0" tIns="0" rIns="0" bIns="0" anchor="t">
            <a:spAutoFit/>
          </a:bodyPr>
          <a:lstStyle/>
          <a:p>
            <a:pPr algn="l"/>
            <a:r>
              <a:rPr sz="2900" b="1" i="0">
                <a:solidFill>
                  <a:srgbClr val="17324D"/>
                </a:solidFill>
                <a:latin typeface="Aptos Display"/>
              </a:rPr>
              <a:t>Exit check</a:t>
            </a:r>
          </a:p>
        </p:txBody>
      </p:sp>
      <p:cxnSp>
        <p:nvCxnSpPr>
          <p:cNvPr id="12" name="Connector 11"/>
          <p:cNvCxnSpPr/>
          <p:nvPr/>
        </p:nvCxnSpPr>
        <p:spPr>
          <a:xfrm>
            <a:off x="612648" y="1444752"/>
            <a:ext cx="1143000" cy="0"/>
          </a:xfrm>
          <a:prstGeom prst="line">
            <a:avLst/>
          </a:prstGeom>
          <a:ln w="38100">
            <a:solidFill>
              <a:srgbClr val="D96F32"/>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68680" y="1828800"/>
            <a:ext cx="10469880" cy="1417320"/>
          </a:xfrm>
          <a:prstGeom prst="rect">
            <a:avLst/>
          </a:prstGeom>
          <a:noFill/>
        </p:spPr>
        <p:txBody>
          <a:bodyPr wrap="square" lIns="0" tIns="0" rIns="0" bIns="0" anchor="ctr">
            <a:spAutoFit/>
          </a:bodyPr>
          <a:lstStyle/>
          <a:p>
            <a:pPr algn="ctr"/>
            <a:r>
              <a:rPr sz="3000" b="1" i="0" dirty="0">
                <a:solidFill>
                  <a:srgbClr val="17324D"/>
                </a:solidFill>
                <a:latin typeface="Aptos Display"/>
              </a:rPr>
              <a:t>How can a valid-looking signal still fail if timing is wrong?</a:t>
            </a:r>
          </a:p>
        </p:txBody>
      </p:sp>
      <p:sp>
        <p:nvSpPr>
          <p:cNvPr id="15" name="Rounded Rectangle 14"/>
          <p:cNvSpPr/>
          <p:nvPr/>
        </p:nvSpPr>
        <p:spPr>
          <a:xfrm>
            <a:off x="3657600" y="4892040"/>
            <a:ext cx="4846320" cy="420624"/>
          </a:xfrm>
          <a:prstGeom prst="roundRect">
            <a:avLst/>
          </a:prstGeom>
          <a:solidFill>
            <a:srgbClr val="0F6D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0" y="4892040"/>
            <a:ext cx="4846320" cy="420624"/>
          </a:xfrm>
          <a:prstGeom prst="rect">
            <a:avLst/>
          </a:prstGeom>
          <a:noFill/>
        </p:spPr>
        <p:txBody>
          <a:bodyPr wrap="square" lIns="18288" tIns="18288" rIns="18288" bIns="18288" anchor="ctr">
            <a:spAutoFit/>
          </a:bodyPr>
          <a:lstStyle/>
          <a:p>
            <a:pPr algn="ctr"/>
            <a:r>
              <a:rPr sz="1150" b="1" i="0">
                <a:solidFill>
                  <a:srgbClr val="FFFFFF"/>
                </a:solidFill>
                <a:latin typeface="Aptos"/>
              </a:rPr>
              <a:t>NEXT: RECEIVER ARCHITECTURE, SENSITIVITY, AND 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TotalTime>
  <Words>649</Words>
  <Application>Microsoft Office PowerPoint</Application>
  <PresentationFormat>Widescreen</PresentationFormat>
  <Paragraphs>121</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Jerson Francia</cp:lastModifiedBy>
  <cp:revision>3</cp:revision>
  <dcterms:created xsi:type="dcterms:W3CDTF">2013-01-27T09:14:16Z</dcterms:created>
  <dcterms:modified xsi:type="dcterms:W3CDTF">2026-10-14T06:19:57Z</dcterms:modified>
  <cp:category/>
</cp:coreProperties>
</file>