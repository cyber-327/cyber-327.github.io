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74" r:id="rId6"/>
    <p:sldId id="260" r:id="rId7"/>
    <p:sldId id="262" r:id="rId8"/>
    <p:sldId id="276" r:id="rId9"/>
    <p:sldId id="264" r:id="rId10"/>
    <p:sldId id="265" r:id="rId11"/>
    <p:sldId id="266" r:id="rId12"/>
    <p:sldId id="267" r:id="rId13"/>
    <p:sldId id="268" r:id="rId14"/>
    <p:sldId id="27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69204"/>
  </p:normalViewPr>
  <p:slideViewPr>
    <p:cSldViewPr snapToGrid="0" snapToObjects="1">
      <p:cViewPr varScale="1">
        <p:scale>
          <a:sx n="79" d="100"/>
          <a:sy n="79" d="100"/>
        </p:scale>
        <p:origin x="8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52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AD34-545D-3D7C-6A77-6267F23F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8EF3E-B3B0-010E-825C-920CFBCC9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A0A2A-B4A5-803F-124D-44C507CF3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8A01A-0998-F0C0-D70B-2D3D592AC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13858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28B9-DD72-CFC5-30BB-686D1C61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35F06-555F-2070-95AA-9C31DC5C7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DDB53-7555-6F67-924E-5DDB3197C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06232-430B-FC50-BEF4-EF6557B6A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12815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Yes it fits the prefix</a:t>
            </a:r>
          </a:p>
          <a:p>
            <a:endParaRPr lang="en-US" dirty="0"/>
          </a:p>
          <a:p>
            <a:r>
              <a:rPr lang="en-US" dirty="0"/>
              <a:t>Design 1 is impossible</a:t>
            </a:r>
          </a:p>
          <a:p>
            <a:r>
              <a:rPr lang="en-US" dirty="0"/>
              <a:t>Design 2 is possible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OFDM, Spread Spectrum, and Shannon Revisited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How should we organize a waveform when the channel causes problems?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WEDNESDAY, OCTOBER 28,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FROM MEASURED BER TO WAVEFORM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Review on QPSK/QAM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488C603B-79CA-AE4C-FF81-97C4CA19D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7" t="11623" r="52545" b="2555"/>
          <a:stretch/>
        </p:blipFill>
        <p:spPr>
          <a:xfrm>
            <a:off x="1873506" y="1949186"/>
            <a:ext cx="4222493" cy="3942371"/>
          </a:xfrm>
          <a:prstGeom prst="rect">
            <a:avLst/>
          </a:prstGeom>
        </p:spPr>
      </p:pic>
      <p:pic>
        <p:nvPicPr>
          <p:cNvPr id="18" name="Picture 17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246572A2-06B1-58E8-0366-32CB033B70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24" t="11571" r="4042" b="18211"/>
          <a:stretch/>
        </p:blipFill>
        <p:spPr>
          <a:xfrm>
            <a:off x="6406109" y="1749622"/>
            <a:ext cx="4167076" cy="36777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A diagram of a network&#10;&#10;Description automatically generated">
            <a:extLst>
              <a:ext uri="{FF2B5EF4-FFF2-40B4-BE49-F238E27FC236}">
                <a16:creationId xmlns:a16="http://schemas.microsoft.com/office/drawing/2014/main" id="{6F1915D3-B9FF-FEB6-C2B9-356A54AAF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167" y="2199893"/>
            <a:ext cx="9418645" cy="346139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OFDM = ORTHOGONAL FREQUENCY-DIVISION MULTIPLEXING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OFDM sends symbol groups in parallel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77240" y="5648313"/>
            <a:ext cx="106070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0" i="0" dirty="0">
                <a:solidFill>
                  <a:srgbClr val="17324D"/>
                </a:solidFill>
                <a:latin typeface="Aptos"/>
              </a:rPr>
              <a:t>All eight subcarriers are simultaneous during one useful OFDM interval.</a:t>
            </a:r>
            <a:br>
              <a:rPr lang="en-US" sz="1400" dirty="0"/>
            </a:br>
            <a:r>
              <a:rPr lang="en-US" b="0" i="0" dirty="0">
                <a:solidFill>
                  <a:srgbClr val="17324D"/>
                </a:solidFill>
                <a:latin typeface="Aptos"/>
              </a:rPr>
              <a:t>The receiver separates them, then makes the constellation decisions.</a:t>
            </a:r>
          </a:p>
        </p:txBody>
      </p:sp>
      <p:pic>
        <p:nvPicPr>
          <p:cNvPr id="53" name="Picture 52" descr="A diagram of a graph&#10;&#10;Description automatically generated">
            <a:extLst>
              <a:ext uri="{FF2B5EF4-FFF2-40B4-BE49-F238E27FC236}">
                <a16:creationId xmlns:a16="http://schemas.microsoft.com/office/drawing/2014/main" id="{81B4A4DF-966E-2D06-277C-405FF3BB5C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09" r="60854" b="4382"/>
          <a:stretch/>
        </p:blipFill>
        <p:spPr>
          <a:xfrm>
            <a:off x="8719067" y="21467"/>
            <a:ext cx="3073564" cy="2376638"/>
          </a:xfrm>
          <a:prstGeom prst="rect">
            <a:avLst/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FE84216-3551-1024-7933-EFD4570EB57A}"/>
              </a:ext>
            </a:extLst>
          </p:cNvPr>
          <p:cNvSpPr>
            <a:spLocks/>
          </p:cNvSpPr>
          <p:nvPr/>
        </p:nvSpPr>
        <p:spPr>
          <a:xfrm>
            <a:off x="483108" y="1631288"/>
            <a:ext cx="3543460" cy="1320825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A75365-9E69-1F1A-E25D-21B157BEFECB}"/>
              </a:ext>
            </a:extLst>
          </p:cNvPr>
          <p:cNvSpPr txBox="1"/>
          <p:nvPr/>
        </p:nvSpPr>
        <p:spPr>
          <a:xfrm>
            <a:off x="258344" y="1692115"/>
            <a:ext cx="16807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7324D"/>
                </a:solidFill>
                <a:latin typeface="Aptos"/>
              </a:rPr>
              <a:t>Goal</a:t>
            </a:r>
            <a:endParaRPr sz="20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6FE0E7-610D-0370-E1EB-08EAF57CC7CC}"/>
              </a:ext>
            </a:extLst>
          </p:cNvPr>
          <p:cNvSpPr txBox="1"/>
          <p:nvPr/>
        </p:nvSpPr>
        <p:spPr>
          <a:xfrm>
            <a:off x="752168" y="2074967"/>
            <a:ext cx="3108637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0" i="0" dirty="0">
                <a:solidFill>
                  <a:srgbClr val="17324D"/>
                </a:solidFill>
                <a:latin typeface="Aptos"/>
              </a:rPr>
              <a:t>Spread the transmission across multiple subcarriers </a:t>
            </a:r>
            <a:r>
              <a:rPr lang="en-US" sz="1900" b="0" i="1" dirty="0">
                <a:solidFill>
                  <a:srgbClr val="17324D"/>
                </a:solidFill>
                <a:latin typeface="Aptos"/>
              </a:rPr>
              <a:t>simultaneously</a:t>
            </a:r>
            <a:endParaRPr sz="1900" b="0" i="1" dirty="0">
              <a:solidFill>
                <a:srgbClr val="17324D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75D2039-3DC7-6D6A-4F9F-3A19A841F198}"/>
                  </a:ext>
                </a:extLst>
              </p:cNvPr>
              <p:cNvSpPr txBox="1"/>
              <p:nvPr/>
            </p:nvSpPr>
            <p:spPr>
              <a:xfrm>
                <a:off x="3444683" y="5404771"/>
                <a:ext cx="474123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𝑜𝑡𝑎𝑙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𝑏𝑖𝑡𝑠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𝑠𝑦𝑚𝑏𝑜𝑙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𝑏𝑖𝑡𝑠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𝑠𝑦𝑚𝑏𝑜𝑙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#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𝑠𝑢𝑏𝑐𝑎𝑟𝑟𝑖𝑒𝑟𝑠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75D2039-3DC7-6D6A-4F9F-3A19A841F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683" y="5404771"/>
                <a:ext cx="4741234" cy="215444"/>
              </a:xfrm>
              <a:prstGeom prst="rect">
                <a:avLst/>
              </a:prstGeom>
              <a:blipFill>
                <a:blip r:embed="rId5"/>
                <a:stretch>
                  <a:fillRect l="-802" t="-11111" r="-80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DDC6C6E-5496-625E-E260-318CBF32ADB7}"/>
              </a:ext>
            </a:extLst>
          </p:cNvPr>
          <p:cNvSpPr/>
          <p:nvPr/>
        </p:nvSpPr>
        <p:spPr>
          <a:xfrm>
            <a:off x="483108" y="4989274"/>
            <a:ext cx="4051530" cy="1118918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MULTIPATH = DIFFERENT PATHS AND ARRIVAL TIMES; CP = CYCLIC PREFIX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A cyclic prefix gives delayed copies room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8343" y="5050100"/>
            <a:ext cx="192171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i="0" dirty="0">
                <a:solidFill>
                  <a:srgbClr val="17324D"/>
                </a:solidFill>
                <a:latin typeface="Aptos"/>
              </a:rPr>
              <a:t>Multipath</a:t>
            </a:r>
            <a:endParaRPr sz="2000" b="1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28" name="Picture 27" descr="A diagram of a building and a car&#10;&#10;Description automatically generated">
            <a:extLst>
              <a:ext uri="{FF2B5EF4-FFF2-40B4-BE49-F238E27FC236}">
                <a16:creationId xmlns:a16="http://schemas.microsoft.com/office/drawing/2014/main" id="{6FB06D06-AD73-59CD-2130-C473B7FA8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90" y="1528786"/>
            <a:ext cx="4861216" cy="324081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D6E6902-C8C8-0DFA-55A3-89F21B2B2C88}"/>
              </a:ext>
            </a:extLst>
          </p:cNvPr>
          <p:cNvSpPr txBox="1"/>
          <p:nvPr/>
        </p:nvSpPr>
        <p:spPr>
          <a:xfrm>
            <a:off x="752168" y="5432952"/>
            <a:ext cx="3554361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0" i="0" dirty="0">
                <a:solidFill>
                  <a:srgbClr val="17324D"/>
                </a:solidFill>
                <a:latin typeface="Aptos"/>
              </a:rPr>
              <a:t>A signal reaches a receiver through more than one path </a:t>
            </a:r>
            <a:endParaRPr sz="1900" b="0" i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32" name="Picture 31" descr="A diagram of a multi-colored line&#10;&#10;Description automatically generated">
            <a:extLst>
              <a:ext uri="{FF2B5EF4-FFF2-40B4-BE49-F238E27FC236}">
                <a16:creationId xmlns:a16="http://schemas.microsoft.com/office/drawing/2014/main" id="{5923D3B8-AFDA-D023-9760-827F84D9EF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360"/>
          <a:stretch/>
        </p:blipFill>
        <p:spPr>
          <a:xfrm>
            <a:off x="5714313" y="1154132"/>
            <a:ext cx="5645879" cy="1487685"/>
          </a:xfrm>
          <a:prstGeom prst="rect">
            <a:avLst/>
          </a:prstGeom>
        </p:spPr>
      </p:pic>
      <p:pic>
        <p:nvPicPr>
          <p:cNvPr id="34" name="Picture 33" descr="A diagram of a cycle&#10;&#10;Description automatically generated">
            <a:extLst>
              <a:ext uri="{FF2B5EF4-FFF2-40B4-BE49-F238E27FC236}">
                <a16:creationId xmlns:a16="http://schemas.microsoft.com/office/drawing/2014/main" id="{B7C703F2-9BE2-A727-7546-4D4670A626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26925"/>
          <a:stretch/>
        </p:blipFill>
        <p:spPr>
          <a:xfrm>
            <a:off x="5739384" y="3963482"/>
            <a:ext cx="5233416" cy="1585251"/>
          </a:xfrm>
          <a:prstGeom prst="rect">
            <a:avLst/>
          </a:prstGeom>
        </p:spPr>
      </p:pic>
      <p:pic>
        <p:nvPicPr>
          <p:cNvPr id="35" name="Picture 34" descr="A diagram of a cycle&#10;&#10;Description automatically generated">
            <a:extLst>
              <a:ext uri="{FF2B5EF4-FFF2-40B4-BE49-F238E27FC236}">
                <a16:creationId xmlns:a16="http://schemas.microsoft.com/office/drawing/2014/main" id="{4B3AB3E2-D2D3-A9CF-3AF7-2C99ED459D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747" t="-866" r="-1123" b="6304"/>
          <a:stretch/>
        </p:blipFill>
        <p:spPr>
          <a:xfrm>
            <a:off x="7381002" y="5432952"/>
            <a:ext cx="1978147" cy="1459232"/>
          </a:xfrm>
          <a:prstGeom prst="rect">
            <a:avLst/>
          </a:prstGeom>
        </p:spPr>
      </p:pic>
      <p:pic>
        <p:nvPicPr>
          <p:cNvPr id="36" name="Picture 35" descr="A diagram of a multi-colored line&#10;&#10;Description automatically generated">
            <a:extLst>
              <a:ext uri="{FF2B5EF4-FFF2-40B4-BE49-F238E27FC236}">
                <a16:creationId xmlns:a16="http://schemas.microsoft.com/office/drawing/2014/main" id="{A4407B57-0554-159D-818C-C93D6BFFC4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265"/>
          <a:stretch/>
        </p:blipFill>
        <p:spPr>
          <a:xfrm>
            <a:off x="7520164" y="2561600"/>
            <a:ext cx="1927123" cy="1329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FB972-FD2A-848B-2FC9-E65484F2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5F0BAE-EB44-1211-5AD3-A6F2EDEB9BF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3A0AF3F-7A9D-7C3A-D05F-8494F2D06AED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DD99EF5-0B1E-1010-169C-9B14D9F4724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9DA7CF2-F0D1-9C8D-C2D2-72590E12B9B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1301BCD-88D3-D26E-9D79-2DA328F46369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CBA39EA-F690-DA53-82F6-25BF36CCCA97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4A05FE-E98E-5B9F-D2D1-D312F787FBD3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9EBFE-6673-F46A-875D-BDEB5D4D471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8A594-1EE8-D11E-9D66-FF2C2EA90227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MULTIPATH = DIFFERENT PATHS AND ARRIVAL TIMES; CP = CYCLIC PREFIX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74C8F-9194-1FBD-838D-CA00BA6F46D8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A cyclic prefix gives delayed copies room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3B8A42D-134A-9EB6-A4A4-B74E32E5D7DE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CC3ACA-0875-640B-6CA4-F2C258ED5B8F}"/>
              </a:ext>
            </a:extLst>
          </p:cNvPr>
          <p:cNvSpPr txBox="1"/>
          <p:nvPr/>
        </p:nvSpPr>
        <p:spPr>
          <a:xfrm>
            <a:off x="777240" y="1828800"/>
            <a:ext cx="106070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The cyclic prefix must cover the echo/delays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C67DE53-5220-4E12-0335-CDD9082F9399}"/>
              </a:ext>
            </a:extLst>
          </p:cNvPr>
          <p:cNvSpPr/>
          <p:nvPr/>
        </p:nvSpPr>
        <p:spPr>
          <a:xfrm>
            <a:off x="3962400" y="3246120"/>
            <a:ext cx="1645920" cy="1005840"/>
          </a:xfrm>
          <a:prstGeom prst="roundRect">
            <a:avLst/>
          </a:prstGeom>
          <a:solidFill>
            <a:srgbClr val="F4E3D8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60FE5C-7CB6-5053-DFA2-7E6C1E84BA23}"/>
              </a:ext>
            </a:extLst>
          </p:cNvPr>
          <p:cNvSpPr/>
          <p:nvPr/>
        </p:nvSpPr>
        <p:spPr>
          <a:xfrm>
            <a:off x="5608320" y="3246120"/>
            <a:ext cx="6583680" cy="1005840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D54CC32-00CF-9076-6C48-C26D971A5074}"/>
              </a:ext>
            </a:extLst>
          </p:cNvPr>
          <p:cNvSpPr/>
          <p:nvPr/>
        </p:nvSpPr>
        <p:spPr>
          <a:xfrm>
            <a:off x="10546080" y="3246120"/>
            <a:ext cx="1645920" cy="1005840"/>
          </a:xfrm>
          <a:prstGeom prst="roundRect">
            <a:avLst/>
          </a:prstGeom>
          <a:solidFill>
            <a:srgbClr val="F4E3D8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E3D178-3E2A-BFF2-D853-A40BE1B1CDDC}"/>
              </a:ext>
            </a:extLst>
          </p:cNvPr>
          <p:cNvSpPr txBox="1"/>
          <p:nvPr/>
        </p:nvSpPr>
        <p:spPr>
          <a:xfrm>
            <a:off x="4008120" y="3520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7324D"/>
                </a:solidFill>
                <a:latin typeface="Aptos"/>
              </a:rPr>
              <a:t>CP: 25 us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1ECDE7-9C8B-C4C5-A03A-4CBAC14AB100}"/>
              </a:ext>
            </a:extLst>
          </p:cNvPr>
          <p:cNvSpPr txBox="1"/>
          <p:nvPr/>
        </p:nvSpPr>
        <p:spPr>
          <a:xfrm>
            <a:off x="5836920" y="3520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"/>
              </a:rPr>
              <a:t>Useful block: 100 us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2F198E-480E-8BCC-E2EC-25C9E55BA66A}"/>
              </a:ext>
            </a:extLst>
          </p:cNvPr>
          <p:cNvSpPr txBox="1"/>
          <p:nvPr/>
        </p:nvSpPr>
        <p:spPr>
          <a:xfrm>
            <a:off x="10637520" y="35204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7324D"/>
                </a:solidFill>
                <a:latin typeface="Aptos"/>
              </a:rPr>
              <a:t>Tail: 25 us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BBB00DC5-455C-0167-FE26-16E2B1D12D49}"/>
              </a:ext>
            </a:extLst>
          </p:cNvPr>
          <p:cNvCxnSpPr/>
          <p:nvPr/>
        </p:nvCxnSpPr>
        <p:spPr>
          <a:xfrm flipV="1">
            <a:off x="11369040" y="2697480"/>
            <a:ext cx="0" cy="274320"/>
          </a:xfrm>
          <a:prstGeom prst="line">
            <a:avLst/>
          </a:prstGeom>
          <a:ln w="254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9EA06D64-D4DB-F05E-3156-19F16B5F84AA}"/>
              </a:ext>
            </a:extLst>
          </p:cNvPr>
          <p:cNvCxnSpPr/>
          <p:nvPr/>
        </p:nvCxnSpPr>
        <p:spPr>
          <a:xfrm flipH="1">
            <a:off x="4785360" y="2697480"/>
            <a:ext cx="6583680" cy="0"/>
          </a:xfrm>
          <a:prstGeom prst="line">
            <a:avLst/>
          </a:prstGeom>
          <a:ln w="254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7511C6A6-EE39-E0AE-D2EC-3A12B25F5C76}"/>
              </a:ext>
            </a:extLst>
          </p:cNvPr>
          <p:cNvCxnSpPr/>
          <p:nvPr/>
        </p:nvCxnSpPr>
        <p:spPr>
          <a:xfrm>
            <a:off x="4785360" y="2697480"/>
            <a:ext cx="0" cy="274320"/>
          </a:xfrm>
          <a:prstGeom prst="line">
            <a:avLst/>
          </a:prstGeom>
          <a:ln w="254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27D56BB-B922-D7A5-7906-707E457A69D7}"/>
              </a:ext>
            </a:extLst>
          </p:cNvPr>
          <p:cNvSpPr txBox="1"/>
          <p:nvPr/>
        </p:nvSpPr>
        <p:spPr>
          <a:xfrm>
            <a:off x="6202680" y="2423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D96F32"/>
                </a:solidFill>
                <a:latin typeface="Aptos"/>
              </a:rPr>
              <a:t>Copy the same samples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A9CA4F-1B33-0E81-D86D-E794080824B1}"/>
                  </a:ext>
                </a:extLst>
              </p:cNvPr>
              <p:cNvSpPr txBox="1"/>
              <p:nvPr/>
            </p:nvSpPr>
            <p:spPr>
              <a:xfrm>
                <a:off x="4302106" y="4570214"/>
                <a:ext cx="6876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𝑡𝑟𝑎𝑛𝑠𝑚𝑖𝑡𝑡𝑒𝑑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𝑖𝑛𝑡𝑒𝑟𝑣𝑎𝑙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A9CA4F-1B33-0E81-D86D-E79408082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106" y="4570214"/>
                <a:ext cx="6876434" cy="461665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 descr="A diagram of a building and a car&#10;&#10;Description automatically generated">
            <a:extLst>
              <a:ext uri="{FF2B5EF4-FFF2-40B4-BE49-F238E27FC236}">
                <a16:creationId xmlns:a16="http://schemas.microsoft.com/office/drawing/2014/main" id="{6DAA6631-A022-BEED-4936-1EAADC42F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90" y="2411726"/>
            <a:ext cx="3536806" cy="23578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63C22D2-18CF-B5B6-26CD-284FAC43AFE4}"/>
                  </a:ext>
                </a:extLst>
              </p:cNvPr>
              <p:cNvSpPr txBox="1"/>
              <p:nvPr/>
            </p:nvSpPr>
            <p:spPr>
              <a:xfrm>
                <a:off x="1312116" y="4901688"/>
                <a:ext cx="23602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𝑒𝑐h𝑜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63C22D2-18CF-B5B6-26CD-284FAC43A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116" y="4901688"/>
                <a:ext cx="23602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ED8C470-8408-B3C4-F11B-F2C205D1D423}"/>
              </a:ext>
            </a:extLst>
          </p:cNvPr>
          <p:cNvSpPr txBox="1"/>
          <p:nvPr/>
        </p:nvSpPr>
        <p:spPr>
          <a:xfrm>
            <a:off x="6964188" y="5220331"/>
            <a:ext cx="342015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0" i="0" dirty="0">
                <a:solidFill>
                  <a:srgbClr val="17324D"/>
                </a:solidFill>
                <a:latin typeface="Aptos"/>
              </a:rPr>
              <a:t>Useful interval (the symbol)</a:t>
            </a:r>
          </a:p>
        </p:txBody>
      </p:sp>
    </p:spTree>
    <p:extLst>
      <p:ext uri="{BB962C8B-B14F-4D97-AF65-F5344CB8AC3E}">
        <p14:creationId xmlns:p14="http://schemas.microsoft.com/office/powerpoint/2010/main" val="231094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DEFINE T_U BEFORE TAKING ITS RECIPROCAL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Longer useful intervals mean closer 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92841" y="2323857"/>
            <a:ext cx="102412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Spacing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710517"/>
                  </p:ext>
                </p:extLst>
              </p:nvPr>
            </p:nvGraphicFramePr>
            <p:xfrm>
              <a:off x="7565921" y="1423547"/>
              <a:ext cx="4490295" cy="2293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67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64354"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Useful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1800" b="1" baseline="-25000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u</a:t>
                          </a:r>
                          <a:endParaRPr sz="180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Calculation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Subcarrier spacing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100 us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(100 x 10^-6 s)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 kHz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50 us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(50 x 10^-6 s)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20 kHz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710517"/>
                  </p:ext>
                </p:extLst>
              </p:nvPr>
            </p:nvGraphicFramePr>
            <p:xfrm>
              <a:off x="7565921" y="1423547"/>
              <a:ext cx="4490295" cy="2293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67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643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T="54864" marB="36576">
                        <a:blipFill>
                          <a:blip r:embed="rId3"/>
                          <a:stretch>
                            <a:fillRect t="-3333" r="-20254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Calculation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Subcarrier spacing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100 us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(100 x 10^-6 s)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 kHz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50 us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(50 x 10^-6 s)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20 kHz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Picture 14" descr="A diagram of a graph&#10;&#10;Description automatically generated">
            <a:extLst>
              <a:ext uri="{FF2B5EF4-FFF2-40B4-BE49-F238E27FC236}">
                <a16:creationId xmlns:a16="http://schemas.microsoft.com/office/drawing/2014/main" id="{441D0527-847F-1C95-9F48-7FF225BE33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09" r="60854" b="4382"/>
          <a:stretch/>
        </p:blipFill>
        <p:spPr>
          <a:xfrm>
            <a:off x="3155122" y="3322505"/>
            <a:ext cx="4145772" cy="32057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F0BA28-FBF3-D3E5-0DB9-A4E91508AB2F}"/>
                  </a:ext>
                </a:extLst>
              </p:cNvPr>
              <p:cNvSpPr txBox="1"/>
              <p:nvPr/>
            </p:nvSpPr>
            <p:spPr>
              <a:xfrm>
                <a:off x="2712787" y="1972333"/>
                <a:ext cx="1323246" cy="882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F0BA28-FBF3-D3E5-0DB9-A4E91508A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787" y="1972333"/>
                <a:ext cx="1323246" cy="882229"/>
              </a:xfrm>
              <a:prstGeom prst="rect">
                <a:avLst/>
              </a:prstGeom>
              <a:blipFill>
                <a:blip r:embed="rId5"/>
                <a:stretch>
                  <a:fillRect l="-5714" t="-1429" r="-95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9E19F4A-F50B-68D6-7B1E-CCE413734948}"/>
              </a:ext>
            </a:extLst>
          </p:cNvPr>
          <p:cNvSpPr txBox="1"/>
          <p:nvPr/>
        </p:nvSpPr>
        <p:spPr>
          <a:xfrm>
            <a:off x="4407408" y="2554064"/>
            <a:ext cx="1641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Useful Interval</a:t>
            </a:r>
          </a:p>
        </p:txBody>
      </p:sp>
      <p:pic>
        <p:nvPicPr>
          <p:cNvPr id="19" name="Picture 18" descr="A diagram of a graph&#10;&#10;Description automatically generated">
            <a:extLst>
              <a:ext uri="{FF2B5EF4-FFF2-40B4-BE49-F238E27FC236}">
                <a16:creationId xmlns:a16="http://schemas.microsoft.com/office/drawing/2014/main" id="{F64485A4-8EB1-FD9B-2964-4266822185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621" t="2233"/>
          <a:stretch/>
        </p:blipFill>
        <p:spPr>
          <a:xfrm>
            <a:off x="432520" y="3483776"/>
            <a:ext cx="2646256" cy="29353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22EB66A5-1D1F-4AFA-3844-7337BE6921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258100"/>
                  </p:ext>
                </p:extLst>
              </p:nvPr>
            </p:nvGraphicFramePr>
            <p:xfrm>
              <a:off x="7565921" y="4126026"/>
              <a:ext cx="4490295" cy="2293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67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64354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Subcarrrier</a:t>
                          </a:r>
                          <a:r>
                            <a:rPr lang="en-US"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 spacing</a:t>
                          </a:r>
                          <a:endParaRPr sz="180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Calculation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Useful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1800" b="1" baseline="-25000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u</a:t>
                          </a:r>
                          <a:endParaRPr lang="en-US" sz="180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25 kHz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25000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)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40 us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5 kHz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5000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)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200 us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22EB66A5-1D1F-4AFA-3844-7337BE6921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258100"/>
                  </p:ext>
                </p:extLst>
              </p:nvPr>
            </p:nvGraphicFramePr>
            <p:xfrm>
              <a:off x="7565921" y="4126026"/>
              <a:ext cx="4490295" cy="2293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67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676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64354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Subcarrrier</a:t>
                          </a:r>
                          <a:r>
                            <a:rPr lang="en-US"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 spacing</a:t>
                          </a:r>
                          <a:endParaRPr sz="180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Calculation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T="54864" marB="36576">
                        <a:blipFill>
                          <a:blip r:embed="rId6"/>
                          <a:stretch>
                            <a:fillRect l="-200847" t="-1639" r="-169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25 kHz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25000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)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40 us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4354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5 kHz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/ (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5000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)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200 us</a:t>
                          </a:r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SIMPLIFIED EXAMPLE: ALL EIGHT SUBCARRIERS CARRY DATA; NO OTHER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cost of using cyclic prefix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1783080"/>
            <a:ext cx="106984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i="0" dirty="0">
                <a:solidFill>
                  <a:srgbClr val="17324D"/>
                </a:solidFill>
                <a:latin typeface="Aptos"/>
              </a:rPr>
              <a:t>I designed an OFDM link with </a:t>
            </a:r>
            <a:r>
              <a:rPr sz="2000" b="1" i="0" dirty="0">
                <a:solidFill>
                  <a:srgbClr val="17324D"/>
                </a:solidFill>
                <a:latin typeface="Aptos"/>
              </a:rPr>
              <a:t>8 QPSK data subcarrier</a:t>
            </a:r>
            <a:r>
              <a:rPr lang="en-US" sz="2000" b="1" dirty="0">
                <a:solidFill>
                  <a:srgbClr val="17324D"/>
                </a:solidFill>
                <a:latin typeface="Aptos"/>
              </a:rPr>
              <a:t>s. I measured delays in my medium to be 15us, so I want my prefix to be 25 us. If I want Tu to be 100us, what is my bitrate?</a:t>
            </a:r>
            <a:endParaRPr sz="2000" b="1" i="0" dirty="0">
              <a:solidFill>
                <a:srgbClr val="17324D"/>
              </a:solidFill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9077848"/>
                  </p:ext>
                </p:extLst>
              </p:nvPr>
            </p:nvGraphicFramePr>
            <p:xfrm>
              <a:off x="3352014" y="2647301"/>
              <a:ext cx="5029200" cy="33307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11530">
                    <a:tc>
                      <a:txBody>
                        <a:bodyPr/>
                        <a:lstStyle/>
                        <a:p>
                          <a:r>
                            <a:rPr sz="18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Quantity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Calculation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Result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1530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Adjacent spacing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100 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 kHz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1530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Complete block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/symbol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rate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+25 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8,000 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symbols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/s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1530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Mapped bit rate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ar-AE" sz="180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ar-AE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𝑏𝑖𝑡𝑠</m:t>
                                    </m:r>
                                  </m:num>
                                  <m:den>
                                    <m:r>
                                      <a:rPr lang="en-US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125</m:t>
                                    </m:r>
                                    <m:r>
                                      <a:rPr lang="ar-AE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ar-AE" sz="1800" b="0" i="1" dirty="0" smtClean="0">
                                        <a:solidFill>
                                          <a:srgbClr val="18202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80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128 kbit/s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9077848"/>
                  </p:ext>
                </p:extLst>
              </p:nvPr>
            </p:nvGraphicFramePr>
            <p:xfrm>
              <a:off x="3352014" y="2647301"/>
              <a:ext cx="5029200" cy="33307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6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11530">
                    <a:tc>
                      <a:txBody>
                        <a:bodyPr/>
                        <a:lstStyle/>
                        <a:p>
                          <a:r>
                            <a:rPr sz="18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Quantity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Calculation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Result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1530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Adjacent spacing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3"/>
                          <a:stretch>
                            <a:fillRect l="-99248" t="-103125" r="-101504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 kHz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96112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Complete block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/symbol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rate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3"/>
                          <a:stretch>
                            <a:fillRect l="-99248" t="-183099" r="-101504" b="-91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8,000 </a:t>
                          </a:r>
                          <a:r>
                            <a:rPr lang="en-US"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symbols</a:t>
                          </a:r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/s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1530"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Mapped bit rate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3"/>
                          <a:stretch>
                            <a:fillRect l="-99248" t="-314063" r="-101504" b="-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8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128 kbit/s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7AB683-4D38-5830-835B-353843CB9406}"/>
                  </a:ext>
                </a:extLst>
              </p:cNvPr>
              <p:cNvSpPr txBox="1"/>
              <p:nvPr/>
            </p:nvSpPr>
            <p:spPr>
              <a:xfrm>
                <a:off x="8882097" y="5136024"/>
                <a:ext cx="2483629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𝑏𝑖𝑡𝑠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𝑝𝑒𝑟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𝑠𝑦𝑚𝑏𝑜𝑙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𝑖𝑛𝑡𝑒𝑟𝑣𝑎𝑙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7AB683-4D38-5830-835B-353843CB9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097" y="5136024"/>
                <a:ext cx="2483629" cy="465897"/>
              </a:xfrm>
              <a:prstGeom prst="rect">
                <a:avLst/>
              </a:prstGeom>
              <a:blipFill>
                <a:blip r:embed="rId4"/>
                <a:stretch>
                  <a:fillRect l="-1531" t="-7895" r="-2551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501A6-5459-FD1F-B3F3-B839EA28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C96E02-DEBA-509F-9C5F-2B15B845DE9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89D7AE3-451A-8C0E-FEC6-5B00CFCF772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763673F-B514-6C99-D492-4AB987DD5D46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7BE4720E-6E66-89AD-EECB-9D17CB0D570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3068EF9-95BD-910A-0FBB-AE8E5B023C9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5799F35-B81B-0987-A0F0-D930398EC6B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965BE5-E25F-805E-B60C-F7C0371D6903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82835-4E8E-5167-75A4-29D733355D78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11214-1427-A53A-4A33-6331ED7ABAC7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SIMPLIFIED EXAMPLE: ALL EIGHT SUBCARRIERS CARRY DATA; NO OTHER OVERHEAD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2F93D2-61C4-22A2-B0ED-13E8C857E879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Comparing with QPSK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F7267D3-E545-4188-A273-3487D2726004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FF23192-F23E-04DF-B8FF-109E37459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268643"/>
              </p:ext>
            </p:extLst>
          </p:nvPr>
        </p:nvGraphicFramePr>
        <p:xfrm>
          <a:off x="1030912" y="1933066"/>
          <a:ext cx="10188776" cy="43891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547194">
                  <a:extLst>
                    <a:ext uri="{9D8B030D-6E8A-4147-A177-3AD203B41FA5}">
                      <a16:colId xmlns:a16="http://schemas.microsoft.com/office/drawing/2014/main" val="1611477986"/>
                    </a:ext>
                  </a:extLst>
                </a:gridCol>
                <a:gridCol w="2547194">
                  <a:extLst>
                    <a:ext uri="{9D8B030D-6E8A-4147-A177-3AD203B41FA5}">
                      <a16:colId xmlns:a16="http://schemas.microsoft.com/office/drawing/2014/main" val="417492176"/>
                    </a:ext>
                  </a:extLst>
                </a:gridCol>
                <a:gridCol w="2547194">
                  <a:extLst>
                    <a:ext uri="{9D8B030D-6E8A-4147-A177-3AD203B41FA5}">
                      <a16:colId xmlns:a16="http://schemas.microsoft.com/office/drawing/2014/main" val="3491296552"/>
                    </a:ext>
                  </a:extLst>
                </a:gridCol>
                <a:gridCol w="2547194">
                  <a:extLst>
                    <a:ext uri="{9D8B030D-6E8A-4147-A177-3AD203B41FA5}">
                      <a16:colId xmlns:a16="http://schemas.microsoft.com/office/drawing/2014/main" val="798938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QPSK + OFDM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Single-carrier QPSK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Single-carrier QPSK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0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Useful time to send 16 bits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100 µs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 µs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100 µs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157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(Useful) Baud Rate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 k baud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 k baud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80,000 baud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61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Data carriers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simultaneously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41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Useful duration of each QPSK symbol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µs per subcarrier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µs 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100µs/8symbols =12.5 µs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18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How 16 bits are sent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QPSK symbols simultaneously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 QPSK symbols sequentially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QPSK symbols sequentially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033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Prefix included in this comparison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 µs per block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36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Total time for 16 bits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125 µs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800 µs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100 µs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Bit rate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128 kbit/s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 kbit/s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160 kbit/s</a:t>
                      </a:r>
                    </a:p>
                  </a:txBody>
                  <a:tcPr anchor="ctr">
                    <a:solidFill>
                      <a:srgbClr val="FC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738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954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FHSS = FREQUENCY-HOPPING SPREAD SPECTRUM; CONCEPTUAL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F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requency Hopping Spread Spectrum (F</a:t>
            </a:r>
            <a:r>
              <a:rPr sz="2900" b="1" i="0" dirty="0">
                <a:solidFill>
                  <a:srgbClr val="17324D"/>
                </a:solidFill>
                <a:latin typeface="Aptos Display"/>
              </a:rPr>
              <a:t>HSS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)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A diagram of a signal system&#10;&#10;Description automatically generated">
            <a:extLst>
              <a:ext uri="{FF2B5EF4-FFF2-40B4-BE49-F238E27FC236}">
                <a16:creationId xmlns:a16="http://schemas.microsoft.com/office/drawing/2014/main" id="{2EA521C9-2759-0FF8-FA22-BF0BEEBF28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027"/>
          <a:stretch/>
        </p:blipFill>
        <p:spPr>
          <a:xfrm>
            <a:off x="909230" y="1572767"/>
            <a:ext cx="10831666" cy="4764025"/>
          </a:xfrm>
          <a:prstGeom prst="rect">
            <a:avLst/>
          </a:prstGeom>
        </p:spPr>
      </p:pic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5C8B743-776C-88F1-71F7-0C2A37B9880E}"/>
              </a:ext>
            </a:extLst>
          </p:cNvPr>
          <p:cNvSpPr/>
          <p:nvPr/>
        </p:nvSpPr>
        <p:spPr>
          <a:xfrm>
            <a:off x="8197436" y="210312"/>
            <a:ext cx="3543460" cy="1352981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19E0C6-719B-E234-F32B-FCAF7A887403}"/>
              </a:ext>
            </a:extLst>
          </p:cNvPr>
          <p:cNvSpPr txBox="1"/>
          <p:nvPr/>
        </p:nvSpPr>
        <p:spPr>
          <a:xfrm>
            <a:off x="7972672" y="377515"/>
            <a:ext cx="16807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7324D"/>
                </a:solidFill>
                <a:latin typeface="Aptos"/>
              </a:rPr>
              <a:t>Goal</a:t>
            </a:r>
            <a:endParaRPr sz="20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9A73A9-81C5-8A7E-3DDA-45D24CDCCEF9}"/>
              </a:ext>
            </a:extLst>
          </p:cNvPr>
          <p:cNvSpPr txBox="1"/>
          <p:nvPr/>
        </p:nvSpPr>
        <p:spPr>
          <a:xfrm>
            <a:off x="8466496" y="676656"/>
            <a:ext cx="3108637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0" i="0" dirty="0">
                <a:solidFill>
                  <a:srgbClr val="17324D"/>
                </a:solidFill>
                <a:latin typeface="Aptos"/>
              </a:rPr>
              <a:t>Spread the transmission by hopping  across multiple frequencies </a:t>
            </a:r>
            <a:r>
              <a:rPr lang="en-US" sz="1900" b="0" i="1" dirty="0">
                <a:solidFill>
                  <a:srgbClr val="17324D"/>
                </a:solidFill>
                <a:latin typeface="Aptos"/>
              </a:rPr>
              <a:t>over time</a:t>
            </a:r>
            <a:endParaRPr sz="1900" b="0" i="1" dirty="0">
              <a:solidFill>
                <a:srgbClr val="17324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DSSS = DIRECT-SEQUENCE SPREAD SPECTRUM; A SHORT TEACHING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Direct Sequence Spread Spectrum (DSSS)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diagram of a signal spectrum&#10;&#10;Description automatically generated">
            <a:extLst>
              <a:ext uri="{FF2B5EF4-FFF2-40B4-BE49-F238E27FC236}">
                <a16:creationId xmlns:a16="http://schemas.microsoft.com/office/drawing/2014/main" id="{C866FCF7-C0B1-A464-F223-D8E1D6A9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447"/>
          <a:stretch/>
        </p:blipFill>
        <p:spPr>
          <a:xfrm>
            <a:off x="1711131" y="4686303"/>
            <a:ext cx="9412545" cy="15773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663B5D-6556-4395-9051-97CEA05C9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96" y="1606853"/>
            <a:ext cx="9043416" cy="3014472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21302CC-8403-9DA3-1609-5B328971C44A}"/>
              </a:ext>
            </a:extLst>
          </p:cNvPr>
          <p:cNvSpPr/>
          <p:nvPr/>
        </p:nvSpPr>
        <p:spPr>
          <a:xfrm>
            <a:off x="7842738" y="373229"/>
            <a:ext cx="3543460" cy="1118918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F9A75E-6D96-2B86-500F-FF61FE818133}"/>
              </a:ext>
            </a:extLst>
          </p:cNvPr>
          <p:cNvSpPr txBox="1"/>
          <p:nvPr/>
        </p:nvSpPr>
        <p:spPr>
          <a:xfrm>
            <a:off x="7570336" y="482906"/>
            <a:ext cx="16807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7324D"/>
                </a:solidFill>
                <a:latin typeface="Aptos"/>
              </a:rPr>
              <a:t>Goal</a:t>
            </a:r>
            <a:endParaRPr sz="20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455C1-16C1-77E8-CF2C-29BC48912AB9}"/>
              </a:ext>
            </a:extLst>
          </p:cNvPr>
          <p:cNvSpPr txBox="1"/>
          <p:nvPr/>
        </p:nvSpPr>
        <p:spPr>
          <a:xfrm>
            <a:off x="8111798" y="816907"/>
            <a:ext cx="3108637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900" b="0" i="0" dirty="0">
                <a:solidFill>
                  <a:srgbClr val="17324D"/>
                </a:solidFill>
                <a:latin typeface="Aptos"/>
              </a:rPr>
              <a:t>Spread the transmission to a wider band </a:t>
            </a:r>
            <a:r>
              <a:rPr lang="en-US" sz="1900" b="0" i="1" dirty="0">
                <a:solidFill>
                  <a:srgbClr val="17324D"/>
                </a:solidFill>
                <a:latin typeface="Aptos"/>
              </a:rPr>
              <a:t>continuously</a:t>
            </a:r>
            <a:endParaRPr sz="1900" b="0" i="0" dirty="0">
              <a:solidFill>
                <a:srgbClr val="17324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ILLUSTRATIVE IDEAL CHIPS; REAL RECEPTION NEEDS SYNCHRONIZATION AND NOISY-SAMPLE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Matched despreading recovers the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57E86F-F3AD-7CC3-9236-E5D150219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317050"/>
              </p:ext>
            </p:extLst>
          </p:nvPr>
        </p:nvGraphicFramePr>
        <p:xfrm>
          <a:off x="2157664" y="2189988"/>
          <a:ext cx="8229600" cy="1463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661996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3179445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2508528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132555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Data bit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Repeated bit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 sequence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Transmitted chips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0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1111111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0100110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10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130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0100110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911392"/>
                  </a:ext>
                </a:extLst>
              </a:tr>
            </a:tbl>
          </a:graphicData>
        </a:graphic>
      </p:graphicFrame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832FC48-4C63-BDFB-5118-FCA03785C91C}"/>
              </a:ext>
            </a:extLst>
          </p:cNvPr>
          <p:cNvSpPr/>
          <p:nvPr/>
        </p:nvSpPr>
        <p:spPr>
          <a:xfrm>
            <a:off x="2601990" y="1598869"/>
            <a:ext cx="6866100" cy="339323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E06AF-2107-F453-5A9E-F6579E91FE1F}"/>
              </a:ext>
            </a:extLst>
          </p:cNvPr>
          <p:cNvSpPr txBox="1"/>
          <p:nvPr/>
        </p:nvSpPr>
        <p:spPr>
          <a:xfrm>
            <a:off x="2765649" y="1636887"/>
            <a:ext cx="657085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dirty="0">
                <a:solidFill>
                  <a:srgbClr val="17324D"/>
                </a:solidFill>
                <a:latin typeface="Aptos"/>
              </a:rPr>
              <a:t>Transmit</a:t>
            </a:r>
            <a:r>
              <a:rPr lang="en-US" b="1" dirty="0">
                <a:solidFill>
                  <a:srgbClr val="17324D"/>
                </a:solidFill>
                <a:latin typeface="Aptos"/>
              </a:rPr>
              <a:t>:</a:t>
            </a:r>
            <a:r>
              <a:rPr lang="en-US" dirty="0">
                <a:solidFill>
                  <a:srgbClr val="17324D"/>
                </a:solidFill>
                <a:latin typeface="Aptos"/>
              </a:rPr>
              <a:t> </a:t>
            </a:r>
            <a:r>
              <a:rPr lang="en-US" b="1" dirty="0">
                <a:solidFill>
                  <a:srgbClr val="17324D"/>
                </a:solidFill>
                <a:latin typeface="Aptos"/>
              </a:rPr>
              <a:t>101				 </a:t>
            </a:r>
            <a:r>
              <a:rPr lang="en-US" dirty="0">
                <a:solidFill>
                  <a:srgbClr val="17324D"/>
                </a:solidFill>
                <a:latin typeface="Aptos"/>
              </a:rPr>
              <a:t>Chip: </a:t>
            </a:r>
            <a:r>
              <a:rPr lang="en-US" b="1" dirty="0">
                <a:solidFill>
                  <a:srgbClr val="17324D"/>
                </a:solidFill>
                <a:latin typeface="Aptos"/>
              </a:rPr>
              <a:t>1011001 </a:t>
            </a:r>
            <a:endParaRPr b="1" i="0" dirty="0">
              <a:solidFill>
                <a:srgbClr val="17324D"/>
              </a:solidFill>
              <a:latin typeface="Aptos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B53F980-2F80-DBBF-FB10-BE82ADC1F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859046"/>
              </p:ext>
            </p:extLst>
          </p:nvPr>
        </p:nvGraphicFramePr>
        <p:xfrm>
          <a:off x="2157664" y="3866130"/>
          <a:ext cx="8229600" cy="1463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55948891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4423633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14446333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0536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Received chips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 sequence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Despread</a:t>
                      </a:r>
                      <a:r>
                        <a:rPr lang="en-US" dirty="0"/>
                        <a:t> result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Majority decision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73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Six ones → </a:t>
                      </a:r>
                      <a:r>
                        <a:rPr lang="en-US" b="1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074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11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Five zeros → </a:t>
                      </a:r>
                      <a:r>
                        <a:rPr lang="en-US" b="1" dirty="0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448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01001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1111101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Six ones → </a:t>
                      </a:r>
                      <a:r>
                        <a:rPr lang="en-US" b="1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0565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THESE MECHANISMS CAN BE COMBINED; NONE IS AN AUTHENTICATION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Choose the mechanism for the problem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940606"/>
              </p:ext>
            </p:extLst>
          </p:nvPr>
        </p:nvGraphicFramePr>
        <p:xfrm>
          <a:off x="658368" y="1737360"/>
          <a:ext cx="1088135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1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013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/>
                        </a:rPr>
                        <a:t>Good when you have</a:t>
                      </a:r>
                      <a:endParaRPr sz="17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ptos"/>
                        </a:rPr>
                        <a:t>What to watch out for</a:t>
                      </a:r>
                      <a:endParaRPr sz="17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OFDM + CP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Multipath/delayed reflected copies</a:t>
                      </a:r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Prefix time, synchronization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FHSS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Narrow band interference</a:t>
                      </a:r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Hop timing</a:t>
                      </a:r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 and channel sequence</a:t>
                      </a:r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DSSS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Narrow band interference</a:t>
                      </a:r>
                    </a:p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Weak signal</a:t>
                      </a:r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rgbClr val="182028"/>
                          </a:solidFill>
                          <a:latin typeface="Aptos"/>
                        </a:rPr>
                        <a:t>Wider band, code alignment</a:t>
                      </a:r>
                      <a:endParaRPr sz="1700" dirty="0">
                        <a:solidFill>
                          <a:srgbClr val="182028"/>
                        </a:solidFill>
                        <a:latin typeface="Aptos"/>
                      </a:endParaRP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IDEAL BAND-LIMITED CHANNEL WITH ADDITIVE WHITE GAUSSIAN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Shannon still bounds the information rate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014706-7883-3969-F141-BC9992E1C0C4}"/>
                  </a:ext>
                </a:extLst>
              </p:cNvPr>
              <p:cNvSpPr txBox="1"/>
              <p:nvPr/>
            </p:nvSpPr>
            <p:spPr>
              <a:xfrm>
                <a:off x="4268146" y="1830359"/>
                <a:ext cx="35337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𝑙𝑖𝑛𝑒𝑎𝑟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014706-7883-3969-F141-BC9992E1C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46" y="1830359"/>
                <a:ext cx="3533788" cy="369332"/>
              </a:xfrm>
              <a:prstGeom prst="rect">
                <a:avLst/>
              </a:prstGeom>
              <a:blipFill>
                <a:blip r:embed="rId3"/>
                <a:stretch>
                  <a:fillRect l="-179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23202D6-0C55-BE4C-B25C-A4ECBA618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879162"/>
              </p:ext>
            </p:extLst>
          </p:nvPr>
        </p:nvGraphicFramePr>
        <p:xfrm>
          <a:off x="457200" y="3429000"/>
          <a:ext cx="6204857" cy="16459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72816">
                  <a:extLst>
                    <a:ext uri="{9D8B030D-6E8A-4147-A177-3AD203B41FA5}">
                      <a16:colId xmlns:a16="http://schemas.microsoft.com/office/drawing/2014/main" val="3790793474"/>
                    </a:ext>
                  </a:extLst>
                </a:gridCol>
                <a:gridCol w="4432041">
                  <a:extLst>
                    <a:ext uri="{9D8B030D-6E8A-4147-A177-3AD203B41FA5}">
                      <a16:colId xmlns:a16="http://schemas.microsoft.com/office/drawing/2014/main" val="2791208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Information rate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Shannon says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805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300 kbit/s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Arbitrarily low error probability is theoretically achievable with suitable 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128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500 kbit/s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Arbitrarily low error probability is impossible under the same channel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85728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D826785-671D-09D6-BE2A-2C0F07889649}"/>
              </a:ext>
            </a:extLst>
          </p:cNvPr>
          <p:cNvSpPr txBox="1"/>
          <p:nvPr/>
        </p:nvSpPr>
        <p:spPr>
          <a:xfrm>
            <a:off x="594360" y="2950215"/>
            <a:ext cx="10881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i="0" dirty="0">
                <a:solidFill>
                  <a:srgbClr val="17324D"/>
                </a:solidFill>
                <a:latin typeface="Aptos Display"/>
              </a:rPr>
              <a:t>For a Shannon Capacity of 400 kbit/s,</a:t>
            </a:r>
            <a:endParaRPr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CA853B7-D067-D513-96ED-B390254F08AB}"/>
              </a:ext>
            </a:extLst>
          </p:cNvPr>
          <p:cNvSpPr/>
          <p:nvPr/>
        </p:nvSpPr>
        <p:spPr>
          <a:xfrm>
            <a:off x="7316588" y="3028662"/>
            <a:ext cx="3903099" cy="2896650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D02846-BDD5-3DD3-2E26-71AE9FAA41AE}"/>
              </a:ext>
            </a:extLst>
          </p:cNvPr>
          <p:cNvSpPr txBox="1"/>
          <p:nvPr/>
        </p:nvSpPr>
        <p:spPr>
          <a:xfrm>
            <a:off x="7585649" y="3174219"/>
            <a:ext cx="360169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i="0" dirty="0">
                <a:solidFill>
                  <a:srgbClr val="17324D"/>
                </a:solidFill>
                <a:latin typeface="Aptos"/>
              </a:rPr>
              <a:t>“Reliable communication is impossible”</a:t>
            </a:r>
            <a:endParaRPr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3BA803-9F07-B5DB-EEF1-447A86BC65B6}"/>
              </a:ext>
            </a:extLst>
          </p:cNvPr>
          <p:cNvSpPr txBox="1"/>
          <p:nvPr/>
        </p:nvSpPr>
        <p:spPr>
          <a:xfrm>
            <a:off x="7585649" y="3935329"/>
            <a:ext cx="3424144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you cannot sustain that information rate and eliminate errors. To improve reliability, you must reduce the information rate or improve the channel’s bandwidth or SNR.</a:t>
            </a:r>
            <a:endParaRPr sz="2000" i="1" dirty="0">
              <a:solidFill>
                <a:srgbClr val="17324D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ASSUME CORRECT TIMING, A STABLE CHANNEL AND NO ADDITIONAL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Practice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54E0D17-EB46-E498-A4E1-FEC97334B14F}"/>
              </a:ext>
            </a:extLst>
          </p:cNvPr>
          <p:cNvSpPr>
            <a:spLocks/>
          </p:cNvSpPr>
          <p:nvPr/>
        </p:nvSpPr>
        <p:spPr>
          <a:xfrm>
            <a:off x="483108" y="1631287"/>
            <a:ext cx="3543460" cy="4074567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95950-E749-B37B-425F-F4ABAB22A312}"/>
              </a:ext>
            </a:extLst>
          </p:cNvPr>
          <p:cNvSpPr txBox="1"/>
          <p:nvPr/>
        </p:nvSpPr>
        <p:spPr>
          <a:xfrm>
            <a:off x="752168" y="1960736"/>
            <a:ext cx="3108637" cy="332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We have QPSK link with:</a:t>
            </a:r>
          </a:p>
          <a:p>
            <a:r>
              <a:rPr lang="en-US" dirty="0">
                <a:latin typeface="Aptos" panose="020B0004020202020204" pitchFamily="34" charset="0"/>
              </a:rPr>
              <a:t>6 subcarriers</a:t>
            </a:r>
          </a:p>
          <a:p>
            <a:r>
              <a:rPr lang="en-US" dirty="0">
                <a:latin typeface="Aptos" panose="020B0004020202020204" pitchFamily="34" charset="0"/>
              </a:rPr>
              <a:t>T</a:t>
            </a:r>
            <a:r>
              <a:rPr lang="en-US" baseline="-25000" dirty="0">
                <a:latin typeface="Aptos" panose="020B0004020202020204" pitchFamily="34" charset="0"/>
              </a:rPr>
              <a:t>u</a:t>
            </a:r>
            <a:r>
              <a:rPr lang="en-US" dirty="0">
                <a:latin typeface="Aptos" panose="020B0004020202020204" pitchFamily="34" charset="0"/>
              </a:rPr>
              <a:t> = 50us</a:t>
            </a:r>
          </a:p>
          <a:p>
            <a:r>
              <a:rPr lang="en-US" dirty="0">
                <a:latin typeface="Aptos" panose="020B0004020202020204" pitchFamily="34" charset="0"/>
              </a:rPr>
              <a:t>T</a:t>
            </a:r>
            <a:r>
              <a:rPr lang="en-US" baseline="-25000" dirty="0">
                <a:latin typeface="Aptos" panose="020B0004020202020204" pitchFamily="34" charset="0"/>
              </a:rPr>
              <a:t>CP</a:t>
            </a:r>
            <a:r>
              <a:rPr lang="en-US" dirty="0">
                <a:latin typeface="Aptos" panose="020B0004020202020204" pitchFamily="34" charset="0"/>
              </a:rPr>
              <a:t> = 10 us</a:t>
            </a:r>
          </a:p>
          <a:p>
            <a:r>
              <a:rPr lang="en-US" dirty="0">
                <a:latin typeface="Aptos" panose="020B0004020202020204" pitchFamily="34" charset="0"/>
              </a:rPr>
              <a:t>R</a:t>
            </a:r>
            <a:r>
              <a:rPr lang="en-US" baseline="-25000" dirty="0">
                <a:latin typeface="Aptos" panose="020B0004020202020204" pitchFamily="34" charset="0"/>
              </a:rPr>
              <a:t>C</a:t>
            </a:r>
            <a:r>
              <a:rPr lang="en-US" dirty="0">
                <a:latin typeface="Aptos" panose="020B0004020202020204" pitchFamily="34" charset="0"/>
              </a:rPr>
              <a:t> =3/4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Find: </a:t>
            </a:r>
          </a:p>
          <a:p>
            <a:r>
              <a:rPr lang="en-US" dirty="0">
                <a:latin typeface="Aptos" panose="020B0004020202020204" pitchFamily="34" charset="0"/>
              </a:rPr>
              <a:t>the subcarrier spacing,</a:t>
            </a:r>
          </a:p>
          <a:p>
            <a:r>
              <a:rPr lang="en-US" dirty="0">
                <a:latin typeface="Aptos" panose="020B0004020202020204" pitchFamily="34" charset="0"/>
              </a:rPr>
              <a:t>the bit rate, </a:t>
            </a:r>
          </a:p>
          <a:p>
            <a:r>
              <a:rPr lang="en-US" dirty="0">
                <a:latin typeface="Aptos" panose="020B0004020202020204" pitchFamily="34" charset="0"/>
              </a:rPr>
              <a:t>the information-bit rate, and</a:t>
            </a:r>
          </a:p>
          <a:p>
            <a:r>
              <a:rPr lang="en-US" dirty="0">
                <a:latin typeface="Aptos" panose="020B0004020202020204" pitchFamily="34" charset="0"/>
              </a:rPr>
              <a:t>whether an 8 us delay fits within the prefix.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603B6-85DF-515C-39C3-8C3574C3E35F}"/>
                  </a:ext>
                </a:extLst>
              </p:cNvPr>
              <p:cNvSpPr txBox="1"/>
              <p:nvPr/>
            </p:nvSpPr>
            <p:spPr>
              <a:xfrm>
                <a:off x="4417492" y="881136"/>
                <a:ext cx="2676567" cy="567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603B6-85DF-515C-39C3-8C3574C3E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492" y="881136"/>
                <a:ext cx="2676567" cy="567207"/>
              </a:xfrm>
              <a:prstGeom prst="rect">
                <a:avLst/>
              </a:prstGeom>
              <a:blipFill>
                <a:blip r:embed="rId3"/>
                <a:stretch>
                  <a:fillRect l="-1896" t="-4348" r="-189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548F1C-F968-5CDE-2BED-329FDE55B390}"/>
                  </a:ext>
                </a:extLst>
              </p:cNvPr>
              <p:cNvSpPr txBox="1"/>
              <p:nvPr/>
            </p:nvSpPr>
            <p:spPr>
              <a:xfrm>
                <a:off x="4389464" y="1690759"/>
                <a:ext cx="2404184" cy="849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 × 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𝑢𝑠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𝑘𝑏𝑖𝑡𝑠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548F1C-F968-5CDE-2BED-329FDE55B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464" y="1690759"/>
                <a:ext cx="2404184" cy="849720"/>
              </a:xfrm>
              <a:prstGeom prst="rect">
                <a:avLst/>
              </a:prstGeom>
              <a:blipFill>
                <a:blip r:embed="rId4"/>
                <a:stretch>
                  <a:fillRect l="-1579" t="-4348" r="-2105"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BDD37E-1340-6DE7-88C5-55D508CEF61D}"/>
                  </a:ext>
                </a:extLst>
              </p:cNvPr>
              <p:cNvSpPr txBox="1"/>
              <p:nvPr/>
            </p:nvSpPr>
            <p:spPr>
              <a:xfrm>
                <a:off x="4295628" y="2704660"/>
                <a:ext cx="2561535" cy="1079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𝑘𝑏𝑖𝑡𝑠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𝑘𝑏𝑖𝑡𝑠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6BDD37E-1340-6DE7-88C5-55D508CE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628" y="2704660"/>
                <a:ext cx="2561535" cy="1079976"/>
              </a:xfrm>
              <a:prstGeom prst="rect">
                <a:avLst/>
              </a:prstGeom>
              <a:blipFill>
                <a:blip r:embed="rId5"/>
                <a:stretch>
                  <a:fillRect l="-2970" t="-232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FB3986B-4B98-79E6-7B28-0A857D40CE48}"/>
              </a:ext>
            </a:extLst>
          </p:cNvPr>
          <p:cNvSpPr>
            <a:spLocks/>
          </p:cNvSpPr>
          <p:nvPr/>
        </p:nvSpPr>
        <p:spPr>
          <a:xfrm>
            <a:off x="7785956" y="1631287"/>
            <a:ext cx="3543460" cy="4074567"/>
          </a:xfrm>
          <a:prstGeom prst="roundRect">
            <a:avLst/>
          </a:prstGeom>
          <a:solidFill>
            <a:srgbClr val="E3EBF1"/>
          </a:solidFill>
          <a:ln w="1270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330959-C267-EF32-AE5E-F5980C153F41}"/>
              </a:ext>
            </a:extLst>
          </p:cNvPr>
          <p:cNvSpPr txBox="1"/>
          <p:nvPr/>
        </p:nvSpPr>
        <p:spPr>
          <a:xfrm>
            <a:off x="8055016" y="1960736"/>
            <a:ext cx="3108637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/>
              <a:t>A channel has 100 kHz bandwidth and 10dB SNR. </a:t>
            </a:r>
          </a:p>
          <a:p>
            <a:endParaRPr lang="en-US" dirty="0"/>
          </a:p>
          <a:p>
            <a:r>
              <a:rPr lang="en-US" dirty="0"/>
              <a:t>A design claims 400 kbits/s of information. </a:t>
            </a:r>
          </a:p>
          <a:p>
            <a:r>
              <a:rPr lang="en-US" dirty="0"/>
              <a:t>A second design targets 250 kbits/s of information.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/>
              <a:t>Can the channel support both designs?</a:t>
            </a:r>
            <a:endParaRPr 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5BF806-2E12-9DB8-B099-E0B087D32B2C}"/>
                  </a:ext>
                </a:extLst>
              </p:cNvPr>
              <p:cNvSpPr txBox="1"/>
              <p:nvPr/>
            </p:nvSpPr>
            <p:spPr>
              <a:xfrm>
                <a:off x="4408226" y="5438480"/>
                <a:ext cx="2680286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𝑙𝑖𝑛𝑒𝑎𝑟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=100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𝑘𝐻𝑧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45.9 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𝑘𝑏𝑖𝑡𝑠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5BF806-2E12-9DB8-B099-E0B087D32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226" y="5438480"/>
                <a:ext cx="2680286" cy="830997"/>
              </a:xfrm>
              <a:prstGeom prst="rect">
                <a:avLst/>
              </a:prstGeom>
              <a:blipFill>
                <a:blip r:embed="rId6"/>
                <a:stretch>
                  <a:fillRect l="-3302" t="-1515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E5974A-FB4E-BDF3-1457-5BC3AC3924DA}"/>
                  </a:ext>
                </a:extLst>
              </p:cNvPr>
              <p:cNvSpPr txBox="1"/>
              <p:nvPr/>
            </p:nvSpPr>
            <p:spPr>
              <a:xfrm>
                <a:off x="4352888" y="4079833"/>
                <a:ext cx="2841996" cy="854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>
                    <a:ea typeface="Cambria Math" panose="02040503050406030204" pitchFamily="18" charset="0"/>
                  </a:rPr>
                  <a:t>dB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𝑆𝑁𝑅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𝑙𝑖𝑛𝑒𝑎𝑟</m:t>
                            </m:r>
                          </m:sub>
                        </m:sSub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𝑆𝑁𝑅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𝑙𝑖𝑛𝑒𝑎𝑟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𝑙𝑖𝑛𝑒𝑎𝑟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E5974A-FB4E-BDF3-1457-5BC3AC392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888" y="4079833"/>
                <a:ext cx="2841996" cy="854658"/>
              </a:xfrm>
              <a:prstGeom prst="rect">
                <a:avLst/>
              </a:prstGeom>
              <a:blipFill>
                <a:blip r:embed="rId7"/>
                <a:stretch>
                  <a:fillRect l="-4889" t="-8824" b="-48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24 | OFDM SPREAD SPECTRUM AND 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CHECK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E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xit check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06627"/>
            <a:ext cx="104698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What if we still fail?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PULSES, TIMING AND EYE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2539</TotalTime>
  <Words>1098</Words>
  <Application>Microsoft Macintosh PowerPoint</Application>
  <PresentationFormat>Widescreen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4</cp:revision>
  <dcterms:created xsi:type="dcterms:W3CDTF">2013-01-27T09:14:16Z</dcterms:created>
  <dcterms:modified xsi:type="dcterms:W3CDTF">2026-10-29T10:58:50Z</dcterms:modified>
  <cp:category/>
</cp:coreProperties>
</file>