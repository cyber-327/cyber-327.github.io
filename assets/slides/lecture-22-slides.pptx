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52" autoAdjust="0"/>
  </p:normalViewPr>
  <p:slideViewPr>
    <p:cSldViewPr snapToGrid="0" snapToObjects="1">
      <p:cViewPr varScale="1">
        <p:scale>
          <a:sx n="91" d="100"/>
          <a:sy n="91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56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frame may include data, CRC/FEC, and authentication fields.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FFEA-E1C8-59F7-6A61-47CA3A34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8D09C-A7B9-C819-1B1F-C37351E3D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1870E-172F-85AC-E4D3-D45FA3052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Disadvantages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More complex circuitry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Inherently requires more BW (less efficient in b/s/Hz)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03155-D7E8-1022-2C59-ECC5269E2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92208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Keying means choosing discrete states. </a:t>
            </a:r>
            <a:endParaRPr lang="en-US" dirty="0"/>
          </a:p>
          <a:p>
            <a:r>
              <a:rPr dirty="0"/>
              <a:t>OOK is a special form of ASK.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four bit slots left to right. OOK changes amplitude; BFSK changes cycles per slot; BPSK reverses carrier phase. The drawing is idealized and editable. It omits pulse shaping and acquisition details; real transmitters must control spectral spreading.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fixed-length binary labels and M a power of two, bits/symbol = log2(M). Baud is symbols per second, not necessarily transitions per second: repeated identical symbols need not create a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s(t) = I cos(2 pi fc t) - Q sin(2 pi fc t) for this sign convention. Radius gives amplitude; angle gives phase relative to the receiver reference. Receiver mixing and timing recovery estimate I/Q at symbol decision times.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BPSK 1 bit/symbol</a:t>
            </a:r>
          </a:p>
          <a:p>
            <a:r>
              <a:rPr lang="en-US" dirty="0"/>
              <a:t>QPSK 2 bits/symbol</a:t>
            </a:r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b="1" dirty="0"/>
              <a:t>Constellation:</a:t>
            </a:r>
            <a:r>
              <a:rPr lang="en-US" dirty="0"/>
              <a:t> which amplitude-and-phase choices represent the bits. The filled dot marks the current choice.</a:t>
            </a:r>
          </a:p>
          <a:p>
            <a:pPr lvl="0"/>
            <a:r>
              <a:rPr lang="en-US" b="1" dirty="0"/>
              <a:t>Spectrum:</a:t>
            </a:r>
            <a:r>
              <a:rPr lang="en-US" dirty="0"/>
              <a:t> how the transmitted signal’s power is distributed across frequencies over time. This example shows a theoretical spectrum with pulse shaping.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marL="171450" indent="-171450">
                  <a:buFontTx/>
                  <a:buChar char="-"/>
                </a:pPr>
                <a:r>
                  <a:rPr lang="en-US" dirty="0"/>
                  <a:t>QPSK: 3,000×2=6,000 bit/s.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- 16-QAM: 3,000×4=12,000 bit/s.</a:t>
                </a:r>
              </a:p>
              <a:p>
                <a:pPr marL="0" indent="0">
                  <a:buFontTx/>
                  <a:buNone/>
                </a:pPr>
                <a:endParaRPr lang="en-US" dirty="0"/>
              </a:p>
              <a:p>
                <a:pPr marL="0" indent="0">
                  <a:buFontTx/>
                  <a:buNone/>
                </a:pPr>
                <a:endParaRPr lang="en-US" dirty="0"/>
              </a:p>
              <a:p>
                <a:pPr marL="0" indent="0">
                  <a:buFontTx/>
                  <a:buNone/>
                </a:pPr>
                <a:r>
                  <a:rPr lang="en-US" dirty="0"/>
                  <a:t>2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18,000</m:t>
                          </m:r>
                        </m:num>
                        <m:den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=9,000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Followup</a:t>
                </a:r>
                <a:r>
                  <a:rPr lang="en-US" dirty="0"/>
                  <a:t>: “Would 16-QAM require the same symbol rate? No, half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marL="171450" indent="-171450">
                  <a:buFontTx/>
                  <a:buChar char="-"/>
                </a:pPr>
                <a:r>
                  <a:rPr lang="en-US" dirty="0"/>
                  <a:t>QPSK: 3,000×2=6,000 bit/s.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- 16-QAM: 3,000×4=12,000 bit/s.</a:t>
                </a:r>
              </a:p>
              <a:p>
                <a:pPr marL="0" indent="0">
                  <a:buFontTx/>
                  <a:buNone/>
                </a:pPr>
                <a:endParaRPr lang="en-US" dirty="0"/>
              </a:p>
              <a:p>
                <a:pPr marL="0" indent="0">
                  <a:buFontTx/>
                  <a:buNone/>
                </a:pPr>
                <a:endParaRPr lang="en-US" dirty="0"/>
              </a:p>
              <a:p>
                <a:pPr marL="0" indent="0">
                  <a:buFontTx/>
                  <a:buNone/>
                </a:pPr>
                <a:r>
                  <a:rPr lang="en-US" dirty="0"/>
                  <a:t>2</a:t>
                </a:r>
              </a:p>
              <a:p>
                <a:r>
                  <a:rPr lang="en-US" i="0" dirty="0">
                    <a:latin typeface="Cambria Math" panose="02040503050406030204" pitchFamily="18" charset="0"/>
                  </a:rPr>
                  <a:t>𝑅_𝑠=𝑅_𝑏/log_2⁡(𝑀) =18,000/2=9,000</a:t>
                </a:r>
                <a:endParaRPr lang="en-US" dirty="0"/>
              </a:p>
              <a:p>
                <a:r>
                  <a:rPr lang="en-US" dirty="0" err="1"/>
                  <a:t>Followup</a:t>
                </a:r>
                <a:r>
                  <a:rPr lang="en-US" dirty="0"/>
                  <a:t>: “Would 16-QAM require the same symbol rate? No, half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Additive noise is one cause; timing error, phase error, distortion, and interference can also spread or move points. </a:t>
            </a:r>
          </a:p>
          <a:p>
            <a:endParaRPr lang="en-US" dirty="0"/>
          </a:p>
          <a:p>
            <a:r>
              <a:rPr lang="en-US" dirty="0"/>
              <a:t>01, because the measurement is closest to (-1,+1).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3R_{info}=24,000×3/4=18,000 bit/s               </a:t>
            </a:r>
          </a:p>
          <a:p>
            <a:r>
              <a:rPr lang="el-GR" dirty="0"/>
              <a:t>η_{</a:t>
            </a:r>
            <a:r>
              <a:rPr lang="en-US" dirty="0"/>
              <a:t>gross}=24,000/12000=2 bit/s/Hz    </a:t>
            </a:r>
          </a:p>
          <a:p>
            <a:r>
              <a:rPr lang="el-GR" dirty="0"/>
              <a:t>η_{</a:t>
            </a:r>
            <a:r>
              <a:rPr lang="en-US" dirty="0"/>
              <a:t>useful}=18000/12000=1.5 bit/s/Hz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It doubles: four bits per symbol instead of two.</a:t>
            </a:r>
          </a:p>
          <a:p>
            <a:pPr marL="228600" indent="-228600">
              <a:buAutoNum type="arabicPeriod"/>
            </a:pPr>
            <a:r>
              <a:rPr lang="en-US" dirty="0"/>
              <a:t>The constellation has smaller minimum point spacing, leaving less decision margin.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22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Digital Modulation Families and Constellation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D6E1E7"/>
                </a:solidFill>
                <a:latin typeface="Aptos"/>
              </a:rPr>
              <a:t>How do bits become a transmitted waveform?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FRIDAY, OCTOBER 23,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DBFE7C82-7D43-DD7D-CEDD-8402468A2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77" y="1488126"/>
            <a:ext cx="11645246" cy="388174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START WITH THE NEXT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A radio cannot transmit an abstract 0 or 1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72546E5C-6A82-0425-3EC4-DF47D09FF1F5}"/>
              </a:ext>
            </a:extLst>
          </p:cNvPr>
          <p:cNvSpPr/>
          <p:nvPr/>
        </p:nvSpPr>
        <p:spPr>
          <a:xfrm>
            <a:off x="3186260" y="4892040"/>
            <a:ext cx="5789000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011A06-911E-C391-810F-2A856D2737F0}"/>
              </a:ext>
            </a:extLst>
          </p:cNvPr>
          <p:cNvSpPr txBox="1"/>
          <p:nvPr/>
        </p:nvSpPr>
        <p:spPr>
          <a:xfrm>
            <a:off x="3026004" y="4995399"/>
            <a:ext cx="6109512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DIGITAL MODULATION ASSIGNS BIT GROUPS TO DISTINGUISHABLE SIGNAL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D7B6E-1589-F280-E583-9BE7E1A2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990B419-EF8C-4DD7-3294-6DA61B669D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0000"/>
          <a:stretch>
            <a:fillRect/>
          </a:stretch>
        </p:blipFill>
        <p:spPr>
          <a:xfrm>
            <a:off x="1191538" y="1648696"/>
            <a:ext cx="3668932" cy="18344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4F1739-449D-A3A1-4987-A0F1564735E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408BE56-41D5-6A47-A364-E41B15A4768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D832EC00-4D3B-D3EE-9343-21B39C558498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1954578-5AA5-374D-B8C9-94B5997A366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03A7EF7-15CE-E32D-9A4D-F31FE860B96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C96E89B-320F-629E-3C5D-99535307159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6B3B20-C168-0CD9-1FBF-D38A7B4851A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C766BE-C22B-F6B2-4A41-4FAE6368E36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21402-E4E5-4810-090C-1832E73A72D1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START WITH THE NEXT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4CB9D-E5B7-6A10-1EC4-AA2E9538B701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Why Digital Modulation?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9931D08-4F9A-1B63-0DD8-2E41FE48B0C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DB05D47E-B912-4A89-34B0-BC2255C1D585}"/>
              </a:ext>
            </a:extLst>
          </p:cNvPr>
          <p:cNvSpPr/>
          <p:nvPr/>
        </p:nvSpPr>
        <p:spPr>
          <a:xfrm>
            <a:off x="1503446" y="3609317"/>
            <a:ext cx="2926100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A3E2A6-F037-E67A-BFA5-56DBD9EFA011}"/>
              </a:ext>
            </a:extLst>
          </p:cNvPr>
          <p:cNvSpPr txBox="1"/>
          <p:nvPr/>
        </p:nvSpPr>
        <p:spPr>
          <a:xfrm>
            <a:off x="1422443" y="3712676"/>
            <a:ext cx="308810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GREATER NOISE IMMUNITY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7E430F5-7887-BA81-CE2C-A7BF08E7A8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0000"/>
          <a:stretch>
            <a:fillRect/>
          </a:stretch>
        </p:blipFill>
        <p:spPr>
          <a:xfrm>
            <a:off x="7100625" y="1648696"/>
            <a:ext cx="3668932" cy="1834463"/>
          </a:xfrm>
          <a:prstGeom prst="rect">
            <a:avLst/>
          </a:prstGeom>
        </p:spPr>
      </p:pic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50327C3E-1AB7-B0CB-F17B-A0F9460E7F30}"/>
              </a:ext>
            </a:extLst>
          </p:cNvPr>
          <p:cNvSpPr/>
          <p:nvPr/>
        </p:nvSpPr>
        <p:spPr>
          <a:xfrm>
            <a:off x="7412533" y="3609317"/>
            <a:ext cx="2926100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7BC26E-1463-6DC7-7E70-4EA5B44FA704}"/>
              </a:ext>
            </a:extLst>
          </p:cNvPr>
          <p:cNvSpPr txBox="1"/>
          <p:nvPr/>
        </p:nvSpPr>
        <p:spPr>
          <a:xfrm>
            <a:off x="7331530" y="3712676"/>
            <a:ext cx="308810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CAN BE COMPRESSED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78521F-A47F-69B8-D0CC-FA995F11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9558" b="442"/>
          <a:stretch>
            <a:fillRect/>
          </a:stretch>
        </p:blipFill>
        <p:spPr>
          <a:xfrm>
            <a:off x="7100625" y="4259458"/>
            <a:ext cx="3668932" cy="1834463"/>
          </a:xfrm>
          <a:prstGeom prst="rect">
            <a:avLst/>
          </a:prstGeom>
        </p:spPr>
      </p:pic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062CC287-E813-7C6B-EFDB-F583C7BDB899}"/>
              </a:ext>
            </a:extLst>
          </p:cNvPr>
          <p:cNvSpPr/>
          <p:nvPr/>
        </p:nvSpPr>
        <p:spPr>
          <a:xfrm>
            <a:off x="7412533" y="6220079"/>
            <a:ext cx="2926100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CD2CA-5931-768A-AF22-2987D9678E63}"/>
              </a:ext>
            </a:extLst>
          </p:cNvPr>
          <p:cNvSpPr txBox="1"/>
          <p:nvPr/>
        </p:nvSpPr>
        <p:spPr>
          <a:xfrm>
            <a:off x="7331530" y="6323438"/>
            <a:ext cx="308810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CAN BE ENCRYPTED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3D1C4A-2757-0B7C-F6A3-F4DA27EB1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18" r="50000" b="182"/>
          <a:stretch>
            <a:fillRect/>
          </a:stretch>
        </p:blipFill>
        <p:spPr>
          <a:xfrm>
            <a:off x="1110536" y="4259458"/>
            <a:ext cx="3668932" cy="1834463"/>
          </a:xfrm>
          <a:prstGeom prst="rect">
            <a:avLst/>
          </a:prstGeom>
        </p:spPr>
      </p:pic>
      <p:sp>
        <p:nvSpPr>
          <p:cNvPr id="24" name="Rounded Rectangle 14">
            <a:extLst>
              <a:ext uri="{FF2B5EF4-FFF2-40B4-BE49-F238E27FC236}">
                <a16:creationId xmlns:a16="http://schemas.microsoft.com/office/drawing/2014/main" id="{A981A22F-055A-A24F-298E-8BBAA0799E2A}"/>
              </a:ext>
            </a:extLst>
          </p:cNvPr>
          <p:cNvSpPr/>
          <p:nvPr/>
        </p:nvSpPr>
        <p:spPr>
          <a:xfrm>
            <a:off x="1422444" y="6220079"/>
            <a:ext cx="2926100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452DC7-2E8A-FFD8-DD43-D15DC5A70746}"/>
              </a:ext>
            </a:extLst>
          </p:cNvPr>
          <p:cNvSpPr txBox="1"/>
          <p:nvPr/>
        </p:nvSpPr>
        <p:spPr>
          <a:xfrm>
            <a:off x="1341441" y="6323438"/>
            <a:ext cx="308810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ERROR DETECTION &amp; CORRECTION</a:t>
            </a:r>
          </a:p>
        </p:txBody>
      </p:sp>
    </p:spTree>
    <p:extLst>
      <p:ext uri="{BB962C8B-B14F-4D97-AF65-F5344CB8AC3E}">
        <p14:creationId xmlns:p14="http://schemas.microsoft.com/office/powerpoint/2010/main" val="1206674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 THE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AM, FM, and PM 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but digital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81994"/>
              </p:ext>
            </p:extLst>
          </p:nvPr>
        </p:nvGraphicFramePr>
        <p:xfrm>
          <a:off x="658368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3628097518"/>
                    </a:ext>
                  </a:extLst>
                </a:gridCol>
              </a:tblGrid>
              <a:tr h="104013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What carries the symbol?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Binary example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/>
                        </a:rPr>
                        <a:t>Flavors</a:t>
                      </a:r>
                      <a:endParaRPr sz="17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ASK / OOK</a:t>
                      </a:r>
                      <a:endParaRPr lang="en-US" sz="1700" b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Amplitude Shift Keying</a:t>
                      </a:r>
                    </a:p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On-off Keying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Carrier amplitude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Off = 0; on = 1 (OOK)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>
                          <a:solidFill>
                            <a:srgbClr val="182028"/>
                          </a:solidFill>
                          <a:latin typeface="Aptos"/>
                        </a:rPr>
                        <a:t>OOK, QAM, 16QAM, 64QAM, 256QAM, etc.</a:t>
                      </a:r>
                    </a:p>
                    <a:p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FSK</a:t>
                      </a:r>
                      <a:endParaRPr lang="en-US" sz="1700" b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700" b="0" dirty="0">
                          <a:solidFill>
                            <a:srgbClr val="182028"/>
                          </a:solidFill>
                          <a:latin typeface="Aptos"/>
                        </a:rPr>
                        <a:t>Frequency Shift Keying</a:t>
                      </a:r>
                      <a:endParaRPr sz="1700" b="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Carrier frequency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One tone = 0; another = 1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BFSK, QFSK, 8FSK, 16FSK, etc.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PSK</a:t>
                      </a:r>
                      <a:endParaRPr lang="en-US" sz="1700" b="1" dirty="0">
                        <a:solidFill>
                          <a:srgbClr val="182028"/>
                        </a:solidFill>
                        <a:latin typeface="Aptos"/>
                      </a:endParaRPr>
                    </a:p>
                    <a:p>
                      <a:r>
                        <a:rPr lang="en-US" sz="1700" b="0" dirty="0">
                          <a:solidFill>
                            <a:srgbClr val="182028"/>
                          </a:solidFill>
                          <a:latin typeface="Aptos"/>
                        </a:rPr>
                        <a:t>Phase Shift Keying</a:t>
                      </a:r>
                      <a:endParaRPr sz="1700" b="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Carrier phase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0 degrees = 1; 180 degrees = 0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700" dirty="0">
                          <a:solidFill>
                            <a:srgbClr val="182028"/>
                          </a:solidFill>
                          <a:latin typeface="Aptos"/>
                        </a:rPr>
                        <a:t>BPSK, 	QPSK, 	8PSK, 16PSK, 	etc.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MAKE IT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Compare the same 1 0 1 1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0116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OOK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2148840"/>
            <a:ext cx="9281160" cy="0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20240" y="1709928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40530" y="1709928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60820" y="1709928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81110" y="1709928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201400" y="1709928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2024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5891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9758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3625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7492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1359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5226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9094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2961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6828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0695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4562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8429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2296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46164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0031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3898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7765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1632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5499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9367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3234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7101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80968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84835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702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2569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6437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0304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4171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8038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1905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5772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9639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3507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7374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31241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35108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38975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42842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46710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50577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54444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58311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2178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66045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69912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73780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77647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81514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85381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892486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931157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96982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00850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04717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08584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12451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16318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20185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920240" y="1691640"/>
            <a:ext cx="232029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240530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79201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317873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356544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95216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433887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72559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11230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49902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88573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27245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65916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4588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3259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81931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20602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59274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897945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936617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975288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013960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052631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091303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129974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168646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207317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245989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284660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323332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362003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400675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439346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478017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516689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555361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594032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632704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671375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710047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748718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787389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826061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864733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903404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942076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980747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019419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058090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096762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135433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174105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212776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251448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290119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328791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367462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406134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444805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483477" y="2148840"/>
            <a:ext cx="38671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522148" y="2148840"/>
            <a:ext cx="38672" cy="0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4240530" y="1691640"/>
            <a:ext cx="232029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0</a:t>
            </a:r>
          </a:p>
        </p:txBody>
      </p:sp>
      <p:cxnSp>
        <p:nvCxnSpPr>
          <p:cNvPr id="142" name="Connector 141"/>
          <p:cNvCxnSpPr/>
          <p:nvPr/>
        </p:nvCxnSpPr>
        <p:spPr>
          <a:xfrm flipV="1">
            <a:off x="656082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59949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3816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7683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71550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75417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79284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83152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87019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90886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94753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98620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702487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06354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10222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714089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717956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7218235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25690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29557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733425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37292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41159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45026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48893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52760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56627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60495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64362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68229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72096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75963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79830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83697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87565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791432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795299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799166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803033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806900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810768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814635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818502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822369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26236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30103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33970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37838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41705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845572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49439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53306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57173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61040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864908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68775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72642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76509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80376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84243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6560820" y="1691640"/>
            <a:ext cx="232029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1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888111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1978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895845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899712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03579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7446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11313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5181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9048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2915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6782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30649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34516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8383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42251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46118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49985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53852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57719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61586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65454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69321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73188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77055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80922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84789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88656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92524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96391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000258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004125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007992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011859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015726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019594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23461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27328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31195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35062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38929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427970" y="2049942"/>
            <a:ext cx="38671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0466641" y="1960725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0505313" y="1889922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0543984" y="1844463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0582656" y="1828800"/>
            <a:ext cx="38671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621327" y="1828800"/>
            <a:ext cx="38672" cy="1566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659999" y="1844463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698670" y="1889922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737342" y="1960725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776013" y="2049942"/>
            <a:ext cx="38672" cy="98898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814685" y="2148840"/>
            <a:ext cx="38671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853356" y="2247737"/>
            <a:ext cx="38672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892028" y="2336954"/>
            <a:ext cx="38671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930699" y="2407757"/>
            <a:ext cx="38672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969371" y="2453216"/>
            <a:ext cx="38671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1008042" y="2453216"/>
            <a:ext cx="38672" cy="15664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1046714" y="2407757"/>
            <a:ext cx="38671" cy="45459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1085385" y="2336954"/>
            <a:ext cx="38672" cy="70803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1124057" y="2247737"/>
            <a:ext cx="38671" cy="8921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1162728" y="2148840"/>
            <a:ext cx="38672" cy="98897"/>
          </a:xfrm>
          <a:prstGeom prst="line">
            <a:avLst/>
          </a:prstGeom>
          <a:ln w="22860">
            <a:solidFill>
              <a:srgbClr val="0F6D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8881110" y="1691640"/>
            <a:ext cx="232029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31520" y="3136392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BFSK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1920240" y="3273552"/>
            <a:ext cx="9281160" cy="0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920240" y="2834640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4240530" y="2834640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6560820" y="2834640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8881110" y="2834640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1201400" y="2834640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920240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958911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997583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2036254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2074926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2113597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2152269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2190940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229612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2268283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306955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2345626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2384298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422969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2461641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2500312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2538984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2577655" y="2969175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2616327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2654998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2693670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2732341" y="3085437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2771013" y="3207011"/>
            <a:ext cx="38671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2809684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2848356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2887027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2925699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2964370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3003042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3041713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3080385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3119056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3157728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3196399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3235071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273742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3312414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351085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389757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3428428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3467100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3505771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3544443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3583114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3621786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3660457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3699129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3737800" y="2969175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3776472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815143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853815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892486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3931157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3969829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4008501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4047172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4085844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4124515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4163187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4201858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4240530" y="3207011"/>
            <a:ext cx="38671" cy="6654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4279201" y="3143380"/>
            <a:ext cx="38672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4317873" y="3085437"/>
            <a:ext cx="38671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4356544" y="3035715"/>
            <a:ext cx="38672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4395216" y="2996389"/>
            <a:ext cx="38671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4433887" y="2969175"/>
            <a:ext cx="38672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4472559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511230" y="2955265"/>
            <a:ext cx="38672" cy="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549902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4588573" y="2969175"/>
            <a:ext cx="38672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627245" y="2996389"/>
            <a:ext cx="38671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665916" y="3035715"/>
            <a:ext cx="38672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704588" y="3085437"/>
            <a:ext cx="38671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743259" y="3143380"/>
            <a:ext cx="38672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781931" y="3207011"/>
            <a:ext cx="38671" cy="6654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820602" y="3273552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859274" y="3340092"/>
            <a:ext cx="38671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897945" y="3403723"/>
            <a:ext cx="38672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936617" y="3461666"/>
            <a:ext cx="38671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975288" y="3511388"/>
            <a:ext cx="38672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5013960" y="3550714"/>
            <a:ext cx="38671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5052631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5091303" y="3591838"/>
            <a:ext cx="38671" cy="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5129974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5168646" y="3550714"/>
            <a:ext cx="38671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5207317" y="3511388"/>
            <a:ext cx="38672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5245989" y="3461666"/>
            <a:ext cx="38671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5284660" y="3403723"/>
            <a:ext cx="38672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5323332" y="3340092"/>
            <a:ext cx="38671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5362003" y="3273552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5400675" y="3207011"/>
            <a:ext cx="38671" cy="6654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5439346" y="3143380"/>
            <a:ext cx="38671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5478017" y="3085437"/>
            <a:ext cx="38672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5516689" y="3035715"/>
            <a:ext cx="38672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5555361" y="2996389"/>
            <a:ext cx="38671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5594032" y="2969175"/>
            <a:ext cx="38672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5632704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5671375" y="2955265"/>
            <a:ext cx="38672" cy="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5710047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5748718" y="2969175"/>
            <a:ext cx="38671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787389" y="2996389"/>
            <a:ext cx="38672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826061" y="3035715"/>
            <a:ext cx="38672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864733" y="3085437"/>
            <a:ext cx="38671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5903404" y="3143380"/>
            <a:ext cx="38672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5942076" y="3207011"/>
            <a:ext cx="38671" cy="6654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5980747" y="3273552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6019419" y="3340092"/>
            <a:ext cx="38671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6058090" y="3403723"/>
            <a:ext cx="38672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6096762" y="3461666"/>
            <a:ext cx="38671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6135433" y="3511388"/>
            <a:ext cx="38672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6174105" y="3550714"/>
            <a:ext cx="38671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6212776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251448" y="3591838"/>
            <a:ext cx="38671" cy="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6290119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6328791" y="3550714"/>
            <a:ext cx="38671" cy="2721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6367462" y="3511388"/>
            <a:ext cx="38672" cy="39326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6406134" y="3461666"/>
            <a:ext cx="38671" cy="4972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6444805" y="3403723"/>
            <a:ext cx="38672" cy="57943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6483477" y="3340092"/>
            <a:ext cx="38671" cy="6363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6522148" y="3273552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6560820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6599491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6638163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6676834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6715506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6754177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6792849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6831520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870192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6908863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6947535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6986206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7024878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7063549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7102221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7140892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7179564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7218235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7256906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7295578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7334250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7372921" y="3085437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411593" y="3207011"/>
            <a:ext cx="38671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7450264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7488936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7527607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566279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7604950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7643622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7682293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7720965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7759636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7798308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7836979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7875651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7914322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7952994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7991665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8030337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8069008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8107680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8146351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8185023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8223694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8262366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8301037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8339709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8378380" y="2969175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8417052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8455723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8494395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8533066" y="3085437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8571738" y="3207011"/>
            <a:ext cx="38671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8610409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8649081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8687752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8726424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8765095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8803767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8842438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8881110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8919781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8958453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8997124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9035796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9074467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9113139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9151810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9190482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9229153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9267825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9306496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9345168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9383839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9422511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9461182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9499854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9538525" y="2969175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9577197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9615868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9654540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9693211" y="3085437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731883" y="3207011"/>
            <a:ext cx="38671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9770554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9809226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9847897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9886569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9925240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9963912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10002583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10041255" y="3143380"/>
            <a:ext cx="38671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10079926" y="3035715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10118598" y="2969175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10157269" y="2955265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0195941" y="2955265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10234612" y="2996389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0273284" y="3085437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0311955" y="3207011"/>
            <a:ext cx="38672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10350627" y="3340092"/>
            <a:ext cx="38671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10389298" y="3461666"/>
            <a:ext cx="38672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0427970" y="3550714"/>
            <a:ext cx="38671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0466641" y="3577928"/>
            <a:ext cx="38672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10505313" y="3511388"/>
            <a:ext cx="38671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10543984" y="3403723"/>
            <a:ext cx="38672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10582656" y="3273552"/>
            <a:ext cx="38671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0621327" y="3143380"/>
            <a:ext cx="38672" cy="130172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10659999" y="3035715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10698670" y="2969175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10737342" y="2955265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10776013" y="2955265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10814685" y="2996389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10853356" y="3085437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10892028" y="3207011"/>
            <a:ext cx="38671" cy="13308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10930699" y="3340092"/>
            <a:ext cx="38672" cy="12157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10969371" y="3461666"/>
            <a:ext cx="38671" cy="89048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11008042" y="3550714"/>
            <a:ext cx="38672" cy="41124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11046714" y="3577928"/>
            <a:ext cx="38671" cy="1391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11085385" y="3511388"/>
            <a:ext cx="38672" cy="66540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11124057" y="3403723"/>
            <a:ext cx="38671" cy="107665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11162728" y="3273552"/>
            <a:ext cx="38672" cy="130171"/>
          </a:xfrm>
          <a:prstGeom prst="line">
            <a:avLst/>
          </a:prstGeom>
          <a:ln w="2286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TextBox 510"/>
          <p:cNvSpPr txBox="1"/>
          <p:nvPr/>
        </p:nvSpPr>
        <p:spPr>
          <a:xfrm>
            <a:off x="731520" y="4261104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BPSK</a:t>
            </a:r>
          </a:p>
        </p:txBody>
      </p:sp>
      <p:cxnSp>
        <p:nvCxnSpPr>
          <p:cNvPr id="512" name="Connector 511"/>
          <p:cNvCxnSpPr/>
          <p:nvPr/>
        </p:nvCxnSpPr>
        <p:spPr>
          <a:xfrm>
            <a:off x="1920240" y="4398264"/>
            <a:ext cx="9281160" cy="0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920240" y="3959352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4240530" y="3959352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6560820" y="3959352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8881110" y="3959352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1201400" y="3959352"/>
            <a:ext cx="0" cy="877824"/>
          </a:xfrm>
          <a:prstGeom prst="line">
            <a:avLst/>
          </a:prstGeom>
          <a:ln w="1270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192024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95891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199758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203625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207492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211359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215226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219094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222961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226828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230695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234562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238429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242296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246164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250031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253898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257765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261632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265499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269367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273234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277101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280968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284835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288702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292569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296437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300304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304171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308038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311905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315772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319639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323507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327374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331241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335108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338975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342842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346710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350577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354444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358311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362178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6045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369912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73780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377647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381514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85381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892486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3931157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396982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400850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404717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408584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412451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416318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420185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4240530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4279201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4317873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356544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4395216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4433887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4472559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511230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4549902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4588573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4627245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4665916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4704588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4743259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4781931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4820602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4859274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97945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4936617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4975288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5013960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5052631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5091303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129974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168646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5207317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245989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5284660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323332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5362003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400675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5439346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5478017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516689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5555361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594032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5632704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5671375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5710047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5748718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5787389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826061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5864733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903404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942076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980747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6019419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6058090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6096762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6135433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6174105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6212776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6251448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6290119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6328791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6367462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6406134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6444805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6483477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6522148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656082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59949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63816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667683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671550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675417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679284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683152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687019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690886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694753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698620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702487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706354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710222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714089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717956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7218235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725690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729557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733425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737292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741159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745026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748893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752760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756627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760495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764362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768229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772096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775963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779830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783697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787565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791432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795299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799166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803033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806900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810768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814635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818502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822369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826236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830103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833970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37838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41705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45572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849439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853306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857173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861040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864908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 flipV="1">
            <a:off x="868775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 flipV="1">
            <a:off x="872642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876509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880376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884243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888111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891978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895845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899712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903579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907446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911313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915181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919048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922915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926782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930649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934516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938383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942251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946118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949985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953852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957719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961586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965454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969321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973188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977055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980922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984789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988656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992524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996391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1000258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1004125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1007992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1011859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1015726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1019594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V="1">
            <a:off x="1023461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1027328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1031195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V="1">
            <a:off x="1035062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V="1">
            <a:off x="1038929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0427970" y="4299366"/>
            <a:ext cx="38671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10466641" y="4210149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 flipV="1">
            <a:off x="10505313" y="4139346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10543984" y="4093887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10582656" y="4078224"/>
            <a:ext cx="38671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10621327" y="4078224"/>
            <a:ext cx="38672" cy="1566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10659999" y="4093887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10698670" y="4139346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0737342" y="4210149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0776013" y="4299366"/>
            <a:ext cx="38672" cy="98898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10814685" y="4398264"/>
            <a:ext cx="38671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10853356" y="4497161"/>
            <a:ext cx="38672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10892028" y="4586378"/>
            <a:ext cx="38671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10930699" y="4657181"/>
            <a:ext cx="38672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10969371" y="4702640"/>
            <a:ext cx="38671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11008042" y="4702640"/>
            <a:ext cx="38672" cy="15664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V="1">
            <a:off x="11046714" y="4657181"/>
            <a:ext cx="38671" cy="45459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11085385" y="4586378"/>
            <a:ext cx="38672" cy="70803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V="1">
            <a:off x="11124057" y="4497161"/>
            <a:ext cx="38671" cy="8921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V="1">
            <a:off x="11162728" y="4398264"/>
            <a:ext cx="38672" cy="98897"/>
          </a:xfrm>
          <a:prstGeom prst="line">
            <a:avLst/>
          </a:prstGeom>
          <a:ln w="2286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800290" y="5669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7324D"/>
                </a:solidFill>
                <a:latin typeface="Aptos"/>
              </a:rPr>
              <a:t>Same bits, same symbol slots, different carrier property. Idealized: no pulse shaping.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FB231EB7-BD48-5929-F4AB-672E69648E5F}"/>
              </a:ext>
            </a:extLst>
          </p:cNvPr>
          <p:cNvSpPr/>
          <p:nvPr/>
        </p:nvSpPr>
        <p:spPr>
          <a:xfrm>
            <a:off x="8460405" y="4809362"/>
            <a:ext cx="3511717" cy="144067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3425983B-A66E-B1A1-5D2E-77B97034CCD8}"/>
              </a:ext>
            </a:extLst>
          </p:cNvPr>
          <p:cNvSpPr/>
          <p:nvPr/>
        </p:nvSpPr>
        <p:spPr>
          <a:xfrm>
            <a:off x="5059259" y="4809362"/>
            <a:ext cx="3291840" cy="1440674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79715E-5509-C213-0FE5-561A996808C3}"/>
              </a:ext>
            </a:extLst>
          </p:cNvPr>
          <p:cNvSpPr/>
          <p:nvPr/>
        </p:nvSpPr>
        <p:spPr>
          <a:xfrm>
            <a:off x="5059259" y="4809362"/>
            <a:ext cx="82296" cy="1440674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945477-DA27-BEB3-1CBD-7CA50E6BEDDA}"/>
              </a:ext>
            </a:extLst>
          </p:cNvPr>
          <p:cNvSpPr txBox="1"/>
          <p:nvPr/>
        </p:nvSpPr>
        <p:spPr>
          <a:xfrm>
            <a:off x="5287859" y="4973954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Example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E38C0-8FC7-0C7D-C882-8524EE4AEEB0}"/>
              </a:ext>
            </a:extLst>
          </p:cNvPr>
          <p:cNvSpPr txBox="1"/>
          <p:nvPr/>
        </p:nvSpPr>
        <p:spPr>
          <a:xfrm>
            <a:off x="5287859" y="5412866"/>
            <a:ext cx="3291840" cy="7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How many symbols for each modulation if you will transmit </a:t>
            </a:r>
            <a:r>
              <a:rPr lang="en-US" sz="1700" b="1" i="0" dirty="0">
                <a:solidFill>
                  <a:srgbClr val="182028"/>
                </a:solidFill>
                <a:latin typeface="Aptos"/>
              </a:rPr>
              <a:t>101100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?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BUILD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A symbol can represent more than one bit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1828799"/>
            <a:ext cx="3703320" cy="4088523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1828799"/>
            <a:ext cx="82296" cy="4088523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1993392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Symbol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2432304"/>
            <a:ext cx="329184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One selected signaling state during a symbol interval.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884A55-2BE5-B97B-6770-63C360CF1B31}"/>
              </a:ext>
            </a:extLst>
          </p:cNvPr>
          <p:cNvSpPr txBox="1"/>
          <p:nvPr/>
        </p:nvSpPr>
        <p:spPr>
          <a:xfrm>
            <a:off x="822960" y="3269474"/>
            <a:ext cx="32918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i="0" dirty="0">
                <a:solidFill>
                  <a:srgbClr val="182028"/>
                </a:solidFill>
                <a:latin typeface="Aptos" panose="020B0004020202020204" pitchFamily="34" charset="0"/>
              </a:rPr>
              <a:t>Two states: </a:t>
            </a:r>
          </a:p>
          <a:p>
            <a:r>
              <a:rPr lang="en-US" sz="1600" b="0" i="0" dirty="0">
                <a:solidFill>
                  <a:srgbClr val="182028"/>
                </a:solidFill>
                <a:latin typeface="Aptos" panose="020B0004020202020204" pitchFamily="34" charset="0"/>
              </a:rPr>
              <a:t>0/1 </a:t>
            </a:r>
            <a:r>
              <a:rPr lang="en-US" sz="1600" dirty="0">
                <a:latin typeface="Aptos" panose="020B0004020202020204" pitchFamily="34" charset="0"/>
              </a:rPr>
              <a:t>⟶ one bit per symbol</a:t>
            </a:r>
            <a:endParaRPr lang="en-US" sz="16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  <a:p>
            <a:r>
              <a:rPr lang="en-US" sz="1600" b="1" dirty="0">
                <a:solidFill>
                  <a:srgbClr val="182028"/>
                </a:solidFill>
                <a:latin typeface="Aptos" panose="020B0004020202020204" pitchFamily="34" charset="0"/>
              </a:rPr>
              <a:t>Four states:</a:t>
            </a:r>
          </a:p>
          <a:p>
            <a:r>
              <a:rPr lang="en-US" sz="1600" dirty="0">
                <a:solidFill>
                  <a:srgbClr val="182028"/>
                </a:solidFill>
                <a:latin typeface="Aptos"/>
              </a:rPr>
              <a:t>00, 01, 11, and 10 </a:t>
            </a:r>
            <a:r>
              <a:rPr lang="en-US" sz="1600" dirty="0">
                <a:latin typeface="Aptos" panose="020B0004020202020204" pitchFamily="34" charset="0"/>
              </a:rPr>
              <a:t>⟶</a:t>
            </a:r>
            <a:r>
              <a:rPr lang="en-US" sz="1600" dirty="0">
                <a:solidFill>
                  <a:srgbClr val="182028"/>
                </a:solidFill>
                <a:latin typeface="Aptos"/>
              </a:rPr>
              <a:t> two bits per symbol</a:t>
            </a:r>
            <a:endParaRPr sz="1600" b="0" i="0" dirty="0">
              <a:solidFill>
                <a:srgbClr val="182028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0C22FA1-26C8-7733-E2DC-2B7BECAF0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581198"/>
              </p:ext>
            </p:extLst>
          </p:nvPr>
        </p:nvGraphicFramePr>
        <p:xfrm>
          <a:off x="5218387" y="1432034"/>
          <a:ext cx="5199153" cy="29785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3051">
                  <a:extLst>
                    <a:ext uri="{9D8B030D-6E8A-4147-A177-3AD203B41FA5}">
                      <a16:colId xmlns:a16="http://schemas.microsoft.com/office/drawing/2014/main" val="1103067168"/>
                    </a:ext>
                  </a:extLst>
                </a:gridCol>
                <a:gridCol w="1733051">
                  <a:extLst>
                    <a:ext uri="{9D8B030D-6E8A-4147-A177-3AD203B41FA5}">
                      <a16:colId xmlns:a16="http://schemas.microsoft.com/office/drawing/2014/main" val="2593653852"/>
                    </a:ext>
                  </a:extLst>
                </a:gridCol>
                <a:gridCol w="1733051">
                  <a:extLst>
                    <a:ext uri="{9D8B030D-6E8A-4147-A177-3AD203B41FA5}">
                      <a16:colId xmlns:a16="http://schemas.microsoft.com/office/drawing/2014/main" val="2181301960"/>
                    </a:ext>
                  </a:extLst>
                </a:gridCol>
              </a:tblGrid>
              <a:tr h="4746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Modulation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Available choices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Bits per symbol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860975"/>
                  </a:ext>
                </a:extLst>
              </a:tr>
              <a:tr h="4746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Binary FSK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 frequencies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781701"/>
                  </a:ext>
                </a:extLst>
              </a:tr>
              <a:tr h="4746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BPSK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 phases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523515"/>
                  </a:ext>
                </a:extLst>
              </a:tr>
              <a:tr h="4746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QPSK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 phases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057854"/>
                  </a:ext>
                </a:extLst>
              </a:tr>
              <a:tr h="830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16-QAM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16 amplitude-and-phase combinations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936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3748E1-BAB3-B40E-04BA-7085CB8A8F9D}"/>
                  </a:ext>
                </a:extLst>
              </p:cNvPr>
              <p:cNvSpPr txBox="1"/>
              <p:nvPr/>
            </p:nvSpPr>
            <p:spPr>
              <a:xfrm>
                <a:off x="1607970" y="4634796"/>
                <a:ext cx="1676100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bits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symbol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3748E1-BAB3-B40E-04BA-7085CB8A8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70" y="4634796"/>
                <a:ext cx="1676100" cy="5735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4395D40-8EBC-EA58-443E-2C923DF0DE3A}"/>
              </a:ext>
            </a:extLst>
          </p:cNvPr>
          <p:cNvSpPr txBox="1"/>
          <p:nvPr/>
        </p:nvSpPr>
        <p:spPr>
          <a:xfrm>
            <a:off x="822960" y="5399407"/>
            <a:ext cx="3291840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f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or M possible states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02CD9E-0035-C051-63A3-C5C996BB0D47}"/>
              </a:ext>
            </a:extLst>
          </p:cNvPr>
          <p:cNvSpPr txBox="1"/>
          <p:nvPr/>
        </p:nvSpPr>
        <p:spPr>
          <a:xfrm>
            <a:off x="8680283" y="5020840"/>
            <a:ext cx="31246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182028"/>
                </a:solidFill>
                <a:latin typeface="Aptos"/>
              </a:rPr>
              <a:t>A modulation scheme has 16 possible signal states. How many bits can each symbol represent?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E68FAA69-F3D6-C33E-C03D-824D3D62A48B}"/>
              </a:ext>
            </a:extLst>
          </p:cNvPr>
          <p:cNvSpPr/>
          <p:nvPr/>
        </p:nvSpPr>
        <p:spPr>
          <a:xfrm>
            <a:off x="7571231" y="3025562"/>
            <a:ext cx="4179336" cy="1019503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B0670F-891D-1AEC-2823-6E28A916AB51}"/>
              </a:ext>
            </a:extLst>
          </p:cNvPr>
          <p:cNvSpPr/>
          <p:nvPr/>
        </p:nvSpPr>
        <p:spPr>
          <a:xfrm>
            <a:off x="7571232" y="3025562"/>
            <a:ext cx="82296" cy="1019503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BUILD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I and Q describe </a:t>
            </a:r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a carrier state with two numbers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8063" y="5626142"/>
            <a:ext cx="6016752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dirty="0">
                <a:solidFill>
                  <a:srgbClr val="182028"/>
                </a:solidFill>
                <a:latin typeface="Aptos"/>
              </a:rPr>
              <a:t>Plot I horizontally and Q vertically: the result is a constellation.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0" y="1828800"/>
            <a:ext cx="4179336" cy="1019503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71231" y="1828800"/>
            <a:ext cx="82296" cy="1019503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1" y="1993392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In-Phase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99831" y="2432304"/>
            <a:ext cx="3714966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The amount of the reference carrier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25216-66E0-4F04-5D13-23A323F88247}"/>
              </a:ext>
            </a:extLst>
          </p:cNvPr>
          <p:cNvSpPr txBox="1"/>
          <p:nvPr/>
        </p:nvSpPr>
        <p:spPr>
          <a:xfrm>
            <a:off x="7799831" y="3145956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Quadrature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F307A-187D-B03E-93F3-1375AF34E2D6}"/>
              </a:ext>
            </a:extLst>
          </p:cNvPr>
          <p:cNvSpPr txBox="1"/>
          <p:nvPr/>
        </p:nvSpPr>
        <p:spPr>
          <a:xfrm>
            <a:off x="7799831" y="3584868"/>
            <a:ext cx="3714966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The amount of the carrier shifted by 90</a:t>
            </a:r>
            <a:r>
              <a:rPr lang="en-US" sz="1700" b="0" i="0" baseline="30000" dirty="0">
                <a:solidFill>
                  <a:srgbClr val="182028"/>
                </a:solidFill>
                <a:latin typeface="Aptos"/>
              </a:rPr>
              <a:t>o</a:t>
            </a:r>
            <a:endParaRPr sz="1700" b="0" i="0" baseline="3000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9665A7-257E-6347-DD8C-1B44152BF98F}"/>
                  </a:ext>
                </a:extLst>
              </p:cNvPr>
              <p:cNvSpPr txBox="1"/>
              <p:nvPr/>
            </p:nvSpPr>
            <p:spPr>
              <a:xfrm>
                <a:off x="8018342" y="1317735"/>
                <a:ext cx="35945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r>
                        <a:rPr lang="en-US" i="1">
                          <a:latin typeface="+mn-lt"/>
                        </a:rPr>
                        <m:t>𝐼</m:t>
                      </m:r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0">
                          <a:latin typeface="+mn-lt"/>
                        </a:rPr>
                        <m:t>−</m:t>
                      </m:r>
                      <m:r>
                        <a:rPr lang="en-US" i="1">
                          <a:latin typeface="+mn-lt"/>
                        </a:rPr>
                        <m:t>𝑄</m:t>
                      </m:r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9665A7-257E-6347-DD8C-1B44152BF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342" y="1317735"/>
                <a:ext cx="359453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EEFBE25-30BD-DE14-CAEF-A6C9406FB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12152"/>
              </p:ext>
            </p:extLst>
          </p:nvPr>
        </p:nvGraphicFramePr>
        <p:xfrm>
          <a:off x="7787209" y="4314393"/>
          <a:ext cx="3740210" cy="18353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9926">
                  <a:extLst>
                    <a:ext uri="{9D8B030D-6E8A-4147-A177-3AD203B41FA5}">
                      <a16:colId xmlns:a16="http://schemas.microsoft.com/office/drawing/2014/main" val="3252320196"/>
                    </a:ext>
                  </a:extLst>
                </a:gridCol>
                <a:gridCol w="595024">
                  <a:extLst>
                    <a:ext uri="{9D8B030D-6E8A-4147-A177-3AD203B41FA5}">
                      <a16:colId xmlns:a16="http://schemas.microsoft.com/office/drawing/2014/main" val="3387720132"/>
                    </a:ext>
                  </a:extLst>
                </a:gridCol>
                <a:gridCol w="1145260">
                  <a:extLst>
                    <a:ext uri="{9D8B030D-6E8A-4147-A177-3AD203B41FA5}">
                      <a16:colId xmlns:a16="http://schemas.microsoft.com/office/drawing/2014/main" val="4267063531"/>
                    </a:ext>
                  </a:extLst>
                </a:gridCol>
              </a:tblGrid>
              <a:tr h="28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QPSK symbol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I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Q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556085"/>
                  </a:ext>
                </a:extLst>
              </a:tr>
              <a:tr h="28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789815"/>
                  </a:ext>
                </a:extLst>
              </a:tr>
              <a:tr h="28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05349"/>
                  </a:ext>
                </a:extLst>
              </a:tr>
              <a:tr h="372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−1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187781"/>
                  </a:ext>
                </a:extLst>
              </a:tr>
              <a:tr h="28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−1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661792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1E73A7A3-F7A4-8871-46A4-5BB9940C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543" y="1598702"/>
            <a:ext cx="5595740" cy="37304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MAKE IT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Constellation is not a spectrum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"/>
              </a:rPr>
              <a:t>BPSK: 2 states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3474720"/>
            <a:ext cx="3383280" cy="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63240" y="2103120"/>
            <a:ext cx="0" cy="274320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3383279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05740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Q</a:t>
            </a:r>
          </a:p>
        </p:txBody>
      </p:sp>
      <p:sp>
        <p:nvSpPr>
          <p:cNvPr id="18" name="Oval 17"/>
          <p:cNvSpPr/>
          <p:nvPr/>
        </p:nvSpPr>
        <p:spPr>
          <a:xfrm>
            <a:off x="1778508" y="3424427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3593591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4247388" y="3424427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3593591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1783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"/>
              </a:rPr>
              <a:t>QPSK: 4 states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0" y="3474720"/>
            <a:ext cx="3383280" cy="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49640" y="2103120"/>
            <a:ext cx="0" cy="274320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87000" y="3383279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7" y="205740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Q</a:t>
            </a:r>
          </a:p>
        </p:txBody>
      </p:sp>
      <p:sp>
        <p:nvSpPr>
          <p:cNvPr id="27" name="Oval 26"/>
          <p:cNvSpPr/>
          <p:nvPr/>
        </p:nvSpPr>
        <p:spPr>
          <a:xfrm>
            <a:off x="9372228" y="2551547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9912" y="2720711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00</a:t>
            </a:r>
          </a:p>
        </p:txBody>
      </p:sp>
      <p:sp>
        <p:nvSpPr>
          <p:cNvPr id="29" name="Oval 28"/>
          <p:cNvSpPr/>
          <p:nvPr/>
        </p:nvSpPr>
        <p:spPr>
          <a:xfrm>
            <a:off x="7626467" y="2551547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84151" y="2720711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dirty="0">
                <a:solidFill>
                  <a:srgbClr val="17324D"/>
                </a:solidFill>
                <a:latin typeface="Aptos"/>
              </a:rPr>
              <a:t>01</a:t>
            </a:r>
          </a:p>
        </p:txBody>
      </p:sp>
      <p:sp>
        <p:nvSpPr>
          <p:cNvPr id="31" name="Oval 30"/>
          <p:cNvSpPr/>
          <p:nvPr/>
        </p:nvSpPr>
        <p:spPr>
          <a:xfrm>
            <a:off x="7626467" y="4297308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84151" y="4466472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11</a:t>
            </a:r>
          </a:p>
        </p:txBody>
      </p:sp>
      <p:sp>
        <p:nvSpPr>
          <p:cNvPr id="33" name="Oval 32"/>
          <p:cNvSpPr/>
          <p:nvPr/>
        </p:nvSpPr>
        <p:spPr>
          <a:xfrm>
            <a:off x="9372228" y="4297308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29912" y="4466472"/>
            <a:ext cx="585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10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F82427E-6667-BBC2-F2B2-E44AE1B8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142048"/>
              </p:ext>
            </p:extLst>
          </p:nvPr>
        </p:nvGraphicFramePr>
        <p:xfrm>
          <a:off x="6606598" y="5005907"/>
          <a:ext cx="4517078" cy="1778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15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Bit pair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Phase 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I/Q signs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00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+45 degrees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+I, +Q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4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01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+135 degrees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-I, +Q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4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-135 degrees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-I, -Q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495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-45 degrees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+I, -Q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39D75C66-51E4-440E-2895-67F9E65DF9C0}"/>
              </a:ext>
            </a:extLst>
          </p:cNvPr>
          <p:cNvSpPr/>
          <p:nvPr/>
        </p:nvSpPr>
        <p:spPr>
          <a:xfrm>
            <a:off x="2525064" y="5394685"/>
            <a:ext cx="2065224" cy="42062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24A8AB-C98D-E84F-7067-555ED5039631}"/>
              </a:ext>
            </a:extLst>
          </p:cNvPr>
          <p:cNvSpPr txBox="1"/>
          <p:nvPr/>
        </p:nvSpPr>
        <p:spPr>
          <a:xfrm>
            <a:off x="594360" y="5494997"/>
            <a:ext cx="5935456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ptos"/>
              </a:rPr>
              <a:t>TRANSMISSION: 10110001</a:t>
            </a:r>
            <a:endParaRPr lang="en-US" sz="1150" b="1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WORK THE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Baud and bit rate answer different questions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971915"/>
              </p:ext>
            </p:extLst>
          </p:nvPr>
        </p:nvGraphicFramePr>
        <p:xfrm>
          <a:off x="5271675" y="1737360"/>
          <a:ext cx="6057741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013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Modulation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Bits per symbol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At 1,000 symbols/s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BPSK: M = 2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log2(2) = 1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1,000 bit/s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QPSK: M = 4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log2(4) = 2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2,000 bit/s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16-QAM: M = 16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log2(16) = 4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4,000 bit/s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2E44B5-65CF-96F5-4918-074B686F9724}"/>
                  </a:ext>
                </a:extLst>
              </p:cNvPr>
              <p:cNvSpPr txBox="1"/>
              <p:nvPr/>
            </p:nvSpPr>
            <p:spPr>
              <a:xfrm>
                <a:off x="487681" y="2011680"/>
                <a:ext cx="42419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400" i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Bit rate</m:t>
                      </m:r>
                      <m:r>
                        <a:rPr lang="en-US" sz="2400" i="0"/>
                        <m:t>=</m:t>
                      </m:r>
                      <m:r>
                        <m:rPr>
                          <m:nor/>
                        </m:rPr>
                        <a:rPr lang="en-US" sz="2400" i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Baud rate</m:t>
                      </m:r>
                      <m:r>
                        <a:rPr lang="en-US" sz="2400" i="0"/>
                        <m:t>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2E44B5-65CF-96F5-4918-074B686F9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1" y="2011680"/>
                <a:ext cx="4241974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62FA1A7-94E9-9BE1-30C8-16CABAC66114}"/>
              </a:ext>
            </a:extLst>
          </p:cNvPr>
          <p:cNvSpPr txBox="1"/>
          <p:nvPr/>
        </p:nvSpPr>
        <p:spPr>
          <a:xfrm>
            <a:off x="3715932" y="1827014"/>
            <a:ext cx="114373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dirty="0">
                <a:solidFill>
                  <a:srgbClr val="182028"/>
                </a:solidFill>
                <a:latin typeface="Aptos"/>
              </a:rPr>
              <a:t>b</a:t>
            </a:r>
            <a:r>
              <a:rPr lang="en-US" sz="1200" b="0" i="0" dirty="0">
                <a:solidFill>
                  <a:srgbClr val="182028"/>
                </a:solidFill>
                <a:latin typeface="Aptos"/>
              </a:rPr>
              <a:t>its/symbol</a:t>
            </a:r>
            <a:endParaRPr sz="12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5120A-0D5C-C66D-D73C-06EE38FA84EA}"/>
              </a:ext>
            </a:extLst>
          </p:cNvPr>
          <p:cNvSpPr txBox="1"/>
          <p:nvPr/>
        </p:nvSpPr>
        <p:spPr>
          <a:xfrm>
            <a:off x="796526" y="2492293"/>
            <a:ext cx="114373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dirty="0">
                <a:solidFill>
                  <a:srgbClr val="182028"/>
                </a:solidFill>
                <a:latin typeface="Aptos"/>
              </a:rPr>
              <a:t>bits/s</a:t>
            </a:r>
            <a:endParaRPr sz="12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302F89-34F9-1591-08A5-014F538B13F3}"/>
              </a:ext>
            </a:extLst>
          </p:cNvPr>
          <p:cNvSpPr txBox="1"/>
          <p:nvPr/>
        </p:nvSpPr>
        <p:spPr>
          <a:xfrm>
            <a:off x="2352269" y="2492293"/>
            <a:ext cx="114373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dirty="0">
                <a:solidFill>
                  <a:srgbClr val="182028"/>
                </a:solidFill>
                <a:latin typeface="Aptos"/>
              </a:rPr>
              <a:t>symbols/s</a:t>
            </a:r>
            <a:endParaRPr sz="12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5" name="Rounded Rectangle 18">
            <a:extLst>
              <a:ext uri="{FF2B5EF4-FFF2-40B4-BE49-F238E27FC236}">
                <a16:creationId xmlns:a16="http://schemas.microsoft.com/office/drawing/2014/main" id="{467D7DDD-4B25-4047-CD6A-186285E6A683}"/>
              </a:ext>
            </a:extLst>
          </p:cNvPr>
          <p:cNvSpPr/>
          <p:nvPr/>
        </p:nvSpPr>
        <p:spPr>
          <a:xfrm>
            <a:off x="487681" y="2827536"/>
            <a:ext cx="3511717" cy="144067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5E95F6-4FA3-8615-2F3A-767A0B82BBD0}"/>
              </a:ext>
            </a:extLst>
          </p:cNvPr>
          <p:cNvSpPr txBox="1"/>
          <p:nvPr/>
        </p:nvSpPr>
        <p:spPr>
          <a:xfrm>
            <a:off x="707559" y="3039014"/>
            <a:ext cx="312462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182028"/>
                </a:solidFill>
                <a:latin typeface="Aptos"/>
              </a:rPr>
              <a:t>Two transmitters operate at 3,000 symbols/s. One uses QPSK; the other uses 16-QAM. Find their bit rates.</a:t>
            </a: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1291D7F0-9B71-6A92-1E54-EEBCC7C250E8}"/>
              </a:ext>
            </a:extLst>
          </p:cNvPr>
          <p:cNvSpPr/>
          <p:nvPr/>
        </p:nvSpPr>
        <p:spPr>
          <a:xfrm>
            <a:off x="487681" y="4357987"/>
            <a:ext cx="3511717" cy="144067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B20A5-2193-AAEC-B7FB-81FC718FC782}"/>
              </a:ext>
            </a:extLst>
          </p:cNvPr>
          <p:cNvSpPr txBox="1"/>
          <p:nvPr/>
        </p:nvSpPr>
        <p:spPr>
          <a:xfrm>
            <a:off x="707559" y="4569465"/>
            <a:ext cx="312462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182028"/>
                </a:solidFill>
                <a:latin typeface="Aptos"/>
              </a:rPr>
              <a:t>A QPSK transmitter must carry a mapped bit rate of 18 kbit/s. What symbol rate is required?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A241F21-16C6-7F49-C287-CFE59811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4" t="2007" r="51066" b="1687"/>
          <a:stretch>
            <a:fillRect/>
          </a:stretch>
        </p:blipFill>
        <p:spPr>
          <a:xfrm>
            <a:off x="310896" y="1944424"/>
            <a:ext cx="3495005" cy="37191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BUILD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QAM adds amplitude choices as well as phase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45552" y="4980432"/>
            <a:ext cx="3703320" cy="136634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45552" y="4980432"/>
            <a:ext cx="82296" cy="1366345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5179225"/>
            <a:ext cx="3291840" cy="110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At equal symbol rate, more states carry more mapped bits per second BUT </a:t>
            </a:r>
            <a:r>
              <a:rPr lang="en-US" sz="1700" b="0" i="0" dirty="0">
                <a:solidFill>
                  <a:srgbClr val="182028"/>
                </a:solidFill>
                <a:latin typeface="Aptos"/>
              </a:rPr>
              <a:t>leave less room for errors.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F00F165-BFAE-695C-F1C8-903D50242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88" t="2007" r="1262" b="1687"/>
          <a:stretch>
            <a:fillRect/>
          </a:stretch>
        </p:blipFill>
        <p:spPr>
          <a:xfrm>
            <a:off x="3868910" y="1944424"/>
            <a:ext cx="3495005" cy="37191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7742D2-C372-61D2-8C1E-60C26E801B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25" t="2300" r="51796" b="29181"/>
          <a:stretch>
            <a:fillRect/>
          </a:stretch>
        </p:blipFill>
        <p:spPr>
          <a:xfrm>
            <a:off x="7724104" y="1665375"/>
            <a:ext cx="3888776" cy="302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MAKE IT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Noise turns ideal points into clouds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1399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"/>
              </a:rPr>
              <a:t>Clean QPSK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3090672"/>
            <a:ext cx="3383280" cy="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63240" y="1719072"/>
            <a:ext cx="0" cy="274320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00600" y="2999231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67335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Q</a:t>
            </a:r>
          </a:p>
        </p:txBody>
      </p:sp>
      <p:sp>
        <p:nvSpPr>
          <p:cNvPr id="18" name="Oval 17"/>
          <p:cNvSpPr/>
          <p:nvPr/>
        </p:nvSpPr>
        <p:spPr>
          <a:xfrm>
            <a:off x="3885828" y="2167499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40067" y="2167499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40067" y="3913260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85828" y="3913260"/>
            <a:ext cx="100584" cy="100584"/>
          </a:xfrm>
          <a:prstGeom prst="ellipse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365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17324D"/>
                </a:solidFill>
                <a:latin typeface="Aptos"/>
              </a:rPr>
              <a:t>One ideal point per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1399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"/>
              </a:rPr>
              <a:t>Disturbed QPSK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3090672"/>
            <a:ext cx="3383280" cy="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9640" y="1719072"/>
            <a:ext cx="0" cy="2743200"/>
          </a:xfrm>
          <a:prstGeom prst="line">
            <a:avLst/>
          </a:prstGeom>
          <a:ln w="12700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87000" y="2999231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7" y="1673352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Q</a:t>
            </a:r>
          </a:p>
        </p:txBody>
      </p:sp>
      <p:sp>
        <p:nvSpPr>
          <p:cNvPr id="28" name="Oval 27"/>
          <p:cNvSpPr/>
          <p:nvPr/>
        </p:nvSpPr>
        <p:spPr>
          <a:xfrm>
            <a:off x="9791938" y="216749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93240" y="183904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43565" y="2055847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092586" y="2498695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6454" y="200281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83755" y="203014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68869" y="244341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46176" y="216749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947478" y="183904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97803" y="2055847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346824" y="2498695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220692" y="200281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537994" y="203014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823108" y="244341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046176" y="391326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47478" y="358481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97803" y="380160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46824" y="4244456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220692" y="374857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37994" y="377590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823108" y="4189174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791938" y="3913260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693240" y="358481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443565" y="380160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092586" y="4244456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966454" y="3748573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283755" y="3775902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568869" y="4189174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79" y="47365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17324D"/>
                </a:solidFill>
                <a:latin typeface="Aptos"/>
              </a:rPr>
              <a:t>Samples spread around intended states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6CD810C2-3883-2234-8592-DA617C6E98BF}"/>
              </a:ext>
            </a:extLst>
          </p:cNvPr>
          <p:cNvSpPr/>
          <p:nvPr/>
        </p:nvSpPr>
        <p:spPr>
          <a:xfrm>
            <a:off x="3259420" y="5623560"/>
            <a:ext cx="4070334" cy="91122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99DCF9-4316-A9DE-248B-A7E1DB05FAC1}"/>
              </a:ext>
            </a:extLst>
          </p:cNvPr>
          <p:cNvSpPr txBox="1"/>
          <p:nvPr/>
        </p:nvSpPr>
        <p:spPr>
          <a:xfrm>
            <a:off x="3312080" y="5670563"/>
            <a:ext cx="401767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182028"/>
                </a:solidFill>
                <a:latin typeface="Aptos"/>
              </a:rPr>
              <a:t>The receiver measures (-0.7,+0.9). Which bit pair should it choose using the nearest allowed point?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4179660-207E-7B39-6CAA-4D40EE0EA0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5" t="12224" r="51796" b="29181"/>
          <a:stretch>
            <a:fillRect/>
          </a:stretch>
        </p:blipFill>
        <p:spPr>
          <a:xfrm>
            <a:off x="7404367" y="5250063"/>
            <a:ext cx="2473666" cy="1644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BUILD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Spectral efficiency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4390" y="986843"/>
            <a:ext cx="3703320" cy="2401012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24390" y="986843"/>
            <a:ext cx="82296" cy="2401012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990" y="1151435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ptos"/>
              </a:rPr>
              <a:t>Takeaway</a:t>
            </a:r>
            <a:r>
              <a:rPr lang="en-US" sz="2200" b="1" i="0" dirty="0">
                <a:solidFill>
                  <a:srgbClr val="17324D"/>
                </a:solidFill>
                <a:latin typeface="Aptos"/>
              </a:rPr>
              <a:t>s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2990" y="1590347"/>
            <a:ext cx="3291840" cy="1641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82028"/>
                </a:solidFill>
                <a:latin typeface="Aptos"/>
              </a:rPr>
              <a:t>More bits per symbol can increase bit/s per Hz without raising symbol rate.</a:t>
            </a:r>
          </a:p>
          <a:p>
            <a:pPr marL="285750" indent="-285750" algn="l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Higher-order modulation is useful only if the receiver can distinguish its states.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B918F9-0B5F-F232-A416-02CBB9E4BDA9}"/>
                  </a:ext>
                </a:extLst>
              </p:cNvPr>
              <p:cNvSpPr txBox="1"/>
              <p:nvPr/>
            </p:nvSpPr>
            <p:spPr>
              <a:xfrm>
                <a:off x="288509" y="1857393"/>
                <a:ext cx="6117020" cy="898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𝐵𝑊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B918F9-0B5F-F232-A416-02CBB9E4B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09" y="1857393"/>
                <a:ext cx="6117020" cy="898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2B18BCB-9DBC-C712-ABA6-1E28BE1A98CC}"/>
              </a:ext>
            </a:extLst>
          </p:cNvPr>
          <p:cNvSpPr txBox="1"/>
          <p:nvPr/>
        </p:nvSpPr>
        <p:spPr>
          <a:xfrm>
            <a:off x="621792" y="2289488"/>
            <a:ext cx="177393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0" i="0" dirty="0">
                <a:solidFill>
                  <a:srgbClr val="17324D"/>
                </a:solidFill>
                <a:latin typeface="Aptos"/>
              </a:rPr>
              <a:t>Spectral Efficiency (bits/s/Hz)</a:t>
            </a:r>
            <a:endParaRPr sz="1600" b="0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9CB03452-992D-483F-0585-49493F8B5599}"/>
              </a:ext>
            </a:extLst>
          </p:cNvPr>
          <p:cNvSpPr/>
          <p:nvPr/>
        </p:nvSpPr>
        <p:spPr>
          <a:xfrm>
            <a:off x="406908" y="2949991"/>
            <a:ext cx="3703320" cy="136634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6AE01D-2C05-A423-71B2-76F630118AC2}"/>
              </a:ext>
            </a:extLst>
          </p:cNvPr>
          <p:cNvSpPr txBox="1"/>
          <p:nvPr/>
        </p:nvSpPr>
        <p:spPr>
          <a:xfrm>
            <a:off x="594360" y="3106428"/>
            <a:ext cx="3291840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Spectral efficiency measures how much information we can transmit using a given amount of bandwidth.</a:t>
            </a:r>
            <a:endParaRPr lang="en-US"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175130-EEF5-0CB5-F60B-5FD85C02DA2A}"/>
              </a:ext>
            </a:extLst>
          </p:cNvPr>
          <p:cNvSpPr txBox="1"/>
          <p:nvPr/>
        </p:nvSpPr>
        <p:spPr>
          <a:xfrm>
            <a:off x="4169666" y="1991625"/>
            <a:ext cx="177393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0" i="0" dirty="0">
                <a:solidFill>
                  <a:srgbClr val="17324D"/>
                </a:solidFill>
                <a:latin typeface="Aptos"/>
              </a:rPr>
              <a:t>Bit rate (bits/s)</a:t>
            </a:r>
          </a:p>
          <a:p>
            <a:pPr algn="ctr"/>
            <a:endParaRPr lang="en-US" sz="1600" b="0" i="0" dirty="0">
              <a:solidFill>
                <a:srgbClr val="17324D"/>
              </a:solidFill>
              <a:latin typeface="Aptos"/>
            </a:endParaRPr>
          </a:p>
          <a:p>
            <a:pPr algn="ctr"/>
            <a:r>
              <a:rPr lang="en-US" sz="1600" dirty="0">
                <a:solidFill>
                  <a:srgbClr val="17324D"/>
                </a:solidFill>
                <a:latin typeface="Aptos"/>
              </a:rPr>
              <a:t>Bandwidth (Hz)</a:t>
            </a:r>
            <a:endParaRPr sz="1600" b="0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CE1958B1-CA5E-D17A-BD69-E5AB0BD114F3}"/>
              </a:ext>
            </a:extLst>
          </p:cNvPr>
          <p:cNvSpPr/>
          <p:nvPr/>
        </p:nvSpPr>
        <p:spPr>
          <a:xfrm>
            <a:off x="4996358" y="3833112"/>
            <a:ext cx="6170832" cy="218931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182028"/>
                </a:solidFill>
                <a:latin typeface="Aptos"/>
              </a:rPr>
              <a:t>A link has:</a:t>
            </a:r>
          </a:p>
          <a:p>
            <a:r>
              <a:rPr lang="en-US" dirty="0">
                <a:solidFill>
                  <a:srgbClr val="182028"/>
                </a:solidFill>
                <a:latin typeface="Aptos"/>
              </a:rPr>
              <a:t>Bit rate: 24 kbit/s</a:t>
            </a:r>
          </a:p>
          <a:p>
            <a:r>
              <a:rPr lang="en-US" dirty="0">
                <a:solidFill>
                  <a:srgbClr val="182028"/>
                </a:solidFill>
                <a:latin typeface="Aptos"/>
              </a:rPr>
              <a:t>Code rate: 3/4 </a:t>
            </a:r>
          </a:p>
          <a:p>
            <a:r>
              <a:rPr lang="en-US" dirty="0">
                <a:solidFill>
                  <a:srgbClr val="182028"/>
                </a:solidFill>
                <a:latin typeface="Aptos"/>
              </a:rPr>
              <a:t>BW: 12 kHz</a:t>
            </a:r>
          </a:p>
          <a:p>
            <a:r>
              <a:rPr lang="en-US" dirty="0">
                <a:solidFill>
                  <a:srgbClr val="182028"/>
                </a:solidFill>
                <a:latin typeface="Aptos"/>
              </a:rPr>
              <a:t> </a:t>
            </a:r>
            <a:endParaRPr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39497-67C1-544D-23EB-5F9CDB732E63}"/>
              </a:ext>
            </a:extLst>
          </p:cNvPr>
          <p:cNvSpPr txBox="1"/>
          <p:nvPr/>
        </p:nvSpPr>
        <p:spPr>
          <a:xfrm>
            <a:off x="7729046" y="4214569"/>
            <a:ext cx="3237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82028"/>
                </a:solidFill>
                <a:latin typeface="Aptos"/>
              </a:rPr>
              <a:t>Find: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182028"/>
                </a:solidFill>
                <a:latin typeface="Aptos"/>
              </a:rPr>
              <a:t>the information bit rate</a:t>
            </a:r>
            <a:endParaRPr lang="en-US" dirty="0">
              <a:solidFill>
                <a:srgbClr val="182028"/>
              </a:solidFill>
              <a:latin typeface="Apto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182028"/>
                </a:solidFill>
                <a:latin typeface="Aptos"/>
              </a:rPr>
              <a:t>gross spectral efficiency</a:t>
            </a:r>
            <a:endParaRPr lang="en-US" dirty="0">
              <a:solidFill>
                <a:srgbClr val="182028"/>
              </a:solidFill>
              <a:latin typeface="Apto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rgbClr val="182028"/>
                </a:solidFill>
                <a:latin typeface="Aptos"/>
              </a:rPr>
              <a:t>useful spectral efficiency.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22 | DIGITAL MODULATION FAMILIES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CHECK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Exit check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075795"/>
            <a:ext cx="1046988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A designer changes a link from QPSK to 16-QAM while keeping the same symbol rate and average symbol energy.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654921"/>
            <a:ext cx="850392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42900" indent="-342900" algn="ctr">
              <a:buAutoNum type="arabicPeriod"/>
            </a:pPr>
            <a:r>
              <a:rPr lang="en-US" sz="1800" b="0" i="0" dirty="0">
                <a:solidFill>
                  <a:srgbClr val="5F6B73"/>
                </a:solidFill>
                <a:latin typeface="Aptos"/>
              </a:rPr>
              <a:t>What happens to the mapped bit rate?</a:t>
            </a:r>
          </a:p>
          <a:p>
            <a:pPr marL="342900" indent="-342900" algn="ctr">
              <a:buAutoNum type="arabicPeriod"/>
            </a:pPr>
            <a:r>
              <a:rPr lang="en-US" sz="1800" b="0" i="0" dirty="0">
                <a:solidFill>
                  <a:srgbClr val="5F6B73"/>
                </a:solidFill>
                <a:latin typeface="Aptos"/>
              </a:rPr>
              <a:t>Why might the receiver make more errors under the same noise conditions?</a:t>
            </a:r>
            <a:endParaRPr sz="1800" b="0" i="0" dirty="0">
              <a:solidFill>
                <a:srgbClr val="5F6B7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NEXT: QAM AND BIT ERROR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1277</Words>
  <Application>Microsoft Office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2</cp:revision>
  <dcterms:created xsi:type="dcterms:W3CDTF">2013-01-27T09:14:16Z</dcterms:created>
  <dcterms:modified xsi:type="dcterms:W3CDTF">2026-10-23T14:44:30Z</dcterms:modified>
  <cp:category/>
</cp:coreProperties>
</file>