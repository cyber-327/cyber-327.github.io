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70" r:id="rId4"/>
    <p:sldId id="271" r:id="rId5"/>
    <p:sldId id="272" r:id="rId6"/>
    <p:sldId id="260" r:id="rId7"/>
    <p:sldId id="277" r:id="rId8"/>
    <p:sldId id="278" r:id="rId9"/>
    <p:sldId id="262" r:id="rId10"/>
    <p:sldId id="279" r:id="rId11"/>
    <p:sldId id="263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684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DF1E-ECEE-742D-5725-EAB11FA4E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EE3BF-11B6-8158-361F-A236CC334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A8EDC-09EF-8B7A-7BD0-47FFDD00C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41A27-763A-D7AD-E9A2-1E80B361F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98767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CD70-79FB-DC23-5907-D03248B2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66527-BBED-35F3-FE1A-71738FE5E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72F13-E885-00E5-83CF-3599EA4CD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2261D-3D17-22F2-D8DD-D3A60959B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68626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D568-9B6C-C247-C51E-B975A41A3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1123A-49EB-D0AA-8233-BED6CBCC74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B8570-7733-966F-1719-94F7DF686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DA189-8D28-CE61-C812-09EA9FBF2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79580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FA1F-E087-FE0A-7D7D-C7661D6A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EE232-4EBF-B816-3109-0D9C8774C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65AEB-E7CE-81D7-9391-5CFC576A3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84F3A-5211-27CB-26D0-368F746F2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75073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9CF9-C4C6-1061-7261-FA4F55394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D8AC3-E2F7-4713-D5F8-927FF1180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E661A-94BE-FDB2-44A2-E22E4CFE4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XC = 7.96 </a:t>
            </a:r>
            <a:r>
              <a:rPr lang="en-US" dirty="0" err="1"/>
              <a:t>kΩ</a:t>
            </a:r>
            <a:r>
              <a:rPr lang="en-US" dirty="0"/>
              <a:t> and IC = 125.7 </a:t>
            </a:r>
            <a:r>
              <a:rPr lang="en-US" dirty="0" err="1"/>
              <a:t>uArms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50EE6-4645-C0BD-6889-2DE33BC07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08824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AF4C-1A06-113D-6C00-270C7DDA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4783E-73A7-F230-E3B7-F205F2CE7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656DF-AE43-4B3E-5E2B-EF94476DB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XC = 9.4kΩ &lt;-57.9 and IC = 106.4 </a:t>
            </a:r>
            <a:r>
              <a:rPr lang="en-US" dirty="0" err="1"/>
              <a:t>uArms</a:t>
            </a:r>
            <a:r>
              <a:rPr lang="en-US" dirty="0"/>
              <a:t> &lt;57.9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63F89-625F-431B-1D7C-347010ACE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61267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clear that R, XL, and XC cannot normally be added as unsigned scalars. The magnitude equation follows from the right-triangle phasor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D1D0-53AE-491A-FD92-42048C87A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64203-06A1-E0DA-A920-85C7EFB80A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92636-E303-98E1-8274-263088BB3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XC = 7.96kΩ  XL = 127.7Ω  X = -7.832kΩ  Z = 9.294kΩ  &lt;-57.4 I = 107.6uA &lt;57.4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F162F-BA69-0A42-6424-193D7E939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82537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Expected: XL and XC can become equal, net reactance approaches zero, impedance is minimized, current peaks, and resistor voltage 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18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08 | CAPACITANCE + RLC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Capacitance, Impedance, and RLC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Opposing reactances make one circuit behave differently across frequency.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SEP 21,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269CE-6341-3562-1F82-9BC77D4D2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93696-480E-F80A-7DFD-312744E63E3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FED4C17-9203-83E8-DF43-B39A658129C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9683E20-1268-D29B-008F-3C28C64E7390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17CDBD7-A66F-0FED-D238-05EA19D4942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BF692F3-0770-B2FE-80FC-92E9C5E2FAD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86ABC318-62F5-A1F2-F652-0B8503F21F79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55D3F8-097C-70C6-55DD-FA1F22BEC7C1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08 | CAPACITANCE + RLC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98CB1F-D570-FE1C-1C1C-03ED4EDF40C2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7B474-B134-BB47-2B2A-57C0B8A29FDF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RECALL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E5A81-DC8A-AEAA-C8F6-73030BB92FE2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Inductors and capacitors respond in opposite ways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633B7A14-E3DE-7342-DAB4-E1391BD9605E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17368A7-416B-CF05-E920-A2B65414FDAF}"/>
              </a:ext>
            </a:extLst>
          </p:cNvPr>
          <p:cNvSpPr/>
          <p:nvPr/>
        </p:nvSpPr>
        <p:spPr>
          <a:xfrm>
            <a:off x="749808" y="4611139"/>
            <a:ext cx="3547872" cy="151277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8476E2-C507-6774-4801-DFDBF7E3538F}"/>
              </a:ext>
            </a:extLst>
          </p:cNvPr>
          <p:cNvSpPr/>
          <p:nvPr/>
        </p:nvSpPr>
        <p:spPr>
          <a:xfrm>
            <a:off x="749807" y="4611139"/>
            <a:ext cx="82937" cy="151277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A5A82C-18CD-DCB0-2694-C787C15B81A3}"/>
              </a:ext>
            </a:extLst>
          </p:cNvPr>
          <p:cNvSpPr txBox="1"/>
          <p:nvPr/>
        </p:nvSpPr>
        <p:spPr>
          <a:xfrm>
            <a:off x="978408" y="4775730"/>
            <a:ext cx="3133186" cy="331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Inductor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DCEABB-614E-B203-18F4-B0DEB07DF543}"/>
              </a:ext>
            </a:extLst>
          </p:cNvPr>
          <p:cNvSpPr txBox="1"/>
          <p:nvPr/>
        </p:nvSpPr>
        <p:spPr>
          <a:xfrm>
            <a:off x="978408" y="5214642"/>
            <a:ext cx="3133186" cy="770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Current cannot change instantly. Ideal reactance rises with frequency.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9173A02-686E-0BD1-9FC3-FEB072EFAA6D}"/>
              </a:ext>
            </a:extLst>
          </p:cNvPr>
          <p:cNvSpPr/>
          <p:nvPr/>
        </p:nvSpPr>
        <p:spPr>
          <a:xfrm>
            <a:off x="7955280" y="4611139"/>
            <a:ext cx="3547872" cy="151277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1513E7-4C2B-D02C-71A4-909FCC2D109E}"/>
              </a:ext>
            </a:extLst>
          </p:cNvPr>
          <p:cNvSpPr/>
          <p:nvPr/>
        </p:nvSpPr>
        <p:spPr>
          <a:xfrm>
            <a:off x="7955279" y="4611139"/>
            <a:ext cx="82937" cy="1512774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2D3215-86B2-91F2-6E1B-150342A06B5C}"/>
              </a:ext>
            </a:extLst>
          </p:cNvPr>
          <p:cNvSpPr txBox="1"/>
          <p:nvPr/>
        </p:nvSpPr>
        <p:spPr>
          <a:xfrm>
            <a:off x="8183880" y="4775730"/>
            <a:ext cx="3133186" cy="331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Capacitor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0B69E7-CC77-B627-1861-197CAB4D4055}"/>
              </a:ext>
            </a:extLst>
          </p:cNvPr>
          <p:cNvSpPr txBox="1"/>
          <p:nvPr/>
        </p:nvSpPr>
        <p:spPr>
          <a:xfrm>
            <a:off x="8183880" y="5214642"/>
            <a:ext cx="3133186" cy="770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Voltage cannot change instantly. Ideal reactance falls with frequency.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131E82C-3275-ABE2-E439-BFE859E972B1}"/>
                  </a:ext>
                </a:extLst>
              </p:cNvPr>
              <p:cNvSpPr txBox="1"/>
              <p:nvPr/>
            </p:nvSpPr>
            <p:spPr>
              <a:xfrm>
                <a:off x="594360" y="1760147"/>
                <a:ext cx="1884041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131E82C-3275-ABE2-E439-BFE859E97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760147"/>
                <a:ext cx="1884041" cy="818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2" descr="http://www.mouser.com/images/LPFastronRodCoreChokes-2.jpg">
            <a:extLst>
              <a:ext uri="{FF2B5EF4-FFF2-40B4-BE49-F238E27FC236}">
                <a16:creationId xmlns:a16="http://schemas.microsoft.com/office/drawing/2014/main" id="{83C84D4E-34CD-E787-C68E-867FBC397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67428" y="2381486"/>
            <a:ext cx="2783396" cy="205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9F53CAF-C3AB-C938-7D95-617DE940E0EE}"/>
                  </a:ext>
                </a:extLst>
              </p:cNvPr>
              <p:cNvSpPr txBox="1"/>
              <p:nvPr/>
            </p:nvSpPr>
            <p:spPr>
              <a:xfrm>
                <a:off x="9239635" y="1856584"/>
                <a:ext cx="1869423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I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C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9F53CAF-C3AB-C938-7D95-617DE940E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635" y="1856584"/>
                <a:ext cx="1869423" cy="8182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22D1C367-129A-0ABB-D6D6-71E2B52C1C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02920" y="2969796"/>
            <a:ext cx="2248074" cy="110893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6CDFB65-3061-D306-E377-FF848899BB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5719" y="3095797"/>
            <a:ext cx="2203153" cy="108738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51F02EC-627E-D1D3-143A-4F506D32E510}"/>
              </a:ext>
            </a:extLst>
          </p:cNvPr>
          <p:cNvSpPr txBox="1"/>
          <p:nvPr/>
        </p:nvSpPr>
        <p:spPr>
          <a:xfrm>
            <a:off x="3017520" y="2031452"/>
            <a:ext cx="144937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Henry (H)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17EE70-DEC9-9BB4-7013-5DCC40C27EA7}"/>
              </a:ext>
            </a:extLst>
          </p:cNvPr>
          <p:cNvSpPr txBox="1"/>
          <p:nvPr/>
        </p:nvSpPr>
        <p:spPr>
          <a:xfrm>
            <a:off x="7272058" y="2031452"/>
            <a:ext cx="144937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Farad (F)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49" name="Picture 48" descr="Shocking&quot; results from a Leyden jar experiment. | ScienceBob.com">
            <a:extLst>
              <a:ext uri="{FF2B5EF4-FFF2-40B4-BE49-F238E27FC236}">
                <a16:creationId xmlns:a16="http://schemas.microsoft.com/office/drawing/2014/main" id="{1D47ADE4-4325-C008-BD18-D92DD0A60C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3428" y="2510026"/>
            <a:ext cx="2343150" cy="2857500"/>
          </a:xfrm>
          <a:prstGeom prst="rect">
            <a:avLst/>
          </a:prstGeom>
        </p:spPr>
      </p:pic>
      <p:pic>
        <p:nvPicPr>
          <p:cNvPr id="38" name="Picture 37" descr="C:\Users\luntb\Documents\Barry-Main\My Files\328 Text\Photos\3.6.7.1-Cap Assortment.jpg">
            <a:extLst>
              <a:ext uri="{FF2B5EF4-FFF2-40B4-BE49-F238E27FC236}">
                <a16:creationId xmlns:a16="http://schemas.microsoft.com/office/drawing/2014/main" id="{6F3CD12E-F496-FEA2-F71C-8836D335CE94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062" y="2494405"/>
            <a:ext cx="2777380" cy="2059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555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547D1-4ADF-428A-DA83-F8A29C2B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5EAD3D-4B42-FC4F-A449-C897C31FAFF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558482E-A46D-4C76-5C94-9288DD7F5B99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986085C-DFCF-3269-59A0-41632E92E2C1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7DB388A-CADA-7766-D4A9-0B0DA10B3176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B3F205B-22E9-2E10-1974-B82B00F79341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5FCB26D-159F-5850-0A95-37F2CCFCF4B9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8B322E1-F20D-B686-744A-84925EFE7DB2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08 | CAPACITANCE + RLC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31076-15EE-3F89-4E25-11FC56DA1F1B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E52F1-69F0-CEC3-C8D4-388AAA766E23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RECALL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83C26-DBD6-483C-726B-68592D9A1B3F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Inductors and capacitors respond in opposite ways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68B2AB87-737B-3718-5B3D-8AFF452505B0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A711EF0-C089-5C3A-709A-B0D7A69F05C5}"/>
              </a:ext>
            </a:extLst>
          </p:cNvPr>
          <p:cNvSpPr/>
          <p:nvPr/>
        </p:nvSpPr>
        <p:spPr>
          <a:xfrm>
            <a:off x="749808" y="4611139"/>
            <a:ext cx="3547872" cy="151277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9C6887-ADA1-4F92-9B9D-ADCAD1E7C0C9}"/>
              </a:ext>
            </a:extLst>
          </p:cNvPr>
          <p:cNvSpPr/>
          <p:nvPr/>
        </p:nvSpPr>
        <p:spPr>
          <a:xfrm>
            <a:off x="749807" y="4611139"/>
            <a:ext cx="82937" cy="151277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8DA78A-23D9-815B-6DB8-6FB9FEA63B5D}"/>
              </a:ext>
            </a:extLst>
          </p:cNvPr>
          <p:cNvSpPr txBox="1"/>
          <p:nvPr/>
        </p:nvSpPr>
        <p:spPr>
          <a:xfrm>
            <a:off x="978408" y="4775730"/>
            <a:ext cx="3133186" cy="331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Inductor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84DFD8-4566-1A0C-AD0A-A4DCFB8A2AF2}"/>
              </a:ext>
            </a:extLst>
          </p:cNvPr>
          <p:cNvSpPr txBox="1"/>
          <p:nvPr/>
        </p:nvSpPr>
        <p:spPr>
          <a:xfrm>
            <a:off x="978408" y="5214642"/>
            <a:ext cx="3133186" cy="2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Oppose rapid changes </a:t>
            </a:r>
            <a:r>
              <a:rPr lang="en-US" sz="1650" dirty="0">
                <a:solidFill>
                  <a:srgbClr val="182028"/>
                </a:solidFill>
                <a:latin typeface="Aptos"/>
              </a:rPr>
              <a:t>in </a:t>
            </a:r>
            <a:r>
              <a:rPr lang="en-US" sz="1650" b="0" i="0" dirty="0">
                <a:solidFill>
                  <a:srgbClr val="182028"/>
                </a:solidFill>
                <a:latin typeface="Aptos"/>
              </a:rPr>
              <a:t>current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563D7F6-AD5F-67DC-5FA4-608DC7C5CEEC}"/>
              </a:ext>
            </a:extLst>
          </p:cNvPr>
          <p:cNvSpPr/>
          <p:nvPr/>
        </p:nvSpPr>
        <p:spPr>
          <a:xfrm>
            <a:off x="7955280" y="4611139"/>
            <a:ext cx="3547872" cy="151277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480EC6-EA4C-A7B4-07A6-7D788B16A192}"/>
              </a:ext>
            </a:extLst>
          </p:cNvPr>
          <p:cNvSpPr/>
          <p:nvPr/>
        </p:nvSpPr>
        <p:spPr>
          <a:xfrm>
            <a:off x="7955279" y="4611139"/>
            <a:ext cx="82937" cy="1512774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07BBC5-A5F1-3B1E-155D-448BF13E43D8}"/>
              </a:ext>
            </a:extLst>
          </p:cNvPr>
          <p:cNvSpPr txBox="1"/>
          <p:nvPr/>
        </p:nvSpPr>
        <p:spPr>
          <a:xfrm>
            <a:off x="8183880" y="4775730"/>
            <a:ext cx="3133186" cy="331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Capacitor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D3A4A5-608E-EC80-F63F-4E008E149C9D}"/>
              </a:ext>
            </a:extLst>
          </p:cNvPr>
          <p:cNvSpPr txBox="1"/>
          <p:nvPr/>
        </p:nvSpPr>
        <p:spPr>
          <a:xfrm>
            <a:off x="8183880" y="5214642"/>
            <a:ext cx="3133186" cy="2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650" dirty="0">
                <a:solidFill>
                  <a:srgbClr val="182028"/>
                </a:solidFill>
                <a:latin typeface="Aptos"/>
              </a:rPr>
              <a:t>Oppose rapid changes in</a:t>
            </a:r>
            <a:r>
              <a:rPr lang="en-US" sz="1650" b="0" i="0" dirty="0">
                <a:solidFill>
                  <a:srgbClr val="182028"/>
                </a:solidFill>
                <a:latin typeface="Aptos"/>
              </a:rPr>
              <a:t> voltage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22" name="Picture 2" descr="http://www.ee.nmt.edu/%7Efurrball/temp/tjtech-howto-pc_power-07.jpg">
            <a:extLst>
              <a:ext uri="{FF2B5EF4-FFF2-40B4-BE49-F238E27FC236}">
                <a16:creationId xmlns:a16="http://schemas.microsoft.com/office/drawing/2014/main" id="{D449BBCA-991C-B019-D2CA-E837CC26F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795" y="1183654"/>
            <a:ext cx="5161415" cy="3345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90070C-4E1E-5606-A144-BD032781A227}"/>
              </a:ext>
            </a:extLst>
          </p:cNvPr>
          <p:cNvCxnSpPr/>
          <p:nvPr/>
        </p:nvCxnSpPr>
        <p:spPr>
          <a:xfrm flipV="1">
            <a:off x="2140299" y="3215473"/>
            <a:ext cx="4109776" cy="1678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CF9C0F-A17F-0579-0C7B-914817BCCB71}"/>
              </a:ext>
            </a:extLst>
          </p:cNvPr>
          <p:cNvCxnSpPr>
            <a:cxnSpLocks/>
          </p:cNvCxnSpPr>
          <p:nvPr/>
        </p:nvCxnSpPr>
        <p:spPr>
          <a:xfrm flipV="1">
            <a:off x="2181833" y="3238860"/>
            <a:ext cx="5032883" cy="164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8D3E5A-BE15-C709-7AD4-7F8B5FE58AE6}"/>
              </a:ext>
            </a:extLst>
          </p:cNvPr>
          <p:cNvCxnSpPr>
            <a:cxnSpLocks/>
          </p:cNvCxnSpPr>
          <p:nvPr/>
        </p:nvCxnSpPr>
        <p:spPr>
          <a:xfrm flipH="1" flipV="1">
            <a:off x="7128029" y="1770587"/>
            <a:ext cx="1024420" cy="3084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8FFAA70-289E-995B-7693-CDFD917997DC}"/>
              </a:ext>
            </a:extLst>
          </p:cNvPr>
          <p:cNvCxnSpPr>
            <a:cxnSpLocks/>
          </p:cNvCxnSpPr>
          <p:nvPr/>
        </p:nvCxnSpPr>
        <p:spPr>
          <a:xfrm flipH="1" flipV="1">
            <a:off x="6820974" y="3716791"/>
            <a:ext cx="1362906" cy="1169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276EBC-6097-B44B-8D0E-F07B85EAFE47}"/>
                  </a:ext>
                </a:extLst>
              </p:cNvPr>
              <p:cNvSpPr txBox="1"/>
              <p:nvPr/>
            </p:nvSpPr>
            <p:spPr>
              <a:xfrm>
                <a:off x="594360" y="1760147"/>
                <a:ext cx="1884041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276EBC-6097-B44B-8D0E-F07B85EAF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760147"/>
                <a:ext cx="1884041" cy="818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E16B863-B692-2D2E-B110-AF8D81F03C7A}"/>
                  </a:ext>
                </a:extLst>
              </p:cNvPr>
              <p:cNvSpPr txBox="1"/>
              <p:nvPr/>
            </p:nvSpPr>
            <p:spPr>
              <a:xfrm>
                <a:off x="9239635" y="1856584"/>
                <a:ext cx="1869423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I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C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E16B863-B692-2D2E-B110-AF8D81F03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635" y="1856584"/>
                <a:ext cx="1869423" cy="8182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201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12D3F-0CC0-246F-CFEB-BEA75E47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B09FF7-B117-823B-3747-5A396AD6E89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CB25C1F-D138-FAE9-46F9-3F9A5CAC6FD6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DB47D3A-088B-24A5-A649-2C38EE8359FE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A22EC1D8-0D45-8865-081A-E6606886FB64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B1D8880-4CED-927C-96C5-8C811426DB42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A2A92D6-30BC-6000-0A55-F94FC6E2965A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CE85C9-D9B7-06D3-ECC8-73E6EBB474AF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08 | CAPACITANCE + RLC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F0FB2D-6F6D-26EF-9832-9A3F54899FEB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DB092C-CEBA-7ED3-F098-9BBDF12B867D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RETRIEVAL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BD85AB-C488-0462-B212-C9987A6E9B3A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Inductors and capacitors respond in opposite ways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D6644E61-B09F-D0CC-2BD7-8F907E357A56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49ED384-1572-4978-DBFA-511236D72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486224"/>
              </p:ext>
            </p:extLst>
          </p:nvPr>
        </p:nvGraphicFramePr>
        <p:xfrm>
          <a:off x="2237868" y="1698171"/>
          <a:ext cx="8229600" cy="3801301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39753205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2588646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50118665"/>
                    </a:ext>
                  </a:extLst>
                </a:gridCol>
              </a:tblGrid>
              <a:tr h="31563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Capacitor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Inductor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08654"/>
                  </a:ext>
                </a:extLst>
              </a:tr>
              <a:tr h="374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Stores energy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037334"/>
                  </a:ext>
                </a:extLst>
              </a:tr>
              <a:tr h="627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Equation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129324"/>
                  </a:ext>
                </a:extLst>
              </a:tr>
              <a:tr h="374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Responds to change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951232"/>
                  </a:ext>
                </a:extLst>
              </a:tr>
              <a:tr h="65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If that quantity changes rapidly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977842"/>
                  </a:ext>
                </a:extLst>
              </a:tr>
              <a:tr h="65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If that quantity stops changing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3684808"/>
                  </a:ext>
                </a:extLst>
              </a:tr>
              <a:tr h="371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 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585124"/>
                  </a:ext>
                </a:extLst>
              </a:tr>
              <a:tr h="374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Equivalent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559028"/>
                  </a:ext>
                </a:extLst>
              </a:tr>
            </a:tbl>
          </a:graphicData>
        </a:graphic>
      </p:graphicFrame>
      <p:sp>
        <p:nvSpPr>
          <p:cNvPr id="30" name="Rounded Rectangle 24">
            <a:extLst>
              <a:ext uri="{FF2B5EF4-FFF2-40B4-BE49-F238E27FC236}">
                <a16:creationId xmlns:a16="http://schemas.microsoft.com/office/drawing/2014/main" id="{454FC626-EFC9-007C-8DA3-94605DBE4B04}"/>
              </a:ext>
            </a:extLst>
          </p:cNvPr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A19F6F-E7C3-B089-BA63-BD7A1E6AB9D5}"/>
              </a:ext>
            </a:extLst>
          </p:cNvPr>
          <p:cNvSpPr txBox="1"/>
          <p:nvPr/>
        </p:nvSpPr>
        <p:spPr>
          <a:xfrm>
            <a:off x="2743200" y="5603308"/>
            <a:ext cx="667512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  <a:latin typeface="Aptos"/>
              </a:rPr>
              <a:t>ELI THE ICE MAN</a:t>
            </a:r>
            <a:endParaRPr sz="2400" b="1" i="0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2796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A5126-995B-CE8A-4040-1EDD9BD7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5CF5F5-D474-0446-9011-79D3D240F25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A2C4F40-27C9-99E4-B065-D4817F3BBF6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5CED1A7-72C2-75F4-66C7-FD871AF8E107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E01977C-2B4D-A775-1650-DC0DB81D44F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1D2028D-8A29-F630-B50A-671EECFE7580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5C861B4-F850-265E-3098-4A27E7794093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CEE117-CAEA-F699-75E8-33BAFD59FD8A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08 | CAPACITANCE + RLC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A88D07-C1FD-67B8-4BAF-95EFE7457921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BE3F74-93DA-B506-AA36-62A4080EBCC8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RETRIEVAL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EDB13A-3268-869E-CD07-27B24FE3293E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Inductors and capacitors respond in opposite ways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389F3C2-37EE-7EA5-70B4-9177085E6184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EBD3310D-AFE7-BE4B-47E3-C96BBF53410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37868" y="1698171"/>
              <a:ext cx="8229600" cy="3801301"/>
            </p:xfrm>
            <a:graphic>
              <a:graphicData uri="http://schemas.openxmlformats.org/drawingml/2006/table">
                <a:tbl>
                  <a:tblPr firstRow="1">
                    <a:tableStyleId>{93296810-A885-4BE3-A3E7-6D5BEEA58F35}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397532057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625886468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250118665"/>
                        </a:ext>
                      </a:extLst>
                    </a:gridCol>
                  </a:tblGrid>
                  <a:tr h="315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Capacitor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Inductor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308654"/>
                      </a:ext>
                    </a:extLst>
                  </a:tr>
                  <a:tr h="3748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Stores energy 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Electric field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Magnetic field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5037334"/>
                      </a:ext>
                    </a:extLst>
                  </a:tr>
                  <a:tr h="6274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f>
                                  <m:f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𝑑𝑣</m:t>
                                    </m:r>
                                  </m:num>
                                  <m:den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f>
                                  <m:f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num>
                                  <m:den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33129324"/>
                      </a:ext>
                    </a:extLst>
                  </a:tr>
                  <a:tr h="3748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/>
                            <a:t>Responds to change 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Voltage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Current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4951232"/>
                      </a:ext>
                    </a:extLst>
                  </a:tr>
                  <a:tr h="6559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If that quantity changes rapidly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Large current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Large voltage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5977842"/>
                      </a:ext>
                    </a:extLst>
                  </a:tr>
                  <a:tr h="6559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If that quantity stops changing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3684808"/>
                      </a:ext>
                    </a:extLst>
                  </a:tr>
                  <a:tr h="37183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AC relationship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I leads V by 90°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 leads I by 90°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585124"/>
                      </a:ext>
                    </a:extLst>
                  </a:tr>
                  <a:tr h="3748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Equivalent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V lags 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 lags 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555902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EBD3310D-AFE7-BE4B-47E3-C96BBF53410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37868" y="1698171"/>
              <a:ext cx="8229600" cy="3801301"/>
            </p:xfrm>
            <a:graphic>
              <a:graphicData uri="http://schemas.openxmlformats.org/drawingml/2006/table">
                <a:tbl>
                  <a:tblPr firstRow="1">
                    <a:tableStyleId>{93296810-A885-4BE3-A3E7-6D5BEEA58F35}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397532057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625886468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25011866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Capacitor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Inductor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308654"/>
                      </a:ext>
                    </a:extLst>
                  </a:tr>
                  <a:tr h="3748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Stores energy 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Electric field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Magnetic field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5037334"/>
                      </a:ext>
                    </a:extLst>
                  </a:tr>
                  <a:tr h="6274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Equation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123301" r="-100665" b="-40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444" t="-123301" r="-889" b="-40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3129324"/>
                      </a:ext>
                    </a:extLst>
                  </a:tr>
                  <a:tr h="3748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/>
                            <a:t>Responds to change 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Voltage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Current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4951232"/>
                      </a:ext>
                    </a:extLst>
                  </a:tr>
                  <a:tr h="6559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If that quantity changes rapidly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Large current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Large voltage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5977842"/>
                      </a:ext>
                    </a:extLst>
                  </a:tr>
                  <a:tr h="6559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If that quantity stops changing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369444" r="-100665" b="-126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444" t="-369444" r="-889" b="-126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3684808"/>
                      </a:ext>
                    </a:extLst>
                  </a:tr>
                  <a:tr h="37183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AC relationship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I leads V by 90°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 leads I by 90°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585124"/>
                      </a:ext>
                    </a:extLst>
                  </a:tr>
                  <a:tr h="3748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b="1" dirty="0"/>
                            <a:t>Equivalent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V lags 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 lags V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55590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Rounded Rectangle 24">
            <a:extLst>
              <a:ext uri="{FF2B5EF4-FFF2-40B4-BE49-F238E27FC236}">
                <a16:creationId xmlns:a16="http://schemas.microsoft.com/office/drawing/2014/main" id="{53D60169-FC07-D0BC-3582-7199B3BD6B35}"/>
              </a:ext>
            </a:extLst>
          </p:cNvPr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F4F1BD-31DA-EC33-593B-D9B4AEB65901}"/>
              </a:ext>
            </a:extLst>
          </p:cNvPr>
          <p:cNvSpPr txBox="1"/>
          <p:nvPr/>
        </p:nvSpPr>
        <p:spPr>
          <a:xfrm>
            <a:off x="2743200" y="5603308"/>
            <a:ext cx="667512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  <a:latin typeface="Aptos"/>
              </a:rPr>
              <a:t>ELI THE ICE MAN</a:t>
            </a:r>
            <a:endParaRPr sz="2400" b="1" i="0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2843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08 | CAPACITANCE + RLC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FREQUENCY 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Capacitive </a:t>
            </a:r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reactance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1828800"/>
            <a:ext cx="3276600" cy="282549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82296" cy="2825491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85800" y="2532172"/>
                <a:ext cx="2865120" cy="8094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532172"/>
                <a:ext cx="2865120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914400" y="3898379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Capacitive reactance magnitude in ohms.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44264" y="3478028"/>
            <a:ext cx="3276600" cy="1766314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696200" y="1828800"/>
            <a:ext cx="3276600" cy="3127248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96200" y="1828800"/>
            <a:ext cx="82296" cy="3008376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2743200" y="5695640"/>
                <a:ext cx="6675120" cy="221599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ctr"/>
                <a:r>
                  <a:rPr sz="1150" b="1" i="0" dirty="0">
                    <a:solidFill>
                      <a:srgbClr val="FFFFFF"/>
                    </a:solidFill>
                    <a:latin typeface="Aptos"/>
                  </a:rPr>
                  <a:t>LOW f: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50" b="1" i="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50" b="1" i="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150" b="1" i="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50" b="1" i="0" dirty="0">
                    <a:solidFill>
                      <a:srgbClr val="FFFFFF"/>
                    </a:solidFill>
                    <a:latin typeface="Aptos"/>
                  </a:rPr>
                  <a:t>  |  HIGH f: SMALL</a:t>
                </a:r>
                <a:r>
                  <a:rPr lang="ar-AE" sz="1150" b="1" dirty="0">
                    <a:solidFill>
                      <a:srgbClr val="FFFFFF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5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5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115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ar-AE" sz="1150" b="1" dirty="0">
                    <a:solidFill>
                      <a:srgbClr val="FFFFFF"/>
                    </a:solidFill>
                    <a:latin typeface="Aptos"/>
                  </a:rPr>
                  <a:t> </a:t>
                </a:r>
                <a:endParaRPr sz="1150" b="1" i="0" dirty="0">
                  <a:solidFill>
                    <a:srgbClr val="FFFFFF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695640"/>
                <a:ext cx="6675120" cy="221599"/>
              </a:xfrm>
              <a:prstGeom prst="rect">
                <a:avLst/>
              </a:prstGeom>
              <a:blipFill>
                <a:blip r:embed="rId4"/>
                <a:stretch>
                  <a:fillRect t="-16216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FD8E05AE-FD82-BF78-02A8-4B65AC3FE5C3}"/>
              </a:ext>
            </a:extLst>
          </p:cNvPr>
          <p:cNvSpPr txBox="1"/>
          <p:nvPr/>
        </p:nvSpPr>
        <p:spPr>
          <a:xfrm>
            <a:off x="7915656" y="1993392"/>
            <a:ext cx="286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INDUCTIVE REACTANCE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D901453-D9E3-2EB2-6C6F-47823B8BAC9B}"/>
                  </a:ext>
                </a:extLst>
              </p:cNvPr>
              <p:cNvSpPr txBox="1"/>
              <p:nvPr/>
            </p:nvSpPr>
            <p:spPr>
              <a:xfrm>
                <a:off x="7879080" y="2409550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r>
                        <m:rPr>
                          <m:sty m:val="p"/>
                        </m:rP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D901453-D9E3-2EB2-6C6F-47823B8B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080" y="2409550"/>
                <a:ext cx="286512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41DAA0-3D45-9CF4-809E-28703BC9D643}"/>
                  </a:ext>
                </a:extLst>
              </p:cNvPr>
              <p:cNvSpPr txBox="1"/>
              <p:nvPr/>
            </p:nvSpPr>
            <p:spPr>
              <a:xfrm>
                <a:off x="7879080" y="3353700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800" b="1" i="1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m:rPr>
                          <m:sty m:val="p"/>
                        </m:rP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41DAA0-3D45-9CF4-809E-28703BC9D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080" y="3353700"/>
                <a:ext cx="286512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435CEB9B-9FE5-BD69-3950-A984334C450D}"/>
              </a:ext>
            </a:extLst>
          </p:cNvPr>
          <p:cNvSpPr txBox="1"/>
          <p:nvPr/>
        </p:nvSpPr>
        <p:spPr>
          <a:xfrm>
            <a:off x="7915656" y="2988274"/>
            <a:ext cx="286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WHERE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1EEA07-B3B7-B528-471A-9B9AD2974726}"/>
                  </a:ext>
                </a:extLst>
              </p:cNvPr>
              <p:cNvSpPr txBox="1"/>
              <p:nvPr/>
            </p:nvSpPr>
            <p:spPr>
              <a:xfrm>
                <a:off x="4330700" y="3493653"/>
                <a:ext cx="2865120" cy="8094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fC</m:t>
                          </m:r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1EEA07-B3B7-B528-471A-9B9AD2974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0" y="3493653"/>
                <a:ext cx="2865120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B13D5D-AC5C-CF03-AC53-E63D5B0B049A}"/>
                  </a:ext>
                </a:extLst>
              </p:cNvPr>
              <p:cNvSpPr txBox="1"/>
              <p:nvPr/>
            </p:nvSpPr>
            <p:spPr>
              <a:xfrm>
                <a:off x="4328160" y="4573808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0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fL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B13D5D-AC5C-CF03-AC53-E63D5B0B0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160" y="4573808"/>
                <a:ext cx="2865120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3D176399-AAA3-DC6B-7FF1-954064052AB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011168" y="41216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C92E5-783D-A7EA-FC43-31CCDDDD6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A46280-E29D-D6B9-F3C0-FAD4260CC9C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FF901402-03EC-A5CE-8112-D1BF5BC4D591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79B1795-5B54-CC65-FB82-AB480A688624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EB8E430-9B2E-240E-7444-F65FFFCE9F0A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0994D02-74D7-D748-CFEE-CC20536E231F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90044FB-4C6C-2F76-249D-DAD5229A6FC7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12F5E95-93CC-8E2C-97BB-CDBF87C89513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34E03-C86B-7316-641F-8F7489E89371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7556F-5A9E-E4FE-2BEC-ACBDE02617F3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REACTANCE AND CURRENT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26DB5-4648-5C74-BB70-09E0140E828B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E</a:t>
            </a:r>
            <a:r>
              <a:rPr sz="2900" b="1" i="0" dirty="0">
                <a:solidFill>
                  <a:srgbClr val="17324D"/>
                </a:solidFill>
                <a:latin typeface="Aptos Display"/>
              </a:rPr>
              <a:t>xample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3603BEB1-C55A-23C9-6DE4-10DF2937CC05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162B25-B200-FCFD-B666-5E51961B4054}"/>
                  </a:ext>
                </a:extLst>
              </p:cNvPr>
              <p:cNvSpPr txBox="1"/>
              <p:nvPr/>
            </p:nvSpPr>
            <p:spPr>
              <a:xfrm>
                <a:off x="776747" y="1828512"/>
                <a:ext cx="169835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10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nF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162B25-B200-FCFD-B666-5E51961B4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1828512"/>
                <a:ext cx="169835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E1EF32-A197-6D7A-8253-4E25EDFEAE2D}"/>
                  </a:ext>
                </a:extLst>
              </p:cNvPr>
              <p:cNvSpPr txBox="1"/>
              <p:nvPr/>
            </p:nvSpPr>
            <p:spPr>
              <a:xfrm>
                <a:off x="818200" y="3895749"/>
                <a:ext cx="10757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E1EF32-A197-6D7A-8253-4E25EDFEA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3895749"/>
                <a:ext cx="10757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4E5097-17C8-B615-7302-D09596D653A8}"/>
                  </a:ext>
                </a:extLst>
              </p:cNvPr>
              <p:cNvSpPr txBox="1"/>
              <p:nvPr/>
            </p:nvSpPr>
            <p:spPr>
              <a:xfrm>
                <a:off x="776747" y="2268544"/>
                <a:ext cx="16117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2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4E5097-17C8-B615-7302-D09596D65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2268544"/>
                <a:ext cx="161178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E6C487E-4216-EA5E-5230-1B2EF339B51A}"/>
                  </a:ext>
                </a:extLst>
              </p:cNvPr>
              <p:cNvSpPr txBox="1"/>
              <p:nvPr/>
            </p:nvSpPr>
            <p:spPr>
              <a:xfrm>
                <a:off x="776747" y="2708576"/>
                <a:ext cx="18067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RMS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1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E6C487E-4216-EA5E-5230-1B2EF339B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2708576"/>
                <a:ext cx="180671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8EBCC7F-026A-D8B3-EEE1-A226F97F6DF0}"/>
                  </a:ext>
                </a:extLst>
              </p:cNvPr>
              <p:cNvSpPr txBox="1"/>
              <p:nvPr/>
            </p:nvSpPr>
            <p:spPr>
              <a:xfrm>
                <a:off x="818200" y="4390570"/>
                <a:ext cx="9770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8EBCC7F-026A-D8B3-EEE1-A226F97F6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4390570"/>
                <a:ext cx="977062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6BDC7787-76F2-5416-364A-0902F985248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630352" y="1036954"/>
            <a:ext cx="9639926" cy="486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18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CCEAB-5F24-A913-AA28-153AF6EC6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F97961-34FA-1CCF-28F0-8014D0FE6AC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6168DFD-115E-B914-AE28-9BB83970C1F3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D817117-E5F5-57F4-C058-50601541C0A0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17AB103-A641-330B-794E-EB938E49440B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F52B13F-D055-ED20-AFD1-853B8407A05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7A2DBA70-AE2B-27D1-D36D-F79008BD4000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145BB25-C44B-AA54-3A8A-1986FB9A25E1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5B9B9-9C58-DA5D-0A7D-45D2ECEFCACC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C399E-DA43-9592-D96D-72D6B7CCD79D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REACTANCE AND CURRENT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9956B-1B98-8100-8D77-25CFF5F3DB03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RC Circuit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7D26E09-5274-8825-CE73-8CC791AE92C2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214D61-CFF4-1E63-5EB9-48EBDCF6E756}"/>
                  </a:ext>
                </a:extLst>
              </p:cNvPr>
              <p:cNvSpPr txBox="1"/>
              <p:nvPr/>
            </p:nvSpPr>
            <p:spPr>
              <a:xfrm>
                <a:off x="776747" y="2152985"/>
                <a:ext cx="169835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10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nF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214D61-CFF4-1E63-5EB9-48EBDCF6E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2152985"/>
                <a:ext cx="169835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A72F2A-C1C5-D736-5D75-60078E469235}"/>
                  </a:ext>
                </a:extLst>
              </p:cNvPr>
              <p:cNvSpPr txBox="1"/>
              <p:nvPr/>
            </p:nvSpPr>
            <p:spPr>
              <a:xfrm>
                <a:off x="818200" y="3895749"/>
                <a:ext cx="10757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1A72F2A-C1C5-D736-5D75-60078E469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3895749"/>
                <a:ext cx="10757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E7ADB4-5364-DB34-0B9F-10A33C669FF1}"/>
                  </a:ext>
                </a:extLst>
              </p:cNvPr>
              <p:cNvSpPr txBox="1"/>
              <p:nvPr/>
            </p:nvSpPr>
            <p:spPr>
              <a:xfrm>
                <a:off x="776747" y="2652457"/>
                <a:ext cx="16117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2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E7ADB4-5364-DB34-0B9F-10A33C669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2652457"/>
                <a:ext cx="161178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A0BE01-56A0-2060-6828-7C971B4248F1}"/>
                  </a:ext>
                </a:extLst>
              </p:cNvPr>
              <p:cNvSpPr txBox="1"/>
              <p:nvPr/>
            </p:nvSpPr>
            <p:spPr>
              <a:xfrm>
                <a:off x="776747" y="3092489"/>
                <a:ext cx="182819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1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∠0°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A0BE01-56A0-2060-6828-7C971B424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3092489"/>
                <a:ext cx="182819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4442F1-DE1F-3796-E243-B1E5F6AFA2FE}"/>
                  </a:ext>
                </a:extLst>
              </p:cNvPr>
              <p:cNvSpPr txBox="1"/>
              <p:nvPr/>
            </p:nvSpPr>
            <p:spPr>
              <a:xfrm>
                <a:off x="818200" y="4390570"/>
                <a:ext cx="8724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4442F1-DE1F-3796-E243-B1E5F6AFA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4390570"/>
                <a:ext cx="87241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04B6DD-B35C-440F-5541-CB91916EC018}"/>
                  </a:ext>
                </a:extLst>
              </p:cNvPr>
              <p:cNvSpPr txBox="1"/>
              <p:nvPr/>
            </p:nvSpPr>
            <p:spPr>
              <a:xfrm>
                <a:off x="776747" y="1722098"/>
                <a:ext cx="15588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kΩ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04B6DD-B35C-440F-5541-CB91916EC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1722098"/>
                <a:ext cx="155888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5C9C17-AAAC-293F-F61D-877C33A90E93}"/>
                  </a:ext>
                </a:extLst>
              </p:cNvPr>
              <p:cNvSpPr txBox="1"/>
              <p:nvPr/>
            </p:nvSpPr>
            <p:spPr>
              <a:xfrm>
                <a:off x="818200" y="4876681"/>
                <a:ext cx="9770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5C9C17-AAAC-293F-F61D-877C33A90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4876681"/>
                <a:ext cx="97706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82C2DAD3-824D-5C28-62D6-E42553367FB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217095" y="1313525"/>
            <a:ext cx="8550677" cy="431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5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578F9431-BAFF-4A1C-7EFC-CFB619C441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58081" y="1133856"/>
            <a:ext cx="5349240" cy="534924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08 | CAPACITANCE + RLC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SERIES RLC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Impedance combines resistance and net reactance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1828800"/>
            <a:ext cx="3276600" cy="342900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82296" cy="3429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768096" y="2153299"/>
                <a:ext cx="286512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2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2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2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sz="22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2153299"/>
                <a:ext cx="2865120" cy="338554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891540" y="2959756"/>
                <a:ext cx="2865120" cy="45743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4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sz="24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4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sz="24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" y="2959756"/>
                <a:ext cx="2865120" cy="457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868680" y="4618720"/>
                <a:ext cx="28651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400" b="1" i="0" dirty="0" err="1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IZ</m:t>
                      </m:r>
                    </m:oMath>
                  </m:oMathPara>
                </a14:m>
                <a:endParaRPr sz="24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4618720"/>
                <a:ext cx="2865120" cy="369332"/>
              </a:xfrm>
              <a:prstGeom prst="rect">
                <a:avLst/>
              </a:prstGeom>
              <a:blipFill>
                <a:blip r:embed="rId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/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5596128"/>
            <a:ext cx="66751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REACTANCES OPPOSE EACH OTHER; RESISTANCE DOES NOT CANCEL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C9F29B-2DE8-1D36-BE09-4C72BC4CEB4E}"/>
                  </a:ext>
                </a:extLst>
              </p:cNvPr>
              <p:cNvSpPr txBox="1"/>
              <p:nvPr/>
            </p:nvSpPr>
            <p:spPr>
              <a:xfrm>
                <a:off x="891540" y="3636165"/>
                <a:ext cx="2865120" cy="622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𝛉</m:t>
                      </m:r>
                      <m:r>
                        <a:rPr lang="en-US" sz="1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e>
                        <m:sup>
                          <m:r>
                            <a:rPr lang="en-US" sz="1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-1</m:t>
                          </m:r>
                        </m:sup>
                      </m:sSup>
                      <m:d>
                        <m:dPr>
                          <m:ctrlPr>
                            <a:rPr lang="en-US" sz="1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8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8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1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C9F29B-2DE8-1D36-BE09-4C72BC4CE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" y="3636165"/>
                <a:ext cx="2865120" cy="6223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F004F-922D-D650-3853-8761185CF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B890DD-9E8C-E8B1-04D1-60771E9E130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02F32640-A226-8778-993B-91A4ADD28F80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9875B15-F1F2-A8F0-86D9-1F4CB479AB1E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291E27F-F605-84DB-AD9A-891C609445C9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9611F3C-C3E0-C7E8-CCB4-2266D6CAABFB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8DCFB964-DFF9-5D93-348B-FFDA4EFF13CF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330B596-7854-1F6E-53D0-FAC94B9AE6BF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543AC5-8BFD-DEA7-C664-B4CECA658B41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74A357-4FDF-2EE4-0795-826C2E192051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INDUCTANCE AND CURRENT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8915FA-E795-39E8-A10D-BD553EF15333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E</a:t>
            </a:r>
            <a:r>
              <a:rPr sz="2900" b="1" i="0" dirty="0">
                <a:solidFill>
                  <a:srgbClr val="17324D"/>
                </a:solidFill>
                <a:latin typeface="Aptos Display"/>
              </a:rPr>
              <a:t>xample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63E0E5F-0101-A7F1-BBE9-DE87A064780A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74E538-FD46-D88E-D564-412238416F1F}"/>
                  </a:ext>
                </a:extLst>
              </p:cNvPr>
              <p:cNvSpPr txBox="1"/>
              <p:nvPr/>
            </p:nvSpPr>
            <p:spPr>
              <a:xfrm>
                <a:off x="776747" y="2441856"/>
                <a:ext cx="169835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10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nF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74E538-FD46-D88E-D564-412238416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2441856"/>
                <a:ext cx="169835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8BC0A6-9274-EF16-1EB5-6170929EC1D6}"/>
                  </a:ext>
                </a:extLst>
              </p:cNvPr>
              <p:cNvSpPr txBox="1"/>
              <p:nvPr/>
            </p:nvSpPr>
            <p:spPr>
              <a:xfrm>
                <a:off x="818200" y="3895749"/>
                <a:ext cx="8852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8BC0A6-9274-EF16-1EB5-6170929EC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3895749"/>
                <a:ext cx="88524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F4DBE-DF17-F704-9A41-8DA9BC24FE77}"/>
                  </a:ext>
                </a:extLst>
              </p:cNvPr>
              <p:cNvSpPr txBox="1"/>
              <p:nvPr/>
            </p:nvSpPr>
            <p:spPr>
              <a:xfrm>
                <a:off x="776747" y="2936677"/>
                <a:ext cx="16117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2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F4DBE-DF17-F704-9A41-8DA9BC24F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2936677"/>
                <a:ext cx="161178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3B07E6D-46E3-4FB7-DF7E-79414249C7D4}"/>
                  </a:ext>
                </a:extLst>
              </p:cNvPr>
              <p:cNvSpPr txBox="1"/>
              <p:nvPr/>
            </p:nvSpPr>
            <p:spPr>
              <a:xfrm>
                <a:off x="776747" y="3376709"/>
                <a:ext cx="182819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1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∠0°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3B07E6D-46E3-4FB7-DF7E-79414249C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3376709"/>
                <a:ext cx="182819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15F8971-0822-2BBC-8001-F59A6230E0E5}"/>
                  </a:ext>
                </a:extLst>
              </p:cNvPr>
              <p:cNvSpPr txBox="1"/>
              <p:nvPr/>
            </p:nvSpPr>
            <p:spPr>
              <a:xfrm>
                <a:off x="818200" y="4390570"/>
                <a:ext cx="8724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15F8971-0822-2BBC-8001-F59A6230E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4390570"/>
                <a:ext cx="87241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E61DF2-EE31-D262-D084-E68489A84D39}"/>
                  </a:ext>
                </a:extLst>
              </p:cNvPr>
              <p:cNvSpPr txBox="1"/>
              <p:nvPr/>
            </p:nvSpPr>
            <p:spPr>
              <a:xfrm>
                <a:off x="782351" y="1679753"/>
                <a:ext cx="15588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5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kΩ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E61DF2-EE31-D262-D084-E68489A84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51" y="1679753"/>
                <a:ext cx="155888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CB29BE-36A3-DF25-7496-F863A4D29DBD}"/>
                  </a:ext>
                </a:extLst>
              </p:cNvPr>
              <p:cNvSpPr txBox="1"/>
              <p:nvPr/>
            </p:nvSpPr>
            <p:spPr>
              <a:xfrm>
                <a:off x="818200" y="4876681"/>
                <a:ext cx="14018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CB29BE-36A3-DF25-7496-F863A4D29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4876681"/>
                <a:ext cx="1401858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92074D-EE57-11FE-A089-1418514A9ABE}"/>
                  </a:ext>
                </a:extLst>
              </p:cNvPr>
              <p:cNvSpPr txBox="1"/>
              <p:nvPr/>
            </p:nvSpPr>
            <p:spPr>
              <a:xfrm>
                <a:off x="782351" y="2034701"/>
                <a:ext cx="18410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mH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92074D-EE57-11FE-A089-1418514A9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51" y="2034701"/>
                <a:ext cx="1841017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012D3CAB-4326-B118-9DB2-D16579CEA4C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2958998" y="1285152"/>
            <a:ext cx="9104747" cy="459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12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08 | CAPACITANCE + RLC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WORKED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Frequency changes the same RLC circuit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768987"/>
              </p:ext>
            </p:extLst>
          </p:nvPr>
        </p:nvGraphicFramePr>
        <p:xfrm>
          <a:off x="658368" y="1737359"/>
          <a:ext cx="5029200" cy="409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26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Frequency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X_L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X_C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Net behavior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|Z|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67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182028"/>
                          </a:solidFill>
                          <a:latin typeface="Aptos"/>
                        </a:rPr>
                        <a:t>2</a:t>
                      </a:r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.00 kHz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182028"/>
                          </a:solidFill>
                          <a:latin typeface="Aptos"/>
                        </a:rPr>
                        <a:t>127</a:t>
                      </a:r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 </a:t>
                      </a:r>
                      <a:r>
                        <a:rPr lang="en-US" sz="1400" dirty="0"/>
                        <a:t>Ω 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182028"/>
                          </a:solidFill>
                          <a:latin typeface="Aptos"/>
                        </a:rPr>
                        <a:t>7.96</a:t>
                      </a:r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 </a:t>
                      </a:r>
                      <a:r>
                        <a:rPr sz="1300" dirty="0" err="1">
                          <a:solidFill>
                            <a:srgbClr val="182028"/>
                          </a:solidFill>
                          <a:latin typeface="Aptos"/>
                        </a:rPr>
                        <a:t>k</a:t>
                      </a:r>
                      <a:r>
                        <a:rPr lang="en-US" sz="1400" dirty="0" err="1"/>
                        <a:t>Ω</a:t>
                      </a:r>
                      <a:r>
                        <a:rPr lang="en-US" sz="1400" dirty="0"/>
                        <a:t> 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Capacitive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182028"/>
                          </a:solidFill>
                          <a:latin typeface="Aptos"/>
                        </a:rPr>
                        <a:t>9.294</a:t>
                      </a:r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 </a:t>
                      </a:r>
                      <a:r>
                        <a:rPr sz="1300" dirty="0" err="1">
                          <a:solidFill>
                            <a:srgbClr val="182028"/>
                          </a:solidFill>
                          <a:latin typeface="Aptos"/>
                        </a:rPr>
                        <a:t>k</a:t>
                      </a:r>
                      <a:r>
                        <a:rPr lang="en-US" sz="1400" dirty="0" err="1"/>
                        <a:t>Ω</a:t>
                      </a:r>
                      <a:r>
                        <a:rPr lang="en-US" sz="1400" dirty="0"/>
                        <a:t> 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67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15.9 kHz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999 </a:t>
                      </a:r>
                      <a:r>
                        <a:rPr lang="en-US" sz="1400" dirty="0"/>
                        <a:t>Ω 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1.00 </a:t>
                      </a:r>
                      <a:r>
                        <a:rPr sz="1300" dirty="0" err="1">
                          <a:solidFill>
                            <a:srgbClr val="182028"/>
                          </a:solidFill>
                          <a:latin typeface="Aptos"/>
                        </a:rPr>
                        <a:t>k</a:t>
                      </a:r>
                      <a:r>
                        <a:rPr lang="en-US" sz="1400" dirty="0" err="1"/>
                        <a:t>Ω</a:t>
                      </a:r>
                      <a:r>
                        <a:rPr lang="en-US" sz="1400" dirty="0"/>
                        <a:t> 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Near balance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182028"/>
                          </a:solidFill>
                          <a:latin typeface="Aptos"/>
                        </a:rPr>
                        <a:t>5k</a:t>
                      </a:r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 </a:t>
                      </a:r>
                      <a:r>
                        <a:rPr lang="en-US" sz="1400" dirty="0"/>
                        <a:t>Ω 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67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182028"/>
                          </a:solidFill>
                          <a:latin typeface="Aptos"/>
                        </a:rPr>
                        <a:t>5</a:t>
                      </a:r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0.0 kHz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182028"/>
                          </a:solidFill>
                          <a:latin typeface="Aptos"/>
                        </a:rPr>
                        <a:t>3.142 </a:t>
                      </a:r>
                      <a:r>
                        <a:rPr sz="1300" dirty="0" err="1">
                          <a:solidFill>
                            <a:srgbClr val="182028"/>
                          </a:solidFill>
                          <a:latin typeface="Aptos"/>
                        </a:rPr>
                        <a:t>k</a:t>
                      </a:r>
                      <a:r>
                        <a:rPr lang="en-US" sz="1400" dirty="0" err="1"/>
                        <a:t>Ω</a:t>
                      </a:r>
                      <a:r>
                        <a:rPr lang="en-US" sz="1400" dirty="0"/>
                        <a:t> 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3</a:t>
                      </a:r>
                      <a:r>
                        <a:rPr lang="en-US" sz="1300" dirty="0">
                          <a:solidFill>
                            <a:srgbClr val="182028"/>
                          </a:solidFill>
                          <a:latin typeface="Aptos"/>
                        </a:rPr>
                        <a:t>18</a:t>
                      </a:r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 </a:t>
                      </a:r>
                      <a:r>
                        <a:rPr lang="en-US" sz="1400" dirty="0"/>
                        <a:t>Ω 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Inductive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182028"/>
                          </a:solidFill>
                          <a:latin typeface="Aptos"/>
                        </a:rPr>
                        <a:t>5.742 </a:t>
                      </a:r>
                      <a:r>
                        <a:rPr sz="1300" dirty="0" err="1">
                          <a:solidFill>
                            <a:srgbClr val="182028"/>
                          </a:solidFill>
                          <a:latin typeface="Aptos"/>
                        </a:rPr>
                        <a:t>k</a:t>
                      </a:r>
                      <a:r>
                        <a:rPr lang="en-US" sz="1400" dirty="0" err="1"/>
                        <a:t>Ω</a:t>
                      </a:r>
                      <a:r>
                        <a:rPr lang="en-US" sz="1400" dirty="0"/>
                        <a:t> </a:t>
                      </a:r>
                      <a:endParaRPr sz="13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E7C676F7-91BA-1925-CA95-043605AAB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23251" y="2122534"/>
            <a:ext cx="6808458" cy="34370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08 | CAPACITANCE + RLC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MODEL BEFORE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68680" y="2075795"/>
                <a:ext cx="10469880" cy="92333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3000" b="1" i="0" dirty="0">
                    <a:solidFill>
                      <a:srgbClr val="17324D"/>
                    </a:solidFill>
                    <a:latin typeface="Aptos Display"/>
                  </a:rPr>
                  <a:t>As frequency rises,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0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0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b="1" i="0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sz="3000" b="1" i="0" dirty="0">
                    <a:solidFill>
                      <a:srgbClr val="17324D"/>
                    </a:solidFill>
                    <a:latin typeface="Aptos Display"/>
                  </a:rPr>
                  <a:t> rises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0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0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b="1" i="0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3000" b="1" i="0" dirty="0">
                    <a:solidFill>
                      <a:srgbClr val="17324D"/>
                    </a:solidFill>
                    <a:latin typeface="Aptos Display"/>
                  </a:rPr>
                  <a:t> falls. What must happen somewhere between?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075795"/>
                <a:ext cx="10469880" cy="923330"/>
              </a:xfrm>
              <a:prstGeom prst="rect">
                <a:avLst/>
              </a:prstGeom>
              <a:blipFill>
                <a:blip r:embed="rId3"/>
                <a:stretch>
                  <a:fillRect t="-12583" b="-25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828800" y="352044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5F6B73"/>
                </a:solidFill>
                <a:latin typeface="Aptos"/>
              </a:rPr>
              <a:t>Predict what happens to series current and resistor voltage when the </a:t>
            </a:r>
            <a:r>
              <a:rPr sz="1800" b="0" i="0" dirty="0" err="1">
                <a:solidFill>
                  <a:srgbClr val="5F6B73"/>
                </a:solidFill>
                <a:latin typeface="Aptos"/>
              </a:rPr>
              <a:t>reactances</a:t>
            </a:r>
            <a:r>
              <a:rPr sz="1800" b="0" i="0" dirty="0">
                <a:solidFill>
                  <a:srgbClr val="5F6B73"/>
                </a:solidFill>
                <a:latin typeface="Aptos"/>
              </a:rPr>
              <a:t> 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RESONANCE + FILTERING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227</TotalTime>
  <Words>661</Words>
  <Application>Microsoft Office PowerPoint</Application>
  <PresentationFormat>Widescreen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3</cp:revision>
  <dcterms:created xsi:type="dcterms:W3CDTF">2013-01-27T09:14:16Z</dcterms:created>
  <dcterms:modified xsi:type="dcterms:W3CDTF">2026-09-21T16:31:12Z</dcterms:modified>
  <cp:category/>
</cp:coreProperties>
</file>