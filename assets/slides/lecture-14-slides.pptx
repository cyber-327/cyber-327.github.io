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6" r:id="rId3"/>
    <p:sldId id="267" r:id="rId4"/>
    <p:sldId id="268" r:id="rId5"/>
    <p:sldId id="269" r:id="rId6"/>
    <p:sldId id="257" r:id="rId7"/>
    <p:sldId id="259" r:id="rId8"/>
    <p:sldId id="260" r:id="rId9"/>
    <p:sldId id="271" r:id="rId10"/>
    <p:sldId id="272" r:id="rId11"/>
    <p:sldId id="273" r:id="rId12"/>
    <p:sldId id="264" r:id="rId13"/>
    <p:sldId id="27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1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7266" autoAdjust="0"/>
  </p:normalViewPr>
  <p:slideViewPr>
    <p:cSldViewPr snapToGrid="0" snapToObjects="1">
      <p:cViewPr>
        <p:scale>
          <a:sx n="66" d="100"/>
          <a:sy n="66" d="100"/>
        </p:scale>
        <p:origin x="2196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21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 with the distinction or case in Slide 2. Preserve the communications model before adding the cybersecurity application. At the carrier and sidebands near 96 and 104 kHz; ideal AM bandwidth is 8 kHz.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78873-5D65-85E5-4B12-35145847D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02BDDA-40A7-2BD2-BCD2-1E79202662A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D9BDBA-CF86-B10D-25C5-CE188D1CA8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06EEC-DF29-07A8-A592-BDD3D49B7B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68258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8CD10-ECFE-EA69-1707-F72DF738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A41C1-054D-31B0-8F05-EF338B84B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31397-B35A-4574-BF7D-B6FDD5BC14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748B7-17D2-0C69-88A7-4C76DEEFB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85724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4A84B-CADE-3771-878A-91F0D5580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153D29-1BAF-AC98-B2F9-A99EB7D9D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0FF2D-59FB-6FE3-654D-D2BEE5440C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F77EAF-452E-ACC8-81F0-E4184D283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644229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0B20-D63F-AB74-9C1D-035D0A698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2BD63F-438A-A13E-32D4-09AAF828FE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49CD46-B1B6-CEF1-BC08-A63FB1497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8E3305-4F41-565E-2BFC-5F6BA0DDE7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122155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We have a carrier and two sidebands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Require students to use each term in a sentence that names a signal, channel, instrument, or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1 MHz Carrier</a:t>
            </a:r>
          </a:p>
          <a:p>
            <a:r>
              <a:rPr lang="en-US" dirty="0"/>
              <a:t>200Hz to 3kHz intelligence</a:t>
            </a:r>
          </a:p>
          <a:p>
            <a:endParaRPr lang="en-US" dirty="0"/>
          </a:p>
          <a:p>
            <a:r>
              <a:rPr lang="en-US" dirty="0"/>
              <a:t>What’s the bandwidth?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77C94-C9B0-923A-BA9D-92C58F223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CB1452-C1C3-E09A-8F8D-C30868D1A2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0CB92D-3BC4-1FBA-CFD2-2778F7ED0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m=1</a:t>
            </a:r>
          </a:p>
          <a:p>
            <a:r>
              <a:rPr lang="en-US" dirty="0"/>
              <a:t>The efficiency equation is</a:t>
            </a:r>
          </a:p>
          <a:p>
            <a:r>
              <a:rPr lang="en-US" dirty="0"/>
              <a:t>\eta=\frac{\mu^2}{2+\mu^2}</a:t>
            </a:r>
          </a:p>
          <a:p>
            <a:r>
              <a:rPr lang="en-US" dirty="0"/>
              <a:t>so at mu=1</a:t>
            </a:r>
          </a:p>
          <a:p>
            <a:r>
              <a:rPr lang="en-US" dirty="0"/>
              <a:t>eta_{\max}=\frac{1}{2+1} =1/3</a:t>
            </a:r>
          </a:p>
          <a:p>
            <a:r>
              <a:rPr lang="en-US" dirty="0"/>
              <a:t>eta_{\max}=33.3\%}</a:t>
            </a:r>
          </a:p>
          <a:p>
            <a:r>
              <a:rPr lang="en-US" dirty="0"/>
              <a:t>So:</a:t>
            </a:r>
          </a:p>
          <a:p>
            <a:r>
              <a:rPr lang="en-US" dirty="0"/>
              <a:t>mu_{\max}=1 \eta_{\max}=33.3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If you increase M, you increase the power of the sidebands, carrier stays the same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518D5-38D7-EC15-6301-F4B2A11134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191623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9FCEA-09B4-C246-028B-6413C1BFA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DE6A53-DCF9-8873-30A0-D9ABDB73C3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0E663-ABDA-AD3E-5495-75FE3DB97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182028"/>
                </a:solidFill>
                <a:latin typeface="+mn-lt"/>
              </a:rPr>
              <a:t>A 100 kHz carrier is amplitude-modulated by a 4 kHz tone. Where should spectral energy appear?</a:t>
            </a:r>
          </a:p>
          <a:p>
            <a:endParaRPr lang="en-US" dirty="0"/>
          </a:p>
          <a:p>
            <a:r>
              <a:rPr dirty="0"/>
              <a:t>At the carrier and sidebands near 96 and 104 kHz; ideal AM bandwidth is 8 kHz.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745F6-CA18-A7F6-7EB8-087DB23A26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798381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CBCD3-044F-6271-1DFB-773D0F5B0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CEE16-2B90-901C-0989-14138A28F1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0F99DD-54FA-40EA-2B13-ECE190A8DE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182028"/>
                </a:solidFill>
                <a:latin typeface="+mn-lt"/>
              </a:rPr>
              <a:t>A 100 kHz carrier is amplitude-modulated by a 4 kHz tone. Where should spectral energy appear?</a:t>
            </a:r>
          </a:p>
          <a:p>
            <a:endParaRPr lang="en-US" dirty="0"/>
          </a:p>
          <a:p>
            <a:r>
              <a:rPr dirty="0"/>
              <a:t>At the carrier and sidebands near 96 and 104 kHz; ideal AM bandwidth is 8 kHz.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AC6CB-E3AD-FD6D-8123-E3F094D09E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3926526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dirty="0">
                <a:solidFill>
                  <a:srgbClr val="182028"/>
                </a:solidFill>
                <a:latin typeface="+mn-lt"/>
              </a:rPr>
              <a:t>A 100 kHz carrier is amplitude-modulated by a 4 kHz tone. Where should spectral energy appear?</a:t>
            </a:r>
          </a:p>
          <a:p>
            <a:endParaRPr lang="en-US" dirty="0"/>
          </a:p>
          <a:p>
            <a:r>
              <a:rPr dirty="0"/>
              <a:t>At the carrier and sidebands near 96 and 104 kHz; ideal AM bandwidth is 8 kHz.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42C4B-7A6A-F3FF-884B-E8E47B6BC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00CCAE-B594-0155-16F0-60DC696C3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76E63D1-6F0F-9F5F-2B40-6C054AA907F2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 err="1"/>
                  <a:t>Fusb</a:t>
                </a:r>
                <a:r>
                  <a:rPr lang="en-US" dirty="0"/>
                  <a:t> = 800 + 5 = 805kHz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 err="1"/>
                  <a:t>Flsb</a:t>
                </a:r>
                <a:r>
                  <a:rPr lang="en-US" dirty="0"/>
                  <a:t> = 800 – 5 = 795 kHz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𝐵𝑊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=2</m:t>
                      </m:r>
                      <m:d>
                        <m:d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d>
                      <m:r>
                        <a:rPr lang="en-US" i="0" dirty="0">
                          <a:latin typeface="Cambria Math" panose="02040503050406030204" pitchFamily="18" charset="0"/>
                        </a:rPr>
                        <m:t>=</m:t>
                      </m:r>
                      <m:borderBox>
                        <m:borderBoxPr>
                          <m:ctrlPr>
                            <a:rPr lang="en-US" i="0" dirty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US" i="0" dirty="0">
                              <a:latin typeface="Cambria Math" panose="02040503050406030204" pitchFamily="18" charset="0"/>
                            </a:rPr>
                            <m:t>12</m:t>
                          </m:r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 kHz</m:t>
                          </m:r>
                        </m:e>
                      </m:borderBox>
                    </m:oMath>
                  </m:oMathPara>
                </a14:m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3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9−3</m:t>
                        </m:r>
                      </m:num>
                      <m:den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9+3</m:t>
                        </m:r>
                      </m:den>
                    </m:f>
                  </m:oMath>
                </a14:m>
                <a:r>
                  <a:rPr lang="en-US" dirty="0"/>
                  <a:t>=0.5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0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1005+995</m:t>
                        </m:r>
                      </m:num>
                      <m:den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=1000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fm</m:t>
                      </m:r>
                      <m:r>
                        <a:rPr lang="en-US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0" dirty="0">
                          <a:latin typeface="Cambria Math" panose="02040503050406030204" pitchFamily="18" charset="0"/>
                        </a:rPr>
                        <m:t>1005−1000</m:t>
                      </m:r>
                      <m:r>
                        <a:rPr lang="en-US" b="0" i="0" dirty="0" smtClean="0">
                          <a:latin typeface="Cambria Math" panose="02040503050406030204" pitchFamily="18" charset="0"/>
                        </a:rPr>
                        <m:t>=5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k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76E63D1-6F0F-9F5F-2B40-6C054AA907F2}"/>
                  </a:ext>
                </a:extLst>
              </p:cNvPr>
              <p:cNvSpPr>
                <a:spLocks noGrp="1"/>
              </p:cNvSpPr>
              <p:nvPr>
                <p:ph type="body" sz="quarter" idx="3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1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 err="1"/>
                  <a:t>Fusb</a:t>
                </a:r>
                <a:r>
                  <a:rPr lang="en-US" dirty="0"/>
                  <a:t> = 800 + 5 = 805kHz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 err="1"/>
                  <a:t>Flsb</a:t>
                </a:r>
                <a:r>
                  <a:rPr lang="en-US" dirty="0"/>
                  <a:t> = 800 – 5 = 795 kHz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2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0" dirty="0">
                    <a:latin typeface="Cambria Math" panose="02040503050406030204" pitchFamily="18" charset="0"/>
                  </a:rPr>
                  <a:t>𝐵𝑊=2(6)=▭(12" kHz" )</a:t>
                </a: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3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0" dirty="0">
                    <a:latin typeface="Cambria Math" panose="02040503050406030204" pitchFamily="18" charset="0"/>
                  </a:rPr>
                  <a:t>𝑚=(9−3)/(9+3)</a:t>
                </a:r>
                <a:r>
                  <a:rPr lang="en-US" dirty="0"/>
                  <a:t>=0.5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4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US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6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0" dirty="0">
                    <a:latin typeface="Cambria Math" panose="02040503050406030204" pitchFamily="18" charset="0"/>
                  </a:rPr>
                  <a:t>𝑓_𝑐=(1005+995)/2</a:t>
                </a:r>
                <a:r>
                  <a:rPr lang="en-US" dirty="0"/>
                  <a:t>=1000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b="0" i="0" dirty="0">
                    <a:latin typeface="Cambria Math" panose="02040503050406030204" pitchFamily="18" charset="0"/>
                  </a:rPr>
                  <a:t>fm</a:t>
                </a:r>
                <a:r>
                  <a:rPr lang="en-US" i="0" dirty="0">
                    <a:latin typeface="Cambria Math" panose="02040503050406030204" pitchFamily="18" charset="0"/>
                  </a:rPr>
                  <a:t>=1005−1000</a:t>
                </a:r>
                <a:r>
                  <a:rPr lang="en-US" b="0" i="0" dirty="0">
                    <a:latin typeface="Cambria Math" panose="02040503050406030204" pitchFamily="18" charset="0"/>
                  </a:rPr>
                  <a:t>=5k</a:t>
                </a:r>
                <a:endParaRPr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444F1E-8EE9-BA0B-A572-8FC7FBCF3E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481653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Yes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32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jpg"/><Relationship Id="rId4" Type="http://schemas.openxmlformats.org/officeDocument/2006/relationships/image" Target="../media/image3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9EB0BC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EB0BC"/>
                </a:solidFill>
                <a:latin typeface="Apto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65836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62C6C8"/>
                </a:solidFill>
                <a:latin typeface="Aptos"/>
              </a:rPr>
              <a:t>CYBER 327  /  LECTURE 14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1152144"/>
            <a:ext cx="1371600" cy="0"/>
          </a:xfrm>
          <a:prstGeom prst="line">
            <a:avLst/>
          </a:prstGeom>
          <a:ln w="508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13232" y="1481328"/>
            <a:ext cx="996696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dirty="0">
                <a:solidFill>
                  <a:srgbClr val="FFFFFF"/>
                </a:solidFill>
                <a:latin typeface="Aptos Display"/>
              </a:rPr>
              <a:t>Amplitude Modulatio</a:t>
            </a:r>
            <a:r>
              <a:rPr lang="en-US" sz="4000" b="1" i="0" dirty="0">
                <a:solidFill>
                  <a:srgbClr val="FFFFFF"/>
                </a:solidFill>
                <a:latin typeface="Aptos Display"/>
              </a:rPr>
              <a:t>n</a:t>
            </a:r>
            <a:endParaRPr sz="4000" b="1" i="0" dirty="0">
              <a:solidFill>
                <a:srgbClr val="FFFFFF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3182112"/>
            <a:ext cx="8961120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900" b="0" i="0" dirty="0">
                <a:solidFill>
                  <a:srgbClr val="D6E1E7"/>
                </a:solidFill>
                <a:latin typeface="Aptos"/>
              </a:rPr>
              <a:t>How messages reshape the carrier</a:t>
            </a:r>
            <a:endParaRPr sz="1900" b="0" i="0" dirty="0">
              <a:solidFill>
                <a:srgbClr val="D6E1E7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5230368"/>
            <a:ext cx="196596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5230368"/>
            <a:ext cx="196596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MONDAY, OCTOBER 5, 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6" y="5230368"/>
            <a:ext cx="2377440" cy="420624"/>
          </a:xfrm>
          <a:prstGeom prst="roundRect">
            <a:avLst/>
          </a:prstGeom>
          <a:solidFill>
            <a:srgbClr val="D96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" name="Connector 11"/>
          <p:cNvCxnSpPr/>
          <p:nvPr/>
        </p:nvCxnSpPr>
        <p:spPr>
          <a:xfrm>
            <a:off x="7086600" y="4574286"/>
            <a:ext cx="346710" cy="22082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433310" y="4679899"/>
            <a:ext cx="346710" cy="115214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80020" y="4679899"/>
            <a:ext cx="346710" cy="566471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8126730" y="4929530"/>
            <a:ext cx="346710" cy="31684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473440" y="4929530"/>
            <a:ext cx="346710" cy="48006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820150" y="4766310"/>
            <a:ext cx="346710" cy="643280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166860" y="4766310"/>
            <a:ext cx="346710" cy="31683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9513570" y="4641494"/>
            <a:ext cx="346710" cy="44165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60280" y="4641494"/>
            <a:ext cx="346710" cy="518465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06990" y="4871923"/>
            <a:ext cx="346710" cy="288036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553700" y="4871923"/>
            <a:ext cx="346710" cy="460857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0900410" y="4699101"/>
            <a:ext cx="346710" cy="633679"/>
          </a:xfrm>
          <a:prstGeom prst="line">
            <a:avLst/>
          </a:prstGeom>
          <a:ln w="27940">
            <a:solidFill>
              <a:srgbClr val="62C6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59E624-8B5F-8005-32A0-8B64E9ADC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898BDE-F995-DCEA-EDE7-51336916D502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11B2A4FD-B1DB-D241-6282-B2E300BA81C0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1A2ABBA9-4DF7-CF5D-11E7-61D001DE753C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33F4EF43-3756-736B-7A70-A0B89D29E271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73651FC-38FF-DFB4-AE35-8A5C1FF80A1B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DF11B9C-7770-2C46-418A-CF47FE3107D4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4020279-F9A9-3AA5-1DD1-FEC55892883A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C32160-7DBD-2B7E-A868-8F8DB51542D1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C39BFA-2B9D-9465-4892-3DCCE6DB39A3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CONCEPT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074D1-DC5B-79A0-AC7B-BC399D151213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Recap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7EB09D97-111C-D4AC-2B5A-35D09AF9042D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2">
            <a:extLst>
              <a:ext uri="{FF2B5EF4-FFF2-40B4-BE49-F238E27FC236}">
                <a16:creationId xmlns:a16="http://schemas.microsoft.com/office/drawing/2014/main" id="{59B42741-6930-8B80-F720-E3B4B8359D98}"/>
              </a:ext>
            </a:extLst>
          </p:cNvPr>
          <p:cNvSpPr/>
          <p:nvPr/>
        </p:nvSpPr>
        <p:spPr>
          <a:xfrm>
            <a:off x="271892" y="1969173"/>
            <a:ext cx="1865376" cy="566926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B0DAC7-80BB-8310-E35E-F438C78DAA0D}"/>
              </a:ext>
            </a:extLst>
          </p:cNvPr>
          <p:cNvSpPr txBox="1"/>
          <p:nvPr/>
        </p:nvSpPr>
        <p:spPr>
          <a:xfrm>
            <a:off x="271892" y="2128756"/>
            <a:ext cx="18653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Message</a:t>
            </a:r>
          </a:p>
        </p:txBody>
      </p:sp>
      <p:sp>
        <p:nvSpPr>
          <p:cNvPr id="18" name="Chevron 14">
            <a:extLst>
              <a:ext uri="{FF2B5EF4-FFF2-40B4-BE49-F238E27FC236}">
                <a16:creationId xmlns:a16="http://schemas.microsoft.com/office/drawing/2014/main" id="{E5DBC7A4-0437-CACB-EB8D-1A604FDF9473}"/>
              </a:ext>
            </a:extLst>
          </p:cNvPr>
          <p:cNvSpPr/>
          <p:nvPr/>
        </p:nvSpPr>
        <p:spPr>
          <a:xfrm>
            <a:off x="2261036" y="2171036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5">
            <a:extLst>
              <a:ext uri="{FF2B5EF4-FFF2-40B4-BE49-F238E27FC236}">
                <a16:creationId xmlns:a16="http://schemas.microsoft.com/office/drawing/2014/main" id="{FF0E2ACD-6C34-2DFF-C2A9-4CD6E221B8AB}"/>
              </a:ext>
            </a:extLst>
          </p:cNvPr>
          <p:cNvSpPr/>
          <p:nvPr/>
        </p:nvSpPr>
        <p:spPr>
          <a:xfrm>
            <a:off x="2962656" y="2194561"/>
            <a:ext cx="1865376" cy="566926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4C6492-0CDA-69D4-118C-1B76CCBB42FF}"/>
              </a:ext>
            </a:extLst>
          </p:cNvPr>
          <p:cNvSpPr txBox="1"/>
          <p:nvPr/>
        </p:nvSpPr>
        <p:spPr>
          <a:xfrm>
            <a:off x="2962656" y="2354144"/>
            <a:ext cx="18653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 dirty="0">
                <a:solidFill>
                  <a:srgbClr val="FFFFFF"/>
                </a:solidFill>
                <a:latin typeface="Aptos"/>
              </a:rPr>
              <a:t>Transmitter</a:t>
            </a:r>
          </a:p>
        </p:txBody>
      </p:sp>
      <p:sp>
        <p:nvSpPr>
          <p:cNvPr id="24" name="Chevron 17">
            <a:extLst>
              <a:ext uri="{FF2B5EF4-FFF2-40B4-BE49-F238E27FC236}">
                <a16:creationId xmlns:a16="http://schemas.microsoft.com/office/drawing/2014/main" id="{BF49621C-DA8B-D9D6-119D-BD39BE8BAF06}"/>
              </a:ext>
            </a:extLst>
          </p:cNvPr>
          <p:cNvSpPr/>
          <p:nvPr/>
        </p:nvSpPr>
        <p:spPr>
          <a:xfrm>
            <a:off x="4951800" y="2396424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18">
            <a:extLst>
              <a:ext uri="{FF2B5EF4-FFF2-40B4-BE49-F238E27FC236}">
                <a16:creationId xmlns:a16="http://schemas.microsoft.com/office/drawing/2014/main" id="{4B190742-35CA-3102-C6CA-80F8F154B25D}"/>
              </a:ext>
            </a:extLst>
          </p:cNvPr>
          <p:cNvSpPr/>
          <p:nvPr/>
        </p:nvSpPr>
        <p:spPr>
          <a:xfrm>
            <a:off x="5128840" y="3020084"/>
            <a:ext cx="1865376" cy="566926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62BA626-79DA-CCB2-7711-1E9138095977}"/>
              </a:ext>
            </a:extLst>
          </p:cNvPr>
          <p:cNvSpPr txBox="1"/>
          <p:nvPr/>
        </p:nvSpPr>
        <p:spPr>
          <a:xfrm>
            <a:off x="5236140" y="3179667"/>
            <a:ext cx="16507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Medium</a:t>
            </a:r>
          </a:p>
        </p:txBody>
      </p:sp>
      <p:sp>
        <p:nvSpPr>
          <p:cNvPr id="33" name="Chevron 20">
            <a:extLst>
              <a:ext uri="{FF2B5EF4-FFF2-40B4-BE49-F238E27FC236}">
                <a16:creationId xmlns:a16="http://schemas.microsoft.com/office/drawing/2014/main" id="{ABA2E358-84AA-E488-531F-C67BF291C514}"/>
              </a:ext>
            </a:extLst>
          </p:cNvPr>
          <p:cNvSpPr/>
          <p:nvPr/>
        </p:nvSpPr>
        <p:spPr>
          <a:xfrm>
            <a:off x="7155504" y="3273371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21">
            <a:extLst>
              <a:ext uri="{FF2B5EF4-FFF2-40B4-BE49-F238E27FC236}">
                <a16:creationId xmlns:a16="http://schemas.microsoft.com/office/drawing/2014/main" id="{90FCA898-CD46-2239-36F5-6159638A9AAD}"/>
              </a:ext>
            </a:extLst>
          </p:cNvPr>
          <p:cNvSpPr/>
          <p:nvPr/>
        </p:nvSpPr>
        <p:spPr>
          <a:xfrm>
            <a:off x="7370064" y="2194561"/>
            <a:ext cx="1865376" cy="566926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6AF265C-A4BE-FFDB-EB96-FF1964BF79FE}"/>
              </a:ext>
            </a:extLst>
          </p:cNvPr>
          <p:cNvSpPr txBox="1"/>
          <p:nvPr/>
        </p:nvSpPr>
        <p:spPr>
          <a:xfrm>
            <a:off x="7477364" y="2354144"/>
            <a:ext cx="16507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Receiver</a:t>
            </a:r>
          </a:p>
        </p:txBody>
      </p:sp>
      <p:sp>
        <p:nvSpPr>
          <p:cNvPr id="39" name="Chevron 23">
            <a:extLst>
              <a:ext uri="{FF2B5EF4-FFF2-40B4-BE49-F238E27FC236}">
                <a16:creationId xmlns:a16="http://schemas.microsoft.com/office/drawing/2014/main" id="{1CFA774B-63ED-1575-F88F-4B2FB706D00F}"/>
              </a:ext>
            </a:extLst>
          </p:cNvPr>
          <p:cNvSpPr/>
          <p:nvPr/>
        </p:nvSpPr>
        <p:spPr>
          <a:xfrm>
            <a:off x="9359208" y="2396424"/>
            <a:ext cx="90792" cy="154056"/>
          </a:xfrm>
          <a:prstGeom prst="chevron">
            <a:avLst/>
          </a:prstGeom>
          <a:solidFill>
            <a:srgbClr val="5F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24">
            <a:extLst>
              <a:ext uri="{FF2B5EF4-FFF2-40B4-BE49-F238E27FC236}">
                <a16:creationId xmlns:a16="http://schemas.microsoft.com/office/drawing/2014/main" id="{F6F27228-8061-0739-551D-BDA47FD809FD}"/>
              </a:ext>
            </a:extLst>
          </p:cNvPr>
          <p:cNvSpPr/>
          <p:nvPr/>
        </p:nvSpPr>
        <p:spPr>
          <a:xfrm>
            <a:off x="9573768" y="2194561"/>
            <a:ext cx="1865376" cy="566926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EDBBB12-3C4E-484A-A995-2F0CC31F76B9}"/>
              </a:ext>
            </a:extLst>
          </p:cNvPr>
          <p:cNvSpPr txBox="1"/>
          <p:nvPr/>
        </p:nvSpPr>
        <p:spPr>
          <a:xfrm>
            <a:off x="9573768" y="2354144"/>
            <a:ext cx="1865376" cy="24776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Aptos"/>
              </a:rPr>
              <a:t>Recovered message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5CC628AD-3900-8ADE-01BF-711C9F562A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2637" y="2763414"/>
            <a:ext cx="3999300" cy="26662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AD67E6E-E9CD-0E47-91DC-C2EBBE7AC8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flipH="1">
            <a:off x="7489755" y="2791206"/>
            <a:ext cx="3686175" cy="245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439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2A12B-7569-7469-3523-CE31FC3D0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61">
            <a:extLst>
              <a:ext uri="{FF2B5EF4-FFF2-40B4-BE49-F238E27FC236}">
                <a16:creationId xmlns:a16="http://schemas.microsoft.com/office/drawing/2014/main" id="{DB9C887E-40E6-9825-639B-F26F631E73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F20DE9-2D87-5C1D-A669-E5C045A1851C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CA051531-5EB1-88B1-F44A-0B6C7F72D4AE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83C71BD-0608-0CFA-A4E6-C557113E6ABB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61EC4FCC-A3BB-E7F3-6B91-4AADB01C511E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55DEE813-D7D1-50D7-5D92-BA724CC1C6FA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D68154F4-FB5B-E868-F2A4-96A0E942DCF7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2F8226-B570-8D74-7E03-5A78BD8634B7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5B4AB2-6B1E-CE0C-88C6-B8C5597F9F82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7B1177-E8F3-2332-3385-339EB0236CF9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CONCEPT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588E58-02B0-8D22-FFF4-82D984176E75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problem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EDA4AB82-3477-83B7-2F6F-F3905C7B1FD5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>
            <a:extLst>
              <a:ext uri="{FF2B5EF4-FFF2-40B4-BE49-F238E27FC236}">
                <a16:creationId xmlns:a16="http://schemas.microsoft.com/office/drawing/2014/main" id="{68219AB5-1011-5F57-8D0D-1D650D46A7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20155618">
            <a:off x="1278539" y="2729226"/>
            <a:ext cx="2112949" cy="1408632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C683A95F-DA4D-5A21-DF53-CFC7A9BB8CB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 rot="1449173" flipH="1">
            <a:off x="8681829" y="2690632"/>
            <a:ext cx="2069834" cy="137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97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E9993E-1983-B72B-38B6-1CB80EA1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8AA1526D-5747-24A2-3BB6-88FB9D4F9A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296" y="762000"/>
            <a:ext cx="12192000" cy="6096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2E33DF-60FC-6D1D-FADD-C93217122D41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0BC49E30-907B-F80D-2D92-5C9B8B3A27B2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96895F35-2EA1-8967-B122-E00A3E5C0699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94ABB092-29A1-BBAC-DC1C-88A5BF5DD2FC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2058B1D-2F39-166D-4021-DCF022FBD567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5BBE87FE-C6E9-3CD8-714E-3571A0E73F5B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49C2B4-4B02-8FF6-3771-5D90494A70E4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BCAEB5-4E4C-B3F7-038C-7097C690DCF5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239C42-F60C-E9AD-C7FC-85F755B1C530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CONCEPT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4C75EF-E2B7-C765-475D-F574D435F9FB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problem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31D92E2B-2D73-BDFA-9122-5B6CDFCBA17D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BD78F6BF-410F-E7A5-1BBD-4E5958C669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449173" flipH="1">
            <a:off x="9034739" y="4328889"/>
            <a:ext cx="1343317" cy="8955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42EF89-3835-6D3F-D44F-CC73F5BD2C30}"/>
                  </a:ext>
                </a:extLst>
              </p:cNvPr>
              <p:cNvSpPr txBox="1"/>
              <p:nvPr/>
            </p:nvSpPr>
            <p:spPr>
              <a:xfrm>
                <a:off x="6522286" y="1223817"/>
                <a:ext cx="61177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mtClean="0">
                          <a:latin typeface="+mn-lt"/>
                        </a:rPr>
                        <m:t>0</m:t>
                      </m:r>
                      <m:r>
                        <a:rPr lang="en-US" i="0">
                          <a:latin typeface="+mn-lt"/>
                        </a:rPr>
                        <m:t>&lt;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𝑚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&lt;3 </m:t>
                      </m:r>
                      <m:r>
                        <m:rPr>
                          <m:nor/>
                        </m:rPr>
                        <a:rPr lang="en-US" i="0">
                          <a:latin typeface="+mn-lt"/>
                        </a:rPr>
                        <m:t>kHz</m:t>
                      </m:r>
                      <m:r>
                        <a:rPr lang="en-US" i="0">
                          <a:latin typeface="+mn-lt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042EF89-3835-6D3F-D44F-CC73F5BD2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86" y="1223817"/>
                <a:ext cx="6117770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781EC7-8C9D-5509-79A8-2C38D1095064}"/>
                  </a:ext>
                </a:extLst>
              </p:cNvPr>
              <p:cNvSpPr txBox="1"/>
              <p:nvPr/>
            </p:nvSpPr>
            <p:spPr>
              <a:xfrm>
                <a:off x="7863924" y="1744313"/>
                <a:ext cx="3684948" cy="696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+mn-lt"/>
                        </a:rPr>
                        <m:t>𝜆</m:t>
                      </m:r>
                      <m:r>
                        <a:rPr lang="en-US" i="0">
                          <a:latin typeface="+mn-lt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+mn-lt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+mn-lt"/>
                            </a:rPr>
                            <m:t>𝑐</m:t>
                          </m:r>
                        </m:num>
                        <m:den>
                          <m:r>
                            <a:rPr lang="en-US" i="1">
                              <a:latin typeface="+mn-lt"/>
                            </a:rPr>
                            <m:t>𝑓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3×</m:t>
                          </m:r>
                          <m:sSup>
                            <m:s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r>
                            <a:rPr lang="en-US">
                              <a:latin typeface="Cambria Math" panose="02040503050406030204" pitchFamily="18" charset="0"/>
                            </a:rPr>
                            <m:t>3×</m:t>
                          </m:r>
                          <m:sSup>
                            <m:s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=100 </m:t>
                      </m:r>
                      <m:r>
                        <m:rPr>
                          <m:nor/>
                        </m:rPr>
                        <a:rPr lang="en-US"/>
                        <m:t>km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781EC7-8C9D-5509-79A8-2C38D10950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924" y="1744313"/>
                <a:ext cx="3684948" cy="6967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893573D-BC2E-9F6E-E69E-2DB0AFAB417A}"/>
                  </a:ext>
                </a:extLst>
              </p:cNvPr>
              <p:cNvSpPr txBox="1"/>
              <p:nvPr/>
            </p:nvSpPr>
            <p:spPr>
              <a:xfrm>
                <a:off x="6522286" y="2517717"/>
                <a:ext cx="6117770" cy="616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+mn-lt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+mn-lt"/>
                            </a:rPr>
                            <m:t>𝜆</m:t>
                          </m:r>
                        </m:num>
                        <m:den>
                          <m:r>
                            <a:rPr lang="en-US" i="0">
                              <a:latin typeface="+mn-lt"/>
                            </a:rPr>
                            <m:t>4</m:t>
                          </m:r>
                        </m:den>
                      </m:f>
                      <m:r>
                        <a:rPr lang="en-US" i="0">
                          <a:latin typeface="+mn-lt"/>
                        </a:rPr>
                        <m:t>=25 </m:t>
                      </m:r>
                      <m:r>
                        <m:rPr>
                          <m:nor/>
                        </m:rPr>
                        <a:rPr lang="en-US" i="0">
                          <a:latin typeface="+mn-lt"/>
                        </a:rPr>
                        <m:t>km</m:t>
                      </m:r>
                      <m:r>
                        <a:rPr lang="en-US" i="0">
                          <a:latin typeface="+mn-lt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893573D-BC2E-9F6E-E69E-2DB0AFAB41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86" y="2517717"/>
                <a:ext cx="6117770" cy="6165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9FEE690-CD1A-C6B1-55D6-A189E0FC2F2D}"/>
              </a:ext>
            </a:extLst>
          </p:cNvPr>
          <p:cNvSpPr txBox="1"/>
          <p:nvPr/>
        </p:nvSpPr>
        <p:spPr>
          <a:xfrm>
            <a:off x="5669715" y="1295897"/>
            <a:ext cx="2717391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I want to transmit speech, so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C979DC-9D97-C96A-03DA-90A7EEAEAB09}"/>
              </a:ext>
            </a:extLst>
          </p:cNvPr>
          <p:cNvSpPr txBox="1"/>
          <p:nvPr/>
        </p:nvSpPr>
        <p:spPr>
          <a:xfrm>
            <a:off x="6096000" y="2679895"/>
            <a:ext cx="2717391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dirty="0">
                <a:solidFill>
                  <a:srgbClr val="182028"/>
                </a:solidFill>
                <a:latin typeface="Aptos"/>
              </a:rPr>
              <a:t>But I need an antenna of: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095702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734EF-792F-D4AE-CC85-FB5DE47E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469CB5F2-CC1C-5053-3CD2-3B6873F071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2613" y="429619"/>
            <a:ext cx="12192000" cy="6096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6C4763-2EA3-E721-3183-BA5374B3AFFA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4D083C0B-E083-EFAC-6E01-670B42565E21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A16575B-4DBE-BCA0-0633-FBBF19CBAA24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F13D7C92-A57C-A364-A6D5-DAB35C0EDDED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B1765F00-C825-1C42-E047-4C703191F017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73E915E-F43A-2224-7BD2-3364947B2549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A66DAE6-6703-EF9B-0A95-4DBBB8FC81E7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F36A2E-CEEC-185F-174C-44C1218A7568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B22301-30C0-32EC-A02D-C9F11451C86F}"/>
              </a:ext>
            </a:extLst>
          </p:cNvPr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CONCEPT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B70111-ACA9-45B7-992D-7B7709A40078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The solution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C7F0CA2F-26E9-EA04-D1A1-A84232108759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7" name="Picture 46">
            <a:extLst>
              <a:ext uri="{FF2B5EF4-FFF2-40B4-BE49-F238E27FC236}">
                <a16:creationId xmlns:a16="http://schemas.microsoft.com/office/drawing/2014/main" id="{787EC977-D2A2-A54C-6D94-E425C62587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1449173" flipH="1">
            <a:off x="8769454" y="3557105"/>
            <a:ext cx="1343317" cy="8955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076792-3EC5-38A0-B273-A311BFE9884F}"/>
                  </a:ext>
                </a:extLst>
              </p:cNvPr>
              <p:cNvSpPr txBox="1"/>
              <p:nvPr/>
            </p:nvSpPr>
            <p:spPr>
              <a:xfrm>
                <a:off x="6522286" y="1223817"/>
                <a:ext cx="61177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>
                          <a:latin typeface="Cambria Math" panose="02040503050406030204" pitchFamily="18" charset="0"/>
                        </a:rPr>
                        <m:t>=1 </m:t>
                      </m:r>
                      <m:r>
                        <m:rPr>
                          <m:nor/>
                        </m:rPr>
                        <a:rPr lang="en-US"/>
                        <m:t>MHz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076792-3EC5-38A0-B273-A311BFE988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86" y="1223817"/>
                <a:ext cx="6117770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2546AF-9E45-06B9-91EE-E6DC03A52B2F}"/>
                  </a:ext>
                </a:extLst>
              </p:cNvPr>
              <p:cNvSpPr txBox="1"/>
              <p:nvPr/>
            </p:nvSpPr>
            <p:spPr>
              <a:xfrm>
                <a:off x="7863924" y="1744313"/>
                <a:ext cx="3684948" cy="6967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>
                              <a:latin typeface="Cambria Math" panose="02040503050406030204" pitchFamily="18" charset="0"/>
                            </a:rPr>
                            <m:t>3×</m:t>
                          </m:r>
                          <m:sSup>
                            <m:s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00 </m:t>
                      </m:r>
                      <m:r>
                        <m:rPr>
                          <m:nor/>
                        </m:rPr>
                        <a:rPr lang="en-US" i="0"/>
                        <m:t>m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C2546AF-9E45-06B9-91EE-E6DC03A52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3924" y="1744313"/>
                <a:ext cx="3684948" cy="69672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1DFA80-9F38-228E-2383-24AF33DDA3F4}"/>
                  </a:ext>
                </a:extLst>
              </p:cNvPr>
              <p:cNvSpPr txBox="1"/>
              <p:nvPr/>
            </p:nvSpPr>
            <p:spPr>
              <a:xfrm>
                <a:off x="6522286" y="2517717"/>
                <a:ext cx="6117770" cy="6165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num>
                        <m:den>
                          <m:r>
                            <a:rPr lang="en-US" i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75 </m:t>
                      </m:r>
                      <m:r>
                        <m:rPr>
                          <m:nor/>
                        </m:rPr>
                        <a:rPr lang="en-US" i="0">
                          <a:latin typeface="+mn-lt"/>
                        </a:rPr>
                        <m:t>m</m:t>
                      </m:r>
                      <m:r>
                        <a:rPr lang="en-US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1DFA80-9F38-228E-2383-24AF33DDA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2286" y="2517717"/>
                <a:ext cx="6117770" cy="61651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A962950B-7870-E7B4-89B9-FEDE886D3B83}"/>
              </a:ext>
            </a:extLst>
          </p:cNvPr>
          <p:cNvSpPr txBox="1"/>
          <p:nvPr/>
        </p:nvSpPr>
        <p:spPr>
          <a:xfrm>
            <a:off x="5152571" y="1295897"/>
            <a:ext cx="3234535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0" i="0" dirty="0">
                <a:solidFill>
                  <a:srgbClr val="182028"/>
                </a:solidFill>
                <a:latin typeface="Aptos"/>
              </a:rPr>
              <a:t>What if I transmit a carrier instead: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AB91C9-1E12-8693-E809-B98758BFC9FF}"/>
              </a:ext>
            </a:extLst>
          </p:cNvPr>
          <p:cNvSpPr txBox="1"/>
          <p:nvPr/>
        </p:nvSpPr>
        <p:spPr>
          <a:xfrm>
            <a:off x="6096000" y="2679895"/>
            <a:ext cx="2717391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dirty="0">
                <a:solidFill>
                  <a:srgbClr val="182028"/>
                </a:solidFill>
                <a:latin typeface="Aptos"/>
              </a:rPr>
              <a:t>So I need an antenna of:</a:t>
            </a:r>
            <a:endParaRPr sz="1700" b="0" i="0" dirty="0">
              <a:solidFill>
                <a:srgbClr val="18202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84426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50" b="1" i="0" dirty="0">
                <a:solidFill>
                  <a:srgbClr val="0F6D74"/>
                </a:solidFill>
                <a:latin typeface="Aptos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A bit of useless math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EE08F1-44F7-8B78-DB8B-BAACC0015564}"/>
                  </a:ext>
                </a:extLst>
              </p:cNvPr>
              <p:cNvSpPr txBox="1"/>
              <p:nvPr/>
            </p:nvSpPr>
            <p:spPr>
              <a:xfrm>
                <a:off x="2861035" y="1778146"/>
                <a:ext cx="61179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+mn-lt"/>
                        </a:rPr>
                        <m:t>𝑚</m:t>
                      </m:r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=</m:t>
                      </m:r>
                      <m:func>
                        <m:funcPr>
                          <m:ctrlPr>
                            <a:rPr lang="en-US" i="0">
                              <a:latin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+mn-lt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CEE08F1-44F7-8B78-DB8B-BAACC0015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035" y="1778146"/>
                <a:ext cx="611799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EEB817-142A-C462-2C78-F35CDDEE3AE6}"/>
                  </a:ext>
                </a:extLst>
              </p:cNvPr>
              <p:cNvSpPr txBox="1"/>
              <p:nvPr/>
            </p:nvSpPr>
            <p:spPr>
              <a:xfrm>
                <a:off x="2861035" y="2147478"/>
                <a:ext cx="61179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+mn-lt"/>
                        </a:rPr>
                        <m:t>𝑐</m:t>
                      </m:r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en-US" i="0">
                              <a:latin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+mn-lt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12EEB817-142A-C462-2C78-F35CDDEE3A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1035" y="2147478"/>
                <a:ext cx="611799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00F39C3-A594-B299-E214-E277463310C6}"/>
                  </a:ext>
                </a:extLst>
              </p:cNvPr>
              <p:cNvSpPr txBox="1"/>
              <p:nvPr/>
            </p:nvSpPr>
            <p:spPr>
              <a:xfrm>
                <a:off x="3037002" y="2729540"/>
                <a:ext cx="6117996" cy="4708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i="1">
                              <a:latin typeface="+mn-lt"/>
                            </a:rPr>
                          </m:ctrlPr>
                        </m:borderBoxPr>
                        <m:e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+mn-lt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0">
                              <a:latin typeface="+mn-lt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+mn-lt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+mn-lt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i="0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0">
                                  <a:latin typeface="+mn-lt"/>
                                </a:rPr>
                                <m:t>1+</m:t>
                              </m:r>
                              <m:r>
                                <a:rPr lang="en-US" i="1">
                                  <a:latin typeface="+mn-lt"/>
                                </a:rPr>
                                <m:t>𝜇</m:t>
                              </m:r>
                              <m:r>
                                <a:rPr lang="en-US" i="1">
                                  <a:latin typeface="+mn-lt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en-US" i="0">
                                  <a:latin typeface="+mn-lt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+mn-lt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+mn-lt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+mn-lt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+mn-lt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borderBox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00F39C3-A594-B299-E214-E27746331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002" y="2729540"/>
                <a:ext cx="6117996" cy="4708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C8405B-6C47-C7BA-5B72-5852B7738E33}"/>
                  </a:ext>
                </a:extLst>
              </p:cNvPr>
              <p:cNvSpPr txBox="1"/>
              <p:nvPr/>
            </p:nvSpPr>
            <p:spPr>
              <a:xfrm>
                <a:off x="3011864" y="3270257"/>
                <a:ext cx="61179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+mn-lt"/>
                        </a:rPr>
                        <m:t>𝑠</m:t>
                      </m:r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𝑐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i="0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0">
                              <a:latin typeface="+mn-lt"/>
                            </a:rPr>
                            <m:t>1+</m:t>
                          </m:r>
                          <m:r>
                            <a:rPr lang="en-US" i="1">
                              <a:latin typeface="+mn-lt"/>
                            </a:rPr>
                            <m:t>𝜇</m:t>
                          </m:r>
                          <m:func>
                            <m:funcPr>
                              <m:ctrlPr>
                                <a:rPr lang="en-US" i="0">
                                  <a:latin typeface="+mn-lt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+mn-lt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+mn-lt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+mn-lt"/>
                                        </a:rPr>
                                        <m:t>𝑚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+mn-lt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func>
                        <m:funcPr>
                          <m:ctrlPr>
                            <a:rPr lang="en-US" i="0">
                              <a:latin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+mn-lt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DC8405B-6C47-C7BA-5B72-5852B7738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864" y="3270257"/>
                <a:ext cx="6117996" cy="369332"/>
              </a:xfrm>
              <a:prstGeom prst="rect">
                <a:avLst/>
              </a:prstGeom>
              <a:blipFill>
                <a:blip r:embed="rId6"/>
                <a:stretch>
                  <a:fillRect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1C8B38-F5D1-6781-88AD-F283F5CA6021}"/>
                  </a:ext>
                </a:extLst>
              </p:cNvPr>
              <p:cNvSpPr txBox="1"/>
              <p:nvPr/>
            </p:nvSpPr>
            <p:spPr>
              <a:xfrm>
                <a:off x="3011864" y="3709471"/>
                <a:ext cx="61179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+mn-lt"/>
                        </a:rPr>
                        <m:t>𝑠</m:t>
                      </m:r>
                      <m:d>
                        <m:dPr>
                          <m:ctrlPr>
                            <a:rPr lang="en-US" i="1">
                              <a:latin typeface="+mn-lt"/>
                            </a:rPr>
                          </m:ctrlPr>
                        </m:dPr>
                        <m:e>
                          <m:r>
                            <a:rPr lang="en-US" i="1">
                              <a:latin typeface="+mn-lt"/>
                            </a:rPr>
                            <m:t>𝑡</m:t>
                          </m:r>
                        </m:e>
                      </m:d>
                      <m:r>
                        <a:rPr lang="en-US" i="0">
                          <a:latin typeface="+mn-lt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en-US" i="0">
                              <a:latin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+mn-lt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i="0">
                          <a:latin typeface="+mn-lt"/>
                        </a:rPr>
                        <m:t>+</m:t>
                      </m:r>
                      <m:r>
                        <a:rPr lang="en-US" i="1">
                          <a:latin typeface="+mn-lt"/>
                        </a:rPr>
                        <m:t>𝜇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𝑐</m:t>
                          </m:r>
                        </m:sub>
                      </m:sSub>
                      <m:func>
                        <m:funcPr>
                          <m:ctrlPr>
                            <a:rPr lang="en-US" i="0">
                              <a:latin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𝑚</m:t>
                                  </m:r>
                                </m:sub>
                              </m:sSub>
                              <m:r>
                                <a:rPr lang="en-US" i="1">
                                  <a:latin typeface="+mn-lt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func>
                        <m:funcPr>
                          <m:ctrlPr>
                            <a:rPr lang="en-US" i="0">
                              <a:latin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i="1">
                                  <a:latin typeface="+mn-lt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C1C8B38-F5D1-6781-88AD-F283F5CA60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864" y="3709471"/>
                <a:ext cx="6117996" cy="369332"/>
              </a:xfrm>
              <a:prstGeom prst="rect">
                <a:avLst/>
              </a:prstGeom>
              <a:blipFill>
                <a:blip r:embed="rId7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647259C-E90C-9CAA-1B31-3733FC3CC696}"/>
                  </a:ext>
                </a:extLst>
              </p:cNvPr>
              <p:cNvSpPr txBox="1"/>
              <p:nvPr/>
            </p:nvSpPr>
            <p:spPr>
              <a:xfrm>
                <a:off x="6462074" y="4277775"/>
                <a:ext cx="6117996" cy="6109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0">
                              <a:latin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latin typeface="+mn-lt"/>
                            </a:rPr>
                            <m:t>𝐴</m:t>
                          </m:r>
                        </m:e>
                      </m:func>
                      <m:func>
                        <m:funcPr>
                          <m:ctrlPr>
                            <a:rPr lang="en-US" i="0">
                              <a:latin typeface="+mn-lt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sin</m:t>
                          </m:r>
                        </m:fName>
                        <m:e>
                          <m:r>
                            <a:rPr lang="en-US" i="1">
                              <a:latin typeface="+mn-lt"/>
                            </a:rPr>
                            <m:t>𝐵</m:t>
                          </m:r>
                        </m:e>
                      </m:func>
                      <m:r>
                        <a:rPr lang="en-US" i="0">
                          <a:latin typeface="+mn-lt"/>
                        </a:rPr>
                        <m:t>=</m:t>
                      </m:r>
                      <m:f>
                        <m:fPr>
                          <m:ctrlPr>
                            <a:rPr lang="en-US" i="0">
                              <a:latin typeface="+mn-lt"/>
                            </a:rPr>
                          </m:ctrlPr>
                        </m:fPr>
                        <m:num>
                          <m:r>
                            <a:rPr lang="en-US" i="0">
                              <a:latin typeface="+mn-lt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</m:func>
                          <m:r>
                            <a:rPr lang="en-US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1647259C-E90C-9CAA-1B31-3733FC3CC6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2074" y="4277775"/>
                <a:ext cx="6117996" cy="61093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7F144E-FF73-6AFF-C028-707E5B4C0FBC}"/>
                  </a:ext>
                </a:extLst>
              </p:cNvPr>
              <p:cNvSpPr txBox="1"/>
              <p:nvPr/>
            </p:nvSpPr>
            <p:spPr>
              <a:xfrm>
                <a:off x="2982170" y="5207999"/>
                <a:ext cx="6311244" cy="733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i="1">
                              <a:latin typeface="+mn-lt"/>
                            </a:rPr>
                          </m:ctrlPr>
                        </m:borderBoxPr>
                        <m:e>
                          <m:r>
                            <a:rPr lang="en-US" i="1">
                              <a:latin typeface="+mn-lt"/>
                            </a:rPr>
                            <m:t>𝑠</m:t>
                          </m:r>
                          <m:d>
                            <m:d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+mn-lt"/>
                                </a:rPr>
                                <m:t>𝑡</m:t>
                              </m:r>
                            </m:e>
                          </m:d>
                          <m:r>
                            <a:rPr lang="en-US" i="0">
                              <a:latin typeface="+mn-lt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+mn-lt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+mn-lt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i="0">
                                  <a:latin typeface="+mn-lt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+mn-lt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+mn-lt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+mn-lt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+mn-lt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+mn-lt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0">
                              <a:latin typeface="+mn-lt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+mn-lt"/>
                                </a:rPr>
                                <m:t>𝜇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0">
                                  <a:latin typeface="+mn-lt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0">
                                  <a:latin typeface="+mn-lt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+mn-lt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+mn-lt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+mn-lt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+mn-lt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+mn-lt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+mn-lt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+mn-lt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+mn-lt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+mn-lt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+mn-lt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US" i="0">
                              <a:latin typeface="+mn-lt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+mn-lt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+mn-lt"/>
                                </a:rPr>
                                <m:t>𝜇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+mn-lt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+mn-lt"/>
                                    </a:rPr>
                                    <m:t>𝑐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i="0">
                                  <a:latin typeface="+mn-lt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0">
                                  <a:latin typeface="+mn-lt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>
                                  <a:latin typeface="+mn-lt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+mn-lt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+mn-lt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+mn-lt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+mn-lt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+mn-lt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  <m:r>
                                        <a:rPr lang="en-US" i="0">
                                          <a:latin typeface="+mn-lt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+mn-lt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+mn-lt"/>
                                            </a:rPr>
                                            <m:t>𝜔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+mn-lt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i="1">
                                      <a:latin typeface="+mn-lt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borderBox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A7F144E-FF73-6AFF-C028-707E5B4C0F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170" y="5207999"/>
                <a:ext cx="6311244" cy="733662"/>
              </a:xfrm>
              <a:prstGeom prst="rect">
                <a:avLst/>
              </a:prstGeom>
              <a:blipFill>
                <a:blip r:embed="rId9"/>
                <a:stretch>
                  <a:fillRect r="-3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55CEC705-3E78-360D-F51D-49BC495E7740}"/>
              </a:ext>
            </a:extLst>
          </p:cNvPr>
          <p:cNvSpPr txBox="1"/>
          <p:nvPr/>
        </p:nvSpPr>
        <p:spPr>
          <a:xfrm>
            <a:off x="2162629" y="1851953"/>
            <a:ext cx="2717391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1" dirty="0">
                <a:solidFill>
                  <a:srgbClr val="182028"/>
                </a:solidFill>
                <a:latin typeface="Aptos"/>
              </a:rPr>
              <a:t>My message:</a:t>
            </a:r>
            <a:endParaRPr sz="1700" b="1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BDADA88-E89F-2BE3-01CD-928CE2FB7572}"/>
              </a:ext>
            </a:extLst>
          </p:cNvPr>
          <p:cNvSpPr txBox="1"/>
          <p:nvPr/>
        </p:nvSpPr>
        <p:spPr>
          <a:xfrm>
            <a:off x="2162629" y="2182419"/>
            <a:ext cx="2717391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1" dirty="0">
                <a:solidFill>
                  <a:srgbClr val="182028"/>
                </a:solidFill>
                <a:latin typeface="Aptos"/>
              </a:rPr>
              <a:t>My carrier:</a:t>
            </a:r>
            <a:endParaRPr sz="1700" b="1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6B4587D-7D72-A62D-1174-E547365B2F7A}"/>
              </a:ext>
            </a:extLst>
          </p:cNvPr>
          <p:cNvSpPr txBox="1"/>
          <p:nvPr/>
        </p:nvSpPr>
        <p:spPr>
          <a:xfrm>
            <a:off x="6462074" y="4473726"/>
            <a:ext cx="882155" cy="260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700" b="1" dirty="0">
                <a:solidFill>
                  <a:srgbClr val="182028"/>
                </a:solidFill>
                <a:latin typeface="Aptos"/>
              </a:rPr>
              <a:t>Since:</a:t>
            </a:r>
            <a:endParaRPr sz="1700" b="1" i="0" dirty="0">
              <a:solidFill>
                <a:srgbClr val="18202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dirty="0">
                <a:solidFill>
                  <a:srgbClr val="0F6D74"/>
                </a:solidFill>
                <a:latin typeface="Aptos"/>
              </a:rPr>
              <a:t>WORKING VOCABULARY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Important Terms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806768"/>
                  </p:ext>
                </p:extLst>
              </p:nvPr>
            </p:nvGraphicFramePr>
            <p:xfrm>
              <a:off x="658368" y="1737360"/>
              <a:ext cx="6308489" cy="2618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63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421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3602">
                    <a:tc>
                      <a:txBody>
                        <a:bodyPr/>
                        <a:lstStyle/>
                        <a:p>
                          <a:r>
                            <a:rPr sz="12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Term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Meaning</a:t>
                          </a:r>
                          <a:endParaRPr sz="12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3602">
                    <a:tc>
                      <a:txBody>
                        <a:bodyPr/>
                        <a:lstStyle/>
                        <a:p>
                          <a:r>
                            <a:rPr sz="12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carrier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 periodic waveform whose property is varied to carry information.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3602">
                    <a:tc>
                      <a:txBody>
                        <a:bodyPr/>
                        <a:lstStyle/>
                        <a:p>
                          <a:r>
                            <a:rPr sz="12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sideband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Frequency component produced around a carrier by modulation.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3602">
                    <a:tc>
                      <a:txBody>
                        <a:bodyPr/>
                        <a:lstStyle/>
                        <a:p>
                          <a:r>
                            <a:rPr sz="12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AM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Modulation that varies carrier amplitude according to the message.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3602">
                    <a:tc>
                      <a:txBody>
                        <a:bodyPr/>
                        <a:lstStyle/>
                        <a:p>
                          <a:r>
                            <a:rPr lang="en-US" sz="12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modulation index (m/</a:t>
                          </a:r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r>
                            <a:rPr lang="en-US" sz="12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)</a:t>
                          </a:r>
                          <a:endParaRPr sz="12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 measure of how much the carrier amplitude is varied by the message signal.</a:t>
                          </a:r>
                          <a:endParaRPr sz="12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99687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92806768"/>
                  </p:ext>
                </p:extLst>
              </p:nvPr>
            </p:nvGraphicFramePr>
            <p:xfrm>
              <a:off x="658368" y="1737360"/>
              <a:ext cx="6308489" cy="261801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76637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5421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3602">
                    <a:tc>
                      <a:txBody>
                        <a:bodyPr/>
                        <a:lstStyle/>
                        <a:p>
                          <a:r>
                            <a:rPr sz="1250" b="1">
                              <a:solidFill>
                                <a:srgbClr val="FFFFFF"/>
                              </a:solidFill>
                              <a:latin typeface="Aptos"/>
                            </a:rPr>
                            <a:t>Term</a:t>
                          </a: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50" b="1" dirty="0">
                              <a:solidFill>
                                <a:srgbClr val="FFFFFF"/>
                              </a:solidFill>
                              <a:latin typeface="Aptos"/>
                            </a:rPr>
                            <a:t>Meaning</a:t>
                          </a:r>
                          <a:endParaRPr sz="1250" b="1" dirty="0">
                            <a:solidFill>
                              <a:srgbClr val="FFFFFF"/>
                            </a:solidFill>
                            <a:latin typeface="Aptos"/>
                          </a:endParaRPr>
                        </a:p>
                      </a:txBody>
                      <a:tcPr marL="82296" marR="82296" marT="54864" marB="36576">
                        <a:solidFill>
                          <a:srgbClr val="17324D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3602">
                    <a:tc>
                      <a:txBody>
                        <a:bodyPr/>
                        <a:lstStyle/>
                        <a:p>
                          <a:r>
                            <a:rPr sz="12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carrier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 periodic waveform whose property is varied to carry information.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3602">
                    <a:tc>
                      <a:txBody>
                        <a:bodyPr/>
                        <a:lstStyle/>
                        <a:p>
                          <a:r>
                            <a:rPr sz="12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sideband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>
                              <a:solidFill>
                                <a:srgbClr val="182028"/>
                              </a:solidFill>
                              <a:latin typeface="Aptos"/>
                            </a:rPr>
                            <a:t>Frequency component produced around a carrier by modulation.</a:t>
                          </a:r>
                        </a:p>
                      </a:txBody>
                      <a:tcPr marL="82296" marR="82296" marB="27432">
                        <a:solidFill>
                          <a:srgbClr val="E3EBF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3602">
                    <a:tc>
                      <a:txBody>
                        <a:bodyPr/>
                        <a:lstStyle/>
                        <a:p>
                          <a:r>
                            <a:rPr sz="12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AM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sz="12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Modulation that varies carrier amplitude according to the message.</a:t>
                          </a: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5236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2296" marR="82296" marB="27432">
                        <a:blipFill>
                          <a:blip r:embed="rId3"/>
                          <a:stretch>
                            <a:fillRect l="-690" t="-402326" r="-258621" b="-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1250" dirty="0">
                              <a:solidFill>
                                <a:srgbClr val="182028"/>
                              </a:solidFill>
                              <a:latin typeface="Aptos"/>
                            </a:rPr>
                            <a:t>A measure of how much the carrier amplitude is varied by the message signal.</a:t>
                          </a:r>
                          <a:endParaRPr sz="1250" dirty="0">
                            <a:solidFill>
                              <a:srgbClr val="182028"/>
                            </a:solidFill>
                            <a:latin typeface="Aptos"/>
                          </a:endParaRPr>
                        </a:p>
                      </a:txBody>
                      <a:tcPr marL="82296" marR="82296" marB="27432">
                        <a:solidFill>
                          <a:srgbClr val="FBF9F4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599687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5" name="Picture 2" descr="Image result for am signal">
            <a:extLst>
              <a:ext uri="{FF2B5EF4-FFF2-40B4-BE49-F238E27FC236}">
                <a16:creationId xmlns:a16="http://schemas.microsoft.com/office/drawing/2014/main" id="{664173C9-D700-7584-47D8-B96325A5A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210192" y="1789121"/>
            <a:ext cx="4448408" cy="40369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AC833F-1E3F-1FD4-79F6-5931E51D5719}"/>
                  </a:ext>
                </a:extLst>
              </p:cNvPr>
              <p:cNvSpPr txBox="1"/>
              <p:nvPr/>
            </p:nvSpPr>
            <p:spPr>
              <a:xfrm>
                <a:off x="502920" y="5162191"/>
                <a:ext cx="6117996" cy="5972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US" sz="2400" i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0"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func>
                            <m:funcPr>
                              <m:ctrlPr>
                                <a:rPr lang="en-US" sz="2400" i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</m:e>
                      </m:borderBox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AAC833F-1E3F-1FD4-79F6-5931E51D57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" y="5162191"/>
                <a:ext cx="6117996" cy="5972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QUANTITATIVE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Important Relationships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79120" y="1828799"/>
            <a:ext cx="4477512" cy="368662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7214" y="3070245"/>
            <a:ext cx="1323848" cy="214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 dirty="0">
                <a:solidFill>
                  <a:srgbClr val="182028"/>
                </a:solidFill>
                <a:latin typeface="Aptos"/>
              </a:rPr>
              <a:t>Upper sideband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2256" y="2224144"/>
            <a:ext cx="1878150" cy="214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1400" b="0" i="0" dirty="0">
                <a:solidFill>
                  <a:srgbClr val="182028"/>
                </a:solidFill>
                <a:latin typeface="Aptos"/>
              </a:rPr>
              <a:t>Lower sideband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5E8833-F2F8-CCE3-077C-4C120C6ECECB}"/>
                  </a:ext>
                </a:extLst>
              </p:cNvPr>
              <p:cNvSpPr txBox="1"/>
              <p:nvPr/>
            </p:nvSpPr>
            <p:spPr>
              <a:xfrm>
                <a:off x="2395146" y="2032609"/>
                <a:ext cx="1878150" cy="1346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2400" i="1"/>
                          </m:ctrlPr>
                        </m:borderBoxPr>
                        <m:e>
                          <m:eqArr>
                            <m:eqArrPr>
                              <m:ctrlPr>
                                <a:rPr lang="en-US" sz="2400" i="1"/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400" i="1"/>
                                  </m:ctrlPr>
                                </m:sSubPr>
                                <m:e>
                                  <m:r>
                                    <a:rPr lang="en-US" sz="2400" i="1"/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/>
                                    <m:t>𝐿𝑆𝐵</m:t>
                                  </m:r>
                                </m:sub>
                              </m:sSub>
                              <m:r>
                                <a:rPr lang="en-US" sz="2400" i="0"/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/>
                                  </m:ctrlPr>
                                </m:sSubPr>
                                <m:e>
                                  <m:r>
                                    <a:rPr lang="en-US" sz="2400" i="1"/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/>
                                    <m:t>𝑐</m:t>
                                  </m:r>
                                </m:sub>
                              </m:sSub>
                              <m:r>
                                <a:rPr lang="en-US" sz="2400" i="0"/>
                                <m:t>−</m:t>
                              </m:r>
                              <m:sSub>
                                <m:sSubPr>
                                  <m:ctrlPr>
                                    <a:rPr lang="en-US" sz="2400" i="1"/>
                                  </m:ctrlPr>
                                </m:sSubPr>
                                <m:e>
                                  <m:r>
                                    <a:rPr lang="en-US" sz="2400" i="1"/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/>
                                    <m:t>𝑚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/>
                                  </m:ctrlPr>
                                </m:sSubPr>
                                <m:e>
                                  <m:r>
                                    <a:rPr lang="en-US" sz="2400" i="1"/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/>
                                    <m:t>𝐶</m:t>
                                  </m:r>
                                </m:sub>
                              </m:sSub>
                              <m:r>
                                <a:rPr lang="en-US" sz="2400" i="0"/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/>
                                  </m:ctrlPr>
                                </m:sSubPr>
                                <m:e>
                                  <m:r>
                                    <a:rPr lang="en-US" sz="2400" i="1"/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/>
                                    <m:t>𝑐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sz="2400" i="1"/>
                                  </m:ctrlPr>
                                </m:sSubPr>
                                <m:e>
                                  <m:r>
                                    <a:rPr lang="en-US" sz="2400" i="1"/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/>
                                    <m:t>𝑈𝑆𝐵</m:t>
                                  </m:r>
                                </m:sub>
                              </m:sSub>
                              <m:r>
                                <a:rPr lang="en-US" sz="2400" i="0"/>
                                <m:t>=</m:t>
                              </m:r>
                              <m:sSub>
                                <m:sSubPr>
                                  <m:ctrlPr>
                                    <a:rPr lang="en-US" sz="2400" i="1"/>
                                  </m:ctrlPr>
                                </m:sSubPr>
                                <m:e>
                                  <m:r>
                                    <a:rPr lang="en-US" sz="2400" i="1"/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/>
                                    <m:t>𝑐</m:t>
                                  </m:r>
                                </m:sub>
                              </m:sSub>
                              <m:r>
                                <a:rPr lang="en-US" sz="2400" i="0"/>
                                <m:t>+</m:t>
                              </m:r>
                              <m:sSub>
                                <m:sSubPr>
                                  <m:ctrlPr>
                                    <a:rPr lang="en-US" sz="2400" i="1"/>
                                  </m:ctrlPr>
                                </m:sSubPr>
                                <m:e>
                                  <m:r>
                                    <a:rPr lang="en-US" sz="2400" i="1"/>
                                    <m:t>𝑓</m:t>
                                  </m:r>
                                </m:e>
                                <m:sub>
                                  <m:r>
                                    <a:rPr lang="en-US" sz="2400" i="1"/>
                                    <m:t>𝑚</m:t>
                                  </m:r>
                                </m:sub>
                              </m:sSub>
                            </m:e>
                          </m:eqArr>
                        </m:e>
                      </m:borderBox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65E8833-F2F8-CCE3-077C-4C120C6ECE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5146" y="2032609"/>
                <a:ext cx="1878150" cy="1346266"/>
              </a:xfrm>
              <a:prstGeom prst="rect">
                <a:avLst/>
              </a:prstGeom>
              <a:blipFill>
                <a:blip r:embed="rId3"/>
                <a:stretch>
                  <a:fillRect r="-11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68C695F-AB1D-A5B3-A6A5-C2E3EC1307D3}"/>
                  </a:ext>
                </a:extLst>
              </p:cNvPr>
              <p:cNvSpPr txBox="1"/>
              <p:nvPr/>
            </p:nvSpPr>
            <p:spPr>
              <a:xfrm>
                <a:off x="-621936" y="3479285"/>
                <a:ext cx="6408056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1400" i="0" smtClean="0">
                          <a:latin typeface="Cambria Math" panose="02040503050406030204" pitchFamily="18" charset="0"/>
                        </a:rPr>
                        <m:t>Sidebands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0" smtClean="0">
                          <a:latin typeface="Cambria Math" panose="02040503050406030204" pitchFamily="18" charset="0"/>
                        </a:rPr>
                        <m:t>carrier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 ± </m:t>
                      </m:r>
                      <m:r>
                        <m:rPr>
                          <m:nor/>
                        </m:rPr>
                        <a:rPr lang="en-US" sz="1400" i="0" smtClean="0">
                          <a:latin typeface="Cambria Math" panose="02040503050406030204" pitchFamily="18" charset="0"/>
                        </a:rPr>
                        <m:t>message</m:t>
                      </m:r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1400" i="0" smtClean="0">
                          <a:latin typeface="Cambria Math" panose="02040503050406030204" pitchFamily="18" charset="0"/>
                        </a:rPr>
                        <m:t>frequency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68C695F-AB1D-A5B3-A6A5-C2E3EC1307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1936" y="3479285"/>
                <a:ext cx="6408056" cy="307777"/>
              </a:xfrm>
              <a:prstGeom prst="rect">
                <a:avLst/>
              </a:prstGeom>
              <a:blipFill>
                <a:blip r:embed="rId4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Picture 2" descr="AAHWVUG0.jpg">
            <a:extLst>
              <a:ext uri="{FF2B5EF4-FFF2-40B4-BE49-F238E27FC236}">
                <a16:creationId xmlns:a16="http://schemas.microsoft.com/office/drawing/2014/main" id="{1C8ABBC2-4D04-59D2-529F-F18647EB3DF4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0505"/>
          <a:stretch>
            <a:fillRect/>
          </a:stretch>
        </p:blipFill>
        <p:spPr bwMode="auto">
          <a:xfrm>
            <a:off x="6444632" y="1931797"/>
            <a:ext cx="5168248" cy="323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D39AF47-7610-FD44-A241-3BE837BE93FD}"/>
              </a:ext>
            </a:extLst>
          </p:cNvPr>
          <p:cNvSpPr/>
          <p:nvPr/>
        </p:nvSpPr>
        <p:spPr>
          <a:xfrm>
            <a:off x="612648" y="1931797"/>
            <a:ext cx="82296" cy="354639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2E0851E-7F60-646F-2503-3C1D96F00A7B}"/>
                  </a:ext>
                </a:extLst>
              </p:cNvPr>
              <p:cNvSpPr txBox="1"/>
              <p:nvPr/>
            </p:nvSpPr>
            <p:spPr>
              <a:xfrm>
                <a:off x="-621936" y="4200055"/>
                <a:ext cx="6408056" cy="610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borderBox>
                        <m:borderBoxPr>
                          <m:ctrlPr>
                            <a:rPr lang="en-US" sz="2400" i="1"/>
                          </m:ctrlPr>
                        </m:borderBoxPr>
                        <m:e>
                          <m:r>
                            <a:rPr lang="en-US" sz="2400" i="1"/>
                            <m:t>𝐵</m:t>
                          </m:r>
                          <m:sSub>
                            <m:sSubPr>
                              <m:ctrlPr>
                                <a:rPr lang="en-US" sz="2400" i="1"/>
                              </m:ctrlPr>
                            </m:sSubPr>
                            <m:e>
                              <m:r>
                                <a:rPr lang="en-US" sz="2400" i="1"/>
                                <m:t>𝑊</m:t>
                              </m:r>
                            </m:e>
                            <m:sub>
                              <m:r>
                                <a:rPr lang="en-US" sz="2400" i="1"/>
                                <m:t>𝐴𝑀</m:t>
                              </m:r>
                            </m:sub>
                          </m:sSub>
                          <m:r>
                            <a:rPr lang="en-US" sz="2400" i="0"/>
                            <m:t>=2</m:t>
                          </m:r>
                          <m:sSub>
                            <m:sSubPr>
                              <m:ctrlPr>
                                <a:rPr lang="en-US" sz="2400" i="1"/>
                              </m:ctrlPr>
                            </m:sSubPr>
                            <m:e>
                              <m:r>
                                <a:rPr lang="en-US" sz="2400" i="1"/>
                                <m:t>𝑓</m:t>
                              </m:r>
                            </m:e>
                            <m:sub>
                              <m:r>
                                <a:rPr lang="en-US" sz="2400" i="1"/>
                                <m:t>𝑚</m:t>
                              </m:r>
                              <m:r>
                                <a:rPr lang="en-US" sz="2400" i="0"/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/>
                                <m:t>max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2E0851E-7F60-646F-2503-3C1D96F00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1936" y="4200055"/>
                <a:ext cx="6408056" cy="6101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B2D50-3E5A-DCC9-ABA3-A786D836A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3355B9-7959-96A5-9BD2-6A7D898D4F5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B82671B9-D03C-68FE-6684-56EC33A970BC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ED02506-C788-7FA8-1459-6C50FDD2FB9B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E060F473-7CE1-A689-F215-B5A2B7AE0CC3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4468E014-81A6-F607-9270-7AD282CF384A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C20F8698-68DC-F475-14CC-53D762E60A26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EF928EC-818C-1236-7CF0-41EF6BD5E5E8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3D821-2ECF-C130-B1FF-DCA75F4A5B82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5985B8-08A3-95E2-0553-969FCFAE808E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QUANTITATIVE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9D01BB-A4B3-82C7-C178-757FCEF26A7F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Important Relationships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BFD2C0D-2CD5-E054-3818-752D70AC273D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FDAD77C-B78D-3283-3182-BED15004BFF6}"/>
              </a:ext>
            </a:extLst>
          </p:cNvPr>
          <p:cNvSpPr/>
          <p:nvPr/>
        </p:nvSpPr>
        <p:spPr>
          <a:xfrm>
            <a:off x="621792" y="1828799"/>
            <a:ext cx="4477512" cy="368662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956BE6-B98D-9B04-A391-8DED4E7DB92B}"/>
              </a:ext>
            </a:extLst>
          </p:cNvPr>
          <p:cNvSpPr/>
          <p:nvPr/>
        </p:nvSpPr>
        <p:spPr>
          <a:xfrm>
            <a:off x="612648" y="1931797"/>
            <a:ext cx="82296" cy="3546396"/>
          </a:xfrm>
          <a:prstGeom prst="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80256D-6FA0-5F0B-F411-7E5DAA74683E}"/>
                  </a:ext>
                </a:extLst>
              </p:cNvPr>
              <p:cNvSpPr txBox="1"/>
              <p:nvPr/>
            </p:nvSpPr>
            <p:spPr>
              <a:xfrm>
                <a:off x="-328921" y="1968069"/>
                <a:ext cx="6117770" cy="7204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780256D-6FA0-5F0B-F411-7E5DAA7468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8921" y="1968069"/>
                <a:ext cx="6117770" cy="7204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07D668-8FEE-507D-808D-56CA4685C999}"/>
                  </a:ext>
                </a:extLst>
              </p:cNvPr>
              <p:cNvSpPr txBox="1"/>
              <p:nvPr/>
            </p:nvSpPr>
            <p:spPr>
              <a:xfrm>
                <a:off x="1731317" y="3578494"/>
                <a:ext cx="2218335" cy="6595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E07D668-8FEE-507D-808D-56CA4685C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317" y="3578494"/>
                <a:ext cx="2218335" cy="6595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2" descr="AAHWVUE0.jpg">
            <a:extLst>
              <a:ext uri="{FF2B5EF4-FFF2-40B4-BE49-F238E27FC236}">
                <a16:creationId xmlns:a16="http://schemas.microsoft.com/office/drawing/2014/main" id="{BB2E5381-DFDE-D215-F029-48DAFAEBAB5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295335" y="1544399"/>
            <a:ext cx="6687224" cy="45637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B9D8E01-C31F-5519-64E9-9CC65A9F21CB}"/>
              </a:ext>
            </a:extLst>
          </p:cNvPr>
          <p:cNvSpPr txBox="1"/>
          <p:nvPr/>
        </p:nvSpPr>
        <p:spPr>
          <a:xfrm>
            <a:off x="5882244" y="4143378"/>
            <a:ext cx="95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m≈0.5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9C0593-14B7-0BD7-3440-E3CA76F936AF}"/>
              </a:ext>
            </a:extLst>
          </p:cNvPr>
          <p:cNvSpPr txBox="1"/>
          <p:nvPr/>
        </p:nvSpPr>
        <p:spPr>
          <a:xfrm>
            <a:off x="7981244" y="4143378"/>
            <a:ext cx="95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m≈0.98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F1C8C9-6703-A7F8-C006-1F64736376F3}"/>
              </a:ext>
            </a:extLst>
          </p:cNvPr>
          <p:cNvSpPr txBox="1"/>
          <p:nvPr/>
        </p:nvSpPr>
        <p:spPr>
          <a:xfrm>
            <a:off x="10260132" y="4128863"/>
            <a:ext cx="95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m≈0.25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59B7A7-6647-C6E1-6F6D-16E6979CC486}"/>
                  </a:ext>
                </a:extLst>
              </p:cNvPr>
              <p:cNvSpPr txBox="1"/>
              <p:nvPr/>
            </p:nvSpPr>
            <p:spPr>
              <a:xfrm>
                <a:off x="1708348" y="5002792"/>
                <a:ext cx="21328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mtClean="0">
                          <a:latin typeface="+mn-lt"/>
                        </a:rPr>
                        <m:t>0</m:t>
                      </m:r>
                      <m:r>
                        <a:rPr lang="en-US" i="0">
                          <a:latin typeface="+mn-lt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i="0">
                          <a:latin typeface="+mn-lt"/>
                        </a:rPr>
                        <m:t>≤1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C59B7A7-6647-C6E1-6F6D-16E6979CC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348" y="5002792"/>
                <a:ext cx="2132873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AB20A654-AA30-DF58-AC2E-616CD4496CC7}"/>
              </a:ext>
            </a:extLst>
          </p:cNvPr>
          <p:cNvSpPr txBox="1"/>
          <p:nvPr/>
        </p:nvSpPr>
        <p:spPr>
          <a:xfrm>
            <a:off x="1143000" y="4803698"/>
            <a:ext cx="1323848" cy="2146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400" b="0" i="0" dirty="0">
                <a:solidFill>
                  <a:srgbClr val="182028"/>
                </a:solidFill>
                <a:latin typeface="Aptos"/>
              </a:rPr>
              <a:t>Typically:</a:t>
            </a:r>
            <a:endParaRPr sz="1400" b="0" i="0" dirty="0">
              <a:solidFill>
                <a:srgbClr val="182028"/>
              </a:solidFill>
              <a:latin typeface="Apto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9B555B1-36CB-991B-B38F-073E8B70BA31}"/>
              </a:ext>
            </a:extLst>
          </p:cNvPr>
          <p:cNvSpPr txBox="1"/>
          <p:nvPr/>
        </p:nvSpPr>
        <p:spPr>
          <a:xfrm>
            <a:off x="956423" y="4295580"/>
            <a:ext cx="3808250" cy="183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lang="en-US" sz="1200" b="0" i="0" dirty="0">
                <a:solidFill>
                  <a:srgbClr val="182028"/>
                </a:solidFill>
                <a:latin typeface="Aptos"/>
              </a:rPr>
              <a:t>What are the minimum and maximum values of m for AM?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CD21B6-9275-E73D-EAA2-ADEFDD931430}"/>
                  </a:ext>
                </a:extLst>
              </p:cNvPr>
              <p:cNvSpPr txBox="1"/>
              <p:nvPr/>
            </p:nvSpPr>
            <p:spPr>
              <a:xfrm>
                <a:off x="1557266" y="2782669"/>
                <a:ext cx="260656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1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4CD21B6-9275-E73D-EAA2-ADEFDD9314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266" y="2782669"/>
                <a:ext cx="2606563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F693E0D-F2D8-F76D-1852-AD1596E1C8C1}"/>
                  </a:ext>
                </a:extLst>
              </p:cNvPr>
              <p:cNvSpPr txBox="1"/>
              <p:nvPr/>
            </p:nvSpPr>
            <p:spPr>
              <a:xfrm>
                <a:off x="1557266" y="3160765"/>
                <a:ext cx="260656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/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F693E0D-F2D8-F76D-1852-AD1596E1C8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266" y="3160765"/>
                <a:ext cx="2606563" cy="6463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364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4610B4-0B25-9CC6-8AFF-0736BC3D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7E60A9-298F-A880-07C3-47F85540746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09B60A7B-B5A1-B7B4-16F1-8F95B29B3592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AE89F67D-0B2A-FB85-DAC6-A1CD3444F9AE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209ACECE-7E75-4D01-E7F1-B904E33AEAC2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B7DB071-3D27-4613-6459-ADA32D535B03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4E3CC8F2-9C97-68B7-C5A5-B1BCAC16CDB7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4ADEE00F-EC96-E664-70CF-F718F5942671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0C1856-8986-842D-3AD6-AC0C6ECAEA96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BFDF5F-E7C6-8FDD-0506-36B103A81EAB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APPLY THE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285965-0025-AB22-4458-0CD297493551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What if m&gt;1?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B4D73FCB-4DBC-7C5E-5399-B1D350D6BBFC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AM Time &amp; Freq domains">
            <a:hlinkClick r:id="" action="ppaction://media"/>
            <a:extLst>
              <a:ext uri="{FF2B5EF4-FFF2-40B4-BE49-F238E27FC236}">
                <a16:creationId xmlns:a16="http://schemas.microsoft.com/office/drawing/2014/main" id="{99D7DA50-EA0B-9D63-B5C4-4C6A42DEED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3108960" y="0"/>
            <a:ext cx="8244840" cy="618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1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CE24CB-111F-EC28-1A3D-021B0E722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A7ED21B-90C0-9897-5710-58D167C22EBD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9F283441-03F2-0D5C-E8B8-241481B6858C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FE50D919-9DE7-5237-342A-10AADE0D7364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2DA7D207-A124-3A6F-047A-A23856F0028D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1F24186C-8A91-575F-C910-40E5375019E4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A074BB7E-9687-C121-A313-223E6E533861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F386982-9899-ED5D-4B8A-D72D8B2D06B8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AB00A1-2552-8166-7748-50EE38FB931C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ADCEFA-1247-C7D1-79EA-0A7A5F68BB0B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APPLY THE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59B1B-CB64-3DFD-544F-FF789D04C984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900" b="1" i="0" dirty="0">
                <a:solidFill>
                  <a:srgbClr val="17324D"/>
                </a:solidFill>
                <a:latin typeface="Aptos Display"/>
              </a:rPr>
              <a:t>In the oscilloscope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AE2C991-0443-23CE-B869-4A86726735AE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273DEC4C-9365-E77D-27CA-DCB79CDC24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34" y="1616031"/>
            <a:ext cx="3178215" cy="456553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2651C5A-1E05-F7EE-3324-1CC1ABA582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818" y="1616031"/>
            <a:ext cx="3355259" cy="46832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10C7ADA-6473-B9BD-79C3-3F2041D0C6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644" y="1599983"/>
            <a:ext cx="3703956" cy="471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768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" descr="AAHWVUH0.jpg">
            <a:extLst>
              <a:ext uri="{FF2B5EF4-FFF2-40B4-BE49-F238E27FC236}">
                <a16:creationId xmlns:a16="http://schemas.microsoft.com/office/drawing/2014/main" id="{2E22DBA6-BE63-278C-6AC7-4F2624BF31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1680" y="1305378"/>
            <a:ext cx="8686800" cy="375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APPLY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 dirty="0">
                <a:solidFill>
                  <a:srgbClr val="17324D"/>
                </a:solidFill>
                <a:latin typeface="Aptos Display"/>
              </a:rPr>
              <a:t>Practice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6B0180E-2365-C86E-419D-AF815231426F}"/>
              </a:ext>
            </a:extLst>
          </p:cNvPr>
          <p:cNvSpPr txBox="1"/>
          <p:nvPr/>
        </p:nvSpPr>
        <p:spPr>
          <a:xfrm>
            <a:off x="3296195" y="5310072"/>
            <a:ext cx="61177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ptos" panose="020B0004020202020204" pitchFamily="34" charset="0"/>
              </a:rPr>
              <a:t>What is the BW of the modulating signal? </a:t>
            </a: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What is the BW of the carrier? </a:t>
            </a:r>
          </a:p>
          <a:p>
            <a:pPr algn="ctr"/>
            <a:r>
              <a:rPr lang="en-US" sz="1600" dirty="0">
                <a:latin typeface="Aptos" panose="020B0004020202020204" pitchFamily="34" charset="0"/>
              </a:rPr>
              <a:t>What is the BW of the composite signal?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832566-C6B4-C5FB-1BB3-F66A7BF8D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ounded Rectangle 20">
            <a:extLst>
              <a:ext uri="{FF2B5EF4-FFF2-40B4-BE49-F238E27FC236}">
                <a16:creationId xmlns:a16="http://schemas.microsoft.com/office/drawing/2014/main" id="{A9CCF832-21DA-F192-30AB-8A663263D88D}"/>
              </a:ext>
            </a:extLst>
          </p:cNvPr>
          <p:cNvSpPr/>
          <p:nvPr/>
        </p:nvSpPr>
        <p:spPr>
          <a:xfrm>
            <a:off x="7918704" y="1861728"/>
            <a:ext cx="3520440" cy="2020435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0F9A55-6B5C-9688-402B-2E7D5C8F6CA9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>
            <a:extLst>
              <a:ext uri="{FF2B5EF4-FFF2-40B4-BE49-F238E27FC236}">
                <a16:creationId xmlns:a16="http://schemas.microsoft.com/office/drawing/2014/main" id="{ED283873-8047-3D4F-6E29-3F7E01B3BA49}"/>
              </a:ext>
            </a:extLst>
          </p:cNvPr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>
            <a:extLst>
              <a:ext uri="{FF2B5EF4-FFF2-40B4-BE49-F238E27FC236}">
                <a16:creationId xmlns:a16="http://schemas.microsoft.com/office/drawing/2014/main" id="{4E726E59-04E2-28AA-6BF2-BAEB0D5A4F79}"/>
              </a:ext>
            </a:extLst>
          </p:cNvPr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A8140A00-4BDD-1B18-28FD-F63425EE8567}"/>
              </a:ext>
            </a:extLst>
          </p:cNvPr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>
            <a:extLst>
              <a:ext uri="{FF2B5EF4-FFF2-40B4-BE49-F238E27FC236}">
                <a16:creationId xmlns:a16="http://schemas.microsoft.com/office/drawing/2014/main" id="{7C73E576-665F-29F0-E799-E767C70F91A0}"/>
              </a:ext>
            </a:extLst>
          </p:cNvPr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901B234-F524-8E68-82FA-F3A1E3770DE8}"/>
              </a:ext>
            </a:extLst>
          </p:cNvPr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C5B8A26-DC5B-C2C9-4233-E034B9DEF399}"/>
              </a:ext>
            </a:extLst>
          </p:cNvPr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3DAFA8-95E8-11C8-84E0-4566F7FA500D}"/>
              </a:ext>
            </a:extLst>
          </p:cNvPr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09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B08085-3D67-E26F-0F49-6364C9F7FD36}"/>
              </a:ext>
            </a:extLst>
          </p:cNvPr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APPLY THE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D30202-8E89-A1F3-E4D7-973EA13FC7DE}"/>
              </a:ext>
            </a:extLst>
          </p:cNvPr>
          <p:cNvSpPr txBox="1"/>
          <p:nvPr/>
        </p:nvSpPr>
        <p:spPr>
          <a:xfrm>
            <a:off x="594360" y="749808"/>
            <a:ext cx="10881360" cy="446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Practice</a:t>
            </a:r>
            <a:endParaRPr sz="2900" b="1" i="0" dirty="0">
              <a:solidFill>
                <a:srgbClr val="17324D"/>
              </a:solidFill>
              <a:latin typeface="Aptos Display"/>
            </a:endParaRP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A23881D1-47CA-16E0-76F2-DD2540ABE97B}"/>
              </a:ext>
            </a:extLst>
          </p:cNvPr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20">
            <a:extLst>
              <a:ext uri="{FF2B5EF4-FFF2-40B4-BE49-F238E27FC236}">
                <a16:creationId xmlns:a16="http://schemas.microsoft.com/office/drawing/2014/main" id="{DB24B379-B40F-1906-72BC-386A00661E9C}"/>
              </a:ext>
            </a:extLst>
          </p:cNvPr>
          <p:cNvSpPr/>
          <p:nvPr/>
        </p:nvSpPr>
        <p:spPr>
          <a:xfrm>
            <a:off x="7918704" y="4044531"/>
            <a:ext cx="3520440" cy="2020435"/>
          </a:xfrm>
          <a:prstGeom prst="roundRect">
            <a:avLst/>
          </a:prstGeom>
          <a:solidFill>
            <a:srgbClr val="F4E3D8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2">
            <a:extLst>
              <a:ext uri="{FF2B5EF4-FFF2-40B4-BE49-F238E27FC236}">
                <a16:creationId xmlns:a16="http://schemas.microsoft.com/office/drawing/2014/main" id="{F00A72DE-214F-1455-62B8-8F87A9808B93}"/>
              </a:ext>
            </a:extLst>
          </p:cNvPr>
          <p:cNvSpPr/>
          <p:nvPr/>
        </p:nvSpPr>
        <p:spPr>
          <a:xfrm>
            <a:off x="685800" y="1828800"/>
            <a:ext cx="3276600" cy="197471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9303C0-0355-0B52-0732-D58ACD5219A9}"/>
              </a:ext>
            </a:extLst>
          </p:cNvPr>
          <p:cNvSpPr txBox="1"/>
          <p:nvPr/>
        </p:nvSpPr>
        <p:spPr>
          <a:xfrm>
            <a:off x="903790" y="1962950"/>
            <a:ext cx="278853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An AM transmitter has: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Find the </a:t>
            </a:r>
            <a:r>
              <a:rPr lang="en-US" sz="2000" b="1" dirty="0"/>
              <a:t>USB</a:t>
            </a:r>
            <a:r>
              <a:rPr lang="en-US" sz="2000" dirty="0"/>
              <a:t> and </a:t>
            </a:r>
            <a:r>
              <a:rPr lang="en-US" sz="2000" b="1" dirty="0"/>
              <a:t>LSB</a:t>
            </a:r>
            <a:r>
              <a:rPr lang="en-US" sz="2000" dirty="0"/>
              <a:t> frequencies.</a:t>
            </a:r>
          </a:p>
        </p:txBody>
      </p:sp>
      <p:sp>
        <p:nvSpPr>
          <p:cNvPr id="20" name="Rounded Rectangle 12">
            <a:extLst>
              <a:ext uri="{FF2B5EF4-FFF2-40B4-BE49-F238E27FC236}">
                <a16:creationId xmlns:a16="http://schemas.microsoft.com/office/drawing/2014/main" id="{5FF3838A-1FE3-AEB5-E12B-8C023008A1EA}"/>
              </a:ext>
            </a:extLst>
          </p:cNvPr>
          <p:cNvSpPr/>
          <p:nvPr/>
        </p:nvSpPr>
        <p:spPr>
          <a:xfrm>
            <a:off x="685800" y="4099059"/>
            <a:ext cx="3276600" cy="1974715"/>
          </a:xfrm>
          <a:prstGeom prst="roundRect">
            <a:avLst/>
          </a:prstGeom>
          <a:solidFill>
            <a:srgbClr val="E3EBF1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53EA6D-1845-8E9C-77F8-3E2326FDF932}"/>
              </a:ext>
            </a:extLst>
          </p:cNvPr>
          <p:cNvSpPr txBox="1"/>
          <p:nvPr/>
        </p:nvSpPr>
        <p:spPr>
          <a:xfrm>
            <a:off x="685800" y="4547807"/>
            <a:ext cx="32766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An AM station uses a carrier of 1.2 </a:t>
            </a:r>
            <a:r>
              <a:rPr lang="en-US" sz="1600" dirty="0" err="1"/>
              <a:t>MHz.</a:t>
            </a:r>
            <a:r>
              <a:rPr lang="en-US" sz="1600" dirty="0"/>
              <a:t> Its message contains frequencies from 100 Hz to 6 kHz. What is the bandwidth of the complete AM signal?</a:t>
            </a:r>
            <a:endParaRPr lang="en-US" sz="1600" dirty="0">
              <a:latin typeface="Aptos" panose="020B0004020202020204" pitchFamily="34" charset="0"/>
            </a:endParaRPr>
          </a:p>
        </p:txBody>
      </p:sp>
      <p:sp>
        <p:nvSpPr>
          <p:cNvPr id="26" name="Rounded Rectangle 16">
            <a:extLst>
              <a:ext uri="{FF2B5EF4-FFF2-40B4-BE49-F238E27FC236}">
                <a16:creationId xmlns:a16="http://schemas.microsoft.com/office/drawing/2014/main" id="{B6B339A7-27CD-0FED-B765-9B2D78C91B40}"/>
              </a:ext>
            </a:extLst>
          </p:cNvPr>
          <p:cNvSpPr/>
          <p:nvPr/>
        </p:nvSpPr>
        <p:spPr>
          <a:xfrm>
            <a:off x="4191000" y="1828800"/>
            <a:ext cx="3276600" cy="197471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3B59FC24-9558-C46D-AE22-955961FF4ABB}"/>
              </a:ext>
            </a:extLst>
          </p:cNvPr>
          <p:cNvSpPr/>
          <p:nvPr/>
        </p:nvSpPr>
        <p:spPr>
          <a:xfrm>
            <a:off x="4191000" y="4099058"/>
            <a:ext cx="3276600" cy="1974715"/>
          </a:xfrm>
          <a:prstGeom prst="roundRect">
            <a:avLst/>
          </a:prstGeom>
          <a:solidFill>
            <a:srgbClr val="DDECEA"/>
          </a:solidFill>
          <a:ln w="10160">
            <a:solidFill>
              <a:srgbClr val="CCD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4E4767-C18A-88C2-3339-2A143F269578}"/>
              </a:ext>
            </a:extLst>
          </p:cNvPr>
          <p:cNvSpPr txBox="1"/>
          <p:nvPr/>
        </p:nvSpPr>
        <p:spPr>
          <a:xfrm>
            <a:off x="4180390" y="1959977"/>
            <a:ext cx="327660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On an oscilloscope, an AM envelope has: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Find </a:t>
            </a:r>
            <a:r>
              <a:rPr lang="en-US" sz="2000" b="1" dirty="0"/>
              <a:t>m </a:t>
            </a:r>
            <a:r>
              <a:rPr lang="en-US" sz="2000" dirty="0"/>
              <a:t>and the percent modulation.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30A046C-5A97-722A-4CFF-332ECB9B9C73}"/>
              </a:ext>
            </a:extLst>
          </p:cNvPr>
          <p:cNvSpPr txBox="1"/>
          <p:nvPr/>
        </p:nvSpPr>
        <p:spPr>
          <a:xfrm>
            <a:off x="4255982" y="4430697"/>
            <a:ext cx="32766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An AM signal has: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Find Vmax and </a:t>
            </a:r>
            <a:r>
              <a:rPr lang="en-US" sz="2000" dirty="0" err="1"/>
              <a:t>Vmin</a:t>
            </a:r>
            <a:r>
              <a:rPr lang="en-US" sz="2000" dirty="0"/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D5271A3-BF3B-20FA-5DF4-C72758F43ECF}"/>
              </a:ext>
            </a:extLst>
          </p:cNvPr>
          <p:cNvSpPr txBox="1"/>
          <p:nvPr/>
        </p:nvSpPr>
        <p:spPr>
          <a:xfrm>
            <a:off x="8147303" y="4341217"/>
            <a:ext cx="3276601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An AM signal has sidebands at:</a:t>
            </a:r>
          </a:p>
          <a:p>
            <a:pPr algn="ctr"/>
            <a:endParaRPr lang="en-US" sz="2000" dirty="0"/>
          </a:p>
          <a:p>
            <a:pPr algn="ctr"/>
            <a:endParaRPr lang="en-US" sz="2000" dirty="0"/>
          </a:p>
          <a:p>
            <a:pPr algn="ctr"/>
            <a:r>
              <a:rPr lang="en-US" sz="2000" dirty="0"/>
              <a:t>What are fc and </a:t>
            </a:r>
            <a:r>
              <a:rPr lang="en-US" sz="2000" dirty="0" err="1"/>
              <a:t>fm</a:t>
            </a:r>
            <a:r>
              <a:rPr lang="en-US" sz="2000" dirty="0"/>
              <a:t>?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1B7800-DEEF-216E-760D-403FB8CC38C1}"/>
              </a:ext>
            </a:extLst>
          </p:cNvPr>
          <p:cNvSpPr txBox="1"/>
          <p:nvPr/>
        </p:nvSpPr>
        <p:spPr>
          <a:xfrm>
            <a:off x="8040623" y="2281639"/>
            <a:ext cx="327660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Which of these signals are overmodulated?</a:t>
            </a:r>
          </a:p>
          <a:p>
            <a:pPr algn="ctr"/>
            <a:endParaRPr lang="en-US" sz="2000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75B429-37C3-E235-144B-023A8B580E17}"/>
                  </a:ext>
                </a:extLst>
              </p:cNvPr>
              <p:cNvSpPr txBox="1"/>
              <p:nvPr/>
            </p:nvSpPr>
            <p:spPr>
              <a:xfrm>
                <a:off x="307192" y="2375434"/>
                <a:ext cx="394879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=800</m:t>
                      </m:r>
                      <m:r>
                        <m:rPr>
                          <m:nor/>
                        </m:rPr>
                        <a:rPr lang="en-US" i="0">
                          <a:latin typeface="+mn-lt"/>
                        </a:rPr>
                        <m:t> kHz</m:t>
                      </m:r>
                      <m:r>
                        <a:rPr lang="en-US" i="0">
                          <a:latin typeface="+mn-lt"/>
                        </a:rPr>
                        <m:t>,  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𝑓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𝑚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=5</m:t>
                      </m:r>
                      <m:r>
                        <m:rPr>
                          <m:nor/>
                        </m:rPr>
                        <a:rPr lang="en-US" i="0">
                          <a:latin typeface="+mn-lt"/>
                        </a:rPr>
                        <m:t> kHz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A75B429-37C3-E235-144B-023A8B580E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192" y="2375434"/>
                <a:ext cx="3948790" cy="403124"/>
              </a:xfrm>
              <a:prstGeom prst="rect">
                <a:avLst/>
              </a:prstGeom>
              <a:blipFill>
                <a:blip r:embed="rId3"/>
                <a:stretch>
                  <a:fillRect t="-3030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B03EB3-D8C3-C99A-82EB-2B29AC4DABEB}"/>
                  </a:ext>
                </a:extLst>
              </p:cNvPr>
              <p:cNvSpPr txBox="1"/>
              <p:nvPr/>
            </p:nvSpPr>
            <p:spPr>
              <a:xfrm>
                <a:off x="2927926" y="2804991"/>
                <a:ext cx="611777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max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=9</m:t>
                      </m:r>
                      <m:r>
                        <a:rPr lang="en-US" i="1">
                          <a:latin typeface="+mn-lt"/>
                        </a:rPr>
                        <m:t>𝑉</m:t>
                      </m:r>
                      <m:r>
                        <a:rPr lang="en-US" i="0">
                          <a:latin typeface="+mn-lt"/>
                        </a:rPr>
                        <m:t>,  </m:t>
                      </m:r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𝑉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i="0">
                              <a:latin typeface="+mn-lt"/>
                            </a:rPr>
                            <m:t>min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=3</m:t>
                      </m:r>
                      <m:r>
                        <a:rPr lang="en-US" i="1">
                          <a:latin typeface="+mn-lt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B03EB3-D8C3-C99A-82EB-2B29AC4DA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7926" y="2804991"/>
                <a:ext cx="6117770" cy="403124"/>
              </a:xfrm>
              <a:prstGeom prst="rect">
                <a:avLst/>
              </a:prstGeom>
              <a:blipFill>
                <a:blip r:embed="rId4"/>
                <a:stretch>
                  <a:fillRect t="-1515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4730482-5C6E-37DE-AE1D-EBBDE7B3E56C}"/>
                  </a:ext>
                </a:extLst>
              </p:cNvPr>
              <p:cNvSpPr txBox="1"/>
              <p:nvPr/>
            </p:nvSpPr>
            <p:spPr>
              <a:xfrm>
                <a:off x="2759805" y="4834883"/>
                <a:ext cx="6117770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+mn-lt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+mn-lt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+mn-lt"/>
                            </a:rPr>
                            <m:t>𝑐</m:t>
                          </m:r>
                        </m:sub>
                      </m:sSub>
                      <m:r>
                        <a:rPr lang="en-US" i="0">
                          <a:latin typeface="+mn-lt"/>
                        </a:rPr>
                        <m:t>=10</m:t>
                      </m:r>
                      <m:r>
                        <a:rPr lang="en-US" i="1">
                          <a:latin typeface="+mn-lt"/>
                        </a:rPr>
                        <m:t>𝑉</m:t>
                      </m:r>
                      <m:r>
                        <a:rPr lang="en-US" i="0">
                          <a:latin typeface="+mn-lt"/>
                        </a:rPr>
                        <m:t>,  </m:t>
                      </m:r>
                      <m:r>
                        <a:rPr lang="en-US" i="1">
                          <a:latin typeface="+mn-lt"/>
                        </a:rPr>
                        <m:t>𝑚</m:t>
                      </m:r>
                      <m:r>
                        <a:rPr lang="en-US" i="0">
                          <a:latin typeface="+mn-lt"/>
                        </a:rPr>
                        <m:t>=0.6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4730482-5C6E-37DE-AE1D-EBBDE7B3E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9805" y="4834883"/>
                <a:ext cx="6117770" cy="403124"/>
              </a:xfrm>
              <a:prstGeom prst="rect">
                <a:avLst/>
              </a:prstGeom>
              <a:blipFill>
                <a:blip r:embed="rId5"/>
                <a:stretch>
                  <a:fillRect t="-1515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3B58543-1746-C921-0559-3789BEACF576}"/>
                  </a:ext>
                </a:extLst>
              </p:cNvPr>
              <p:cNvSpPr txBox="1"/>
              <p:nvPr/>
            </p:nvSpPr>
            <p:spPr>
              <a:xfrm>
                <a:off x="7640319" y="5054748"/>
                <a:ext cx="4348551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mtClean="0">
                          <a:latin typeface="+mn-lt"/>
                        </a:rPr>
                        <m:t>995</m:t>
                      </m:r>
                      <m:r>
                        <m:rPr>
                          <m:nor/>
                        </m:rPr>
                        <a:rPr lang="en-US" i="0">
                          <a:latin typeface="+mn-lt"/>
                        </a:rPr>
                        <m:t> kHz</m:t>
                      </m:r>
                      <m:r>
                        <a:rPr lang="en-US" i="0">
                          <a:latin typeface="+mn-lt"/>
                        </a:rPr>
                        <m:t> </m:t>
                      </m:r>
                      <m:r>
                        <m:rPr>
                          <m:nor/>
                        </m:rPr>
                        <a:rPr lang="en-US" i="0">
                          <a:latin typeface="+mn-lt"/>
                        </a:rPr>
                        <m:t>and</m:t>
                      </m:r>
                      <m:r>
                        <a:rPr lang="en-US" i="0">
                          <a:latin typeface="+mn-lt"/>
                        </a:rPr>
                        <m:t> 1005</m:t>
                      </m:r>
                      <m:r>
                        <m:rPr>
                          <m:nor/>
                        </m:rPr>
                        <a:rPr lang="en-US" i="0">
                          <a:latin typeface="+mn-lt"/>
                        </a:rPr>
                        <m:t> kHz</m:t>
                      </m:r>
                      <m:r>
                        <a:rPr lang="en-US" i="0">
                          <a:latin typeface="+mn-lt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3B58543-1746-C921-0559-3789BEACF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0319" y="5054748"/>
                <a:ext cx="4348551" cy="403124"/>
              </a:xfrm>
              <a:prstGeom prst="rect">
                <a:avLst/>
              </a:prstGeom>
              <a:blipFill>
                <a:blip r:embed="rId6"/>
                <a:stretch>
                  <a:fillRect t="-1515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2FCC3B-288C-3F1A-2495-830703574839}"/>
                  </a:ext>
                </a:extLst>
              </p:cNvPr>
              <p:cNvSpPr txBox="1"/>
              <p:nvPr/>
            </p:nvSpPr>
            <p:spPr>
              <a:xfrm>
                <a:off x="8011608" y="3110499"/>
                <a:ext cx="3276602" cy="4031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+mn-lt"/>
                        </a:rPr>
                        <m:t>𝑚</m:t>
                      </m:r>
                      <m:r>
                        <a:rPr lang="en-US" i="0">
                          <a:latin typeface="+mn-lt"/>
                        </a:rPr>
                        <m:t>=0.3, </m:t>
                      </m:r>
                      <m:r>
                        <a:rPr lang="en-US" i="1">
                          <a:latin typeface="+mn-lt"/>
                        </a:rPr>
                        <m:t>𝑚</m:t>
                      </m:r>
                      <m:r>
                        <a:rPr lang="en-US" i="0">
                          <a:latin typeface="+mn-lt"/>
                        </a:rPr>
                        <m:t>=1, </m:t>
                      </m:r>
                      <m:r>
                        <a:rPr lang="en-US" i="1">
                          <a:latin typeface="+mn-lt"/>
                        </a:rPr>
                        <m:t>𝑚</m:t>
                      </m:r>
                      <m:r>
                        <a:rPr lang="en-US" i="0">
                          <a:latin typeface="+mn-lt"/>
                        </a:rPr>
                        <m:t>=1.2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92FCC3B-288C-3F1A-2495-8307035748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1608" y="3110499"/>
                <a:ext cx="3276602" cy="403124"/>
              </a:xfrm>
              <a:prstGeom prst="rect">
                <a:avLst/>
              </a:prstGeom>
              <a:blipFill>
                <a:blip r:embed="rId7"/>
                <a:stretch>
                  <a:fillRect t="-1515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90041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10698480" y="384048"/>
            <a:ext cx="960120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698480" y="521207"/>
            <a:ext cx="850392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10698480" y="658368"/>
            <a:ext cx="740664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98480" y="795527"/>
            <a:ext cx="630936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698480" y="932688"/>
            <a:ext cx="521208" cy="0"/>
          </a:xfrm>
          <a:prstGeom prst="line">
            <a:avLst/>
          </a:prstGeom>
          <a:ln w="8890">
            <a:solidFill>
              <a:srgbClr val="CCD1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2920" y="6473952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F6B73"/>
                </a:solidFill>
                <a:latin typeface="Aptos"/>
              </a:rPr>
              <a:t>LECTURE 14 | AMPLITUDE MODULATION AND SID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19088"/>
            <a:ext cx="5943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5F6B73"/>
                </a:solidFill>
                <a:latin typeface="Aptos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84048"/>
            <a:ext cx="108813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6D74"/>
                </a:solidFill>
                <a:latin typeface="Aptos"/>
              </a:rPr>
              <a:t>BRIDGE FORWARD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749808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17324D"/>
                </a:solidFill>
                <a:latin typeface="Aptos Display"/>
              </a:rPr>
              <a:t>Exit check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" y="1444752"/>
            <a:ext cx="1143000" cy="0"/>
          </a:xfrm>
          <a:prstGeom prst="line">
            <a:avLst/>
          </a:prstGeom>
          <a:ln w="38100">
            <a:solidFill>
              <a:srgbClr val="D96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2306627"/>
            <a:ext cx="1046988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b="1" dirty="0">
                <a:solidFill>
                  <a:srgbClr val="17324D"/>
                </a:solidFill>
                <a:latin typeface="Aptos Display"/>
              </a:rPr>
              <a:t>What’s the problem with AM?</a:t>
            </a:r>
            <a:endParaRPr sz="3000" b="1" i="0" dirty="0">
              <a:solidFill>
                <a:srgbClr val="17324D"/>
              </a:solidFill>
              <a:latin typeface="Aptos Display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657600" y="4892040"/>
            <a:ext cx="4846320" cy="420624"/>
          </a:xfrm>
          <a:prstGeom prst="roundRect">
            <a:avLst/>
          </a:prstGeom>
          <a:solidFill>
            <a:srgbClr val="0F6D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4892040"/>
            <a:ext cx="4846320" cy="42062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ptos"/>
              </a:rPr>
              <a:t>NEXT: FM, PM, DEVIATION, AND MODULATION TRADEOFF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02375B-9F66-AA18-9732-B2C65CBE30CB}"/>
              </a:ext>
            </a:extLst>
          </p:cNvPr>
          <p:cNvSpPr txBox="1"/>
          <p:nvPr/>
        </p:nvSpPr>
        <p:spPr>
          <a:xfrm>
            <a:off x="3015343" y="3131235"/>
            <a:ext cx="6117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0" i="0" dirty="0">
                <a:solidFill>
                  <a:srgbClr val="5F6B73"/>
                </a:solidFill>
                <a:latin typeface="Aptos"/>
              </a:rPr>
              <a:t>Are there other ways to modulate?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896</Words>
  <Application>Microsoft Office PowerPoint</Application>
  <PresentationFormat>Widescreen</PresentationFormat>
  <Paragraphs>181</Paragraphs>
  <Slides>14</Slides>
  <Notes>14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Jerson Francia</cp:lastModifiedBy>
  <cp:revision>4</cp:revision>
  <dcterms:created xsi:type="dcterms:W3CDTF">2013-01-27T09:14:16Z</dcterms:created>
  <dcterms:modified xsi:type="dcterms:W3CDTF">2026-10-05T16:47:55Z</dcterms:modified>
  <cp:category/>
</cp:coreProperties>
</file>