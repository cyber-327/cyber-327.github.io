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7" r:id="rId3"/>
    <p:sldId id="257" r:id="rId4"/>
    <p:sldId id="258" r:id="rId5"/>
    <p:sldId id="260" r:id="rId6"/>
    <p:sldId id="263" r:id="rId7"/>
    <p:sldId id="264" r:id="rId8"/>
    <p:sldId id="272" r:id="rId9"/>
    <p:sldId id="273" r:id="rId10"/>
    <p:sldId id="274" r:id="rId11"/>
    <p:sldId id="265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484" autoAdjust="0"/>
  </p:normalViewPr>
  <p:slideViewPr>
    <p:cSldViewPr snapToGrid="0" snapToObjects="1">
      <p:cViewPr varScale="1">
        <p:scale>
          <a:sx n="66" d="100"/>
          <a:sy n="66" d="100"/>
        </p:scale>
        <p:origin x="122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167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 stable five-digit result can still be inaccurate.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41108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which instrument creates the test signal and which observes it. Emphasize that every instrument has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a 1x/10x probe mismatch as an example of a valid display representing the wrong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9B9A3-E44A-A469-F9FA-B2AD5D10D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D5C9A-03B7-0CA7-0593-2CF9E3FE67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525D5-5D7C-3EB6-952D-7BD4C151EA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62A14-B638-10F7-E81A-35048EE2D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52822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A8E98-9CF9-8068-3C52-D48194B3A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799B8-6CCA-42D0-BFB3-4EFCF944E6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317692-1B2D-0F47-04CC-326B28B5A9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717FA-CDA1-6B69-9770-09C9E63F4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729275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08031-1B65-F366-5883-8FBF0707F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693D4-3724-94FC-705D-BEB2FE6D5C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D350C-697E-FE5A-D0E1-D6C3D5F122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6A390-38C2-D019-8C63-C52D760D9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963215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probe-factor mismatch commonly creates a factor-of-ten error. A generator 50-ohm versus High-Z convention commonly creates a factor-of-two error. Verify the actual instrument behavior before relying on either diagnostic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9EB0BC"/>
                </a:solidFill>
                <a:latin typeface="Aptos"/>
              </a:rPr>
              <a:t>LECTURE 04 | INSTRUMENTS + 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2C6C8"/>
                </a:solidFill>
                <a:latin typeface="Aptos"/>
              </a:rPr>
              <a:t>CYBER 327  /  LECTURE 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99669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Aptos Display"/>
              </a:rPr>
              <a:t>AC Waveforms and Measurements</a:t>
            </a:r>
            <a:endParaRPr sz="40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3182112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D6E1E7"/>
                </a:solidFill>
                <a:latin typeface="Aptos"/>
              </a:rPr>
              <a:t>The connection, setting, and instrument are part of every result.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SEP 11,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5230368"/>
            <a:ext cx="237744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04 | INSTRUMENTS + 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INSTRUMENT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Accuracy, precision, and </a:t>
            </a:r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resolution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" y="4773368"/>
            <a:ext cx="3520440" cy="1206807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" y="4869730"/>
            <a:ext cx="82296" cy="1046033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487214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5311056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Closeness to the true value within stated conditions.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4773368"/>
            <a:ext cx="3520440" cy="1206807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34256" y="4819088"/>
            <a:ext cx="82296" cy="1206808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62856" y="487214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5311056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Repeatability or spread across repeated measurements.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8704" y="4773368"/>
            <a:ext cx="3520440" cy="1206807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18704" y="4773367"/>
            <a:ext cx="82296" cy="1206808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7304" y="487214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Resolution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5311056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Smallest displayed or distinguishable increment.</a:t>
            </a: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AB537095-EDCF-E00D-04F6-EE91034F8B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134" y="2084632"/>
          <a:ext cx="1962150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80296" imgH="480060" progId="Visio.Drawing.11">
                  <p:embed/>
                </p:oleObj>
              </mc:Choice>
              <mc:Fallback>
                <p:oleObj name="Visio" r:id="rId3" imgW="480296" imgH="480060" progId="Visio.Drawing.11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AB537095-EDCF-E00D-04F6-EE91034F8B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134" y="2084632"/>
                        <a:ext cx="1962150" cy="196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C78F9C4C-BF67-C220-5B82-2F11187992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3785" y="2151307"/>
          <a:ext cx="18288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80296" imgH="480060" progId="Visio.Drawing.11">
                  <p:embed/>
                </p:oleObj>
              </mc:Choice>
              <mc:Fallback>
                <p:oleObj name="Visio" r:id="rId5" imgW="480296" imgH="480060" progId="Visio.Drawing.11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C78F9C4C-BF67-C220-5B82-2F11187992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3785" y="2151307"/>
                        <a:ext cx="1828800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Picture 2" descr="http://www.wattpowertest.co.uk/shop/media/catalog/product/cache/1/image/9df78eab33525d08d6e5fb8d27136e95/8/8/8845a.jpg">
            <a:extLst>
              <a:ext uri="{FF2B5EF4-FFF2-40B4-BE49-F238E27FC236}">
                <a16:creationId xmlns:a16="http://schemas.microsoft.com/office/drawing/2014/main" id="{9D1B637B-14B3-15B2-950F-A12451682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453458" y="1031465"/>
            <a:ext cx="5125894" cy="361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08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04 | INSTRUMENTS + 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BENCH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Four instruments, four jobs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59856" y="1747408"/>
            <a:ext cx="5230368" cy="1874519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" y="1737360"/>
            <a:ext cx="82296" cy="1874519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1901952"/>
            <a:ext cx="48188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"/>
              </a:rPr>
              <a:t>DC supply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40864"/>
            <a:ext cx="4818888" cy="1124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182028"/>
                </a:solidFill>
                <a:latin typeface="Aptos"/>
              </a:rPr>
              <a:t>Provides controlled voltage with a current limit.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37360"/>
            <a:ext cx="5230368" cy="187451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2" y="1737360"/>
            <a:ext cx="82296" cy="1874519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2" y="1901952"/>
            <a:ext cx="48188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"/>
              </a:rPr>
              <a:t>Function generator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340864"/>
            <a:ext cx="4818888" cy="1124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182028"/>
                </a:solidFill>
                <a:latin typeface="Aptos"/>
              </a:rPr>
              <a:t>Creates known waveforms, frequency, amplitude, and offset.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822191"/>
            <a:ext cx="5230368" cy="1874519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8" y="3822191"/>
            <a:ext cx="82296" cy="1874519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" y="3986783"/>
            <a:ext cx="48188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"/>
              </a:rPr>
              <a:t>Oscilloscope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425695"/>
            <a:ext cx="4818888" cy="1124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182028"/>
                </a:solidFill>
                <a:latin typeface="Aptos"/>
              </a:rPr>
              <a:t>Shows voltage versus time and derived measurements.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822191"/>
            <a:ext cx="5230368" cy="1874519"/>
          </a:xfrm>
          <a:prstGeom prst="roundRect">
            <a:avLst/>
          </a:prstGeom>
          <a:solidFill>
            <a:srgbClr val="FBF9F4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9632" y="3822191"/>
            <a:ext cx="82296" cy="1874519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2" y="3986783"/>
            <a:ext cx="48188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"/>
              </a:rPr>
              <a:t>DMM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425695"/>
            <a:ext cx="4818888" cy="1124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182028"/>
                </a:solidFill>
                <a:latin typeface="Aptos"/>
              </a:rPr>
              <a:t>Measures DC/AC voltage, resistance, and current within its bandwidth and mode limits.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04 | INSTRUMENTS + 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TRUST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The measurement chain can change the result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" y="2057400"/>
            <a:ext cx="1436914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057400"/>
            <a:ext cx="1436914" cy="8412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15" name="Chevron 14"/>
          <p:cNvSpPr/>
          <p:nvPr/>
        </p:nvSpPr>
        <p:spPr>
          <a:xfrm>
            <a:off x="2113570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232442" y="2057400"/>
            <a:ext cx="1436914" cy="841248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32442" y="2057400"/>
            <a:ext cx="1436914" cy="8412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CABLE</a:t>
            </a:r>
          </a:p>
        </p:txBody>
      </p:sp>
      <p:sp>
        <p:nvSpPr>
          <p:cNvPr id="18" name="Chevron 17"/>
          <p:cNvSpPr/>
          <p:nvPr/>
        </p:nvSpPr>
        <p:spPr>
          <a:xfrm>
            <a:off x="3687644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806516" y="2057400"/>
            <a:ext cx="1436914" cy="841248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06516" y="2057400"/>
            <a:ext cx="1436914" cy="8412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PROBE</a:t>
            </a:r>
          </a:p>
        </p:txBody>
      </p:sp>
      <p:sp>
        <p:nvSpPr>
          <p:cNvPr id="21" name="Chevron 20"/>
          <p:cNvSpPr/>
          <p:nvPr/>
        </p:nvSpPr>
        <p:spPr>
          <a:xfrm>
            <a:off x="5261718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380590" y="2057400"/>
            <a:ext cx="1436914" cy="841248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80590" y="2057400"/>
            <a:ext cx="1436914" cy="8412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INSTRUMENT</a:t>
            </a:r>
          </a:p>
        </p:txBody>
      </p:sp>
      <p:sp>
        <p:nvSpPr>
          <p:cNvPr id="24" name="Chevron 23"/>
          <p:cNvSpPr/>
          <p:nvPr/>
        </p:nvSpPr>
        <p:spPr>
          <a:xfrm>
            <a:off x="6835792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954664" y="2057400"/>
            <a:ext cx="1436914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54664" y="2057400"/>
            <a:ext cx="1436914" cy="8412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SETTING</a:t>
            </a:r>
          </a:p>
        </p:txBody>
      </p:sp>
      <p:sp>
        <p:nvSpPr>
          <p:cNvPr id="27" name="Chevron 26"/>
          <p:cNvSpPr/>
          <p:nvPr/>
        </p:nvSpPr>
        <p:spPr>
          <a:xfrm>
            <a:off x="8409866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528738" y="2057400"/>
            <a:ext cx="1436914" cy="841248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28738" y="2057400"/>
            <a:ext cx="1436914" cy="8412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DISPLAY</a:t>
            </a:r>
          </a:p>
        </p:txBody>
      </p:sp>
      <p:sp>
        <p:nvSpPr>
          <p:cNvPr id="30" name="Chevron 29"/>
          <p:cNvSpPr/>
          <p:nvPr/>
        </p:nvSpPr>
        <p:spPr>
          <a:xfrm>
            <a:off x="9983940" y="2359152"/>
            <a:ext cx="100584" cy="228600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102812" y="2057400"/>
            <a:ext cx="1436914" cy="8412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02812" y="2057400"/>
            <a:ext cx="1436914" cy="8412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CLAIM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0" y="5650992"/>
            <a:ext cx="576072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0" y="5754351"/>
            <a:ext cx="5760720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1150" b="1" i="0" dirty="0">
                <a:solidFill>
                  <a:srgbClr val="FFFFFF"/>
                </a:solidFill>
                <a:latin typeface="Aptos"/>
              </a:rPr>
              <a:t>An error or limitation at any block can propagate into the conclusion.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B2D8339-0416-35B1-7190-75FBC6F2D6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01607" y="2529937"/>
            <a:ext cx="7382333" cy="36911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04 | INSTRUMENTS + 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AC 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A periodic waveform has measurable structure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449072"/>
              </p:ext>
            </p:extLst>
          </p:nvPr>
        </p:nvGraphicFramePr>
        <p:xfrm>
          <a:off x="658368" y="3966748"/>
          <a:ext cx="5029201" cy="2251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24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Term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Definition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Aptos"/>
                        </a:rPr>
                        <a:t>Measurement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24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Peak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Maximum value relative to reference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V_peak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24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Peak-to-peak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Maximum minus minimum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V_pp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24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Period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Time for one cycle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T in seconds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24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Frequency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Cycles per second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f = 1/T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24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Offset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Average or center value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182028"/>
                          </a:solidFill>
                          <a:latin typeface="Aptos"/>
                        </a:rPr>
                        <a:t>V_offset</a:t>
                      </a:r>
                      <a:endParaRPr sz="13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A3BEA5B-8059-8258-FD31-BD74FDBA8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685962"/>
              </p:ext>
            </p:extLst>
          </p:nvPr>
        </p:nvGraphicFramePr>
        <p:xfrm>
          <a:off x="6370654" y="3938722"/>
          <a:ext cx="4757088" cy="236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4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7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5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353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Quantity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Sine-wave relationship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Aptos"/>
                        </a:rPr>
                        <a:t>Use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353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V_peak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V_pp / 2 when centered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Maximum excursion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353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V_rms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V_peak / sqrt(2) for a sine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Equivalent heating/power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353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V_offset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Center relative to reference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Bias and allowable input range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353"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182028"/>
                          </a:solidFill>
                          <a:latin typeface="Aptos"/>
                        </a:rPr>
                        <a:t>V_max</a:t>
                      </a:r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 / </a:t>
                      </a:r>
                      <a:r>
                        <a:rPr sz="1300" dirty="0" err="1">
                          <a:solidFill>
                            <a:srgbClr val="182028"/>
                          </a:solidFill>
                          <a:latin typeface="Aptos"/>
                        </a:rPr>
                        <a:t>V_min</a:t>
                      </a:r>
                      <a:endParaRPr sz="13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Offset +/- peak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Clipping and threshold checks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3F6CD71F-FFEC-66D8-88AE-D5CA689378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830"/>
          <a:stretch>
            <a:fillRect/>
          </a:stretch>
        </p:blipFill>
        <p:spPr>
          <a:xfrm>
            <a:off x="5344869" y="1092708"/>
            <a:ext cx="5723943" cy="294477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36825C4-8352-A6C4-B959-4964928D35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81" t="9338" r="-9881" b="27173"/>
          <a:stretch>
            <a:fillRect/>
          </a:stretch>
        </p:blipFill>
        <p:spPr>
          <a:xfrm>
            <a:off x="405651" y="1485241"/>
            <a:ext cx="5723943" cy="24227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04 | INSTRUMENTS + 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DC VERSUS 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Coupling changes what the display includes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898492"/>
              </p:ext>
            </p:extLst>
          </p:nvPr>
        </p:nvGraphicFramePr>
        <p:xfrm>
          <a:off x="1085321" y="4986984"/>
          <a:ext cx="10244095" cy="1145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3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51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5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712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Aptos"/>
                        </a:rPr>
                        <a:t>Channel mode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Aptos"/>
                        </a:rPr>
                        <a:t>What the scope shows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Main caution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1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DC coupling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AC variation plus DC offset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Use this to preserve the full waveform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71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AC coupling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AC variation with DC blocked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The offset disappears from view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4" name="Picture 13" descr="PicoScope Oscilloscope AC Coupling">
            <a:extLst>
              <a:ext uri="{FF2B5EF4-FFF2-40B4-BE49-F238E27FC236}">
                <a16:creationId xmlns:a16="http://schemas.microsoft.com/office/drawing/2014/main" id="{84D3955E-B1AF-2B02-D469-7C0EF83974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806" r="52143"/>
          <a:stretch>
            <a:fillRect/>
          </a:stretch>
        </p:blipFill>
        <p:spPr>
          <a:xfrm>
            <a:off x="4119135" y="1781019"/>
            <a:ext cx="3831810" cy="2669849"/>
          </a:xfrm>
          <a:prstGeom prst="rect">
            <a:avLst/>
          </a:prstGeom>
        </p:spPr>
      </p:pic>
      <p:pic>
        <p:nvPicPr>
          <p:cNvPr id="16" name="Picture 15" descr="PicoScope Oscilloscope AC Coupling">
            <a:extLst>
              <a:ext uri="{FF2B5EF4-FFF2-40B4-BE49-F238E27FC236}">
                <a16:creationId xmlns:a16="http://schemas.microsoft.com/office/drawing/2014/main" id="{036B8BCF-8E90-F901-17B4-ED5D530AB0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16" r="26313" b="52216"/>
          <a:stretch>
            <a:fillRect/>
          </a:stretch>
        </p:blipFill>
        <p:spPr>
          <a:xfrm>
            <a:off x="-364152" y="1869949"/>
            <a:ext cx="4353348" cy="2491990"/>
          </a:xfrm>
          <a:prstGeom prst="rect">
            <a:avLst/>
          </a:prstGeom>
        </p:spPr>
      </p:pic>
      <p:pic>
        <p:nvPicPr>
          <p:cNvPr id="18" name="Picture 17" descr="PicoScope Oscilloscope AC Coupling">
            <a:extLst>
              <a:ext uri="{FF2B5EF4-FFF2-40B4-BE49-F238E27FC236}">
                <a16:creationId xmlns:a16="http://schemas.microsoft.com/office/drawing/2014/main" id="{D2E2A917-6F75-F1D9-7990-061A161A9C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045" t="44681" r="98" b="4125"/>
          <a:stretch>
            <a:fillRect/>
          </a:stretch>
        </p:blipFill>
        <p:spPr>
          <a:xfrm>
            <a:off x="7773199" y="1692090"/>
            <a:ext cx="3831810" cy="26698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04 | INSTRUMENTS + 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CONTROLS THAT MATTER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Oscilloscope setu</a:t>
            </a:r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p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" y="4491612"/>
            <a:ext cx="3520440" cy="1086227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" y="4491612"/>
            <a:ext cx="45720" cy="10862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4564865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Vertical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5010912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Volts/div, channel coupling, offset, probe factor, input limit.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4497754"/>
            <a:ext cx="3520440" cy="1080085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34256" y="4564864"/>
            <a:ext cx="45720" cy="1012975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62856" y="449775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Horizontal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4936666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Seconds/div, sample rate, record length, acquisition mode.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8704" y="4491612"/>
            <a:ext cx="3520440" cy="1086228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18704" y="4497754"/>
            <a:ext cx="45720" cy="1080086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7304" y="4564865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Trigger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5003777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Source, level, slope, mode, and holdoff stabilize repeated events.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29597BE-1B40-604A-668B-A558A65995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196" y="46837"/>
            <a:ext cx="5886238" cy="42924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F05D9-2EE1-77DA-75D2-6D10996CD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216195-08A0-84EA-8F98-AF0FCA270C0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D22505B9-B5CE-F0F9-6EE6-D307A0C88888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1F9206CE-9D0D-17C6-16B7-0F68E2A4D2C9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20ED800E-AD1C-4A70-90A4-1CDEC989EBA2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D50F1DE1-0BC0-4DF8-5CF1-6D42C929155F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375290AE-7F44-2545-E22A-1CDB8B099AB2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BD47D73-F9B8-D1D3-3086-9F3848AEE089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04 | INSTRUMENTS + 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5E3E2-2CAF-9843-3143-CACD1F0FF73B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19FBFB-8E1A-3CA0-5217-D599946A85D5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CONTROLS THAT MATTER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867675-48EB-AD63-C88D-2ABD898A3ABF}"/>
              </a:ext>
            </a:extLst>
          </p:cNvPr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Oscilloscope setu</a:t>
            </a:r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p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C56F5A8D-1219-6023-FD3A-1FEDE1F4D783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AEDBD54-6899-AC61-2D62-210EE14FC71B}"/>
              </a:ext>
            </a:extLst>
          </p:cNvPr>
          <p:cNvSpPr/>
          <p:nvPr/>
        </p:nvSpPr>
        <p:spPr>
          <a:xfrm>
            <a:off x="749808" y="4491612"/>
            <a:ext cx="3520440" cy="1086227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8A7A5A-B0F4-A307-AD9A-3C375D91BF37}"/>
              </a:ext>
            </a:extLst>
          </p:cNvPr>
          <p:cNvSpPr/>
          <p:nvPr/>
        </p:nvSpPr>
        <p:spPr>
          <a:xfrm>
            <a:off x="749808" y="4491612"/>
            <a:ext cx="45720" cy="10862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C7E501-4E83-A1C9-FD9E-05FE184CA6AB}"/>
              </a:ext>
            </a:extLst>
          </p:cNvPr>
          <p:cNvSpPr txBox="1"/>
          <p:nvPr/>
        </p:nvSpPr>
        <p:spPr>
          <a:xfrm>
            <a:off x="978408" y="4564865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Vertical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1616F-3DE2-59DA-58F1-F08A8548E180}"/>
              </a:ext>
            </a:extLst>
          </p:cNvPr>
          <p:cNvSpPr txBox="1"/>
          <p:nvPr/>
        </p:nvSpPr>
        <p:spPr>
          <a:xfrm>
            <a:off x="978408" y="5010912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Volts/div, channel coupling, offset, probe factor, input limit.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25D9C3A-6C65-39E0-025B-FD14660FA9D9}"/>
              </a:ext>
            </a:extLst>
          </p:cNvPr>
          <p:cNvSpPr/>
          <p:nvPr/>
        </p:nvSpPr>
        <p:spPr>
          <a:xfrm>
            <a:off x="4334256" y="4497754"/>
            <a:ext cx="3520440" cy="1080085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282D7D-5F77-861D-AFF9-F431CE1B331C}"/>
              </a:ext>
            </a:extLst>
          </p:cNvPr>
          <p:cNvSpPr/>
          <p:nvPr/>
        </p:nvSpPr>
        <p:spPr>
          <a:xfrm>
            <a:off x="4334256" y="4564864"/>
            <a:ext cx="45720" cy="1012975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F8C0E9-A733-CC7C-9850-FEA8D973BD54}"/>
              </a:ext>
            </a:extLst>
          </p:cNvPr>
          <p:cNvSpPr txBox="1"/>
          <p:nvPr/>
        </p:nvSpPr>
        <p:spPr>
          <a:xfrm>
            <a:off x="4562856" y="449775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Horizontal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92A56E-5C1B-A8AE-0FAA-4CA023A5A005}"/>
              </a:ext>
            </a:extLst>
          </p:cNvPr>
          <p:cNvSpPr txBox="1"/>
          <p:nvPr/>
        </p:nvSpPr>
        <p:spPr>
          <a:xfrm>
            <a:off x="4562856" y="4936666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Seconds/div, sample rate, record length, acquisition mode.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DE14CA3-7017-F393-5EBC-5D1170E47B8A}"/>
              </a:ext>
            </a:extLst>
          </p:cNvPr>
          <p:cNvSpPr/>
          <p:nvPr/>
        </p:nvSpPr>
        <p:spPr>
          <a:xfrm>
            <a:off x="7918704" y="4491612"/>
            <a:ext cx="3520440" cy="1086228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2FD1C3-E239-6252-B175-AFD8C55334EC}"/>
              </a:ext>
            </a:extLst>
          </p:cNvPr>
          <p:cNvSpPr/>
          <p:nvPr/>
        </p:nvSpPr>
        <p:spPr>
          <a:xfrm>
            <a:off x="7918704" y="4497754"/>
            <a:ext cx="45720" cy="1080086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CD0DA6-B22B-B59A-ACE5-BC829A28B0A9}"/>
              </a:ext>
            </a:extLst>
          </p:cNvPr>
          <p:cNvSpPr txBox="1"/>
          <p:nvPr/>
        </p:nvSpPr>
        <p:spPr>
          <a:xfrm>
            <a:off x="8147304" y="4564865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Trigger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5C8378-1027-CBB4-9380-060B7E2340CD}"/>
              </a:ext>
            </a:extLst>
          </p:cNvPr>
          <p:cNvSpPr txBox="1"/>
          <p:nvPr/>
        </p:nvSpPr>
        <p:spPr>
          <a:xfrm>
            <a:off x="8147304" y="5003777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Source, level, slope, mode, and holdoff stabilize repeated events.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8529E04-5ED4-56DA-1A03-6688498AD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938" y="1"/>
            <a:ext cx="6027662" cy="438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94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18C469-D6EE-2549-2362-47730E661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C87ADD-D4C9-2A04-95A2-5E4E9F1215C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237D3D6E-E94E-7ECD-CCAE-938A41FD7810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4204A6C-C675-5677-AC78-A6FB663B644B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C4DCFCB2-7DA3-3F80-22C9-CADC9E8F2FDD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5CEFE9DD-C2CB-7505-FDB6-4F25219E102E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1F6A5BFA-7AED-231D-F3C8-28E2100F133C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ACC773-BF7C-0CDE-996C-0C04F23AB6F0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04 | INSTRUMENTS + 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87CBEB-533D-97B3-3074-E73B0E6D6C43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FD4FFF-A4A9-1CAC-A868-E50EBB88A0CD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CONTROLS THAT MATTER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440BC9-02F5-71B2-B4BE-496394EC3C02}"/>
              </a:ext>
            </a:extLst>
          </p:cNvPr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Oscilloscope setu</a:t>
            </a:r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p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8ED7803D-E93A-F2BD-022C-6F0B6CC481D2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7EC720E-719A-7482-9F8F-B3D351718E34}"/>
              </a:ext>
            </a:extLst>
          </p:cNvPr>
          <p:cNvSpPr/>
          <p:nvPr/>
        </p:nvSpPr>
        <p:spPr>
          <a:xfrm>
            <a:off x="749808" y="4491612"/>
            <a:ext cx="3520440" cy="1086227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A3D46C-E127-1A0F-1022-C83F18EF4AC9}"/>
              </a:ext>
            </a:extLst>
          </p:cNvPr>
          <p:cNvSpPr/>
          <p:nvPr/>
        </p:nvSpPr>
        <p:spPr>
          <a:xfrm>
            <a:off x="749808" y="4491612"/>
            <a:ext cx="45720" cy="10862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E6CB1B-A05F-FA05-0B3D-F05B28502060}"/>
              </a:ext>
            </a:extLst>
          </p:cNvPr>
          <p:cNvSpPr txBox="1"/>
          <p:nvPr/>
        </p:nvSpPr>
        <p:spPr>
          <a:xfrm>
            <a:off x="978408" y="4564865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Vertical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173AF5-2133-790A-9934-0BF4260C9B8F}"/>
              </a:ext>
            </a:extLst>
          </p:cNvPr>
          <p:cNvSpPr txBox="1"/>
          <p:nvPr/>
        </p:nvSpPr>
        <p:spPr>
          <a:xfrm>
            <a:off x="978408" y="5010912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Volts/div, channel coupling, offset, probe factor, input limit.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7AEE8AB-1B02-7D7F-AFDA-DD1925350E08}"/>
              </a:ext>
            </a:extLst>
          </p:cNvPr>
          <p:cNvSpPr/>
          <p:nvPr/>
        </p:nvSpPr>
        <p:spPr>
          <a:xfrm>
            <a:off x="4334256" y="4497754"/>
            <a:ext cx="3520440" cy="1080085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98ADAD-1D6D-00C6-6672-74E01FB5CF21}"/>
              </a:ext>
            </a:extLst>
          </p:cNvPr>
          <p:cNvSpPr/>
          <p:nvPr/>
        </p:nvSpPr>
        <p:spPr>
          <a:xfrm>
            <a:off x="4334256" y="4564864"/>
            <a:ext cx="45720" cy="1012975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FC0B7-3B52-1857-4AE5-208C5679E82D}"/>
              </a:ext>
            </a:extLst>
          </p:cNvPr>
          <p:cNvSpPr txBox="1"/>
          <p:nvPr/>
        </p:nvSpPr>
        <p:spPr>
          <a:xfrm>
            <a:off x="4562856" y="449775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Horizontal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D7F5D4-74FE-7796-7A1A-21A08195AA97}"/>
              </a:ext>
            </a:extLst>
          </p:cNvPr>
          <p:cNvSpPr txBox="1"/>
          <p:nvPr/>
        </p:nvSpPr>
        <p:spPr>
          <a:xfrm>
            <a:off x="4562856" y="4936666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Seconds/div, sample rate, record length, acquisition mode.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CC6B9E6-1F7F-FB0B-684E-9F8CA371275B}"/>
              </a:ext>
            </a:extLst>
          </p:cNvPr>
          <p:cNvSpPr/>
          <p:nvPr/>
        </p:nvSpPr>
        <p:spPr>
          <a:xfrm>
            <a:off x="7918704" y="4491612"/>
            <a:ext cx="3520440" cy="1086228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E5A924-8025-0179-B3CE-A34FC510378F}"/>
              </a:ext>
            </a:extLst>
          </p:cNvPr>
          <p:cNvSpPr/>
          <p:nvPr/>
        </p:nvSpPr>
        <p:spPr>
          <a:xfrm>
            <a:off x="7918704" y="4497754"/>
            <a:ext cx="45720" cy="1080086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466677-61DF-F147-548C-4FD1EA3146B8}"/>
              </a:ext>
            </a:extLst>
          </p:cNvPr>
          <p:cNvSpPr txBox="1"/>
          <p:nvPr/>
        </p:nvSpPr>
        <p:spPr>
          <a:xfrm>
            <a:off x="8147304" y="4564865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Trigger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7D99A7-60B2-2228-D1D7-D29AC4CF3156}"/>
              </a:ext>
            </a:extLst>
          </p:cNvPr>
          <p:cNvSpPr txBox="1"/>
          <p:nvPr/>
        </p:nvSpPr>
        <p:spPr>
          <a:xfrm>
            <a:off x="8147304" y="5003777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Source, level, slope, mode, and holdoff stabilize repeated events.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E23AC70-24F7-A238-C52B-EA2A86D949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094" y="-14821"/>
            <a:ext cx="6104690" cy="444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55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3431D-219F-C057-31F9-23052F923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FF19C1-F465-B2D1-71CB-EBE3357A11EC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CEA064CA-5CAE-1ED3-EF39-B763FDD4073B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13D70C7A-DA6C-C63E-AD31-33EC9695AB6C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033ADFE9-B88A-4F89-228C-CB74B582B786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074DD368-D8CB-11D5-8287-9C216FABF37F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151DDF22-D97E-7609-5D43-FDD685443382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9DC7FC8-82F0-58F8-EA60-9504471C2679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04 | INSTRUMENTS + 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F4B1C4-4964-66D2-6982-E7077D4D4EAA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26F1E0-9886-97E4-6F41-A458CF3486F7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CONTROLS THAT MATTER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19991-8765-C550-3F89-58EFED13E8DB}"/>
              </a:ext>
            </a:extLst>
          </p:cNvPr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Oscilloscope setu</a:t>
            </a:r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p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513B0CB8-2286-FF28-6930-C817BB117F6F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1D26422-F85C-C23A-9E16-A79070266491}"/>
              </a:ext>
            </a:extLst>
          </p:cNvPr>
          <p:cNvSpPr/>
          <p:nvPr/>
        </p:nvSpPr>
        <p:spPr>
          <a:xfrm>
            <a:off x="749808" y="4491612"/>
            <a:ext cx="3520440" cy="1086227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9D37E7-8F4C-1EF3-12CE-92BDCB91F30C}"/>
              </a:ext>
            </a:extLst>
          </p:cNvPr>
          <p:cNvSpPr/>
          <p:nvPr/>
        </p:nvSpPr>
        <p:spPr>
          <a:xfrm>
            <a:off x="749808" y="4491612"/>
            <a:ext cx="45720" cy="108622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CAB83B-0F80-19F6-955D-A6117BCE0C3B}"/>
              </a:ext>
            </a:extLst>
          </p:cNvPr>
          <p:cNvSpPr txBox="1"/>
          <p:nvPr/>
        </p:nvSpPr>
        <p:spPr>
          <a:xfrm>
            <a:off x="978408" y="4564865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Vertical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E91564-5873-4757-687B-D6C6E9D929EC}"/>
              </a:ext>
            </a:extLst>
          </p:cNvPr>
          <p:cNvSpPr txBox="1"/>
          <p:nvPr/>
        </p:nvSpPr>
        <p:spPr>
          <a:xfrm>
            <a:off x="978408" y="5010912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Volts/div, channel coupling, offset, probe factor, input limit.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BB5C9CC-CE1B-CCBF-D99B-4E858E3E95BD}"/>
              </a:ext>
            </a:extLst>
          </p:cNvPr>
          <p:cNvSpPr/>
          <p:nvPr/>
        </p:nvSpPr>
        <p:spPr>
          <a:xfrm>
            <a:off x="4334256" y="4497754"/>
            <a:ext cx="3520440" cy="1080085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24A1E6-8B0F-2A77-7BEB-F6C61A9F3078}"/>
              </a:ext>
            </a:extLst>
          </p:cNvPr>
          <p:cNvSpPr/>
          <p:nvPr/>
        </p:nvSpPr>
        <p:spPr>
          <a:xfrm>
            <a:off x="4334256" y="4564864"/>
            <a:ext cx="45720" cy="1012975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E51785-385B-0C51-D74B-B40DDF5D20C8}"/>
              </a:ext>
            </a:extLst>
          </p:cNvPr>
          <p:cNvSpPr txBox="1"/>
          <p:nvPr/>
        </p:nvSpPr>
        <p:spPr>
          <a:xfrm>
            <a:off x="4562856" y="449775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Horizontal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692D4E-E4EA-1B45-5462-B587205544DF}"/>
              </a:ext>
            </a:extLst>
          </p:cNvPr>
          <p:cNvSpPr txBox="1"/>
          <p:nvPr/>
        </p:nvSpPr>
        <p:spPr>
          <a:xfrm>
            <a:off x="4562856" y="4936666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Seconds/div, sample rate, record length, acquisition mode.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9D81844-0E29-E890-8D07-494E76EB5206}"/>
              </a:ext>
            </a:extLst>
          </p:cNvPr>
          <p:cNvSpPr/>
          <p:nvPr/>
        </p:nvSpPr>
        <p:spPr>
          <a:xfrm>
            <a:off x="7918704" y="4491612"/>
            <a:ext cx="3520440" cy="1086228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9AE976-C106-8545-C8EA-01584CA5AFA3}"/>
              </a:ext>
            </a:extLst>
          </p:cNvPr>
          <p:cNvSpPr/>
          <p:nvPr/>
        </p:nvSpPr>
        <p:spPr>
          <a:xfrm>
            <a:off x="7918704" y="4497754"/>
            <a:ext cx="45720" cy="1080086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B262D4-9C2B-D4FA-7F15-3B4E9B572B78}"/>
              </a:ext>
            </a:extLst>
          </p:cNvPr>
          <p:cNvSpPr txBox="1"/>
          <p:nvPr/>
        </p:nvSpPr>
        <p:spPr>
          <a:xfrm>
            <a:off x="8147304" y="4564865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Trigger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E7D722-009B-05BA-5740-0288B8BCBE3A}"/>
              </a:ext>
            </a:extLst>
          </p:cNvPr>
          <p:cNvSpPr txBox="1"/>
          <p:nvPr/>
        </p:nvSpPr>
        <p:spPr>
          <a:xfrm>
            <a:off x="8147304" y="5003777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Source, level, slope, mode, and holdoff stabilize repeated events.</a:t>
            </a:r>
          </a:p>
        </p:txBody>
      </p:sp>
      <p:pic>
        <p:nvPicPr>
          <p:cNvPr id="27" name="Picture 2" descr="http://huniv.hongik.ac.kr/%7Eginnie/%BD%C7%C7%E8/images/oscilloscope-11.gif">
            <a:extLst>
              <a:ext uri="{FF2B5EF4-FFF2-40B4-BE49-F238E27FC236}">
                <a16:creationId xmlns:a16="http://schemas.microsoft.com/office/drawing/2014/main" id="{EB474219-C82B-F109-A1F1-FDAA2ADD5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648" y="1275034"/>
            <a:ext cx="3857625" cy="313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http://s3.amazonaws.com/answer-board-image/2010627053436341319682350787509613.gif">
            <a:extLst>
              <a:ext uri="{FF2B5EF4-FFF2-40B4-BE49-F238E27FC236}">
                <a16:creationId xmlns:a16="http://schemas.microsoft.com/office/drawing/2014/main" id="{93FDE31B-C015-0CFC-E2CD-6C60D61FE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763" y="1275034"/>
            <a:ext cx="4471843" cy="314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831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04 | INSTRUMENTS + 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PROBE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7324D"/>
                </a:solidFill>
                <a:latin typeface="Aptos Display"/>
              </a:rPr>
              <a:t>1x and 10x probes trade sensitivity for loading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256092"/>
              </p:ext>
            </p:extLst>
          </p:nvPr>
        </p:nvGraphicFramePr>
        <p:xfrm>
          <a:off x="658368" y="4251959"/>
          <a:ext cx="1088135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9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6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57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Property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Aptos"/>
                        </a:rPr>
                        <a:t>1x probe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10x probe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71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Signal at scope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Full amplitude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One tenth amplitude; scope compensates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71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Typical resistance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71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Typical capacitance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71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Bandwidth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Usually lower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Usually higher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71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Common failure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Loads high-impedance node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Probe-factor mismatch gives 10x error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4" name="Picture 13" descr="150 MHz Passive Oscilloscope Probe, 1X / 10X Switchable, Includes Acce">
            <a:extLst>
              <a:ext uri="{FF2B5EF4-FFF2-40B4-BE49-F238E27FC236}">
                <a16:creationId xmlns:a16="http://schemas.microsoft.com/office/drawing/2014/main" id="{0A8D788B-3960-D095-E14A-5091C63BB1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96000" y="932688"/>
            <a:ext cx="4094704" cy="35419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04 | INSTRUMENTS + 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DIAGNOSE THE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The size of the error points to the setting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" y="4105656"/>
            <a:ext cx="5230368" cy="1874519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" y="4096511"/>
            <a:ext cx="82296" cy="1874519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4270248"/>
            <a:ext cx="48188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7324D"/>
                </a:solidFill>
                <a:latin typeface="Aptos"/>
              </a:rPr>
              <a:t>10x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709160"/>
            <a:ext cx="4818888" cy="1124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182028"/>
                </a:solidFill>
                <a:latin typeface="Aptos"/>
              </a:rPr>
              <a:t>Probe switch and scope-channel probe factor do not match.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4105656"/>
            <a:ext cx="5230368" cy="187451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2" y="4105656"/>
            <a:ext cx="82296" cy="1874519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2" y="4270248"/>
            <a:ext cx="48188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"/>
              </a:rPr>
              <a:t>2x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709160"/>
            <a:ext cx="4818888" cy="1124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182028"/>
                </a:solidFill>
                <a:latin typeface="Aptos"/>
              </a:rPr>
              <a:t>Generator amplitude assumes a 50-ohm load while the actual load is High-Z, or vice versa.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C3E6A38-AD5B-DDD5-459D-7B473979C9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73602" y="1179578"/>
            <a:ext cx="4844796" cy="322986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428C3E9-7053-7462-1E80-8AF4AD8E202B}"/>
              </a:ext>
            </a:extLst>
          </p:cNvPr>
          <p:cNvSpPr txBox="1"/>
          <p:nvPr/>
        </p:nvSpPr>
        <p:spPr>
          <a:xfrm>
            <a:off x="2598805" y="2775958"/>
            <a:ext cx="188848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“I will reduce by 1x/10x”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002778-3922-C488-7E4B-5855AC75F078}"/>
              </a:ext>
            </a:extLst>
          </p:cNvPr>
          <p:cNvSpPr txBox="1"/>
          <p:nvPr/>
        </p:nvSpPr>
        <p:spPr>
          <a:xfrm>
            <a:off x="8235930" y="1389977"/>
            <a:ext cx="188848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17324D"/>
                </a:solidFill>
                <a:latin typeface="Aptos"/>
              </a:rPr>
              <a:t>“I will multiply by 1x/10x”</a:t>
            </a:r>
            <a:endParaRPr sz="1800" b="1" i="0" dirty="0">
              <a:solidFill>
                <a:srgbClr val="17324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04 | INSTRUMENTS + 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MEASUREMENT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ptos Display"/>
              </a:rPr>
              <a:t>Lab </a:t>
            </a:r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2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22960" y="1935163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2416" y="1755648"/>
            <a:ext cx="6181344" cy="7479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Measure two parallel-load states and compare source current.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811158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2416" y="2631643"/>
            <a:ext cx="6181344" cy="7479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Compare DMM, 1x-probe, and 10x-probe loading on a high-value divider.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687153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2416" y="3507638"/>
            <a:ext cx="6181344" cy="7479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Create a 1 kHz, 2.00 Vpp sine wave with +1.00 V offset.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563148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2416" y="4383633"/>
            <a:ext cx="6181344" cy="7479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Diagnose a probe-factor mismatch and an AC-coupling display change.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439143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6" y="5259628"/>
            <a:ext cx="6181344" cy="7479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>
                <a:solidFill>
                  <a:srgbClr val="182028"/>
                </a:solidFill>
                <a:latin typeface="Aptos"/>
              </a:rPr>
              <a:t>Record the connection, settings, measurements, and evidence.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04 | INSTRUMENTS + 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READY FOR THE BENCH?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Exit 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2075795"/>
            <a:ext cx="1046988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 dirty="0">
                <a:solidFill>
                  <a:srgbClr val="17324D"/>
                </a:solidFill>
                <a:latin typeface="Aptos Display"/>
              </a:rPr>
              <a:t>What happens to a </a:t>
            </a:r>
            <a:r>
              <a:rPr lang="en-US" sz="3000" b="1" dirty="0">
                <a:solidFill>
                  <a:srgbClr val="17324D"/>
                </a:solidFill>
                <a:latin typeface="Aptos Display"/>
              </a:rPr>
              <a:t>DC</a:t>
            </a:r>
            <a:r>
              <a:rPr sz="3000" b="1" i="0" dirty="0">
                <a:solidFill>
                  <a:srgbClr val="17324D"/>
                </a:solidFill>
                <a:latin typeface="Aptos Display"/>
              </a:rPr>
              <a:t> offset when the channel changes from DC to AC coupling?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892040"/>
            <a:ext cx="484632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48463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NEXT: PHASE + INDUCTANCE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883</Words>
  <Application>Microsoft Office PowerPoint</Application>
  <PresentationFormat>Widescreen</PresentationFormat>
  <Paragraphs>181</Paragraphs>
  <Slides>14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Visio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Jerson Francia</cp:lastModifiedBy>
  <cp:revision>3</cp:revision>
  <dcterms:created xsi:type="dcterms:W3CDTF">2013-01-27T09:14:16Z</dcterms:created>
  <dcterms:modified xsi:type="dcterms:W3CDTF">2026-09-14T16:48:18Z</dcterms:modified>
  <cp:category/>
</cp:coreProperties>
</file>