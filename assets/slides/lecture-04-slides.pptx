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actual department instruments during the session. The core lesson is measurement trust: settings and connections are part of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which instrument creates the test signal and which observes it. Emphasize that every instrument has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a 1x/10x probe mismatch as an example of a valid display representing the wrong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back to Lecture 3 voltage droop. Do not infer a failed load from a low voltage until the source and delivery path have been measured under the same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Sketch one sine wave on the board and label all five quantities. Every voltage uses a stated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2 kHz -&gt; 0.5 ms and 20 us -&gt; 50 kHz. Tie timebase choice to visible cycles.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that the RMS formula shown is for a sine wave. A DMM AC mode may reject or include DC depending on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Lab 2 baseline: 2.00 Vpp with +1.00 V offset. At 1 kHz, AC coupling should recenter the trace near 0 V while Vpp and frequency remain approximately unchanged on the verified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an unstable display, then correct trigger source and level. Students should describe what changed physically versus visually.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model-specific values if printed on the department probes. Compensate probes before relying on fast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all demonstrations low voltage. Verify the actual bench scope grounding before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stable five-digit result can still be inaccurate. Calibration status and bandwidth also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one screenshot without settings and ask what cannot be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probe-factor mismatch commonly creates a factor-of-ten error. A generator 50-ohm versus High-Z convention commonly creates a factor-of-two error. Verify the actual instrument behavior before relying on either diagnostic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student packet is complete. If physical bench testing has not passed, use the documented guided fallback and supplied data rather than improvising.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Expected: AC coupling hides the DC offset and recenters the display; at 1 kHz on the verified scope, Vpp and frequency should remain approximately unchanged. Accept probe factor, volts/div, timebase, coupling, trigger, bandwidth, connection points, 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ptos Display"/>
              </a:rPr>
              <a:t>Bench Instruments and AC Waveform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The connection, setting, and instrument are part of every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11,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1216" y="5230368"/>
            <a:ext cx="237744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50-MINUTE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BENCH ROLES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Four instruments, four jobs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1737360"/>
            <a:ext cx="5230368" cy="1874519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1737360"/>
            <a:ext cx="82296" cy="1874519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1901952"/>
            <a:ext cx="4818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DC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340864"/>
            <a:ext cx="4818888" cy="1124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Provides controlled voltage with a current limit.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37360"/>
            <a:ext cx="5230368" cy="1874519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37360"/>
            <a:ext cx="82296" cy="1874519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1901952"/>
            <a:ext cx="4818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Function generator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2340864"/>
            <a:ext cx="4818888" cy="1124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Creates known waveforms, frequency, amplitude, and offset.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822191"/>
            <a:ext cx="5230368" cy="1874519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8" y="3822191"/>
            <a:ext cx="82296" cy="1874519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3986783"/>
            <a:ext cx="4818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Oscilloscope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" y="4425695"/>
            <a:ext cx="4818888" cy="1124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Shows voltage versus time and derived measurements.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3822191"/>
            <a:ext cx="5230368" cy="1874519"/>
          </a:xfrm>
          <a:prstGeom prst="roundRect">
            <a:avLst/>
          </a:prstGeom>
          <a:solidFill>
            <a:srgbClr val="FBF9F4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3822191"/>
            <a:ext cx="82296" cy="1874519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3986783"/>
            <a:ext cx="4818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DMM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425695"/>
            <a:ext cx="4818888" cy="1124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Measures DC/AC voltage, resistance, and current within its bandwidth and mode limits.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TRUST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The measurement chain can change the result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8368" y="2057400"/>
            <a:ext cx="1436914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057400"/>
            <a:ext cx="1436914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sp>
        <p:nvSpPr>
          <p:cNvPr id="15" name="Chevron 14"/>
          <p:cNvSpPr/>
          <p:nvPr/>
        </p:nvSpPr>
        <p:spPr>
          <a:xfrm>
            <a:off x="2113570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2442" y="2057400"/>
            <a:ext cx="1436914" cy="841248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32442" y="2057400"/>
            <a:ext cx="1436914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CABLE</a:t>
            </a:r>
          </a:p>
        </p:txBody>
      </p:sp>
      <p:sp>
        <p:nvSpPr>
          <p:cNvPr id="18" name="Chevron 17"/>
          <p:cNvSpPr/>
          <p:nvPr/>
        </p:nvSpPr>
        <p:spPr>
          <a:xfrm>
            <a:off x="3687644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06516" y="2057400"/>
            <a:ext cx="1436914" cy="841248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06516" y="2057400"/>
            <a:ext cx="1436914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PROBE</a:t>
            </a:r>
          </a:p>
        </p:txBody>
      </p:sp>
      <p:sp>
        <p:nvSpPr>
          <p:cNvPr id="21" name="Chevron 20"/>
          <p:cNvSpPr/>
          <p:nvPr/>
        </p:nvSpPr>
        <p:spPr>
          <a:xfrm>
            <a:off x="5261718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80590" y="2057400"/>
            <a:ext cx="1436914" cy="841248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0590" y="2057400"/>
            <a:ext cx="1436914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INSTRUMENT</a:t>
            </a:r>
          </a:p>
        </p:txBody>
      </p:sp>
      <p:sp>
        <p:nvSpPr>
          <p:cNvPr id="24" name="Chevron 23"/>
          <p:cNvSpPr/>
          <p:nvPr/>
        </p:nvSpPr>
        <p:spPr>
          <a:xfrm>
            <a:off x="6835792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54664" y="2057400"/>
            <a:ext cx="1436914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4664" y="2057400"/>
            <a:ext cx="1436914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SETTING</a:t>
            </a:r>
          </a:p>
        </p:txBody>
      </p:sp>
      <p:sp>
        <p:nvSpPr>
          <p:cNvPr id="27" name="Chevron 26"/>
          <p:cNvSpPr/>
          <p:nvPr/>
        </p:nvSpPr>
        <p:spPr>
          <a:xfrm>
            <a:off x="8409866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28738" y="2057400"/>
            <a:ext cx="1436914" cy="841248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28738" y="2057400"/>
            <a:ext cx="1436914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DISPLAY</a:t>
            </a:r>
          </a:p>
        </p:txBody>
      </p:sp>
      <p:sp>
        <p:nvSpPr>
          <p:cNvPr id="30" name="Chevron 29"/>
          <p:cNvSpPr/>
          <p:nvPr/>
        </p:nvSpPr>
        <p:spPr>
          <a:xfrm>
            <a:off x="9983940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02812" y="2057400"/>
            <a:ext cx="1436914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2812" y="2057400"/>
            <a:ext cx="1436914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CLAIM</a:t>
            </a:r>
          </a:p>
        </p:txBody>
      </p:sp>
      <p:sp>
        <p:nvSpPr>
          <p:cNvPr id="33" name="Oval 32"/>
          <p:cNvSpPr/>
          <p:nvPr/>
        </p:nvSpPr>
        <p:spPr>
          <a:xfrm>
            <a:off x="1051560" y="3888760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71016" y="3703320"/>
            <a:ext cx="9747504" cy="7726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182028"/>
                </a:solidFill>
                <a:latin typeface="Aptos"/>
              </a:rPr>
              <a:t>An error or limitation at any block can propagate into the conclusion.</a:t>
            </a:r>
          </a:p>
        </p:txBody>
      </p:sp>
      <p:sp>
        <p:nvSpPr>
          <p:cNvPr id="35" name="Oval 34"/>
          <p:cNvSpPr/>
          <p:nvPr/>
        </p:nvSpPr>
        <p:spPr>
          <a:xfrm>
            <a:off x="1051560" y="4807732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71016" y="4622292"/>
            <a:ext cx="9747504" cy="7726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182028"/>
                </a:solidFill>
                <a:latin typeface="Aptos"/>
              </a:rPr>
              <a:t>Record the complete chain, not only the displayed number.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0" y="5650992"/>
            <a:ext cx="576072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0" y="5650992"/>
            <a:ext cx="576072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A SCREENSHOT WITHOUT SETTINGS IS INCOMPLETE EVIDENCE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SOURCE-TO-LOAD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Measure the source, then measure the load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22960" y="1987722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755648"/>
            <a:ext cx="6181344" cy="9669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A source setting or front-panel display is not proof of voltage at the load.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082716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2850642"/>
            <a:ext cx="6181344" cy="9669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Measure the source terminals and load input using the same reference and load state.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177710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3945636"/>
            <a:ext cx="6181344" cy="9669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If only the load input is low, inspect leads, connectors, and shared return paths.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272704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5040630"/>
            <a:ext cx="6181344" cy="9669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If both measurements fall, test source regulation, current limit, and total load demand.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1828800"/>
            <a:ext cx="3703320" cy="361188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71231" y="1828800"/>
            <a:ext cx="82296" cy="361188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9831" y="199339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ptos"/>
              </a:rPr>
              <a:t>Evidence to 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9831" y="2432304"/>
            <a:ext cx="3291840" cy="2862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Source-terminal voltage, load-input voltage, source current, current-limit status, connection points, and load state.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AC VOCABULARY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A periodic waveform has measurable structure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5440680"/>
                <a:gridCol w="3264408"/>
              </a:tblGrid>
              <a:tr h="6934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Term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Definition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Measurement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Peak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Maximum value relative to reference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V_peak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Peak-to-peak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Maximum minus minimum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V_pp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Period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Time for one cycle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 in seconds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Frequency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Cycles per second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f = 1/T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Offset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Average or center value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V_offset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TIME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Period and frequency are reciprocal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1828800"/>
            <a:ext cx="3276600" cy="342900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828800"/>
            <a:ext cx="82296" cy="3429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993392"/>
            <a:ext cx="2865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7324D"/>
                </a:solidFill>
                <a:latin typeface="Aptos"/>
              </a:rPr>
              <a:t>f = 1 / 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432304"/>
            <a:ext cx="2865120" cy="2679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Frequency in hertz when period is in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91000" y="1828800"/>
            <a:ext cx="3276600" cy="342900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91000" y="1828800"/>
            <a:ext cx="82296" cy="3429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9600" y="1993392"/>
            <a:ext cx="2865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7324D"/>
                </a:solidFill>
                <a:latin typeface="Aptos"/>
              </a:rPr>
              <a:t>T = 1 / 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9600" y="2432304"/>
            <a:ext cx="2865120" cy="2679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Period in seconds when frequency is in hertz.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6200" y="1828800"/>
            <a:ext cx="3276600" cy="342900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96200" y="1828800"/>
            <a:ext cx="82296" cy="342900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4800" y="1993392"/>
            <a:ext cx="2865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7324D"/>
                </a:solidFill>
                <a:latin typeface="Aptos"/>
              </a:rPr>
              <a:t>1 kHz -&gt; 1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800" y="2432304"/>
            <a:ext cx="2865120" cy="2679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A fast reasonableness anchor.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5596128"/>
            <a:ext cx="667512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COUNT MULTIPLE CYCLES WHEN ONE CYCLE IS NOISY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VOLTAGE DESCRIPTIONS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Amplitude, offset, and RMS answer different questions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1737360"/>
          <a:ext cx="10881358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2712"/>
                <a:gridCol w="3699662"/>
                <a:gridCol w="4678984"/>
              </a:tblGrid>
              <a:tr h="8321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Quantity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Sine-wave relationship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V_peak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V_pp / 2 when centered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Maximum excursion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V_rms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V_peak / sqrt(2) for a sine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Equivalent heating/power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V_offset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Center relative to reference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Bias and allowable input range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V_max / V_min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Offset +/- peak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Clipping and threshold checks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DC VERSUS 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Coupling changes what the display includes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1737360"/>
          <a:ext cx="1088135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899"/>
                <a:gridCol w="4243730"/>
                <a:gridCol w="4243730"/>
              </a:tblGrid>
              <a:tr h="104013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Channel mode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the scope shows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Main caution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104013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DC coupling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AC variation plus DC offset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Use this to preserve the full waveform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104013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AC coupling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AC variation with DC blocked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The offset disappears from view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104013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At low frequency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AC coupling behaves like a high-pass filter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Amplitude and shape may also change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CONTROLS THAT MATTER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Oscilloscope setup is part of the measurement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1783080"/>
            <a:ext cx="3520440" cy="37947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1783080"/>
            <a:ext cx="82296" cy="37947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19476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Vertical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386584"/>
            <a:ext cx="3108960" cy="3044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Volts/div, channel coupling, offset, probe factor, input limit.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1783080"/>
            <a:ext cx="3520440" cy="37947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1783080"/>
            <a:ext cx="82296" cy="37947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19476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Horizontal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2386584"/>
            <a:ext cx="3108960" cy="3044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Seconds/div, sample rate, record length, acquisition mode.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1783080"/>
            <a:ext cx="3520440" cy="37947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18704" y="1783080"/>
            <a:ext cx="82296" cy="37947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47304" y="19476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Trigger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2386584"/>
            <a:ext cx="3108960" cy="3044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Source, level, slope, mode, and holdoff stabilize repeated events.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PROBE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1x and 10x probes trade sensitivity for loading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1737360"/>
          <a:ext cx="1088135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9153"/>
                <a:gridCol w="4026103"/>
                <a:gridCol w="4026103"/>
              </a:tblGrid>
              <a:tr h="6934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Property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1x probe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10x probe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Signal at scope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Full amplitude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One tenth amplitude; scope compensates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Typical resistance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Typical capacitance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Bandwidth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Usually lower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Usually higher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Common failure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Loads high-impedance node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Probe-factor mismatch gives 10x error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GROUND-REFERENCE SAFETY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Scope ground is an electrical connection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22960" y="1987722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755648"/>
            <a:ext cx="6181344" cy="9669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Bench-scope ground clips are commonly tied to protective earth.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082716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2850642"/>
            <a:ext cx="6181344" cy="9669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Clipping ground to a non-ground node can short that node through the instrument.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177710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3945636"/>
            <a:ext cx="6181344" cy="9669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Two instruments can create an unintended return path.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272704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5040630"/>
            <a:ext cx="6181344" cy="9669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Power down and trace references before connecting probes.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1828800"/>
            <a:ext cx="3703320" cy="361188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71231" y="1828800"/>
            <a:ext cx="82296" cy="361188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9831" y="199339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ptos"/>
              </a:rPr>
              <a:t>Stop condition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9831" y="2432304"/>
            <a:ext cx="3291840" cy="2862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If the circuit reference is unclear, do not guess. Disable outputs and ask before attaching the scope ground.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INSTRUMENT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Accuracy, precision, and resolution are not synonyms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1783080"/>
            <a:ext cx="3520440" cy="37947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1783080"/>
            <a:ext cx="82296" cy="37947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19476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386584"/>
            <a:ext cx="3108960" cy="3044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Closeness to the true value within stated conditions.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1783080"/>
            <a:ext cx="3520440" cy="37947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1783080"/>
            <a:ext cx="82296" cy="37947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19476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Precision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2386584"/>
            <a:ext cx="3108960" cy="3044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Repeatability or spread across repeated measurements.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1783080"/>
            <a:ext cx="3520440" cy="37947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18704" y="1783080"/>
            <a:ext cx="82296" cy="37947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47304" y="19476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Resolution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2386584"/>
            <a:ext cx="3108960" cy="3044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Smallest displayed or distinguishable increment.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EVIDENCE RECORD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A reproducible capture needs metadata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22960" y="1935163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755648"/>
            <a:ext cx="6181344" cy="747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Instrument and probe model; channel and probe factor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2811158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2631643"/>
            <a:ext cx="6181344" cy="747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Vertical scale, timebase, coupling, bandwidth limit, and termination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687153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3507638"/>
            <a:ext cx="6181344" cy="747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Trigger source, level, slope, and acquisition mode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563148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4383633"/>
            <a:ext cx="6181344" cy="747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Connection points, ground reference, source settings, load, and timestamp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439143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" y="5259628"/>
            <a:ext cx="6181344" cy="747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Raw data or screenshot plus calculated result and uncertainty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1" y="1828800"/>
            <a:ext cx="3703320" cy="361188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71231" y="1828800"/>
            <a:ext cx="82296" cy="361188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99831" y="199339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ptos"/>
              </a:rPr>
              <a:t>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99831" y="2432304"/>
            <a:ext cx="3291840" cy="2862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Could another student recreate the setup and obtain a comparable waveform from your record alone?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DIAGNOSE THE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The size of the error points to the setting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1737360"/>
            <a:ext cx="5230368" cy="1874519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1737360"/>
            <a:ext cx="82296" cy="1874519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1901952"/>
            <a:ext cx="4818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10x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340864"/>
            <a:ext cx="4818888" cy="1124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Probe switch and scope-channel probe factor do not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37360"/>
            <a:ext cx="5230368" cy="1874519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37360"/>
            <a:ext cx="82296" cy="1874519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1901952"/>
            <a:ext cx="4818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2x pattern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2340864"/>
            <a:ext cx="4818888" cy="1124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Generator amplitude assumes a 50-ohm load while the actual load is High-Z, or vice versa.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822191"/>
            <a:ext cx="5230368" cy="1874519"/>
          </a:xfrm>
          <a:prstGeom prst="roundRect">
            <a:avLst/>
          </a:prstGeom>
          <a:solidFill>
            <a:srgbClr val="FBF9F4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8" y="3822191"/>
            <a:ext cx="82296" cy="1874519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3986783"/>
            <a:ext cx="4818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" y="4425695"/>
            <a:ext cx="4818888" cy="1124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Frequency and shape remain stable while the displayed amplitude changes predictably after correction.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3822191"/>
            <a:ext cx="5230368" cy="1874519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3822191"/>
            <a:ext cx="82296" cy="1874519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3986783"/>
            <a:ext cx="4818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Not supported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425695"/>
            <a:ext cx="4818888" cy="1124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The source or circuit necessarily changed amplitude.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MEASUREMENT INTEGRITY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Lab 2 handoff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22960" y="1935163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755648"/>
            <a:ext cx="6181344" cy="747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Measure two parallel-load states and compare source current.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2811158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2631643"/>
            <a:ext cx="6181344" cy="747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Compare DMM, 1x-probe, and 10x-probe loading on a high-value divider.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687153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3507638"/>
            <a:ext cx="6181344" cy="747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Create a 1 kHz, 2.00 Vpp sine wave with +1.00 V offset.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563148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4383633"/>
            <a:ext cx="6181344" cy="747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Diagnose a probe-factor mismatch and an AC-coupling display change.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439143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" y="5259628"/>
            <a:ext cx="6181344" cy="747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Record the connection, settings, measurements, and evidence.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1" y="1828800"/>
            <a:ext cx="3703320" cy="361188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71231" y="1828800"/>
            <a:ext cx="82296" cy="361188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99831" y="199339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ptos"/>
              </a:rPr>
              <a:t>Release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99831" y="2432304"/>
            <a:ext cx="3291840" cy="2862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Before lab, verify the actual probe input values, scope grounding, generator High-Z behavior, DMM AC response, and the complete bench-test checklist.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READY FOR THE BENCH?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1828800"/>
            <a:ext cx="1046988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7324D"/>
                </a:solidFill>
                <a:latin typeface="Aptos Display"/>
              </a:rPr>
              <a:t>What happens to a +1.00 V offset when the channel changes from DC to AC coupling?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20440"/>
            <a:ext cx="85039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5F6B73"/>
                </a:solidFill>
                <a:latin typeface="Aptos"/>
              </a:rPr>
              <a:t>Then name three settings or connections that must accompany a scope capture.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484632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NEXT: PHASE + INDUCTANCE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