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2" r:id="rId9"/>
    <p:sldId id="274" r:id="rId10"/>
    <p:sldId id="275" r:id="rId11"/>
    <p:sldId id="261" r:id="rId12"/>
    <p:sldId id="262" r:id="rId13"/>
    <p:sldId id="266" r:id="rId14"/>
    <p:sldId id="27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8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069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177D9-E5DD-17F7-0BC8-7E3E9784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A8809-FF3A-D1F3-1E12-6841DFB90E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D80B8-6F0C-35D1-9490-103D2DF04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5E9DC-F7E6-2C54-FF23-B8B58F1EA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55224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871F7-B0D3-7AF4-7DE3-5910AC5A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A78A6-780D-450C-709F-56AFF9A05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32714-42C6-64C6-EE7F-12FAFD476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A7DC2-7DB7-9D5D-11DC-EA07F7FDD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52574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44AD6-BC15-4B6D-CB0F-5760BA96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DA9E2-4C03-2B32-F642-E0C7587E6E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79980-CDDA-73E1-694D-1A5926DED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06EA1-528A-A2B4-1672-9229FE0D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99038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4E2B-0D91-49B6-21E4-160827FA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03387-A574-2511-275B-CBDB551C8B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22B518-1CE2-F41D-C5E6-0235B3D29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F5B63-FC3C-CA3E-942F-178EA333F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31479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1CB4B-872B-62C0-7E0C-6B875AAD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DB230-7C3B-77D6-8655-E19FBCCAE8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15C7D-37E0-8C1A-6661-7BD416D69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80E79-9D5A-A09E-3F3C-1459D0F22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72117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9CE5-1242-2A08-A816-638954F8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71B6F-D1FA-921E-DA04-66301BC5C7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3D43D-8413-5A0B-8EDE-374D7D0C3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60FC1-895E-2B2E-3D2B-B956F3FA2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30169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64B60-9A5F-B7BC-556E-F6B9DA6E1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70414-470C-1950-D21A-8EBCE09DE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97500-61A8-6C82-582E-1C48E242D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04A11-3F35-0797-743B-A1E48BBE0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79358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XL = 125.7 Ω and IL = 7.96 </a:t>
            </a:r>
            <a:r>
              <a:rPr lang="en-US" dirty="0" err="1"/>
              <a:t>mArms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A8E23-4D01-F1C7-88BB-5F327CC5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1806F-669A-8AF1-0851-C41B8F187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857FD-923F-39E8-7D88-7A96D787D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533BF-3E49-8E82-1F6A-006F81D89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24150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2.png"/><Relationship Id="rId5" Type="http://schemas.openxmlformats.org/officeDocument/2006/relationships/image" Target="../media/image15.png"/><Relationship Id="rId10" Type="http://schemas.openxmlformats.org/officeDocument/2006/relationships/image" Target="../media/image21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Aptos Display"/>
              </a:rPr>
              <a:t>More AC</a:t>
            </a:r>
            <a:r>
              <a:rPr sz="4000" b="1" i="0" dirty="0">
                <a:solidFill>
                  <a:srgbClr val="FFFFFF"/>
                </a:solidFill>
                <a:latin typeface="Aptos Display"/>
              </a:rPr>
              <a:t>, Phasors, Inductance, and Reactance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D6E1E7"/>
                </a:solidFill>
                <a:latin typeface="Aptos"/>
              </a:rPr>
              <a:t>Changing signals make component behavior depend on frequency and phase.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SEP 14,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FROM WAVEFORM TO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AC describes change over time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4282632"/>
            <a:ext cx="3520440" cy="1295207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441308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Magnitude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85199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Peak, peak-to-peak, RMS, and offset describe vertical behavior.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4282632"/>
            <a:ext cx="3520440" cy="1295207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62856" y="441308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Timing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485199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Period, frequency, and phase describe repetition and relative position.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4282632"/>
            <a:ext cx="3520440" cy="1295207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441308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4851992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Components can pass, oppose, delay, store, or couple changing signals.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0591B92-918D-7A92-C828-66D98C557A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3" t="6400" r="-2563" b="24803"/>
          <a:stretch>
            <a:fillRect/>
          </a:stretch>
        </p:blipFill>
        <p:spPr>
          <a:xfrm>
            <a:off x="749808" y="1584341"/>
            <a:ext cx="5592482" cy="256495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D2B08F1-C32C-3AE8-EF79-A16235EE97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42" t="-1" b="25758"/>
          <a:stretch>
            <a:fillRect/>
          </a:stretch>
        </p:blipFill>
        <p:spPr>
          <a:xfrm>
            <a:off x="5841492" y="1225298"/>
            <a:ext cx="5707380" cy="28691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SIGNAL 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sine wave model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00474" y="4535424"/>
            <a:ext cx="7017846" cy="72237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/>
              <p:cNvSpPr/>
              <p:nvPr/>
            </p:nvSpPr>
            <p:spPr>
              <a:xfrm>
                <a:off x="2743200" y="5596128"/>
                <a:ext cx="6675120" cy="420624"/>
              </a:xfrm>
              <a:prstGeom prst="roundRect">
                <a:avLst/>
              </a:prstGeom>
              <a:solidFill>
                <a:srgbClr val="17324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Angular velocity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en-US" dirty="0"/>
                  <a:t> </a:t>
                </a:r>
                <a:endParaRPr dirty="0"/>
              </a:p>
            </p:txBody>
          </p:sp>
        </mc:Choice>
        <mc:Fallback xmlns="">
          <p:sp>
            <p:nvSpPr>
              <p:cNvPr id="25" name="Rounded 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5596128"/>
                <a:ext cx="6675120" cy="42062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D37B1B-E807-DE8A-7B84-B8D8081E988E}"/>
                  </a:ext>
                </a:extLst>
              </p:cNvPr>
              <p:cNvSpPr txBox="1"/>
              <p:nvPr/>
            </p:nvSpPr>
            <p:spPr>
              <a:xfrm>
                <a:off x="4254694" y="4671377"/>
                <a:ext cx="3682611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⁡(2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+∅)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3D37B1B-E807-DE8A-7B84-B8D8081E9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694" y="4671377"/>
                <a:ext cx="3682611" cy="4641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56347FAD-0F4C-B3C2-BF5B-0C6658B61E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816597" y="402137"/>
            <a:ext cx="6625851" cy="398698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61A95B3-88A5-D757-DE3E-4C3F821EC279}"/>
              </a:ext>
            </a:extLst>
          </p:cNvPr>
          <p:cNvSpPr txBox="1"/>
          <p:nvPr/>
        </p:nvSpPr>
        <p:spPr>
          <a:xfrm>
            <a:off x="704903" y="1770839"/>
            <a:ext cx="3111694" cy="1029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650" dirty="0">
                <a:solidFill>
                  <a:srgbClr val="182028"/>
                </a:solidFill>
                <a:latin typeface="Aptos"/>
              </a:rPr>
              <a:t>Amplitude?</a:t>
            </a:r>
          </a:p>
          <a:p>
            <a:pPr algn="l">
              <a:lnSpc>
                <a:spcPct val="102000"/>
              </a:lnSpc>
            </a:pPr>
            <a:r>
              <a:rPr lang="en-US" sz="1650" b="0" i="0" dirty="0">
                <a:solidFill>
                  <a:srgbClr val="182028"/>
                </a:solidFill>
                <a:latin typeface="Aptos"/>
              </a:rPr>
              <a:t>Frequency?</a:t>
            </a:r>
          </a:p>
          <a:p>
            <a:pPr algn="l">
              <a:lnSpc>
                <a:spcPct val="102000"/>
              </a:lnSpc>
            </a:pPr>
            <a:r>
              <a:rPr lang="en-US" sz="1650" dirty="0">
                <a:solidFill>
                  <a:srgbClr val="182028"/>
                </a:solidFill>
                <a:latin typeface="Aptos"/>
              </a:rPr>
              <a:t>Phase?</a:t>
            </a:r>
          </a:p>
          <a:p>
            <a:pPr algn="l">
              <a:lnSpc>
                <a:spcPct val="102000"/>
              </a:lnSpc>
            </a:pPr>
            <a:r>
              <a:rPr lang="en-US" sz="1650" b="0" i="0" dirty="0">
                <a:solidFill>
                  <a:srgbClr val="182028"/>
                </a:solidFill>
                <a:latin typeface="Aptos"/>
              </a:rPr>
              <a:t>RMS?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C9CD1-2954-AE35-9C48-C4688157F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79C121-FEF4-0D10-7F08-4AD02D925A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51934" y="360734"/>
            <a:ext cx="6690514" cy="40283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D9EEDF5-1D4B-DC64-2896-C063E117DDA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1897D06E-7462-C3BF-4558-4BF32309A51A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225B4C1-1930-6A9F-A063-CF55A71E914B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51F1607-2CEA-09A7-2C67-7CF7E101CA37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E47ABFE0-FAED-5692-C429-C571B2A09A52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66356E0-165D-DEF7-D684-307511FD0ADC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2CEAF0-EF59-5D0D-9C42-94C84465179E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4D375E-BFB3-F2C4-6E5B-C475EDD890AF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769B2-ED77-A240-A5AC-B8FA5CE41AF7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SIGNAL REPRESENTATION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8E2A78-BBC8-B124-AB55-DC740794FF32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sine wave model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1B0B17C-076F-2639-AAD4-022569525315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01CAFBD-B1A5-00A8-9514-90A0DF78A0D1}"/>
              </a:ext>
            </a:extLst>
          </p:cNvPr>
          <p:cNvSpPr/>
          <p:nvPr/>
        </p:nvSpPr>
        <p:spPr>
          <a:xfrm>
            <a:off x="2400474" y="4535424"/>
            <a:ext cx="7017846" cy="72237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4FBC2AB-D8F7-9FE7-F5BC-5128C54249D7}"/>
              </a:ext>
            </a:extLst>
          </p:cNvPr>
          <p:cNvSpPr/>
          <p:nvPr/>
        </p:nvSpPr>
        <p:spPr>
          <a:xfrm>
            <a:off x="2743200" y="5596128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cs typeface="Aparajita" panose="02020603050405020304" pitchFamily="18" charset="0"/>
              </a:rPr>
              <a:t>The sinusoids are in-phase</a:t>
            </a:r>
            <a:endParaRPr b="1" dirty="0"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2B5F188-05C9-470E-3729-803D71D6CA9F}"/>
                  </a:ext>
                </a:extLst>
              </p:cNvPr>
              <p:cNvSpPr txBox="1"/>
              <p:nvPr/>
            </p:nvSpPr>
            <p:spPr>
              <a:xfrm>
                <a:off x="4254694" y="4671377"/>
                <a:ext cx="3682611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⁡(2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+∅)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2B5F188-05C9-470E-3729-803D71D6C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694" y="4671377"/>
                <a:ext cx="3682611" cy="4641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831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C5161-7285-F8F3-A484-9D0D707EC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54EEECE-2D19-3C8D-1103-1EEE3EB7B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39342" y="367620"/>
            <a:ext cx="6703106" cy="40359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8E48AC5-F6E6-C464-AE8D-DF3EC092B7B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57F39B0-50FA-56A2-9AEA-7283D5285BEC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A9FFDBB-9BC9-CE83-A688-AB6F4F63949C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EC6C08F-4AF6-9CED-F02B-B2BD837D0072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2A99FFB2-1002-2F75-593C-472B72A11127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47E5D0F-8D71-B896-6BEF-9E1F3D1C0AC3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CBF4C1-5D62-CF4A-C417-185911FE3672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037850-EE5A-8A2B-4D88-C28979F8A5AC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ECBA0-4513-44BA-2D73-896FA5DDB344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SIGNAL REPRESENTATION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A81E4-D4DF-14EA-3938-153BFCAF84F0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sine wave model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8E398782-120A-9C90-8F3B-1A69CB1666D7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D784A4-AE75-2031-49F0-A5503E37A070}"/>
              </a:ext>
            </a:extLst>
          </p:cNvPr>
          <p:cNvSpPr/>
          <p:nvPr/>
        </p:nvSpPr>
        <p:spPr>
          <a:xfrm>
            <a:off x="2400474" y="4535424"/>
            <a:ext cx="7017846" cy="72237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047CB9B-0490-1438-EC78-182F8E41C9D0}"/>
              </a:ext>
            </a:extLst>
          </p:cNvPr>
          <p:cNvSpPr/>
          <p:nvPr/>
        </p:nvSpPr>
        <p:spPr>
          <a:xfrm>
            <a:off x="2743200" y="5596128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  <a:cs typeface="Aparajita" panose="02020603050405020304" pitchFamily="18" charset="0"/>
              </a:rPr>
              <a:t>The sinusoids are out of phase</a:t>
            </a:r>
            <a:endParaRPr b="1" dirty="0">
              <a:latin typeface="Aptos" panose="020B0004020202020204" pitchFamily="34" charset="0"/>
              <a:cs typeface="Aparajita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CDAE50-9C66-50E4-0E24-F479F10A1C47}"/>
                  </a:ext>
                </a:extLst>
              </p:cNvPr>
              <p:cNvSpPr txBox="1"/>
              <p:nvPr/>
            </p:nvSpPr>
            <p:spPr>
              <a:xfrm>
                <a:off x="4254694" y="4671377"/>
                <a:ext cx="3682611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⁡(2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+∅)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CDAE50-9C66-50E4-0E24-F479F10A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694" y="4671377"/>
                <a:ext cx="3682611" cy="4641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95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D79A2D-0504-EA05-9FBD-2BA8CF7D0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3DF2E51-8E03-A6E3-5010-E9503E08D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15359" y="353179"/>
            <a:ext cx="6727090" cy="40504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22EB24-59CA-3CE5-394A-F252A85D2B1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A9C03C04-0D89-3506-B4F3-537DC12FD1EA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8C3EC67-3C46-269A-8E38-6B1E6B5EDBD9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461CDF9-BA4E-7DBC-DEDA-3CAD974C4E43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8D34D0A4-FAF5-18FA-C19A-AEDCE7E5E463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A5F9943-F963-102F-0A9D-3926727A68A3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DA5A04A-65A6-C27E-EA27-A52BD671B91C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4730E-3D91-9E24-0F91-8002D74F42F6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543BB-4B88-DAF0-1719-EDFE2770B0EE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SIGNAL REPRESENTATION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45715-49E5-762E-F661-B5742D4B35FE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cosine wave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39E334F7-E951-9D8A-A25A-668012CDB2B1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8837E43-8645-AED2-B0FB-8BBAB2C75787}"/>
              </a:ext>
            </a:extLst>
          </p:cNvPr>
          <p:cNvSpPr/>
          <p:nvPr/>
        </p:nvSpPr>
        <p:spPr>
          <a:xfrm>
            <a:off x="2400474" y="4535424"/>
            <a:ext cx="7017846" cy="72237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02D0B5E0-D722-D7F2-D058-F6F0816C99FF}"/>
                  </a:ext>
                </a:extLst>
              </p:cNvPr>
              <p:cNvSpPr/>
              <p:nvPr/>
            </p:nvSpPr>
            <p:spPr>
              <a:xfrm>
                <a:off x="2743200" y="5596128"/>
                <a:ext cx="6675120" cy="420624"/>
              </a:xfrm>
              <a:prstGeom prst="roundRect">
                <a:avLst/>
              </a:prstGeom>
              <a:solidFill>
                <a:srgbClr val="17324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Aptos" panose="020B0004020202020204" pitchFamily="34" charset="0"/>
                    <a:cs typeface="Aparajita" panose="02020603050405020304" pitchFamily="18" charset="0"/>
                  </a:rPr>
                  <a:t>A cosine wave is a sine wave that lags 90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b="1" dirty="0">
                  <a:latin typeface="Aptos" panose="020B0004020202020204" pitchFamily="34" charset="0"/>
                  <a:cs typeface="Aparajita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02D0B5E0-D722-D7F2-D058-F6F0816C99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5596128"/>
                <a:ext cx="6675120" cy="42062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D49298-B183-4ABC-A1DA-797E711AED10}"/>
                  </a:ext>
                </a:extLst>
              </p:cNvPr>
              <p:cNvSpPr txBox="1"/>
              <p:nvPr/>
            </p:nvSpPr>
            <p:spPr>
              <a:xfrm>
                <a:off x="4254694" y="4671377"/>
                <a:ext cx="425905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b="0" dirty="0"/>
                  <a:t>c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os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ft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⁡(2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ft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+90°)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D49298-B183-4ABC-A1DA-797E711AE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694" y="4671377"/>
                <a:ext cx="4259051" cy="430887"/>
              </a:xfrm>
              <a:prstGeom prst="rect">
                <a:avLst/>
              </a:prstGeom>
              <a:blipFill>
                <a:blip r:embed="rId5"/>
                <a:stretch>
                  <a:fillRect l="-5150" t="-23944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24">
                <a:extLst>
                  <a:ext uri="{FF2B5EF4-FFF2-40B4-BE49-F238E27FC236}">
                    <a16:creationId xmlns:a16="http://schemas.microsoft.com/office/drawing/2014/main" id="{AF3641AC-EDD0-8E96-56A9-61750DA9DF29}"/>
                  </a:ext>
                </a:extLst>
              </p:cNvPr>
              <p:cNvSpPr/>
              <p:nvPr/>
            </p:nvSpPr>
            <p:spPr>
              <a:xfrm>
                <a:off x="2743200" y="6084197"/>
                <a:ext cx="6675120" cy="420624"/>
              </a:xfrm>
              <a:prstGeom prst="roundRect">
                <a:avLst/>
              </a:prstGeom>
              <a:solidFill>
                <a:srgbClr val="17324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Aptos" panose="020B0004020202020204" pitchFamily="34" charset="0"/>
                    <a:cs typeface="Aparajita" panose="02020603050405020304" pitchFamily="18" charset="0"/>
                  </a:rPr>
                  <a:t>A sine wave is a cosine wave that leads 90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b="1" dirty="0">
                  <a:latin typeface="Aptos" panose="020B0004020202020204" pitchFamily="34" charset="0"/>
                  <a:cs typeface="Aparajita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ounded Rectangle 24">
                <a:extLst>
                  <a:ext uri="{FF2B5EF4-FFF2-40B4-BE49-F238E27FC236}">
                    <a16:creationId xmlns:a16="http://schemas.microsoft.com/office/drawing/2014/main" id="{AF3641AC-EDD0-8E96-56A9-61750DA9DF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6084197"/>
                <a:ext cx="6675120" cy="42062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729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9AB49-0C8A-F483-4CBC-CCDFBD4BA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E5D303-19B3-A954-3FF3-38380B08531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9FDDFA99-6B6D-609A-DD17-C0D6485C4DFE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D4F64F8-FAFF-B4BD-D95E-6104759CCBAC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6CAB30C-3D78-8E4E-FDD6-35271A34520D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05540362-C0A7-0724-3A71-F75E2F0CA505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20926C6-66E4-0191-5DAB-3DFE2B293A53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E71D34A-EA8D-02F5-384B-794F51D55282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8BEF4-FF6D-7C6E-A712-FCF28BA4F797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A65DE7-F450-1CE1-9520-F103C49A2ECA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INTUITION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6ED71-CF49-7A3F-C63A-161B32288BBE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phasor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1B6A3C9A-FF21-9751-5C10-D6389568A69C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966880AE-8F11-244E-ADC0-A7F54F5C5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516850"/>
            <a:ext cx="12191999" cy="38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50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8201D0-27F2-5167-6B79-6B5F0AA09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A1DE14-1DC3-9E8F-0E1F-2A528604ACF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889E8253-E754-145F-88DB-4160A7EF304F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4F7DBF4-964C-7F22-0E9F-E693A352F0EF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5222D16-3181-1714-0951-EB6E5219DE96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07B52B12-ED2F-4026-BA49-CF76F06FAD46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DF2B6C9A-917C-15AA-BF97-F7E9250475BB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D6A3EF-1EFC-0568-3E55-18F0DB30DCC8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47B37E-9E7B-4BA9-BD65-C5B3173E6E15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BBEEE-CD7C-8235-A62D-D6D3210BADEC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INTUITION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4854B0-98C1-8CAC-885D-F16A249BAAD9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phasor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299E3B8-EAB9-E203-C022-C67FEE1A3E14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06A5932-6257-2F31-E7D3-02A7502DCC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2ADF59-22BD-B47B-13A9-25A19C1A4A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38488" y="646793"/>
            <a:ext cx="5339295" cy="53392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778B81C-B440-85BF-00B9-EA09044F7FED}"/>
              </a:ext>
            </a:extLst>
          </p:cNvPr>
          <p:cNvSpPr txBox="1"/>
          <p:nvPr/>
        </p:nvSpPr>
        <p:spPr>
          <a:xfrm>
            <a:off x="612648" y="1660006"/>
            <a:ext cx="3108960" cy="25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650" b="0" i="0" dirty="0">
                <a:solidFill>
                  <a:srgbClr val="182028"/>
                </a:solidFill>
                <a:latin typeface="Aptos"/>
              </a:rPr>
              <a:t>AKA Polar representation</a:t>
            </a:r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609B78-F616-91EE-7665-A8BD7CD8ED13}"/>
                  </a:ext>
                </a:extLst>
              </p:cNvPr>
              <p:cNvSpPr txBox="1"/>
              <p:nvPr/>
            </p:nvSpPr>
            <p:spPr>
              <a:xfrm>
                <a:off x="612648" y="2716115"/>
                <a:ext cx="3108960" cy="37670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𝐴𝑚𝑝𝑙𝑖𝑡𝑢𝑑𝑒</m:t>
                      </m:r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 ∠ 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Angle</m:t>
                      </m:r>
                    </m:oMath>
                  </m:oMathPara>
                </a14:m>
                <a:endParaRPr sz="24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C609B78-F616-91EE-7665-A8BD7CD8E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2716115"/>
                <a:ext cx="3108960" cy="376706"/>
              </a:xfrm>
              <a:prstGeom prst="rect">
                <a:avLst/>
              </a:prstGeom>
              <a:blipFill>
                <a:blip r:embed="rId5"/>
                <a:stretch>
                  <a:fillRect t="-1639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3E8E71-38A6-4480-A459-91FFD7E5DECE}"/>
                  </a:ext>
                </a:extLst>
              </p:cNvPr>
              <p:cNvSpPr txBox="1"/>
              <p:nvPr/>
            </p:nvSpPr>
            <p:spPr>
              <a:xfrm>
                <a:off x="612648" y="3226755"/>
                <a:ext cx="3108960" cy="37670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5 ∠ 45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sz="24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3E8E71-38A6-4480-A459-91FFD7E5D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3226755"/>
                <a:ext cx="3108960" cy="376706"/>
              </a:xfrm>
              <a:prstGeom prst="rect">
                <a:avLst/>
              </a:prstGeom>
              <a:blipFill>
                <a:blip r:embed="rId6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48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BCED-8BBE-27E7-28E2-F3FC7101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87BFDB-5FB5-F2B2-9B26-A3ABAA375B4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578B7520-11E5-B778-FB84-07A4DF65F4A4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0E9E404-A26F-D40F-EA9B-F371AECABC8A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E566E939-AA2D-042F-4B00-3BF2615D9FC3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7D296CC-DF93-3C2B-8C60-8A814E2AEDBD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7261A640-F199-AC95-A5C7-BA73E20A2E7A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3016A2-E7F6-0FC4-915A-AC29BB8D361F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D361A-AFFC-6880-78A3-CD8E90B509E9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6E5125-F7B0-ADA8-190D-F992B99D7EE4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INTUITION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6F37D-5879-2C4C-E333-6A94849DA98C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phasor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664599F-F1AF-7C05-5070-CFFCF28D5846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9B8EA4-5E6C-E054-2859-D8311F506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5155"/>
            <a:ext cx="12192000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70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8E8E8-5DE4-6837-DFC1-3520B6BE1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38A2D6-E173-FF1F-DF84-A4B03E0945C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B9F73AD6-44AF-02E3-5F6C-51628548F892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B25DEC0-0FF9-4A23-42E2-AE1C610954EA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87E7688-EF6C-D1E5-B75D-A4A83AB7C233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8B63C37-3511-D694-CA24-2D62E2750EA9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D48A7684-35C8-9089-59A4-236F1C1A8E63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2461C43-092E-3081-58D5-ED38D21E6F55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FF6284-D9B0-676C-0E7C-F6939DF55066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5C843-F6E0-C0C0-A025-80EC8AC02AAA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INTUITION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D71DD-829F-85E1-2AC5-5460894F01A0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phasor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A96E838C-65C4-9571-3EC8-3AD0CD8D7C35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E57E4B8-F03F-F889-76CA-A00E3DFBA9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BD721F-B7F4-EEA0-DD72-4D61512D48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38488" y="646793"/>
            <a:ext cx="5339295" cy="53392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A47A622-F2BC-25F1-AA8B-4B03DF4E801E}"/>
              </a:ext>
            </a:extLst>
          </p:cNvPr>
          <p:cNvSpPr txBox="1"/>
          <p:nvPr/>
        </p:nvSpPr>
        <p:spPr>
          <a:xfrm>
            <a:off x="612648" y="1660006"/>
            <a:ext cx="3108960" cy="25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650" b="0" i="0" dirty="0">
                <a:solidFill>
                  <a:srgbClr val="182028"/>
                </a:solidFill>
                <a:latin typeface="Aptos"/>
              </a:rPr>
              <a:t>AKA Polar representation</a:t>
            </a:r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C04C35-A24F-2014-9DE4-11FF04794837}"/>
                  </a:ext>
                </a:extLst>
              </p:cNvPr>
              <p:cNvSpPr txBox="1"/>
              <p:nvPr/>
            </p:nvSpPr>
            <p:spPr>
              <a:xfrm>
                <a:off x="612648" y="2716115"/>
                <a:ext cx="3108960" cy="37670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𝐴𝑚𝑝𝑙𝑖𝑡𝑢𝑑𝑒</m:t>
                      </m:r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 ∠ 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Angle</m:t>
                      </m:r>
                    </m:oMath>
                  </m:oMathPara>
                </a14:m>
                <a:endParaRPr sz="24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C04C35-A24F-2014-9DE4-11FF04794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2716115"/>
                <a:ext cx="3108960" cy="376706"/>
              </a:xfrm>
              <a:prstGeom prst="rect">
                <a:avLst/>
              </a:prstGeom>
              <a:blipFill>
                <a:blip r:embed="rId5"/>
                <a:stretch>
                  <a:fillRect t="-1639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3041E6-5081-D12B-DC55-9EE6509B5D62}"/>
                  </a:ext>
                </a:extLst>
              </p:cNvPr>
              <p:cNvSpPr txBox="1"/>
              <p:nvPr/>
            </p:nvSpPr>
            <p:spPr>
              <a:xfrm>
                <a:off x="612648" y="3226755"/>
                <a:ext cx="3108960" cy="37670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5 ∠ 45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sz="24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3041E6-5081-D12B-DC55-9EE6509B5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3226755"/>
                <a:ext cx="3108960" cy="376706"/>
              </a:xfrm>
              <a:prstGeom prst="rect">
                <a:avLst/>
              </a:prstGeom>
              <a:blipFill>
                <a:blip r:embed="rId6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0D1E7FF-C22B-94CB-FA59-8B864EC85167}"/>
                  </a:ext>
                </a:extLst>
              </p:cNvPr>
              <p:cNvSpPr txBox="1"/>
              <p:nvPr/>
            </p:nvSpPr>
            <p:spPr>
              <a:xfrm>
                <a:off x="292892" y="4067899"/>
                <a:ext cx="3988784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⁡(2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+45°)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0D1E7FF-C22B-94CB-FA59-8B864EC85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92" y="4067899"/>
                <a:ext cx="3988784" cy="4641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EEF049-6F38-D45B-CC45-871ED05D017D}"/>
                  </a:ext>
                </a:extLst>
              </p:cNvPr>
              <p:cNvSpPr txBox="1"/>
              <p:nvPr/>
            </p:nvSpPr>
            <p:spPr>
              <a:xfrm>
                <a:off x="612648" y="4618179"/>
                <a:ext cx="3108960" cy="40581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∠ 45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sz="24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EEF049-6F38-D45B-CC45-871ED05D0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4618179"/>
                <a:ext cx="3108960" cy="405817"/>
              </a:xfrm>
              <a:prstGeom prst="rect">
                <a:avLst/>
              </a:prstGeom>
              <a:blipFill>
                <a:blip r:embed="rId8"/>
                <a:stretch>
                  <a:fillRect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B2EF2999-C2D5-B930-7464-521FF4364370}"/>
              </a:ext>
            </a:extLst>
          </p:cNvPr>
          <p:cNvSpPr txBox="1"/>
          <p:nvPr/>
        </p:nvSpPr>
        <p:spPr>
          <a:xfrm>
            <a:off x="9083040" y="3795007"/>
            <a:ext cx="3108960" cy="25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650" b="0" i="0" dirty="0">
                <a:solidFill>
                  <a:srgbClr val="182028"/>
                </a:solidFill>
                <a:latin typeface="Aptos"/>
              </a:rPr>
              <a:t>Convention for this course:</a:t>
            </a:r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DADEB7-0958-4758-9555-0D44DC986F69}"/>
                  </a:ext>
                </a:extLst>
              </p:cNvPr>
              <p:cNvSpPr txBox="1"/>
              <p:nvPr/>
            </p:nvSpPr>
            <p:spPr>
              <a:xfrm>
                <a:off x="8717280" y="4343647"/>
                <a:ext cx="3108960" cy="37670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RMS</m:t>
                          </m:r>
                        </m:sub>
                      </m:sSub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∠ </m:t>
                      </m:r>
                      <m:r>
                        <a:rPr lang="en-US" sz="2400" b="0" i="1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sz="24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DADEB7-0958-4758-9555-0D44DC986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280" y="4343647"/>
                <a:ext cx="3108960" cy="376706"/>
              </a:xfrm>
              <a:prstGeom prst="rect">
                <a:avLst/>
              </a:prstGeom>
              <a:blipFill>
                <a:blip r:embed="rId9"/>
                <a:stretch>
                  <a:fillRect t="-1639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495C04D-03A2-2AA4-2A42-15AB530B6863}"/>
                  </a:ext>
                </a:extLst>
              </p:cNvPr>
              <p:cNvSpPr txBox="1"/>
              <p:nvPr/>
            </p:nvSpPr>
            <p:spPr>
              <a:xfrm>
                <a:off x="8790148" y="4866248"/>
                <a:ext cx="3108960" cy="7898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∠ </m:t>
                      </m:r>
                      <m:r>
                        <a:rPr lang="en-US" sz="2400" b="0" i="1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sz="24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495C04D-03A2-2AA4-2A42-15AB530B6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148" y="4866248"/>
                <a:ext cx="3108960" cy="7898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243BE2-96BD-25F3-F83B-874A07AAE210}"/>
                  </a:ext>
                </a:extLst>
              </p:cNvPr>
              <p:cNvSpPr txBox="1"/>
              <p:nvPr/>
            </p:nvSpPr>
            <p:spPr>
              <a:xfrm>
                <a:off x="8717280" y="2255285"/>
                <a:ext cx="3108960" cy="37670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i="1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∠ </m:t>
                      </m:r>
                      <m:r>
                        <a:rPr lang="en-US" sz="2400" b="0" i="1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+90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sz="24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243BE2-96BD-25F3-F83B-874A07AAE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280" y="2255285"/>
                <a:ext cx="3108960" cy="376706"/>
              </a:xfrm>
              <a:prstGeom prst="rect">
                <a:avLst/>
              </a:prstGeom>
              <a:blipFill>
                <a:blip r:embed="rId11"/>
                <a:stretch>
                  <a:fillRect b="-27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FD800E8-20CF-2E14-99A7-B36EC7F46501}"/>
              </a:ext>
            </a:extLst>
          </p:cNvPr>
          <p:cNvSpPr txBox="1"/>
          <p:nvPr/>
        </p:nvSpPr>
        <p:spPr>
          <a:xfrm>
            <a:off x="9083040" y="1977916"/>
            <a:ext cx="3108960" cy="25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650" b="0" i="0" dirty="0">
                <a:solidFill>
                  <a:srgbClr val="182028"/>
                </a:solidFill>
                <a:latin typeface="Aptos"/>
              </a:rPr>
              <a:t>Note that</a:t>
            </a:r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0DD0C3-8469-4A88-DE8F-7BCB21E7E4E5}"/>
                  </a:ext>
                </a:extLst>
              </p:cNvPr>
              <p:cNvSpPr txBox="1"/>
              <p:nvPr/>
            </p:nvSpPr>
            <p:spPr>
              <a:xfrm>
                <a:off x="8717280" y="5852927"/>
                <a:ext cx="3108960" cy="37670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RMS</m:t>
                          </m:r>
                        </m:sub>
                      </m:sSub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∠ </m:t>
                      </m:r>
                      <m:r>
                        <a:rPr lang="en-US" sz="2400" b="0" i="1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sz="24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0DD0C3-8469-4A88-DE8F-7BCB21E7E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280" y="5852927"/>
                <a:ext cx="3108960" cy="376706"/>
              </a:xfrm>
              <a:prstGeom prst="rect">
                <a:avLst/>
              </a:prstGeom>
              <a:blipFill>
                <a:blip r:embed="rId12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53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COMPONENT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inductor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" y="5016287"/>
            <a:ext cx="6181344" cy="1015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Changing current creates changing magnetic flux.</a:t>
            </a:r>
            <a:endParaRPr lang="en-US" sz="1650" b="0" i="0" dirty="0">
              <a:solidFill>
                <a:srgbClr val="182028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82028"/>
                </a:solidFill>
                <a:latin typeface="Aptos"/>
              </a:rPr>
              <a:t>The induced voltage opposes the change that produced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82028"/>
                </a:solidFill>
                <a:latin typeface="Aptos"/>
              </a:rPr>
              <a:t>Inductors resist rapid current change, not steady ideal DC after transients settle.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" y="5397161"/>
            <a:ext cx="6181344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25" name="Picture 2" descr="http://www.mouser.com/images/LPFastronRodCoreChokes-2.jpg">
            <a:extLst>
              <a:ext uri="{FF2B5EF4-FFF2-40B4-BE49-F238E27FC236}">
                <a16:creationId xmlns:a16="http://schemas.microsoft.com/office/drawing/2014/main" id="{C8EAC14F-8709-44F0-4732-EB2EB6DB5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56074" y="398830"/>
            <a:ext cx="2783396" cy="205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715C08E-4CBB-D926-7FAC-4D4C664850DC}"/>
              </a:ext>
            </a:extLst>
          </p:cNvPr>
          <p:cNvSpPr txBox="1"/>
          <p:nvPr/>
        </p:nvSpPr>
        <p:spPr>
          <a:xfrm>
            <a:off x="612648" y="1605909"/>
            <a:ext cx="6181344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182028"/>
                </a:solidFill>
                <a:latin typeface="Aptos"/>
              </a:rPr>
              <a:t>Stores energy in a magnetic field</a:t>
            </a:r>
            <a:endParaRPr lang="en-US" sz="200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123722D-2F2F-96F6-14A5-8506B50FD9A6}"/>
                  </a:ext>
                </a:extLst>
              </p:cNvPr>
              <p:cNvSpPr txBox="1"/>
              <p:nvPr/>
            </p:nvSpPr>
            <p:spPr>
              <a:xfrm>
                <a:off x="1407606" y="2237631"/>
                <a:ext cx="1884041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L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dI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123722D-2F2F-96F6-14A5-8506B50FD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606" y="2237631"/>
                <a:ext cx="1884041" cy="818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0FA0ADDB-E6FF-9B07-95DD-9C4766A97B00}"/>
              </a:ext>
            </a:extLst>
          </p:cNvPr>
          <p:cNvSpPr txBox="1"/>
          <p:nvPr/>
        </p:nvSpPr>
        <p:spPr>
          <a:xfrm>
            <a:off x="612648" y="3448884"/>
            <a:ext cx="6181344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182028"/>
                </a:solidFill>
                <a:latin typeface="Aptos"/>
              </a:rPr>
              <a:t>L = inductance (Henry)</a:t>
            </a:r>
            <a:endParaRPr lang="en-US" sz="200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1ABA43-8326-C482-C566-B27C417F17B5}"/>
                  </a:ext>
                </a:extLst>
              </p:cNvPr>
              <p:cNvSpPr txBox="1"/>
              <p:nvPr/>
            </p:nvSpPr>
            <p:spPr>
              <a:xfrm>
                <a:off x="624223" y="4468880"/>
                <a:ext cx="6181344" cy="45159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r>
                  <a:rPr lang="en-US" sz="2000" dirty="0">
                    <a:solidFill>
                      <a:srgbClr val="182028"/>
                    </a:solidFill>
                    <a:latin typeface="Aptos"/>
                  </a:rPr>
                  <a:t>For DC,</a:t>
                </a: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dI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dt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>
                    <a:solidFill>
                      <a:srgbClr val="182028"/>
                    </a:solidFill>
                    <a:latin typeface="Aptos"/>
                  </a:rPr>
                  <a:t>. For AC, it’s a different story. 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1ABA43-8326-C482-C566-B27C417F1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23" y="4468880"/>
                <a:ext cx="6181344" cy="451598"/>
              </a:xfrm>
              <a:prstGeom prst="rect">
                <a:avLst/>
              </a:prstGeom>
              <a:blipFill>
                <a:blip r:embed="rId5"/>
                <a:stretch>
                  <a:fillRect l="-2465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FC844C-794F-A9DC-1B15-492350E0FDF2}"/>
                  </a:ext>
                </a:extLst>
              </p:cNvPr>
              <p:cNvSpPr txBox="1"/>
              <p:nvPr/>
            </p:nvSpPr>
            <p:spPr>
              <a:xfrm>
                <a:off x="7281107" y="2696040"/>
                <a:ext cx="3540521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I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⁡(2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+∅)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FC844C-794F-A9DC-1B15-492350E0F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107" y="2696040"/>
                <a:ext cx="3540521" cy="4641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2A38E2B-74C1-A8F1-5097-083E68B3C023}"/>
                  </a:ext>
                </a:extLst>
              </p:cNvPr>
              <p:cNvSpPr txBox="1"/>
              <p:nvPr/>
            </p:nvSpPr>
            <p:spPr>
              <a:xfrm>
                <a:off x="7298283" y="3235928"/>
                <a:ext cx="4204869" cy="6320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L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dt</m:t>
                        </m:r>
                      </m:den>
                    </m:f>
                  </m:oMath>
                </a14:m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⁡(2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m:rPr>
                        <m:sty m:val="p"/>
                      </m:rP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ft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+∅)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2A38E2B-74C1-A8F1-5097-083E68B3C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283" y="3235928"/>
                <a:ext cx="4204869" cy="632033"/>
              </a:xfrm>
              <a:prstGeom prst="rect">
                <a:avLst/>
              </a:prstGeom>
              <a:blipFill>
                <a:blip r:embed="rId7"/>
                <a:stretch>
                  <a:fillRect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5E20C93-8C88-29FD-B02A-C20C95C81BD5}"/>
                  </a:ext>
                </a:extLst>
              </p:cNvPr>
              <p:cNvSpPr txBox="1"/>
              <p:nvPr/>
            </p:nvSpPr>
            <p:spPr>
              <a:xfrm>
                <a:off x="7298283" y="3882645"/>
                <a:ext cx="4422364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L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fcos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⁡(2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ft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+∅)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5E20C93-8C88-29FD-B02A-C20C95C81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283" y="3882645"/>
                <a:ext cx="4422364" cy="4641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40FB232-60C6-2331-33B0-B3DC072DCB78}"/>
                  </a:ext>
                </a:extLst>
              </p:cNvPr>
              <p:cNvSpPr txBox="1"/>
              <p:nvPr/>
            </p:nvSpPr>
            <p:spPr>
              <a:xfrm>
                <a:off x="7016780" y="4462629"/>
                <a:ext cx="4750210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L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+∅+90°)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40FB232-60C6-2331-33B0-B3DC072DC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780" y="4462629"/>
                <a:ext cx="4750210" cy="46410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D3FAE7-2B70-50B6-3E05-DEF8A53846E2}"/>
                  </a:ext>
                </a:extLst>
              </p:cNvPr>
              <p:cNvSpPr txBox="1"/>
              <p:nvPr/>
            </p:nvSpPr>
            <p:spPr>
              <a:xfrm>
                <a:off x="6866373" y="5307381"/>
                <a:ext cx="1981399" cy="40581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sz="24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D3FAE7-2B70-50B6-3E05-DEF8A538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373" y="5307381"/>
                <a:ext cx="1981399" cy="405817"/>
              </a:xfrm>
              <a:prstGeom prst="rect">
                <a:avLst/>
              </a:prstGeom>
              <a:blipFill>
                <a:blip r:embed="rId10"/>
                <a:stretch>
                  <a:fillRect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E514C6-FDC1-4A24-CA75-E71D83457F9C}"/>
                  </a:ext>
                </a:extLst>
              </p:cNvPr>
              <p:cNvSpPr txBox="1"/>
              <p:nvPr/>
            </p:nvSpPr>
            <p:spPr>
              <a:xfrm>
                <a:off x="9051367" y="5307381"/>
                <a:ext cx="3027750" cy="40581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L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∠(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∅+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90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°)</m:t>
                      </m:r>
                    </m:oMath>
                  </m:oMathPara>
                </a14:m>
                <a:endParaRPr sz="24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2E514C6-FDC1-4A24-CA75-E71D83457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367" y="5307381"/>
                <a:ext cx="3027750" cy="405817"/>
              </a:xfrm>
              <a:prstGeom prst="rect">
                <a:avLst/>
              </a:prstGeom>
              <a:blipFill>
                <a:blip r:embed="rId11"/>
                <a:stretch>
                  <a:fillRect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3AA6CE1-61BA-18D4-1039-922F2CECF7F7}"/>
                  </a:ext>
                </a:extLst>
              </p:cNvPr>
              <p:cNvSpPr txBox="1"/>
              <p:nvPr/>
            </p:nvSpPr>
            <p:spPr>
              <a:xfrm>
                <a:off x="9051367" y="5905283"/>
                <a:ext cx="3027750" cy="40581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4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1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L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sz="24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3AA6CE1-61BA-18D4-1039-922F2CECF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367" y="5905283"/>
                <a:ext cx="3027750" cy="405817"/>
              </a:xfrm>
              <a:prstGeom prst="rect">
                <a:avLst/>
              </a:prstGeom>
              <a:blipFill>
                <a:blip r:embed="rId12"/>
                <a:stretch>
                  <a:fillRect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45">
            <a:extLst>
              <a:ext uri="{FF2B5EF4-FFF2-40B4-BE49-F238E27FC236}">
                <a16:creationId xmlns:a16="http://schemas.microsoft.com/office/drawing/2014/main" id="{7C56EBF2-766A-2B55-C99F-C6FFF02B5E0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502920" y="3613743"/>
            <a:ext cx="2248074" cy="11089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FREQUENCY DEPENDENCE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Inductive </a:t>
            </a:r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reactance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2375" y="2199346"/>
            <a:ext cx="3276600" cy="1299258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2375" y="2149575"/>
            <a:ext cx="82296" cy="1299258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1704720"/>
            <a:ext cx="2865120" cy="27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b="0" i="0" dirty="0">
                <a:solidFill>
                  <a:srgbClr val="182028"/>
                </a:solidFill>
                <a:latin typeface="Aptos"/>
              </a:rPr>
              <a:t>Like resistance but not quite</a:t>
            </a:r>
            <a:endParaRPr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53523" y="3543300"/>
            <a:ext cx="3276600" cy="1669804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24914" y="3648763"/>
            <a:ext cx="82296" cy="1609037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1851" y="4522043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Magnitude relationship for an ideal inductor.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5596128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5596128"/>
            <a:ext cx="66751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AN INDUCTOR CAN LOOK SMALL AT LOW f AND LARGE AT HIGH 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E141846-71C9-6314-6EB3-73549093FD40}"/>
                  </a:ext>
                </a:extLst>
              </p:cNvPr>
              <p:cNvSpPr txBox="1"/>
              <p:nvPr/>
            </p:nvSpPr>
            <p:spPr>
              <a:xfrm>
                <a:off x="4231073" y="2581804"/>
                <a:ext cx="3027750" cy="50231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en-US" sz="3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fL</m:t>
                      </m:r>
                    </m:oMath>
                  </m:oMathPara>
                </a14:m>
                <a:endParaRPr sz="32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E141846-71C9-6314-6EB3-73549093F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073" y="2581804"/>
                <a:ext cx="3027750" cy="5023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AC5F8D7D-87B9-403D-7F9C-213B10BD7F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0904615"/>
                  </p:ext>
                </p:extLst>
              </p:nvPr>
            </p:nvGraphicFramePr>
            <p:xfrm>
              <a:off x="7696200" y="1784104"/>
              <a:ext cx="3816096" cy="3429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6042">
                      <a:extLst>
                        <a:ext uri="{9D8B030D-6E8A-4147-A177-3AD203B41FA5}">
                          <a16:colId xmlns:a16="http://schemas.microsoft.com/office/drawing/2014/main" val="940386626"/>
                        </a:ext>
                      </a:extLst>
                    </a:gridCol>
                    <a:gridCol w="2120054">
                      <a:extLst>
                        <a:ext uri="{9D8B030D-6E8A-4147-A177-3AD203B41FA5}">
                          <a16:colId xmlns:a16="http://schemas.microsoft.com/office/drawing/2014/main" val="113902638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r>
                            <a:rPr sz="13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Frequency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sub>
                              </m:sSub>
                            </m:oMath>
                          </a14:m>
                          <a:r>
                            <a:rPr lang="ar-AE" sz="1300" b="1" dirty="0">
                              <a:solidFill>
                                <a:schemeClr val="bg1"/>
                              </a:solidFill>
                              <a:latin typeface="Aptos"/>
                            </a:rPr>
                            <a:t> </a:t>
                          </a:r>
                          <a:r>
                            <a:rPr sz="13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for 10 </a:t>
                          </a:r>
                          <a:r>
                            <a:rPr sz="1300" b="1" dirty="0" err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mH</a:t>
                          </a:r>
                          <a:endParaRPr sz="130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552522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r>
                            <a:rPr sz="13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100 Hz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3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6.28 ohm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401578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r>
                            <a:rPr sz="13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 kHz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3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62.8 ohm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5528534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r>
                            <a:rPr sz="13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10 kHz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3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628 ohm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13483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r>
                            <a:rPr sz="13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100 kHz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3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6.28 </a:t>
                          </a:r>
                          <a:r>
                            <a:rPr sz="1300" dirty="0" err="1">
                              <a:solidFill>
                                <a:srgbClr val="182028"/>
                              </a:solidFill>
                              <a:latin typeface="Aptos"/>
                            </a:rPr>
                            <a:t>kohm</a:t>
                          </a:r>
                          <a:r>
                            <a:rPr sz="13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ideal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57447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AC5F8D7D-87B9-403D-7F9C-213B10BD7F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0904615"/>
                  </p:ext>
                </p:extLst>
              </p:nvPr>
            </p:nvGraphicFramePr>
            <p:xfrm>
              <a:off x="7696200" y="1784104"/>
              <a:ext cx="3816096" cy="3429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6042">
                      <a:extLst>
                        <a:ext uri="{9D8B030D-6E8A-4147-A177-3AD203B41FA5}">
                          <a16:colId xmlns:a16="http://schemas.microsoft.com/office/drawing/2014/main" val="940386626"/>
                        </a:ext>
                      </a:extLst>
                    </a:gridCol>
                    <a:gridCol w="2120054">
                      <a:extLst>
                        <a:ext uri="{9D8B030D-6E8A-4147-A177-3AD203B41FA5}">
                          <a16:colId xmlns:a16="http://schemas.microsoft.com/office/drawing/2014/main" val="1139026388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r>
                            <a:rPr sz="13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Frequency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6" marR="82296" marT="54864" marB="36576">
                        <a:blipFill>
                          <a:blip r:embed="rId4"/>
                          <a:stretch>
                            <a:fillRect l="-80460" t="-885" r="-1149" b="-4008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552522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r>
                            <a:rPr sz="13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100 Hz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3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6.28 ohm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401578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r>
                            <a:rPr sz="13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 kHz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3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62.8 ohm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5528534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r>
                            <a:rPr sz="13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10 kHz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3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628 ohm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13483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r>
                            <a:rPr sz="1300">
                              <a:solidFill>
                                <a:srgbClr val="182028"/>
                              </a:solidFill>
                              <a:latin typeface="Aptos"/>
                            </a:rPr>
                            <a:t>100 kHz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3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6.28 </a:t>
                          </a:r>
                          <a:r>
                            <a:rPr sz="1300" dirty="0" err="1">
                              <a:solidFill>
                                <a:srgbClr val="182028"/>
                              </a:solidFill>
                              <a:latin typeface="Aptos"/>
                            </a:rPr>
                            <a:t>kohm</a:t>
                          </a:r>
                          <a:r>
                            <a:rPr sz="130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 ideal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574479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67702D6-08C2-D010-258C-AD47A5089B69}"/>
                  </a:ext>
                </a:extLst>
              </p:cNvPr>
              <p:cNvSpPr txBox="1"/>
              <p:nvPr/>
            </p:nvSpPr>
            <p:spPr>
              <a:xfrm>
                <a:off x="3980225" y="3984645"/>
                <a:ext cx="3027750" cy="50231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2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32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I</m:t>
                      </m:r>
                      <m:sSub>
                        <m:sSubPr>
                          <m:ctrlPr>
                            <a:rPr lang="en-US" sz="3200" i="1" dirty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i="1" dirty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i="1" dirty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sz="3200" b="0" i="0" dirty="0">
                  <a:solidFill>
                    <a:srgbClr val="18202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67702D6-08C2-D010-258C-AD47A5089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225" y="3984645"/>
                <a:ext cx="3027750" cy="5023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30F12A67-C857-1C58-D5CB-0908FB4C8968}"/>
              </a:ext>
            </a:extLst>
          </p:cNvPr>
          <p:cNvSpPr txBox="1"/>
          <p:nvPr/>
        </p:nvSpPr>
        <p:spPr>
          <a:xfrm>
            <a:off x="660308" y="2336617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Intended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2924C0-AAC1-65A3-49E1-801C8614A427}"/>
              </a:ext>
            </a:extLst>
          </p:cNvPr>
          <p:cNvSpPr txBox="1"/>
          <p:nvPr/>
        </p:nvSpPr>
        <p:spPr>
          <a:xfrm>
            <a:off x="660308" y="2775529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Transformers, inductive sensors, RFID, and wireless power use controlled coupling.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6D2365-D446-59B2-B96A-54BAB421BA6F}"/>
              </a:ext>
            </a:extLst>
          </p:cNvPr>
          <p:cNvSpPr txBox="1"/>
          <p:nvPr/>
        </p:nvSpPr>
        <p:spPr>
          <a:xfrm>
            <a:off x="655988" y="3847501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Unintended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B99F76-7DFD-4A34-408D-65DB5257BBDB}"/>
              </a:ext>
            </a:extLst>
          </p:cNvPr>
          <p:cNvSpPr txBox="1"/>
          <p:nvPr/>
        </p:nvSpPr>
        <p:spPr>
          <a:xfrm>
            <a:off x="655988" y="4286413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Nearby loops and conductors can receive energy from changing current.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REACTANCE AND 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E</a:t>
            </a:r>
            <a:r>
              <a:rPr sz="2900" b="1" i="0" dirty="0">
                <a:solidFill>
                  <a:srgbClr val="17324D"/>
                </a:solidFill>
                <a:latin typeface="Aptos Display"/>
              </a:rPr>
              <a:t>xample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058E2D-BF74-7B4D-D071-EC02124216DE}"/>
                  </a:ext>
                </a:extLst>
              </p:cNvPr>
              <p:cNvSpPr txBox="1"/>
              <p:nvPr/>
            </p:nvSpPr>
            <p:spPr>
              <a:xfrm>
                <a:off x="776747" y="1828512"/>
                <a:ext cx="18410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10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mH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058E2D-BF74-7B4D-D071-EC0212421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1828512"/>
                <a:ext cx="184101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725A71A-1169-6F08-6ED4-230F69D2B4B3}"/>
                  </a:ext>
                </a:extLst>
              </p:cNvPr>
              <p:cNvSpPr txBox="1"/>
              <p:nvPr/>
            </p:nvSpPr>
            <p:spPr>
              <a:xfrm>
                <a:off x="818200" y="3895749"/>
                <a:ext cx="10661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dirty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 dirty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1" dirty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725A71A-1169-6F08-6ED4-230F69D2B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00" y="3895749"/>
                <a:ext cx="1066126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58EF04-22CB-E191-A5C8-A79DC1D6AC46}"/>
                  </a:ext>
                </a:extLst>
              </p:cNvPr>
              <p:cNvSpPr txBox="1"/>
              <p:nvPr/>
            </p:nvSpPr>
            <p:spPr>
              <a:xfrm>
                <a:off x="776747" y="2268544"/>
                <a:ext cx="16117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2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kHz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58EF04-22CB-E191-A5C8-A79DC1D6A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2268544"/>
                <a:ext cx="161178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9A9541-22FE-31F8-65F5-07A549198230}"/>
                  </a:ext>
                </a:extLst>
              </p:cNvPr>
              <p:cNvSpPr txBox="1"/>
              <p:nvPr/>
            </p:nvSpPr>
            <p:spPr>
              <a:xfrm>
                <a:off x="776747" y="2708576"/>
                <a:ext cx="18067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RMS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1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D9A9541-22FE-31F8-65F5-07A549198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2708576"/>
                <a:ext cx="180671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B28ED8-76C9-C6F8-26B1-1F23AB432A2F}"/>
                  </a:ext>
                </a:extLst>
              </p:cNvPr>
              <p:cNvSpPr txBox="1"/>
              <p:nvPr/>
            </p:nvSpPr>
            <p:spPr>
              <a:xfrm>
                <a:off x="818200" y="4390570"/>
                <a:ext cx="96744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1" dirty="0">
                              <a:solidFill>
                                <a:srgbClr val="182028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182028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B28ED8-76C9-C6F8-26B1-1F23AB432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200" y="4390570"/>
                <a:ext cx="96744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EB5DCD5E-55EF-A542-B2C1-70D22995E1F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588151" y="810402"/>
            <a:ext cx="8765893" cy="44251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8C645-3911-50B5-7039-E82F14E1A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B96F33-1B09-59D4-4171-6E25FC33160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ED08426D-CC53-2EB2-AA37-7564A53BCB1A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E7DF71B-10D0-2062-6BA3-738CC1E07461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422F200-B222-5AF8-C51C-988B86AFC027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4FB6F99-26E6-D5E7-B3C5-C586EE230C4B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7ED6499C-8FEE-821D-EF2C-B4083508BE3E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4BAA67A-13B9-2E52-0853-5C2BD1F2FA1A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ADF1C-7409-5CB9-0717-E460BB0959AF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47DED-3CA5-073E-5305-06903311588B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REACTANCE AND CURRENT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EF2DB2-870F-C192-87FC-DE960E5D0CC2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Putting it all together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8CEDE6F1-C08B-DFEF-6E83-3FF8C1231A8D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39E26561-88B4-10A5-E3A0-79A1835153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9646" y="1196084"/>
            <a:ext cx="5265516" cy="52655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F7ECF3A-F3DB-F380-9003-60DA3BB3998D}"/>
                  </a:ext>
                </a:extLst>
              </p:cNvPr>
              <p:cNvSpPr txBox="1"/>
              <p:nvPr/>
            </p:nvSpPr>
            <p:spPr>
              <a:xfrm>
                <a:off x="776747" y="2760368"/>
                <a:ext cx="2214452" cy="876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F7ECF3A-F3DB-F380-9003-60DA3BB39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2760368"/>
                <a:ext cx="2214452" cy="876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122769E9-4766-A7B9-66D7-9846C08000C4}"/>
              </a:ext>
            </a:extLst>
          </p:cNvPr>
          <p:cNvSpPr txBox="1"/>
          <p:nvPr/>
        </p:nvSpPr>
        <p:spPr>
          <a:xfrm>
            <a:off x="660308" y="2336617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Impedance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18817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05 | INDUCTANCE + REACTANCE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BEFORE WEDNESDAY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Exi</a:t>
            </a:r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 check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306627"/>
            <a:ext cx="1046988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b="1" i="0" dirty="0">
                <a:solidFill>
                  <a:srgbClr val="17324D"/>
                </a:solidFill>
                <a:latin typeface="Aptos Display"/>
              </a:rPr>
              <a:t>Can two coils share a magnetic field?</a:t>
            </a:r>
            <a:endParaRPr sz="3000" b="1" i="0" dirty="0">
              <a:solidFill>
                <a:srgbClr val="17324D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TRANSFORMERS + ISOLATION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70FB23F-6B22-2ACD-1E3B-9264100640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50336" y="2487984"/>
            <a:ext cx="5306568" cy="26532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678</Words>
  <Application>Microsoft Office PowerPoint</Application>
  <PresentationFormat>Widescreen</PresentationFormat>
  <Paragraphs>139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4</cp:revision>
  <dcterms:created xsi:type="dcterms:W3CDTF">2013-01-27T09:14:16Z</dcterms:created>
  <dcterms:modified xsi:type="dcterms:W3CDTF">2026-09-18T13:30:58Z</dcterms:modified>
  <cp:category/>
</cp:coreProperties>
</file>