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60" r:id="rId4"/>
    <p:sldId id="262" r:id="rId5"/>
    <p:sldId id="269" r:id="rId6"/>
    <p:sldId id="267" r:id="rId7"/>
    <p:sldId id="268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578" autoAdjust="0"/>
  </p:normalViewPr>
  <p:slideViewPr>
    <p:cSldViewPr snapToGrid="0" snapToObjects="1">
      <p:cViewPr varScale="1">
        <p:scale>
          <a:sx n="83" d="100"/>
          <a:sy n="83" d="100"/>
        </p:scale>
        <p:origin x="15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86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0BC4C-AEB8-0471-C8C3-563FF225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C0A541-ED33-2FDB-1764-F32015568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D1543-111A-8385-8DE9-F09BF9A23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E15DF-1329-A27A-9B53-0559D148C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9246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Work one numerical or proportional example. Emphasize what changes, what remains fixed, and where the model stops being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-20/10 = -2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 = 1/10² * 1mW = 10 µW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fW</a:t>
            </a:r>
            <a:endParaRPr lang="en-US" sz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µW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dB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-20/10 = -2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 = 1/10² * 1mW = 10 µW</a:t>
            </a:r>
          </a:p>
          <a:p>
            <a:endParaRPr lang="en-US" dirty="0"/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15/10 = 1.5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= 10</a:t>
            </a:r>
            <a:r>
              <a:rPr lang="en-US" sz="12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1mW = 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31.6 * 1mW = 31.6 </a:t>
            </a:r>
            <a:r>
              <a:rPr lang="en-US" sz="1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mW</a:t>
            </a:r>
            <a:endParaRPr lang="en-US" sz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9832D-4D7C-BDEA-448E-7E856343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C954E-0E19-F642-0EA8-C43868E75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70EB5-D769-F747-BE2C-5F8E4D2A1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-20/10 = -2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 = 1/10² * 1mW = 10 µW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fW</a:t>
            </a:r>
            <a:endParaRPr lang="en-US" sz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µW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dB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-20/10 = -2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 = 1/10² * 1mW = 10 µW</a:t>
            </a:r>
          </a:p>
          <a:p>
            <a:endParaRPr lang="en-US" dirty="0"/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15/10 = 1.5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= 10</a:t>
            </a:r>
            <a:r>
              <a:rPr lang="en-US" sz="12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1mW = 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31.6 * 1mW = 31.6 </a:t>
            </a:r>
            <a:r>
              <a:rPr lang="en-US" sz="1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mW</a:t>
            </a:r>
            <a:endParaRPr lang="en-US" sz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FB66A-23B7-2D3C-362C-80BACA5EA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58660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9D5C-1D24-5804-4115-3CB1D274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E160D-47F3-1208-E930-03C6F016C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6F9B4-622B-3ED1-8D9D-BBC8ACA32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 wave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kHz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A2D1A-4296-BE21-68C1-3A8A4E652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91779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0E018-4FB7-A250-FEEA-B0F8E50F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EF3FB-4E50-312F-3B3B-FCE672B2B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1F828-E54A-736B-8E74-049AA1EF9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Period = 10ms</a:t>
            </a:r>
          </a:p>
          <a:p>
            <a:r>
              <a:rPr lang="en-US" sz="120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f = 1/10ms = </a:t>
            </a:r>
            <a:r>
              <a:rPr lang="en-US" sz="1200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100 Hz</a:t>
            </a:r>
          </a:p>
          <a:p>
            <a:endParaRPr lang="en-US" sz="1200" kern="1200" dirty="0">
              <a:solidFill>
                <a:srgbClr val="FFC000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1</a:t>
            </a:r>
            <a:r>
              <a:rPr lang="en-US" sz="1200" kern="1200" baseline="300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st</a:t>
            </a:r>
            <a:r>
              <a:rPr lang="en-US" sz="120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 harmonic = fundamental</a:t>
            </a:r>
          </a:p>
          <a:p>
            <a:r>
              <a:rPr lang="en-US" sz="120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3</a:t>
            </a:r>
            <a:r>
              <a:rPr lang="en-US" sz="1200" kern="1200" baseline="300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rd</a:t>
            </a:r>
            <a:r>
              <a:rPr lang="en-US" sz="120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 harmonic = 300 Hz</a:t>
            </a:r>
          </a:p>
          <a:p>
            <a:r>
              <a:rPr lang="en-US" sz="120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5</a:t>
            </a:r>
            <a:r>
              <a:rPr lang="en-US" sz="1200" kern="1200" baseline="300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120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 harmonic = 500 Hz</a:t>
            </a:r>
          </a:p>
          <a:p>
            <a:r>
              <a:rPr lang="en-US" sz="1200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7</a:t>
            </a:r>
            <a:r>
              <a:rPr lang="en-US" sz="1200" kern="1200" baseline="300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1200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 harmonic = 700 Hz</a:t>
            </a:r>
          </a:p>
          <a:p>
            <a:endParaRPr lang="en-US" sz="1200" kern="1200" dirty="0">
              <a:solidFill>
                <a:srgbClr val="FFC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D6879-2E6B-523E-ED5F-644AF56F8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7493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13 | SIGNAL IDENTIFICATION AND 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Aptos Display"/>
              </a:rPr>
              <a:t>Investigating an Unknown Signal</a:t>
            </a:r>
            <a:endParaRPr sz="40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 dirty="0">
                <a:solidFill>
                  <a:srgbClr val="D6E1E7"/>
                </a:solidFill>
                <a:latin typeface="Aptos"/>
              </a:rPr>
              <a:t>Classify observable </a:t>
            </a:r>
            <a:r>
              <a:rPr lang="en-US" sz="1900" b="0" i="0" dirty="0">
                <a:solidFill>
                  <a:srgbClr val="D6E1E7"/>
                </a:solidFill>
                <a:latin typeface="Aptos"/>
              </a:rPr>
              <a:t>features</a:t>
            </a:r>
            <a:endParaRPr sz="1900" b="0" i="0" dirty="0">
              <a:solidFill>
                <a:srgbClr val="D6E1E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FRIDAY, OCTOBER 2,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066E5-13BF-B6BE-A2F9-3A4BC823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D517B5-A592-A16A-90EC-C1BDA2F1FA9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6F924EB7-B46A-94F4-DEA0-537EFE9013C0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D1C1314-7869-890C-BE96-D229056BB727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BFA9F97D-1647-3F5A-7666-61ED1103337B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8B33A3B4-25D2-C3A6-CDFE-D64A6223FE90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B38A8AF4-D351-D1E8-304F-1DC7FF116C71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59D655-D736-135E-E06F-031FC36D057C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13 | SIGNAL IDENTIFICATION AND 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5CD50-D3DF-D70D-15A2-CB54C07AB4FD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983ED2-43C4-15E6-B18D-F66BE7D44D12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FROM CONCEPT TO EVIDENCE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168A8-7F70-A8B8-D782-ACEF02896472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So far this week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E8DE33C6-2FC4-B8C3-8681-D7FF9A5B354F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30">
            <a:extLst>
              <a:ext uri="{FF2B5EF4-FFF2-40B4-BE49-F238E27FC236}">
                <a16:creationId xmlns:a16="http://schemas.microsoft.com/office/drawing/2014/main" id="{1AE6CF18-C6AE-D0D5-6E8C-2222C64E7F83}"/>
              </a:ext>
            </a:extLst>
          </p:cNvPr>
          <p:cNvSpPr/>
          <p:nvPr/>
        </p:nvSpPr>
        <p:spPr>
          <a:xfrm>
            <a:off x="3200400" y="1908551"/>
            <a:ext cx="576072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A5939C-ED27-3648-B82A-6A4A059B6EBA}"/>
              </a:ext>
            </a:extLst>
          </p:cNvPr>
          <p:cNvSpPr txBox="1"/>
          <p:nvPr/>
        </p:nvSpPr>
        <p:spPr>
          <a:xfrm>
            <a:off x="3200400" y="2011910"/>
            <a:ext cx="576072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WHAT FREQUENCIES MAKE UP A WAVEFORM?</a:t>
            </a:r>
          </a:p>
        </p:txBody>
      </p:sp>
      <p:sp>
        <p:nvSpPr>
          <p:cNvPr id="29" name="Rounded Rectangle 30">
            <a:extLst>
              <a:ext uri="{FF2B5EF4-FFF2-40B4-BE49-F238E27FC236}">
                <a16:creationId xmlns:a16="http://schemas.microsoft.com/office/drawing/2014/main" id="{281DA482-C19A-9B6C-ED65-B1A11DBBC791}"/>
              </a:ext>
            </a:extLst>
          </p:cNvPr>
          <p:cNvSpPr/>
          <p:nvPr/>
        </p:nvSpPr>
        <p:spPr>
          <a:xfrm>
            <a:off x="3200400" y="3041642"/>
            <a:ext cx="576072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6D6874-A7A3-8CB4-A35F-E445B2543822}"/>
              </a:ext>
            </a:extLst>
          </p:cNvPr>
          <p:cNvSpPr txBox="1"/>
          <p:nvPr/>
        </p:nvSpPr>
        <p:spPr>
          <a:xfrm>
            <a:off x="3200400" y="3145001"/>
            <a:ext cx="576072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HOW DO SIGNAL STRENGTH AND NOISE AFFECT COMMUNICATION?</a:t>
            </a:r>
          </a:p>
        </p:txBody>
      </p:sp>
      <p:sp>
        <p:nvSpPr>
          <p:cNvPr id="34" name="Rounded Rectangle 24">
            <a:extLst>
              <a:ext uri="{FF2B5EF4-FFF2-40B4-BE49-F238E27FC236}">
                <a16:creationId xmlns:a16="http://schemas.microsoft.com/office/drawing/2014/main" id="{B743390E-1346-E366-BBA1-A8D93CBCC6DB}"/>
              </a:ext>
            </a:extLst>
          </p:cNvPr>
          <p:cNvSpPr/>
          <p:nvPr/>
        </p:nvSpPr>
        <p:spPr>
          <a:xfrm>
            <a:off x="2743200" y="4369135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DEAE26-112C-2B18-1D5A-65FA2EFC148C}"/>
              </a:ext>
            </a:extLst>
          </p:cNvPr>
          <p:cNvSpPr txBox="1"/>
          <p:nvPr/>
        </p:nvSpPr>
        <p:spPr>
          <a:xfrm>
            <a:off x="2743200" y="4472494"/>
            <a:ext cx="667512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HOW DO WE USE THOSE IDEAS TO INVESTIGATE AN UNFAMILIAR SIGNAL?</a:t>
            </a:r>
          </a:p>
        </p:txBody>
      </p:sp>
    </p:spTree>
    <p:extLst>
      <p:ext uri="{BB962C8B-B14F-4D97-AF65-F5344CB8AC3E}">
        <p14:creationId xmlns:p14="http://schemas.microsoft.com/office/powerpoint/2010/main" val="3100046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13 | SIGNAL IDENTIFICATION AND 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QUANTITATIVE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Important Equations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3A62946-069A-2777-DF31-D9DD34BF54A5}"/>
                  </a:ext>
                </a:extLst>
              </p:cNvPr>
              <p:cNvSpPr txBox="1"/>
              <p:nvPr/>
            </p:nvSpPr>
            <p:spPr>
              <a:xfrm>
                <a:off x="4867437" y="2645123"/>
                <a:ext cx="6791163" cy="103252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5000"/>
                  </a:lnSpc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SNR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power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linear</m:t>
                          </m:r>
                        </m:sub>
                      </m:sSub>
                      <m:r>
                        <a:rPr lang="en-US" sz="28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signal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noise</m:t>
                              </m:r>
                            </m:sub>
                          </m:sSub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SNR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voltage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linear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latin typeface="Aptos" panose="020B000402020202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3A62946-069A-2777-DF31-D9DD34BF5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437" y="2645123"/>
                <a:ext cx="6791163" cy="10325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71B58CB-133E-B1C4-EAD5-0A780475BBDC}"/>
                  </a:ext>
                </a:extLst>
              </p:cNvPr>
              <p:cNvSpPr txBox="1"/>
              <p:nvPr/>
            </p:nvSpPr>
            <p:spPr>
              <a:xfrm>
                <a:off x="-184066" y="2810284"/>
                <a:ext cx="5305194" cy="111338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5000"/>
                  </a:lnSpc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dirty="0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en-US" sz="280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>
                  <a:latin typeface="Aptos" panose="020B000402020202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71B58CB-133E-B1C4-EAD5-0A780475B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066" y="2810284"/>
                <a:ext cx="5305194" cy="11133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751CE8C-ED19-C742-0881-978EA8E650AD}"/>
                  </a:ext>
                </a:extLst>
              </p:cNvPr>
              <p:cNvSpPr txBox="1"/>
              <p:nvPr/>
            </p:nvSpPr>
            <p:spPr>
              <a:xfrm>
                <a:off x="-184066" y="1645517"/>
                <a:ext cx="5305194" cy="111338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5000"/>
                  </a:lnSpc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dirty="0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en-US" sz="280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>
                  <a:latin typeface="Aptos" panose="020B000402020202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751CE8C-ED19-C742-0881-978EA8E65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066" y="1645517"/>
                <a:ext cx="5305194" cy="11133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13FA6C0-C7E0-DA3F-42B7-04C9497862A2}"/>
                  </a:ext>
                </a:extLst>
              </p:cNvPr>
              <p:cNvSpPr txBox="1"/>
              <p:nvPr/>
            </p:nvSpPr>
            <p:spPr>
              <a:xfrm>
                <a:off x="5822943" y="1645517"/>
                <a:ext cx="5789937" cy="54700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3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SNR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power</m:t>
                          </m:r>
                          <m: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linear</m:t>
                          </m:r>
                        </m:sub>
                      </m:sSub>
                      <m:r>
                        <a:rPr lang="en-US" sz="3200" b="0" i="1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2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13FA6C0-C7E0-DA3F-42B7-04C949786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943" y="1645517"/>
                <a:ext cx="5789937" cy="5470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1921B1-3922-9899-C6E3-2C0F9622EF0E}"/>
                  </a:ext>
                </a:extLst>
              </p:cNvPr>
              <p:cNvSpPr txBox="1"/>
              <p:nvPr/>
            </p:nvSpPr>
            <p:spPr>
              <a:xfrm>
                <a:off x="5532120" y="3677650"/>
                <a:ext cx="5305194" cy="103252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5000"/>
                  </a:lnSpc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SNR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voltage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linear</m:t>
                          </m:r>
                        </m:sub>
                      </m:sSub>
                      <m:r>
                        <a:rPr lang="en-US" sz="28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signal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noise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latin typeface="Aptos" panose="020B000402020202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1921B1-3922-9899-C6E3-2C0F9622E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120" y="3677650"/>
                <a:ext cx="5305194" cy="10325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647D84-7DD8-DD7F-BE3D-765639054AFD}"/>
                  </a:ext>
                </a:extLst>
              </p:cNvPr>
              <p:cNvSpPr txBox="1"/>
              <p:nvPr/>
            </p:nvSpPr>
            <p:spPr>
              <a:xfrm>
                <a:off x="348658" y="4404416"/>
                <a:ext cx="5305194" cy="49552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5000"/>
                  </a:lnSpc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SNR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sub>
                      </m:sSub>
                      <m:r>
                        <a:rPr lang="en-US" sz="280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Signal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sub>
                      </m:sSub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-</m:t>
                      </m:r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Noise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dB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Aptos" panose="020B000402020202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647D84-7DD8-DD7F-BE3D-765639054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58" y="4404416"/>
                <a:ext cx="5305194" cy="495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47CCE05-A639-7029-CD97-8D2C4642B914}"/>
                  </a:ext>
                </a:extLst>
              </p:cNvPr>
              <p:cNvSpPr txBox="1"/>
              <p:nvPr/>
            </p:nvSpPr>
            <p:spPr>
              <a:xfrm>
                <a:off x="6170526" y="5215252"/>
                <a:ext cx="5305194" cy="74199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5000"/>
                  </a:lnSpc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SNR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power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linear</m:t>
                          </m:r>
                        </m:sub>
                      </m:sSub>
                      <m:r>
                        <a:rPr lang="en-US" sz="280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SNR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dB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800" dirty="0">
                  <a:latin typeface="Aptos" panose="020B000402020202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47CCE05-A639-7029-CD97-8D2C4642B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526" y="5215252"/>
                <a:ext cx="5305194" cy="741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20">
            <a:extLst>
              <a:ext uri="{FF2B5EF4-FFF2-40B4-BE49-F238E27FC236}">
                <a16:creationId xmlns:a16="http://schemas.microsoft.com/office/drawing/2014/main" id="{4B0E1101-AF49-D5A3-58E3-A255D57711FC}"/>
              </a:ext>
            </a:extLst>
          </p:cNvPr>
          <p:cNvSpPr/>
          <p:nvPr/>
        </p:nvSpPr>
        <p:spPr>
          <a:xfrm>
            <a:off x="7918704" y="1783080"/>
            <a:ext cx="3520440" cy="2020435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20">
            <a:extLst>
              <a:ext uri="{FF2B5EF4-FFF2-40B4-BE49-F238E27FC236}">
                <a16:creationId xmlns:a16="http://schemas.microsoft.com/office/drawing/2014/main" id="{5874B439-A853-958D-0AB8-CAC6771D6C32}"/>
              </a:ext>
            </a:extLst>
          </p:cNvPr>
          <p:cNvSpPr/>
          <p:nvPr/>
        </p:nvSpPr>
        <p:spPr>
          <a:xfrm>
            <a:off x="7918704" y="4044531"/>
            <a:ext cx="3520440" cy="2020435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13 | SIGNAL IDENTIFICATION AND 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F6D74"/>
                </a:solidFill>
                <a:latin typeface="Aptos"/>
              </a:rPr>
              <a:t>TIME TO EXERCISE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dB Practice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12">
            <a:extLst>
              <a:ext uri="{FF2B5EF4-FFF2-40B4-BE49-F238E27FC236}">
                <a16:creationId xmlns:a16="http://schemas.microsoft.com/office/drawing/2014/main" id="{916791A3-1584-7521-B072-F89745700605}"/>
              </a:ext>
            </a:extLst>
          </p:cNvPr>
          <p:cNvSpPr/>
          <p:nvPr/>
        </p:nvSpPr>
        <p:spPr>
          <a:xfrm>
            <a:off x="685800" y="1828800"/>
            <a:ext cx="3276600" cy="197471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6D4F69-8917-7766-99C0-6DDFE16BD495}"/>
              </a:ext>
            </a:extLst>
          </p:cNvPr>
          <p:cNvSpPr txBox="1"/>
          <p:nvPr/>
        </p:nvSpPr>
        <p:spPr>
          <a:xfrm>
            <a:off x="903790" y="2191860"/>
            <a:ext cx="278853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000" dirty="0">
                <a:latin typeface="Aptos" panose="020B0004020202020204" pitchFamily="34" charset="0"/>
              </a:rPr>
              <a:t>Perfect </a:t>
            </a:r>
            <a:r>
              <a:rPr lang="es-MX" sz="2000" dirty="0" err="1">
                <a:latin typeface="Aptos" panose="020B0004020202020204" pitchFamily="34" charset="0"/>
              </a:rPr>
              <a:t>wire</a:t>
            </a:r>
            <a:r>
              <a:rPr lang="es-MX" sz="2000" dirty="0">
                <a:latin typeface="Aptos" panose="020B000402020202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MX" sz="1600" dirty="0">
                <a:latin typeface="Aptos" panose="020B0004020202020204" pitchFamily="34" charset="0"/>
              </a:rPr>
              <a:t>(R = 0Ω; L = 0H; C = 0F)</a:t>
            </a:r>
          </a:p>
          <a:p>
            <a:pPr marL="0" indent="0" algn="ctr">
              <a:buNone/>
            </a:pPr>
            <a:r>
              <a:rPr lang="es-MX" sz="2000" dirty="0">
                <a:latin typeface="Aptos" panose="020B0004020202020204" pitchFamily="34" charset="0"/>
              </a:rPr>
              <a:t>P</a:t>
            </a:r>
            <a:r>
              <a:rPr lang="es-MX" sz="2000" baseline="-25000" dirty="0">
                <a:latin typeface="Aptos" panose="020B0004020202020204" pitchFamily="34" charset="0"/>
              </a:rPr>
              <a:t>1</a:t>
            </a:r>
            <a:r>
              <a:rPr lang="es-MX" sz="2000" dirty="0">
                <a:latin typeface="Aptos" panose="020B0004020202020204" pitchFamily="34" charset="0"/>
              </a:rPr>
              <a:t> = 1W; P</a:t>
            </a:r>
            <a:r>
              <a:rPr lang="es-MX" sz="2000" baseline="-25000" dirty="0">
                <a:latin typeface="Aptos" panose="020B0004020202020204" pitchFamily="34" charset="0"/>
              </a:rPr>
              <a:t>2</a:t>
            </a:r>
            <a:r>
              <a:rPr lang="es-MX" sz="2000" dirty="0">
                <a:latin typeface="Aptos" panose="020B0004020202020204" pitchFamily="34" charset="0"/>
              </a:rPr>
              <a:t> = 1W. </a:t>
            </a:r>
          </a:p>
          <a:p>
            <a:pPr marL="0" indent="0" algn="ctr">
              <a:buNone/>
            </a:pPr>
            <a:r>
              <a:rPr lang="es-MX" sz="2000" dirty="0">
                <a:latin typeface="Aptos" panose="020B0004020202020204" pitchFamily="34" charset="0"/>
              </a:rPr>
              <a:t>Find dB.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9" name="Rounded Rectangle 12">
            <a:extLst>
              <a:ext uri="{FF2B5EF4-FFF2-40B4-BE49-F238E27FC236}">
                <a16:creationId xmlns:a16="http://schemas.microsoft.com/office/drawing/2014/main" id="{C9949B83-AF1E-08B0-0733-730E55A135BD}"/>
              </a:ext>
            </a:extLst>
          </p:cNvPr>
          <p:cNvSpPr/>
          <p:nvPr/>
        </p:nvSpPr>
        <p:spPr>
          <a:xfrm>
            <a:off x="685800" y="4099059"/>
            <a:ext cx="3276600" cy="197471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3719CB-7B51-F6CE-CA82-216D57A7E779}"/>
              </a:ext>
            </a:extLst>
          </p:cNvPr>
          <p:cNvSpPr txBox="1"/>
          <p:nvPr/>
        </p:nvSpPr>
        <p:spPr>
          <a:xfrm>
            <a:off x="685800" y="4547807"/>
            <a:ext cx="32766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latin typeface="Aptos" panose="020B0004020202020204" pitchFamily="34" charset="0"/>
              </a:rPr>
              <a:t>Satellite communication</a:t>
            </a:r>
          </a:p>
          <a:p>
            <a:pPr marL="0" indent="0" algn="ctr">
              <a:buNone/>
            </a:pPr>
            <a:r>
              <a:rPr lang="en-US" sz="1600" dirty="0">
                <a:latin typeface="Aptos" panose="020B0004020202020204" pitchFamily="34" charset="0"/>
              </a:rPr>
              <a:t>path loss ≈ -180 dB</a:t>
            </a:r>
          </a:p>
          <a:p>
            <a:pPr marL="0" indent="0" algn="ctr">
              <a:buNone/>
            </a:pPr>
            <a:r>
              <a:rPr lang="en-US" sz="1600" dirty="0">
                <a:latin typeface="Aptos" panose="020B0004020202020204" pitchFamily="34" charset="0"/>
              </a:rPr>
              <a:t>If Tx power = 1000W, what is received power?</a:t>
            </a:r>
          </a:p>
        </p:txBody>
      </p: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22A801F3-C68C-B3DF-BC8D-07516E20336C}"/>
              </a:ext>
            </a:extLst>
          </p:cNvPr>
          <p:cNvSpPr/>
          <p:nvPr/>
        </p:nvSpPr>
        <p:spPr>
          <a:xfrm>
            <a:off x="4191000" y="1828800"/>
            <a:ext cx="3276600" cy="197471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16">
            <a:extLst>
              <a:ext uri="{FF2B5EF4-FFF2-40B4-BE49-F238E27FC236}">
                <a16:creationId xmlns:a16="http://schemas.microsoft.com/office/drawing/2014/main" id="{4080EBB8-1ABC-3395-A2CC-571895BFC8D0}"/>
              </a:ext>
            </a:extLst>
          </p:cNvPr>
          <p:cNvSpPr/>
          <p:nvPr/>
        </p:nvSpPr>
        <p:spPr>
          <a:xfrm>
            <a:off x="4191000" y="4099058"/>
            <a:ext cx="3276600" cy="197471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92D70D-F82F-1311-524D-8644E70CBA90}"/>
              </a:ext>
            </a:extLst>
          </p:cNvPr>
          <p:cNvSpPr txBox="1"/>
          <p:nvPr/>
        </p:nvSpPr>
        <p:spPr>
          <a:xfrm>
            <a:off x="4180390" y="2247337"/>
            <a:ext cx="32766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>
                <a:latin typeface="Aptos" panose="020B0004020202020204" pitchFamily="34" charset="0"/>
              </a:rPr>
              <a:t>AM Radio Example:</a:t>
            </a:r>
          </a:p>
          <a:p>
            <a:pPr marL="0" indent="0" algn="ctr">
              <a:buNone/>
            </a:pPr>
            <a:r>
              <a:rPr lang="en-US" sz="2000" dirty="0">
                <a:latin typeface="Aptos" panose="020B0004020202020204" pitchFamily="34" charset="0"/>
              </a:rPr>
              <a:t>	If Tx power = 50,000W; path loss ≈100 </a:t>
            </a:r>
            <a:r>
              <a:rPr lang="en-US" sz="2000" dirty="0" err="1">
                <a:latin typeface="Aptos" panose="020B0004020202020204" pitchFamily="34" charset="0"/>
              </a:rPr>
              <a:t>dB.</a:t>
            </a:r>
            <a:r>
              <a:rPr lang="en-US" sz="2000" dirty="0">
                <a:latin typeface="Aptos" panose="020B0004020202020204" pitchFamily="34" charset="0"/>
              </a:rPr>
              <a:t> What is received power?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1B0D41-3F9B-E404-B4BB-512111D6D556}"/>
              </a:ext>
            </a:extLst>
          </p:cNvPr>
          <p:cNvSpPr txBox="1"/>
          <p:nvPr/>
        </p:nvSpPr>
        <p:spPr>
          <a:xfrm>
            <a:off x="4255982" y="4430697"/>
            <a:ext cx="32766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 err="1">
                <a:latin typeface="Aptos" panose="020B0004020202020204" pitchFamily="34" charset="0"/>
              </a:rPr>
              <a:t>Amplifier</a:t>
            </a:r>
            <a:r>
              <a:rPr lang="es-MX" sz="2000" dirty="0">
                <a:latin typeface="Aptos" panose="020B0004020202020204" pitchFamily="34" charset="0"/>
              </a:rPr>
              <a:t> </a:t>
            </a:r>
            <a:r>
              <a:rPr lang="es-MX" sz="2000" dirty="0" err="1">
                <a:latin typeface="Aptos" panose="020B0004020202020204" pitchFamily="34" charset="0"/>
              </a:rPr>
              <a:t>Example</a:t>
            </a:r>
            <a:r>
              <a:rPr lang="es-MX" sz="2000" dirty="0">
                <a:latin typeface="Aptos" panose="020B0004020202020204" pitchFamily="34" charset="0"/>
              </a:rPr>
              <a:t>:</a:t>
            </a:r>
          </a:p>
          <a:p>
            <a:pPr algn="ctr"/>
            <a:r>
              <a:rPr lang="es-MX" sz="2000" dirty="0">
                <a:latin typeface="Aptos" panose="020B0004020202020204" pitchFamily="34" charset="0"/>
              </a:rPr>
              <a:t>Signal in = 10mW; </a:t>
            </a:r>
          </a:p>
          <a:p>
            <a:pPr algn="ctr"/>
            <a:r>
              <a:rPr lang="es-MX" sz="2000" dirty="0">
                <a:latin typeface="Aptos" panose="020B0004020202020204" pitchFamily="34" charset="0"/>
              </a:rPr>
              <a:t>Signal </a:t>
            </a:r>
            <a:r>
              <a:rPr lang="es-MX" sz="2000" dirty="0" err="1">
                <a:latin typeface="Aptos" panose="020B0004020202020204" pitchFamily="34" charset="0"/>
              </a:rPr>
              <a:t>out</a:t>
            </a:r>
            <a:r>
              <a:rPr lang="es-MX" sz="2000" dirty="0">
                <a:latin typeface="Aptos" panose="020B0004020202020204" pitchFamily="34" charset="0"/>
              </a:rPr>
              <a:t> = 100 W. Find </a:t>
            </a:r>
            <a:r>
              <a:rPr lang="es-MX" sz="2000" dirty="0" err="1">
                <a:latin typeface="Aptos" panose="020B0004020202020204" pitchFamily="34" charset="0"/>
              </a:rPr>
              <a:t>gain</a:t>
            </a:r>
            <a:r>
              <a:rPr lang="es-MX" sz="2000" dirty="0">
                <a:latin typeface="Aptos" panose="020B0004020202020204" pitchFamily="34" charset="0"/>
              </a:rPr>
              <a:t> </a:t>
            </a:r>
            <a:r>
              <a:rPr lang="es-MX" sz="2000" dirty="0" err="1">
                <a:latin typeface="Aptos" panose="020B0004020202020204" pitchFamily="34" charset="0"/>
              </a:rPr>
              <a:t>of</a:t>
            </a:r>
            <a:r>
              <a:rPr lang="es-MX" sz="2000" dirty="0">
                <a:latin typeface="Aptos" panose="020B0004020202020204" pitchFamily="34" charset="0"/>
              </a:rPr>
              <a:t> </a:t>
            </a:r>
            <a:r>
              <a:rPr lang="es-MX" sz="2000" dirty="0" err="1">
                <a:latin typeface="Aptos" panose="020B0004020202020204" pitchFamily="34" charset="0"/>
              </a:rPr>
              <a:t>amplifier</a:t>
            </a:r>
            <a:r>
              <a:rPr lang="es-MX" sz="2000" dirty="0">
                <a:latin typeface="Aptos" panose="020B0004020202020204" pitchFamily="34" charset="0"/>
              </a:rPr>
              <a:t>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DB29AB-A6CD-CFB2-A586-956DC541627B}"/>
              </a:ext>
            </a:extLst>
          </p:cNvPr>
          <p:cNvSpPr txBox="1"/>
          <p:nvPr/>
        </p:nvSpPr>
        <p:spPr>
          <a:xfrm>
            <a:off x="8147303" y="4418542"/>
            <a:ext cx="32766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Aptos" panose="020B0004020202020204" pitchFamily="34" charset="0"/>
              </a:rPr>
              <a:t>Reference </a:t>
            </a:r>
            <a:r>
              <a:rPr lang="es-MX" sz="2000" dirty="0" err="1">
                <a:latin typeface="Aptos" panose="020B0004020202020204" pitchFamily="34" charset="0"/>
              </a:rPr>
              <a:t>Example</a:t>
            </a:r>
            <a:r>
              <a:rPr lang="es-MX" sz="2000" dirty="0">
                <a:latin typeface="Aptos" panose="020B0004020202020204" pitchFamily="34" charset="0"/>
              </a:rPr>
              <a:t>: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</a:rPr>
              <a:t>Given signal at 15dBm; find wattage.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71E760-7AFC-20F3-CCB9-6241A547E40A}"/>
              </a:ext>
            </a:extLst>
          </p:cNvPr>
          <p:cNvSpPr txBox="1"/>
          <p:nvPr/>
        </p:nvSpPr>
        <p:spPr>
          <a:xfrm>
            <a:off x="8040623" y="2281639"/>
            <a:ext cx="32766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Aptos" panose="020B0004020202020204" pitchFamily="34" charset="0"/>
              </a:rPr>
              <a:t>Reference </a:t>
            </a:r>
            <a:r>
              <a:rPr lang="es-MX" sz="2000" dirty="0" err="1">
                <a:latin typeface="Aptos" panose="020B0004020202020204" pitchFamily="34" charset="0"/>
              </a:rPr>
              <a:t>Example</a:t>
            </a:r>
            <a:r>
              <a:rPr lang="es-MX" sz="2000" dirty="0">
                <a:latin typeface="Aptos" panose="020B0004020202020204" pitchFamily="34" charset="0"/>
              </a:rPr>
              <a:t>:</a:t>
            </a:r>
          </a:p>
          <a:p>
            <a:pPr algn="ctr"/>
            <a:r>
              <a:rPr lang="es-MX" sz="2000" dirty="0">
                <a:latin typeface="Aptos" panose="020B0004020202020204" pitchFamily="34" charset="0"/>
              </a:rPr>
              <a:t>Given </a:t>
            </a:r>
            <a:r>
              <a:rPr lang="es-MX" sz="2000" dirty="0" err="1">
                <a:latin typeface="Aptos" panose="020B0004020202020204" pitchFamily="34" charset="0"/>
              </a:rPr>
              <a:t>signal</a:t>
            </a:r>
            <a:r>
              <a:rPr lang="es-MX" sz="2000" dirty="0">
                <a:latin typeface="Aptos" panose="020B0004020202020204" pitchFamily="34" charset="0"/>
              </a:rPr>
              <a:t> at -20dBm; </a:t>
            </a:r>
            <a:r>
              <a:rPr lang="es-MX" sz="2000" dirty="0" err="1">
                <a:latin typeface="Aptos" panose="020B0004020202020204" pitchFamily="34" charset="0"/>
              </a:rPr>
              <a:t>find</a:t>
            </a:r>
            <a:r>
              <a:rPr lang="es-MX" sz="2000" dirty="0">
                <a:latin typeface="Aptos" panose="020B0004020202020204" pitchFamily="34" charset="0"/>
              </a:rPr>
              <a:t> wattage.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E287A-35DB-BA61-E173-1D4863881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20">
            <a:extLst>
              <a:ext uri="{FF2B5EF4-FFF2-40B4-BE49-F238E27FC236}">
                <a16:creationId xmlns:a16="http://schemas.microsoft.com/office/drawing/2014/main" id="{CB5E26E3-9F76-D649-2A6D-19074C013DE0}"/>
              </a:ext>
            </a:extLst>
          </p:cNvPr>
          <p:cNvSpPr/>
          <p:nvPr/>
        </p:nvSpPr>
        <p:spPr>
          <a:xfrm>
            <a:off x="7918704" y="1783080"/>
            <a:ext cx="3520440" cy="2020435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20">
            <a:extLst>
              <a:ext uri="{FF2B5EF4-FFF2-40B4-BE49-F238E27FC236}">
                <a16:creationId xmlns:a16="http://schemas.microsoft.com/office/drawing/2014/main" id="{D500A828-5C6E-0FE8-17C6-253E6F700525}"/>
              </a:ext>
            </a:extLst>
          </p:cNvPr>
          <p:cNvSpPr/>
          <p:nvPr/>
        </p:nvSpPr>
        <p:spPr>
          <a:xfrm>
            <a:off x="7918704" y="4044531"/>
            <a:ext cx="3520440" cy="2020435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E8A6FB-182D-9404-F681-7BF49F32EAC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38A194F-7D13-8057-369C-13656C10E4FF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3BC9070-B309-B279-6FAA-390C897648B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E7ED9E63-B5A2-0DFD-A95A-FAFC40571B6A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42587CA-0B93-8169-0A5C-F32A2DFF248D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863A0DB-1641-8C70-69BF-B2F9B3D3EE7B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1C28A4-7B2A-5730-AB59-DD65DC8173DC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13 | SIGNAL IDENTIFICATION AND 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0FCE0-3809-468B-F833-5F869E03B71E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5CC53E-FDEA-FB9B-D937-9E075F4CC64F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F6D74"/>
                </a:solidFill>
                <a:latin typeface="Aptos"/>
              </a:rPr>
              <a:t>TIME TO EXERCISE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D0EC4D-921A-B173-EC7C-1BE3C9FA4EB9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dB Practice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68973AFA-FB3D-1326-4EFF-48402029D240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12">
            <a:extLst>
              <a:ext uri="{FF2B5EF4-FFF2-40B4-BE49-F238E27FC236}">
                <a16:creationId xmlns:a16="http://schemas.microsoft.com/office/drawing/2014/main" id="{A2883534-C1CB-2990-A4C4-7DFAC856E669}"/>
              </a:ext>
            </a:extLst>
          </p:cNvPr>
          <p:cNvSpPr/>
          <p:nvPr/>
        </p:nvSpPr>
        <p:spPr>
          <a:xfrm>
            <a:off x="685800" y="1828800"/>
            <a:ext cx="3276600" cy="197471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08E8D1-DAC8-BB0A-61A4-8D3C6063EC22}"/>
              </a:ext>
            </a:extLst>
          </p:cNvPr>
          <p:cNvSpPr txBox="1"/>
          <p:nvPr/>
        </p:nvSpPr>
        <p:spPr>
          <a:xfrm>
            <a:off x="903790" y="2191860"/>
            <a:ext cx="27885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>
                <a:latin typeface="Aptos" panose="020B0004020202020204" pitchFamily="34" charset="0"/>
              </a:rPr>
              <a:t>Reference Example:</a:t>
            </a:r>
          </a:p>
          <a:p>
            <a:pPr marL="0" indent="0" algn="ctr">
              <a:buNone/>
            </a:pPr>
            <a:r>
              <a:rPr lang="en-US" sz="2000" dirty="0">
                <a:latin typeface="Aptos" panose="020B0004020202020204" pitchFamily="34" charset="0"/>
              </a:rPr>
              <a:t>Given signal at 40dBW; find wattage.</a:t>
            </a:r>
          </a:p>
        </p:txBody>
      </p:sp>
      <p:sp>
        <p:nvSpPr>
          <p:cNvPr id="39" name="Rounded Rectangle 12">
            <a:extLst>
              <a:ext uri="{FF2B5EF4-FFF2-40B4-BE49-F238E27FC236}">
                <a16:creationId xmlns:a16="http://schemas.microsoft.com/office/drawing/2014/main" id="{AE5B9DAE-5F2D-0134-BC91-DA56209BD5A4}"/>
              </a:ext>
            </a:extLst>
          </p:cNvPr>
          <p:cNvSpPr/>
          <p:nvPr/>
        </p:nvSpPr>
        <p:spPr>
          <a:xfrm>
            <a:off x="685800" y="4099059"/>
            <a:ext cx="3276600" cy="197471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70B1E6-BF66-2F82-D7C7-6DAB307AD43F}"/>
              </a:ext>
            </a:extLst>
          </p:cNvPr>
          <p:cNvSpPr txBox="1"/>
          <p:nvPr/>
        </p:nvSpPr>
        <p:spPr>
          <a:xfrm>
            <a:off x="685800" y="4547807"/>
            <a:ext cx="32766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Reference Example: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</a:rPr>
              <a:t>Given signal at 40dBV; 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</a:rPr>
              <a:t>find voltage.</a:t>
            </a:r>
          </a:p>
        </p:txBody>
      </p: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2214AF23-CC26-ABCB-BC23-F850BAD7D53F}"/>
              </a:ext>
            </a:extLst>
          </p:cNvPr>
          <p:cNvSpPr/>
          <p:nvPr/>
        </p:nvSpPr>
        <p:spPr>
          <a:xfrm>
            <a:off x="4191000" y="1828800"/>
            <a:ext cx="3276600" cy="197471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16">
            <a:extLst>
              <a:ext uri="{FF2B5EF4-FFF2-40B4-BE49-F238E27FC236}">
                <a16:creationId xmlns:a16="http://schemas.microsoft.com/office/drawing/2014/main" id="{AA0D5D5C-12D4-52D6-95D5-2C2B2C70059F}"/>
              </a:ext>
            </a:extLst>
          </p:cNvPr>
          <p:cNvSpPr/>
          <p:nvPr/>
        </p:nvSpPr>
        <p:spPr>
          <a:xfrm>
            <a:off x="4191000" y="4099058"/>
            <a:ext cx="3276600" cy="197471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1A524E-E955-3562-2B5F-CE717B785C0D}"/>
              </a:ext>
            </a:extLst>
          </p:cNvPr>
          <p:cNvSpPr txBox="1"/>
          <p:nvPr/>
        </p:nvSpPr>
        <p:spPr>
          <a:xfrm>
            <a:off x="4180390" y="2247337"/>
            <a:ext cx="32766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>
                <a:latin typeface="Aptos" panose="020B0004020202020204" pitchFamily="34" charset="0"/>
              </a:rPr>
              <a:t>Reference Example:</a:t>
            </a:r>
          </a:p>
          <a:p>
            <a:pPr marL="0" indent="0" algn="ctr">
              <a:buNone/>
            </a:pPr>
            <a:r>
              <a:rPr lang="en-US" sz="2000" dirty="0">
                <a:latin typeface="Aptos" panose="020B0004020202020204" pitchFamily="34" charset="0"/>
              </a:rPr>
              <a:t>Given signal at -60dBmV; find voltage.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95D886-685E-77D1-E498-851AF6EC16F8}"/>
              </a:ext>
            </a:extLst>
          </p:cNvPr>
          <p:cNvSpPr txBox="1"/>
          <p:nvPr/>
        </p:nvSpPr>
        <p:spPr>
          <a:xfrm>
            <a:off x="4396740" y="4424695"/>
            <a:ext cx="28374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 err="1">
                <a:latin typeface="Aptos" panose="020B0004020202020204" pitchFamily="34" charset="0"/>
              </a:rPr>
              <a:t>Amplifier</a:t>
            </a:r>
            <a:r>
              <a:rPr lang="es-MX" sz="2000" dirty="0">
                <a:latin typeface="Aptos" panose="020B0004020202020204" pitchFamily="34" charset="0"/>
              </a:rPr>
              <a:t> </a:t>
            </a:r>
            <a:r>
              <a:rPr lang="es-MX" sz="2000" dirty="0" err="1">
                <a:latin typeface="Aptos" panose="020B0004020202020204" pitchFamily="34" charset="0"/>
              </a:rPr>
              <a:t>Example</a:t>
            </a:r>
            <a:r>
              <a:rPr lang="es-MX" sz="2000" dirty="0">
                <a:latin typeface="Aptos" panose="020B0004020202020204" pitchFamily="34" charset="0"/>
              </a:rPr>
              <a:t>:</a:t>
            </a:r>
          </a:p>
          <a:p>
            <a:pPr algn="ctr"/>
            <a:r>
              <a:rPr lang="es-MX" sz="2000" dirty="0">
                <a:latin typeface="Aptos" panose="020B0004020202020204" pitchFamily="34" charset="0"/>
              </a:rPr>
              <a:t>Signal in = 10mW; Signal </a:t>
            </a:r>
            <a:r>
              <a:rPr lang="es-MX" sz="2000" dirty="0" err="1">
                <a:latin typeface="Aptos" panose="020B0004020202020204" pitchFamily="34" charset="0"/>
              </a:rPr>
              <a:t>out</a:t>
            </a:r>
            <a:r>
              <a:rPr lang="es-MX" sz="2000" dirty="0">
                <a:latin typeface="Aptos" panose="020B0004020202020204" pitchFamily="34" charset="0"/>
              </a:rPr>
              <a:t> = 100 W. Find </a:t>
            </a:r>
            <a:r>
              <a:rPr lang="es-MX" sz="2000" dirty="0" err="1">
                <a:latin typeface="Aptos" panose="020B0004020202020204" pitchFamily="34" charset="0"/>
              </a:rPr>
              <a:t>gain</a:t>
            </a:r>
            <a:r>
              <a:rPr lang="es-MX" sz="2000" dirty="0">
                <a:latin typeface="Aptos" panose="020B0004020202020204" pitchFamily="34" charset="0"/>
              </a:rPr>
              <a:t> </a:t>
            </a:r>
            <a:r>
              <a:rPr lang="es-MX" sz="2000" dirty="0" err="1">
                <a:latin typeface="Aptos" panose="020B0004020202020204" pitchFamily="34" charset="0"/>
              </a:rPr>
              <a:t>of</a:t>
            </a:r>
            <a:r>
              <a:rPr lang="es-MX" sz="2000" dirty="0">
                <a:latin typeface="Aptos" panose="020B0004020202020204" pitchFamily="34" charset="0"/>
              </a:rPr>
              <a:t> </a:t>
            </a:r>
            <a:r>
              <a:rPr lang="es-MX" sz="2000" dirty="0" err="1">
                <a:latin typeface="Aptos" panose="020B0004020202020204" pitchFamily="34" charset="0"/>
              </a:rPr>
              <a:t>amplifier</a:t>
            </a:r>
            <a:r>
              <a:rPr lang="es-MX" sz="2000" dirty="0">
                <a:latin typeface="Aptos" panose="020B0004020202020204" pitchFamily="34" charset="0"/>
              </a:rPr>
              <a:t>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10A972-4811-3F79-750C-A23FE0E2E983}"/>
              </a:ext>
            </a:extLst>
          </p:cNvPr>
          <p:cNvSpPr txBox="1"/>
          <p:nvPr/>
        </p:nvSpPr>
        <p:spPr>
          <a:xfrm>
            <a:off x="8147303" y="4523614"/>
            <a:ext cx="32766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Aptos" panose="020B0004020202020204" pitchFamily="34" charset="0"/>
              </a:rPr>
              <a:t>Reference </a:t>
            </a:r>
            <a:r>
              <a:rPr lang="es-MX" sz="2000" dirty="0" err="1">
                <a:latin typeface="Aptos" panose="020B0004020202020204" pitchFamily="34" charset="0"/>
              </a:rPr>
              <a:t>Example</a:t>
            </a:r>
            <a:r>
              <a:rPr lang="es-MX" sz="2000" dirty="0">
                <a:latin typeface="Aptos" panose="020B0004020202020204" pitchFamily="34" charset="0"/>
              </a:rPr>
              <a:t>: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</a:rPr>
              <a:t>Given signal at 15dBm; find wattage.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7B38D3-0A24-F73A-C60E-2E31DB1266BA}"/>
              </a:ext>
            </a:extLst>
          </p:cNvPr>
          <p:cNvSpPr txBox="1"/>
          <p:nvPr/>
        </p:nvSpPr>
        <p:spPr>
          <a:xfrm>
            <a:off x="7943087" y="2329144"/>
            <a:ext cx="32766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Aptos" panose="020B0004020202020204" pitchFamily="34" charset="0"/>
              </a:rPr>
              <a:t>Reference </a:t>
            </a:r>
            <a:r>
              <a:rPr lang="es-MX" sz="2000" dirty="0" err="1">
                <a:latin typeface="Aptos" panose="020B0004020202020204" pitchFamily="34" charset="0"/>
              </a:rPr>
              <a:t>Example</a:t>
            </a:r>
            <a:r>
              <a:rPr lang="es-MX" sz="2000" dirty="0">
                <a:latin typeface="Aptos" panose="020B0004020202020204" pitchFamily="34" charset="0"/>
              </a:rPr>
              <a:t>:</a:t>
            </a:r>
          </a:p>
          <a:p>
            <a:pPr algn="ctr"/>
            <a:r>
              <a:rPr lang="es-MX" sz="2000" dirty="0">
                <a:latin typeface="Aptos" panose="020B0004020202020204" pitchFamily="34" charset="0"/>
              </a:rPr>
              <a:t>Given </a:t>
            </a:r>
            <a:r>
              <a:rPr lang="es-MX" sz="2000" dirty="0" err="1">
                <a:latin typeface="Aptos" panose="020B0004020202020204" pitchFamily="34" charset="0"/>
              </a:rPr>
              <a:t>signal</a:t>
            </a:r>
            <a:r>
              <a:rPr lang="es-MX" sz="2000" dirty="0">
                <a:latin typeface="Aptos" panose="020B0004020202020204" pitchFamily="34" charset="0"/>
              </a:rPr>
              <a:t> at -20dBm; </a:t>
            </a:r>
            <a:r>
              <a:rPr lang="es-MX" sz="2000" dirty="0" err="1">
                <a:latin typeface="Aptos" panose="020B0004020202020204" pitchFamily="34" charset="0"/>
              </a:rPr>
              <a:t>find</a:t>
            </a:r>
            <a:r>
              <a:rPr lang="es-MX" sz="2000" dirty="0">
                <a:latin typeface="Aptos" panose="020B0004020202020204" pitchFamily="34" charset="0"/>
              </a:rPr>
              <a:t> wattage.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23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3FDDD-0564-2A4B-F53D-253BDD7E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4AF433-81B4-C2AD-C915-742AB73BAA5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760D8519-4178-357F-6A70-B269A9530FCA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7AB3C9AC-DFB6-EF53-658D-91697B790D95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2A54058-0CCA-9A0B-A239-6BB8017B90E1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9F4D21B-C161-8048-52BC-14067075FF58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7CA7B7D-0F1C-3411-B47C-289EA3C99A41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363B83-36B1-FAB8-3C1E-56ED3678F3EF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13 | SIGNAL IDENTIFICATION AND 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9558C-E78A-007E-DBDD-DD368027FF1B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4B3BA3-0B59-D529-2553-B109F23BE1A9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F6D74"/>
                </a:solidFill>
                <a:latin typeface="Aptos"/>
              </a:rPr>
              <a:t>TIME TO EXERCISE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22966C-155B-18A8-0084-3D79DDCCA2DA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Spectra Practice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DD01737-285D-6610-262A-81DEED0E9EF8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60418D2-1365-674D-BBF1-ACFBD261B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38" y="1584993"/>
            <a:ext cx="5267325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4C8703-F9C2-AC76-758D-123DE4E0D07E}"/>
              </a:ext>
            </a:extLst>
          </p:cNvPr>
          <p:cNvSpPr txBox="1"/>
          <p:nvPr/>
        </p:nvSpPr>
        <p:spPr>
          <a:xfrm>
            <a:off x="1221705" y="4777368"/>
            <a:ext cx="10254016" cy="1594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What shape is this wavefor</a:t>
            </a:r>
            <a:r>
              <a:rPr lang="en-US" sz="1700" dirty="0">
                <a:solidFill>
                  <a:srgbClr val="182028"/>
                </a:solidFill>
                <a:latin typeface="Aptos"/>
              </a:rPr>
              <a:t>m?</a:t>
            </a:r>
          </a:p>
          <a:p>
            <a:pPr algn="ctr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What is the fundamental frequency?</a:t>
            </a:r>
          </a:p>
          <a:p>
            <a:pPr algn="ctr">
              <a:lnSpc>
                <a:spcPct val="102000"/>
              </a:lnSpc>
            </a:pPr>
            <a:r>
              <a:rPr lang="en-US" sz="1700" dirty="0">
                <a:solidFill>
                  <a:srgbClr val="182028"/>
                </a:solidFill>
                <a:latin typeface="Aptos"/>
              </a:rPr>
              <a:t>How many harmonics can you see?</a:t>
            </a:r>
          </a:p>
          <a:p>
            <a:pPr algn="ctr">
              <a:lnSpc>
                <a:spcPct val="102000"/>
              </a:lnSpc>
            </a:pPr>
            <a:r>
              <a:rPr lang="en-US" sz="1700" dirty="0">
                <a:solidFill>
                  <a:srgbClr val="182028"/>
                </a:solidFill>
                <a:latin typeface="Aptos"/>
              </a:rPr>
              <a:t>This is only a partial spectrum; how many harmonics does this square</a:t>
            </a:r>
          </a:p>
          <a:p>
            <a:pPr algn="ctr">
              <a:lnSpc>
                <a:spcPct val="102000"/>
              </a:lnSpc>
            </a:pPr>
            <a:r>
              <a:rPr lang="en-US" sz="1700" dirty="0">
                <a:solidFill>
                  <a:srgbClr val="182028"/>
                </a:solidFill>
                <a:latin typeface="Aptos"/>
              </a:rPr>
              <a:t> wave actually consist of?</a:t>
            </a:r>
          </a:p>
          <a:p>
            <a:pPr algn="ctr">
              <a:lnSpc>
                <a:spcPct val="102000"/>
              </a:lnSpc>
            </a:pP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1998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0FFB4-B50B-C383-A27F-520E4CBA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3D2199-3FC9-828D-FFE5-40CE26E5D3A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64D2B8C-69F2-8B4C-CF74-5C6276250791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81F3BD4-3CAD-BCBC-FDC7-0250B328E7E4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96669C2-8D01-E9B1-EFD9-E0B1DDEBBAA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9BAF114-60AC-39E5-EB77-ADE4F3752E35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07254C0-C656-FBD5-F574-53B8CA25FAA2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828E3D9-C3B0-EC36-CA5D-475815705056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13 | SIGNAL IDENTIFICATION AND 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FF3E9-A63D-817C-C909-1076069408FB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7E557-3EAB-FC51-8AE4-C052B84165A4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F6D74"/>
                </a:solidFill>
                <a:latin typeface="Aptos"/>
              </a:rPr>
              <a:t>TIME TO EXERCISE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59F65-17DE-A7C0-2BB3-4D695318314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Spectra Practice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F59491E-323B-8ABF-41BB-4E602E3FE3D4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BC80319-49C1-834E-E914-201DB77705ED}"/>
              </a:ext>
            </a:extLst>
          </p:cNvPr>
          <p:cNvSpPr txBox="1"/>
          <p:nvPr/>
        </p:nvSpPr>
        <p:spPr>
          <a:xfrm>
            <a:off x="1221705" y="5017023"/>
            <a:ext cx="10254016" cy="527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What is the fundamental frequency?</a:t>
            </a:r>
          </a:p>
          <a:p>
            <a:pPr algn="ctr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What is the frequency of the 7th harmonic?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14" name="Picture 2" descr="Image result for square wave spectrum">
            <a:extLst>
              <a:ext uri="{FF2B5EF4-FFF2-40B4-BE49-F238E27FC236}">
                <a16:creationId xmlns:a16="http://schemas.microsoft.com/office/drawing/2014/main" id="{C1CCBD69-EA62-492C-7546-8378F5AEC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783" y="1577251"/>
            <a:ext cx="8331697" cy="317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25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13 | SIGNAL IDENTIFICATION AND 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BRIDGE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306627"/>
            <a:ext cx="1046988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i="0" dirty="0">
                <a:solidFill>
                  <a:srgbClr val="17324D"/>
                </a:solidFill>
                <a:latin typeface="Aptos Display"/>
              </a:rPr>
              <a:t>How can we use a signal to send another signal?</a:t>
            </a:r>
            <a:endParaRPr sz="3000"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AMPLITUDE MODULATION AND SIDEBANDS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591</Words>
  <Application>Microsoft Office PowerPoint</Application>
  <PresentationFormat>Widescreen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3</cp:revision>
  <dcterms:created xsi:type="dcterms:W3CDTF">2013-01-27T09:14:16Z</dcterms:created>
  <dcterms:modified xsi:type="dcterms:W3CDTF">2026-10-02T16:52:52Z</dcterms:modified>
  <cp:category/>
</cp:coreProperties>
</file>