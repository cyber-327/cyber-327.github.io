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lecture, we took a bit stream and mapped it into physical signal states. We used amplitude, frequency and phase, then drew the allowed states on a constellation. We also calculated how many bits each symbol can represent.</a:t>
            </a:r>
          </a:p>
          <a:p/>
          <a:p>
            <a:r>
              <a:t>Today we move to the other end of that process. The receiver has produced a stream of bits. How do we know those bits are right?</a:t>
            </a:r>
          </a:p>
          <a:p/>
          <a:p>
            <a:r>
              <a:t>A signal can look strong on a display and still produce a poor connection. A constellation can look a little messy while every bit in a short record is correct. And a modulation format can advertise a high bit rate while failing the actual error requirement.</a:t>
            </a:r>
          </a:p>
          <a:p/>
          <a:p>
            <a:r>
              <a:t>Our job today is to turn those impressions into evidence. We will send a known test pattern, compare it with the recovered bits, and calculate bit error rate. Then we will use the constellation and two signal-quality measurements to help explain what we observed.</a:t>
            </a:r>
          </a:p>
          <a:p/>
          <a:p>
            <a:r>
              <a:t>The final question is a design choice: which modulation meets the link's requirements under the conditions we tested? We will need both a rate calculation and an error measurement to answer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communication chain for today's test.</a:t>
            </a:r>
          </a:p>
          <a:p/>
          <a:p>
            <a:r>
              <a:t>At the left, we create bits whose values we already know. The transmitter maps those bits to symbols and sends a waveform. The channel adds the effects we want to investigate, such as noise. The receiver recovers symbol estimates and converts them back to bits. We compare those recovered bits with the original sequence.</a:t>
            </a:r>
          </a:p>
          <a:p/>
          <a:p>
            <a:r>
              <a:t>[Trace the diagram, then point back to the known bits.]</a:t>
            </a:r>
          </a:p>
          <a:p/>
          <a:p>
            <a:r>
              <a:t>That last comparison is what makes this a test. If someone simply hands me unknown received data, I cannot count transmission errors just by looking at the zeros and ones. I need an expected reference, or some other explicitly defined way of detecting errors.</a:t>
            </a:r>
          </a:p>
          <a:p/>
          <a:p>
            <a:r>
              <a:t>There is also a practical detail: the receiver's output arrives later. The first bit in my stored receive file may not correspond to the first bit in my transmit file. We must line up the corresponding positions before comparing them.</a:t>
            </a:r>
          </a:p>
          <a:p/>
          <a:p>
            <a:r>
              <a:t>Think of checking a typed copy against an original paragraph. If you begin comparing halfway through the wrong sentence, the mismatch count says very little about the typist. Our receiver has the same problem if the reference is shifted.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measuring errors, let us recover the rate calculation from Lecture 22.</a:t>
            </a:r>
          </a:p>
          <a:p/>
          <a:p>
            <a:r>
              <a:t>R sub s is symbol rate: the number of symbols per second, also called baud. M is the number of allowed states. With a fixed-length binary label for each state, log base two of M gives bits per symbol. Multiply those quantities to find the mapped bit rate.</a:t>
            </a:r>
          </a:p>
          <a:p/>
          <a:p>
            <a:r>
              <a:t>All three links on this slide send fifty thousand symbols per second. QPSK means quadrature phase-shift keying. It has four states, so each symbol represents two bits. Its mapped rate is one hundred thousand bits per second.</a:t>
            </a:r>
          </a:p>
          <a:p/>
          <a:p>
            <a:r>
              <a:t>[Pause for 30 seconds. Ask students to calculate the other two rows.]</a:t>
            </a:r>
          </a:p>
          <a:p/>
          <a:p>
            <a:r>
              <a:t>Sixteen-QAM carries four bits per symbol, giving two hundred kilobits per second. Sixty-four-QAM carries six, giving three hundred kilobits per second. QAM means quadrature amplitude modulation.</a:t>
            </a:r>
          </a:p>
          <a:p/>
          <a:p>
            <a:r>
              <a:t>These calculations count the bits entering the symbol mapper. They do not subtract packet headers, error-control redundancy or retransmissions. We will keep calling this the mapped rate so that we do not accidentally promise that the application receives all of it as useful information.</a:t>
            </a:r>
          </a:p>
          <a:p/>
          <a:p>
            <a:r>
              <a:t>The higher-order format has the rate advantage. Now we need to ask what it costs.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same kinds of constellation maps we used last time. The horizontal coordinate is I, the in-phase component. The vertical coordinate is Q, the quadrature component, which uses a carrier reference shifted by ninety degrees.</a:t>
            </a:r>
          </a:p>
          <a:p/>
          <a:p>
            <a:r>
              <a:t>Each point is an allowed symbol state. QPSK has four points. Sixteen-QAM has sixteen, using different combinations of amplitude and phase.</a:t>
            </a:r>
          </a:p>
          <a:p/>
          <a:p>
            <a:r>
              <a:t>There is an important comparison condition here: both drawings have the same average symbol energy, assuming the states are equally likely. We have scaled the coordinates to make that true. This is not a drawing of two transmitters using arbitrary, unrelated power settings.</a:t>
            </a:r>
          </a:p>
          <a:p/>
          <a:p>
            <a:r>
              <a:t>[Ask: Which drawing leaves less minimum distance between neighboring points?]</a:t>
            </a:r>
          </a:p>
          <a:p/>
          <a:p>
            <a:r>
              <a:t>Sixteen-QAM does. It gives us four bits per symbol instead of two, but it asks the receiver to distinguish more closely spaced choices under this comparison.</a:t>
            </a:r>
          </a:p>
          <a:p/>
          <a:p>
            <a:r>
              <a:t>That explains a vulnerability to disturbance, but it does not yet give us a measured error rate. To get that, we need to send something known through the link and count what happens. We also cannot conclude that every sixteen-QAM installation performs worse than every QPSK installation. Power, noise, synchronization and receiver design all matter. Our measurements must state the conditions.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useful source for that known data is a PRBS: a pseudorandom binary sequence.</a:t>
            </a:r>
          </a:p>
          <a:p/>
          <a:p>
            <a:r>
              <a:t>Pseudorandom means that it looks irregular, but a specified generator and starting state reproduce the sequence. It is not a fresh unpredictable message each time we run the test. For our purpose, that repeatability is exactly what we want.</a:t>
            </a:r>
          </a:p>
          <a:p/>
          <a:p>
            <a:r>
              <a:t>Why not just send zero forever? That only exercises one value. Why not repeat zero-one forever? That exercises regular transitions, but not a varied mixture of runs and transitions. A suitable PRBS gives a more varied pattern while allowing us to know what should arrive.</a:t>
            </a:r>
          </a:p>
          <a:p/>
          <a:p>
            <a:r>
              <a:t>[Ask: If the test sequence is reproducible and publicly specified, should we use it as an encryption key? Pause.]</a:t>
            </a:r>
          </a:p>
          <a:p/>
          <a:p>
            <a:r>
              <a:t>No. In this lecture it is test data, not a secret and not an authentication mechanism. We are not going to derive its generator circuitry or study a new cryptographic algorithm.</a:t>
            </a:r>
          </a:p>
          <a:p/>
          <a:p>
            <a:r>
              <a:t>The receiver or test software needs the matching expected sequence and its position. A wrong starting position can create apparent errors even when the physical link is working. Once the two records are aligned, we can compare corresponding bits. The short sequence on the next slide illustrates that comparison; it is not a specification of a particular PRBS generator.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short record we can check by hand. The transmitted bits are one-zero-one-one-zero-zero-zero-one. That is the same eight-bit example we mapped in Lecture 22. The receiver reports one-zero-zero-one-zero-zero-one-one.</a:t>
            </a:r>
          </a:p>
          <a:p/>
          <a:p>
            <a:r>
              <a:t>For this exercise, the two records are already aligned. The first transmitted bit corresponds to the first received bit, and the same is true for every later position.</a:t>
            </a:r>
          </a:p>
          <a:p/>
          <a:p>
            <a:r>
              <a:t>[Pause for 45 seconds. Ask students to mark each mismatch before discussing the highlighted positions.]</a:t>
            </a:r>
          </a:p>
          <a:p/>
          <a:p>
            <a:r>
              <a:t>At position three, the transmitter sent one and the receiver recovered zero. At position seven, the transmitter sent zero and the receiver recovered one. The other six positions match. We therefore have two erroneous bits out of eight compared bits.</a:t>
            </a:r>
          </a:p>
          <a:p/>
          <a:p>
            <a:r>
              <a:t>Notice how literal the operation is. We are not guessing from the appearance of a waveform. We are checking each recovered decision against its expected value.</a:t>
            </a:r>
          </a:p>
          <a:p/>
          <a:p>
            <a:r>
              <a:t>Eight bits make a useful board example, but a weak performance characterization. A real test needs a much longer record and documented settings. We will calculate the fraction first, then discuss how much evidence a record actually supplies.</a:t>
            </a:r>
          </a:p>
          <a:p/>
          <a:p>
            <a:r>
              <a:t>Also remember that this comparison belongs at a stated point in the receiver. Counting bits before error correction can produce a different result from counting them afterward.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 stands for bit error rate. In our measured records, it is the number of erroneous bits divided by the number of bits actually compared.</a:t>
            </a:r>
          </a:p>
          <a:p/>
          <a:p>
            <a:r>
              <a:t>For the eight-bit example, two divided by eight is zero point two five, or twenty-five percent. BER is a fraction. Despite the word rate, this calculation is not errors per second.</a:t>
            </a:r>
          </a:p>
          <a:p/>
          <a:p>
            <a:r>
              <a:t>Now try a more realistic record: twelve errors in sixty thousand compared bits.</a:t>
            </a:r>
          </a:p>
          <a:p/>
          <a:p>
            <a:r>
              <a:t>[Pause for 45 seconds for the fraction and percentage.]</a:t>
            </a:r>
          </a:p>
          <a:p/>
          <a:p>
            <a:r>
              <a:t>Twelve divided by sixty thousand is zero point zero zero zero two. In scientific notation, that is two times ten to the minus four. Multiply by one hundred to express it as a percentage: zero point zero two percent.</a:t>
            </a:r>
          </a:p>
          <a:p/>
          <a:p>
            <a:r>
              <a:t>The second record also has twelve errors, but it compares six hundred thousand bits. Its BER is two times ten to the minus five, or zero point zero zero two percent. The error count stayed the same; the measured fraction became ten times smaller.</a:t>
            </a:r>
          </a:p>
          <a:p/>
          <a:p>
            <a:r>
              <a:t>This is why a report saying only twelve errors is incomplete. We need the denominator. We should also state where the bits were measured and the test conditions. If the receiver loses synchronization and stops supplying comparable bits, record that outage separately rather than quietly calling the missing interval error-free.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use the same record to separate a bit error from a symbol error.</a:t>
            </a:r>
          </a:p>
          <a:p/>
          <a:p>
            <a:r>
              <a:t>With QPSK, each symbol represents two bits. Group the transmitted record as one-zero, one-one, zero-zero, zero-one. Group the received record as one-zero, zero-one, zero-zero, one-one.</a:t>
            </a:r>
          </a:p>
          <a:p/>
          <a:p>
            <a:r>
              <a:t>The first symbol matches. The second does not. The third matches. The fourth does not. That gives two wrong symbols out of four symbols, or a symbol error fraction of fifty percent.</a:t>
            </a:r>
          </a:p>
          <a:p/>
          <a:p>
            <a:r>
              <a:t>But the bit error fraction is still two wrong bits out of eight, or twenty-five percent. Those are different denominators because a QPSK symbol contains two bits.</a:t>
            </a:r>
          </a:p>
          <a:p/>
          <a:p>
            <a:r>
              <a:t>[Ask: Could one wrong symbol produce more than one wrong bit? Pause for an example.]</a:t>
            </a:r>
          </a:p>
          <a:p/>
          <a:p>
            <a:r>
              <a:t>Yes. It depends on which state was transmitted, which state was selected, and how the points are labeled. In this particular example, each wrong symbol changes one bit. That is not a rule that every symbol error always changes exactly one bit.</a:t>
            </a:r>
          </a:p>
          <a:p/>
          <a:p>
            <a:r>
              <a:t>We will focus on BER for our link-choice problem. The lesson here is to count the thing the metric names. Do not use a count of wrong constellation decisions in the numerator and a count of bits in the denominator without first determining how many bits were actually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Suppose the next test produces no errors in one million compared bits. What can we write?</a:t>
            </a:r>
          </a:p>
          <a:p/>
          <a:p>
            <a:r>
              <a:t>We can write zero observed errors in one million compared bits, and a measured BER of zero for that record. We cannot write that the link will never make an error. We have observed a finite sample, under specific conditions.</a:t>
            </a:r>
          </a:p>
          <a:p/>
          <a:p>
            <a:r>
              <a:t>Think of a door that opens successfully during one demonstration. That result is useful, but it does not establish perfect reliability for every future use. A longer or repeated communication test can expose rare errors or changing conditions that a short record misses.</a:t>
            </a:r>
          </a:p>
          <a:p/>
          <a:p>
            <a:r>
              <a:t>The record also takes time to collect. At a steady mapped rate of two hundred thousand bits per second, how long does it take to compare one million bits if every bit is included after synchronization?</a:t>
            </a:r>
          </a:p>
          <a:p/>
          <a:p>
            <a:r>
              <a:t>[Pause for 30 seconds.]</a:t>
            </a:r>
          </a:p>
          <a:p/>
          <a:p>
            <a:r>
              <a:t>Time equals bit count divided by bit rate. One million divided by two hundred thousand is five seconds. This ignores startup, framing gaps and any discarded acquisition interval. With those effects, the wall-clock test can take longer.</a:t>
            </a:r>
          </a:p>
          <a:p/>
          <a:p>
            <a:r>
              <a:t>We do not need a new statistics formula today. We do need honest reporting: say what you observed, how much you compared, and what conditions applied. Zero in a short record is a result, not a lifetime guarantee.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connect those bit counts back to the constellation.</a:t>
            </a:r>
          </a:p>
          <a:p/>
          <a:p>
            <a:r>
              <a:t>In this synchronized QPSK example, the receiver uses the nearest allowed point. The axes separate its decision regions. The labels match our Lecture 22 convention: zero-zero upper right, zero-one upper left, one-one lower left, and one-zero lower right.</a:t>
            </a:r>
          </a:p>
          <a:p/>
          <a:p>
            <a:r>
              <a:t>The transmitter intends zero-zero. The first received estimate is disturbed, but it remains in the upper-right region. The receiver still chooses zero-zero. We have a signal error without a bit decision error.</a:t>
            </a:r>
          </a:p>
          <a:p/>
          <a:p>
            <a:r>
              <a:t>The second estimate crosses into the upper-left region. The receiver now chooses zero-one, so one bit is wrong under this mapping.</a:t>
            </a:r>
          </a:p>
          <a:p/>
          <a:p>
            <a:r>
              <a:t>[Trace each displacement from the intended point. Ask students to name the recovered pair.]</a:t>
            </a:r>
          </a:p>
          <a:p/>
          <a:p>
            <a:r>
              <a:t>A cloud of points helps us see how much room remains before wrong decisions become likely. But the picture alone is not an exact BER calculation. We need the transmitted labels and recovered bits to count errors, and we need enough observations to characterize the link.</a:t>
            </a:r>
          </a:p>
          <a:p/>
          <a:p>
            <a:r>
              <a:t>The drawing assumes timing and phase are already aligned. A rotated constellation, a timing error, or receiver overload can also cause trouble. A messy plot is a reason to investigate; it is not by itself a complete diagnosis of the cause.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now have two questions about a received symbol. Did it select the correct bit label? And how far was its measured position from the intended position?</a:t>
            </a:r>
          </a:p>
          <a:p/>
          <a:p>
            <a:r>
              <a:t>BER answers the first question over a record of bits. EVM, error vector magnitude, summarizes the second kind of difference over a record of symbols.</a:t>
            </a:r>
          </a:p>
          <a:p/>
          <a:p>
            <a:r>
              <a:t>[Point from the reference point to the received estimate.]</a:t>
            </a:r>
          </a:p>
          <a:p/>
          <a:p>
            <a:r>
              <a:t>The error vector is the arrow between those positions. Here the estimate stays inside the correct QPSK decision region, so its bits can be right even though the error vector has a nonzero length.</a:t>
            </a:r>
          </a:p>
          <a:p/>
          <a:p>
            <a:r>
              <a:t>To make a comparable percentage, we need a stated reference and averaging method. Our examples use root mean square, or RMS: square the magnitudes, average them, then take the square root. We compare the RMS error magnitude with the RMS magnitude of the ideal reference symbols and multiply by one hundred.</a:t>
            </a:r>
          </a:p>
          <a:p/>
          <a:p>
            <a:r>
              <a:t>You do not need to expand the I and Q arithmetic for every symbol today. The important physical idea is the distance from the intended states, expressed relative to a stated reference scale.</a:t>
            </a:r>
          </a:p>
          <a:p/>
          <a:p>
            <a:r>
              <a:t>This is an amplitude-based ratio. It is not a percentage of incorrect bits. We will use supplied RMS values for a simple numerical example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both rows, the ideal reference has an RMS magnitude of one in normalized plotting units. In the first row, the RMS error magnitude is zero point zero five.</a:t>
            </a:r>
          </a:p>
          <a:p/>
          <a:p>
            <a:r>
              <a:t>Using our stated normalization, EVM as a percentage is one hundred times RMS error magnitude divided by RMS reference magnitude. Zero point zero five divided by one, times one hundred, gives five percent.</a:t>
            </a:r>
          </a:p>
          <a:p/>
          <a:p>
            <a:r>
              <a:t>In the second row, the RMS error is zero point one five against the same reference, giving fifteen percent.</a:t>
            </a:r>
          </a:p>
          <a:p/>
          <a:p>
            <a:r>
              <a:t>[Pause. Ask: Does five percent EVM mean that five percent of the bits are wrong?]</a:t>
            </a:r>
          </a:p>
          <a:p/>
          <a:p>
            <a:r>
              <a:t>No. We have measured symbol-position error, not counted wrong bits. Some displaced points still produce correct decisions, as our previous picture showed. We need a bit comparison to report BER.</a:t>
            </a:r>
          </a:p>
          <a:p/>
          <a:p>
            <a:r>
              <a:t>Also, keep the EVM normalization and receiver processing the same when comparing records. Different reference scales or different correction settings can change the reported value. These two rows intentionally use the same method.</a:t>
            </a:r>
          </a:p>
          <a:p/>
          <a:p>
            <a:r>
              <a:t>For our design problem, EVM helps describe modulation accuracy. BER tells us how many recovered bits were wrong in the comparison record. The measurements are related to link quality, but one percentage cannot simply be substituted for the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third question is whether a strong received signal necessarily means a clean link. We have already encountered the answer in our receiver lectures.</a:t>
            </a:r>
          </a:p>
          <a:p/>
          <a:p>
            <a:r>
              <a:t>SNR means signal-to-noise ratio. If the desired signal power and noise power are measured at the same receiver point over the same bandwidth, subtract their dBm values to obtain the ratio in decibels.</a:t>
            </a:r>
          </a:p>
          <a:p/>
          <a:p>
            <a:r>
              <a:t>In the first row, the desired signal is minus fifty-five dBm and the noise is minus seventy-five dBm. Subtracting gives twenty dB. In the second row, the desired signal is still minus fifty-five dBm, but the noise has increased to minus sixty-five dBm. The SNR is now ten dB.</a:t>
            </a:r>
          </a:p>
          <a:p/>
          <a:p>
            <a:r>
              <a:t>[Ask students to check the signs in both subtractions.]</a:t>
            </a:r>
          </a:p>
          <a:p/>
          <a:p>
            <a:r>
              <a:t>The desired power did not change, but the signal is less separated from the noise. A strong-looking level alone cannot establish good reception.</a:t>
            </a:r>
          </a:p>
          <a:p/>
          <a:p>
            <a:r>
              <a:t>You may also encounter C over N, carrier-to-noise ratio. The desired modulated carrier is compared with noise under a specified measurement convention and bandwidth. Do not assume a QAM signal must show a separate tall, unmodulated carrier spike. For today's examples we use the desired-signal SNR shown in the table. If another unwanted transmission contributes interference, we must account for that separately rather than pretend noise alone describes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we want to compare modulation formats, we need to decide what stays the same. Otherwise, we may end up measuring several changes at once.</a:t>
            </a:r>
          </a:p>
          <a:p/>
          <a:p>
            <a:r>
              <a:t>For the next example, hold the symbol rate at fifty thousand symbols per second. Use the same average symbol energy, pulse shaping and noise conditions. Pulse shaping controls how transmitted symbols occupy time and bandwidth; we are not changing that filter between cases.</a:t>
            </a:r>
          </a:p>
          <a:p/>
          <a:p>
            <a:r>
              <a:t>Use the same receiver synchronization and processing policy. Compare one million bits for each case, after the reference has been aligned. Count uncoded bits: no error-correcting code is being applied in this example. That keeps the rate and BER calculations at the same point in the chain.</a:t>
            </a:r>
          </a:p>
          <a:p/>
          <a:p>
            <a:r>
              <a:t>[Point to the final row.]</a:t>
            </a:r>
          </a:p>
          <a:p/>
          <a:p>
            <a:r>
              <a:t>The record duration can differ because the bit rates differ. At one hundred kilobits per second, a million bits take ten seconds. At two hundred kilobits per second, they take five. A time-varying physical test would need to account for that when planning repetitions and comparisons.</a:t>
            </a:r>
          </a:p>
          <a:p/>
          <a:p>
            <a:r>
              <a:t>We are about to use invented classroom records under a stationary noise condition. They illustrate a decision process; they are not theoretical BER predictions or measured laboratory captures. State that distinction whenever you present constructed data as evidence for a worked problem.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three candidate records. Each case compares one million aligned, uncoded bits under the conditions we just listed.</a:t>
            </a:r>
          </a:p>
          <a:p/>
          <a:p>
            <a:r>
              <a:t>QPSK produces one hundred errors. Sixteen-QAM produces eight hundred. Sixty-four-QAM produces twelve thousand. Their mapped rates are one hundred, two hundred and three hundred kilobits per second, respectively.</a:t>
            </a:r>
          </a:p>
          <a:p/>
          <a:p>
            <a:r>
              <a:t>The link has two requirements. First, its mapped rate must be at least one hundred fifty kilobits per second. Second, its measured BER must be no greater than zero point zero zero one, or ten to the minus three.</a:t>
            </a:r>
          </a:p>
          <a:p/>
          <a:p>
            <a:r>
              <a:t>[Allow 90 seconds. Ask students to calculate all three BER values and choose a format. In a video, invite a pause before continuing.]</a:t>
            </a:r>
          </a:p>
          <a:p/>
          <a:p>
            <a:r>
              <a:t>Do not choose from the largest rate alone. Do not choose from the smallest error count alone. Turn each error count into a BER, then check both requirements for the same candidate.</a:t>
            </a:r>
          </a:p>
          <a:p/>
          <a:p>
            <a:r>
              <a:t>We are deliberately specifying mapped rate here. If the owner actually required one hundred fifty kilobits per second of delivered application information, we would need to include coding, framing and retransmission costs before declaring success. That information is not supplied in this exercise.</a:t>
            </a:r>
          </a:p>
          <a:p/>
          <a:p>
            <a:r>
              <a:t>Let us work the decision explicitly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QPSK, one hundred divided by one million is zero point zero zero zero one, or ten to the minus four. It meets the error limit. But its mapped rate is one hundred kilobits per second, below the required one hundred fifty. It fails the combined requirement.</a:t>
            </a:r>
          </a:p>
          <a:p/>
          <a:p>
            <a:r>
              <a:t>For sixteen-QAM, eight hundred divided by one million is zero point zero zero zero eight, or eight times ten to the minus four. That is less than zero point zero zero one. Its two hundred kilobits per second also exceeds the rate requirement. It passes both.</a:t>
            </a:r>
          </a:p>
          <a:p/>
          <a:p>
            <a:r>
              <a:t>For sixty-four-QAM, twelve thousand divided by one million is zero point zero one two. Its rate is high enough, but its BER is too large. It fails the combined requirement.</a:t>
            </a:r>
          </a:p>
          <a:p/>
          <a:p>
            <a:r>
              <a:t>[Ask one student to justify the choice using both numbers.]</a:t>
            </a:r>
          </a:p>
          <a:p/>
          <a:p>
            <a:r>
              <a:t>Sixteen-QAM is the supported choice among these candidates for this test. The most conservative format does not automatically satisfy every design. The format with the largest bit label does not automatically deliver acceptable service either.</a:t>
            </a:r>
          </a:p>
          <a:p/>
          <a:p>
            <a:r>
              <a:t>If the channel changes, our answer may change. We should not turn one comparison table into a permanent rule about all links. We should repeat the measurements under the conditions the system must actually tolerate.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make the cybersecurity connection concrete. Imagine a wireless security-door receiver. The owner sends a legitimate command, but increased interference makes the receiver recover enough wrong bits that the command frame fails its error check.</a:t>
            </a:r>
          </a:p>
          <a:p/>
          <a:p>
            <a:r>
              <a:t>What happens next depends on the protocol. The frame may be discarded. The sender may retry. The command may arrive late or time out. The owner experiences a door that does not respond, even though no attacker has forged a valid OPEN command.</a:t>
            </a:r>
          </a:p>
          <a:p/>
          <a:p>
            <a:r>
              <a:t>That is an availability problem: legitimate use is being disrupted. Our constellation, BER and signal/noise measurements help us investigate the communication failure.</a:t>
            </a:r>
          </a:p>
          <a:p/>
          <a:p>
            <a:r>
              <a:t>[Ask: Would adding encryption by itself repair those corrupted symbol decisions? Pause.]</a:t>
            </a:r>
          </a:p>
          <a:p/>
          <a:p>
            <a:r>
              <a:t>No. Encryption does not restore a waveform decision that the receiver got wrong. We need link measures appropriate to the cause, such as resolving overload, improving filtering, changing placement, adding suitable error correction, or selecting a more robust operating mode. Each choice has costs and must be tested.</a:t>
            </a:r>
          </a:p>
          <a:p/>
          <a:p>
            <a:r>
              <a:t>If we lower the modulation order, we may reduce the mapped rate while improving decision margin. But the new mode still has to meet the application's minimum service requirement. A slower link that cannot support the task is not automatically a successful defense.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limits I want you to keep clear when interpreting these measurements.</a:t>
            </a:r>
          </a:p>
          <a:p/>
          <a:p>
            <a:r>
              <a:t>First, a rise in BER does not prove that an attacker is present. Noise, a loose connection, a changed receiver setting, poor timing, overload or an unrelated transmitter can also degrade reception. Deliberate interference is one possible explanation, not a conclusion contained in the BER number.</a:t>
            </a:r>
          </a:p>
          <a:p/>
          <a:p>
            <a:r>
              <a:t>We would gather more evidence: compare the baseline, verify our own setup, inspect spectrum and timing records, and check whether the change repeats under controlled conditions. A constellation cloud describes received behavior; it does not identify a person or establish intent.</a:t>
            </a:r>
          </a:p>
          <a:p/>
          <a:p>
            <a:r>
              <a:t>Second, clean reception does not establish trust. A forged message can arrive with zero bit errors relative to what its sender transmitted. The physical link has carried it accurately; the receiver still needs appropriate authentication, freshness and permission checks before acting on it.</a:t>
            </a:r>
          </a:p>
          <a:p/>
          <a:p>
            <a:r>
              <a:t>[Ask students to finish two sentences: BER helps us assess blank. A passing link test does not prove blank.]</a:t>
            </a:r>
          </a:p>
          <a:p/>
          <a:p>
            <a:r>
              <a:t>Useful answers are delivery reliability under the tested conditions, and an authorized sender. That distinction connects this lecture to our earlier door-controller discussion without claiming that a radio measurement replaces the security design.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a new problem with the same method. Two candidates operate at twenty-five thousand symbols per second. One uses QPSK and one uses sixteen-QAM. We compare one hundred thousand uncoded bits in each case.</a:t>
            </a:r>
          </a:p>
          <a:p/>
          <a:p>
            <a:r>
              <a:t>QPSK produces ten errors. Sixteen-QAM produces sixty. The requirements are a mapped rate of at least seventy-five kilobits per second and BER no greater than zero point zero zero one.</a:t>
            </a:r>
          </a:p>
          <a:p/>
          <a:p>
            <a:r>
              <a:t>[Allow 60 seconds to calculate and choose. Ask students to include one limitation of their conclusion.]</a:t>
            </a:r>
          </a:p>
          <a:p/>
          <a:p>
            <a:r>
              <a:t>QPSK carries two bits per symbol, so its mapped rate is fifty kilobits per second. Ten errors in one hundred thousand bits gives ten to the minus four. It passes the error requirement but fails the rate requirement.</a:t>
            </a:r>
          </a:p>
          <a:p/>
          <a:p>
            <a:r>
              <a:t>Sixteen-QAM carries four bits per symbol, giving one hundred kilobits per second. Sixty errors in one hundred thousand bits gives six times ten to the minus four. It meets both requirements.</a:t>
            </a:r>
          </a:p>
          <a:p/>
          <a:p>
            <a:r>
              <a:t>The supported choice is sixteen-QAM under these tested conditions. A useful limitation is that this is a finite record at a stated point in the receiver, not a guarantee for every channel condition. Another is that mapped rate is not automatically delivered application rate. A complete answer names the chosen format, gives both numbers, and states one of those limits.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close by following one message through the chain again.</a:t>
            </a:r>
          </a:p>
          <a:p/>
          <a:p>
            <a:r>
              <a:t>The transmitter maps known bits to symbols. The channel and receiver affect the measured constellation positions. The receiver chooses bit labels. We align the recovered stream with the reference and count the differences.</a:t>
            </a:r>
          </a:p>
          <a:p/>
          <a:p>
            <a:r>
              <a:t>That gives us a measured BER, with a numerator, a denominator and stated conditions. EVM describes symbol-position error relative to a reference. SNR describes desired signal power relative to noise in a stated bandwidth. These measurements help explain the link, but they are not interchangeable.</a:t>
            </a:r>
          </a:p>
          <a:p/>
          <a:p>
            <a:r>
              <a:t>[Ask for one final spoken or written sentence: Why did sixteen-QAM win today's design problem?]</a:t>
            </a:r>
          </a:p>
          <a:p/>
          <a:p>
            <a:r>
              <a:t>It met both the mapped-rate requirement and the measured BER limit. QPSK was too slow for that requirement; sixty-four-QAM made too many errors in the supplied record.</a:t>
            </a:r>
          </a:p>
          <a:p/>
          <a:p>
            <a:r>
              <a:t>Next lecture, we ask how a communication system can organize its waveform across frequency and bandwidth. OFDM means orthogonal frequency-division multiplexing. We will also discuss spread spectrum. The purpose of those choices is easier to understand now that we know what a successful link must demonstrate.</a:t>
            </a:r>
          </a:p>
          <a:p/>
          <a:p>
            <a:r>
              <a:t>Keep the design habit from today: state the requirement, control the comparison, measure the result, and limit your conclusion to what the evidence supports.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24D"/>
        </a:solidFill>
        <a:effectLst/>
      </p:bgPr>
    </p:bg>
    <p:spTree>
      <p:nvGrpSpPr>
        <p:cNvPr id="1" name=""/>
        <p:cNvGrpSpPr/>
        <p:nvPr/>
      </p:nvGrpSpPr>
      <p:grpSpPr/>
      <p:sp>
        <p:nvSpPr>
          <p:cNvPr id="2" name="TextBox 1"/>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9EB0BC"/>
                </a:solidFill>
                <a:latin typeface="Aptos"/>
              </a:rPr>
              <a:t>LECTURE 23 | QAM PRBS BER AND LINK METRIC</a:t>
            </a:r>
          </a:p>
        </p:txBody>
      </p:sp>
      <p:sp>
        <p:nvSpPr>
          <p:cNvPr id="3" name="TextBox 2"/>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9EB0BC"/>
                </a:solidFill>
                <a:latin typeface="Aptos"/>
              </a:rPr>
              <a:t>01</a:t>
            </a:r>
          </a:p>
        </p:txBody>
      </p:sp>
      <p:sp>
        <p:nvSpPr>
          <p:cNvPr id="4" name="TextBox 3"/>
          <p:cNvSpPr txBox="1"/>
          <p:nvPr/>
        </p:nvSpPr>
        <p:spPr>
          <a:xfrm>
            <a:off x="713232" y="658368"/>
            <a:ext cx="2743200" cy="365760"/>
          </a:xfrm>
          <a:prstGeom prst="rect">
            <a:avLst/>
          </a:prstGeom>
          <a:noFill/>
        </p:spPr>
        <p:txBody>
          <a:bodyPr wrap="square" lIns="0" rIns="0" tIns="0" bIns="0" anchor="t">
            <a:spAutoFit/>
          </a:bodyPr>
          <a:lstStyle/>
          <a:p>
            <a:pPr algn="l"/>
            <a:r>
              <a:rPr sz="1200" b="1" i="0">
                <a:solidFill>
                  <a:srgbClr val="62C6C8"/>
                </a:solidFill>
                <a:latin typeface="Aptos"/>
              </a:rPr>
              <a:t>CYBER 327  /  LECTURE 23</a:t>
            </a:r>
          </a:p>
        </p:txBody>
      </p:sp>
      <p:cxnSp>
        <p:nvCxnSpPr>
          <p:cNvPr id="5" name="Connector 4"/>
          <p:cNvCxnSpPr/>
          <p:nvPr/>
        </p:nvCxnSpPr>
        <p:spPr>
          <a:xfrm>
            <a:off x="731520" y="1152144"/>
            <a:ext cx="1371600" cy="0"/>
          </a:xfrm>
          <a:prstGeom prst="line">
            <a:avLst/>
          </a:prstGeom>
          <a:ln w="50800">
            <a:solidFill>
              <a:srgbClr val="D96F3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1481328"/>
            <a:ext cx="9966960" cy="1508760"/>
          </a:xfrm>
          <a:prstGeom prst="rect">
            <a:avLst/>
          </a:prstGeom>
          <a:noFill/>
        </p:spPr>
        <p:txBody>
          <a:bodyPr wrap="square" lIns="0" rIns="0" tIns="0" bIns="0" anchor="t">
            <a:spAutoFit/>
          </a:bodyPr>
          <a:lstStyle/>
          <a:p>
            <a:pPr algn="l"/>
            <a:r>
              <a:rPr sz="4000" b="1" i="0">
                <a:solidFill>
                  <a:srgbClr val="FFFFFF"/>
                </a:solidFill>
                <a:latin typeface="Aptos Display"/>
              </a:rPr>
              <a:t>QAM, PRBS, BER, and Link Metrics</a:t>
            </a:r>
          </a:p>
        </p:txBody>
      </p:sp>
      <p:sp>
        <p:nvSpPr>
          <p:cNvPr id="7" name="TextBox 6"/>
          <p:cNvSpPr txBox="1"/>
          <p:nvPr/>
        </p:nvSpPr>
        <p:spPr>
          <a:xfrm>
            <a:off x="749808" y="3182112"/>
            <a:ext cx="8961120" cy="777240"/>
          </a:xfrm>
          <a:prstGeom prst="rect">
            <a:avLst/>
          </a:prstGeom>
          <a:noFill/>
        </p:spPr>
        <p:txBody>
          <a:bodyPr wrap="square" lIns="0" rIns="0" tIns="0" bIns="0" anchor="t">
            <a:spAutoFit/>
          </a:bodyPr>
          <a:lstStyle/>
          <a:p>
            <a:pPr algn="l"/>
            <a:r>
              <a:rPr sz="1900" b="0" i="0">
                <a:solidFill>
                  <a:srgbClr val="D6E1E7"/>
                </a:solidFill>
                <a:latin typeface="Aptos"/>
              </a:rPr>
              <a:t>The receiver produces bits. How do we know they are right?</a:t>
            </a:r>
          </a:p>
        </p:txBody>
      </p:sp>
      <p:sp>
        <p:nvSpPr>
          <p:cNvPr id="8" name="Rounded Rectangle 7"/>
          <p:cNvSpPr/>
          <p:nvPr/>
        </p:nvSpPr>
        <p:spPr>
          <a:xfrm>
            <a:off x="749808" y="5230368"/>
            <a:ext cx="196596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230368"/>
            <a:ext cx="1965960" cy="420624"/>
          </a:xfrm>
          <a:prstGeom prst="rect">
            <a:avLst/>
          </a:prstGeom>
          <a:noFill/>
        </p:spPr>
        <p:txBody>
          <a:bodyPr wrap="square" lIns="18288" rIns="18288" tIns="18288" bIns="18288" anchor="ctr">
            <a:spAutoFit/>
          </a:bodyPr>
          <a:lstStyle/>
          <a:p>
            <a:pPr algn="ctr"/>
            <a:r>
              <a:rPr sz="1150" b="1" i="0">
                <a:solidFill>
                  <a:srgbClr val="FFFFFF"/>
                </a:solidFill>
                <a:latin typeface="Aptos"/>
              </a:rPr>
              <a:t>MONDAY, OCTOBER 26, 2026</a:t>
            </a:r>
          </a:p>
        </p:txBody>
      </p:sp>
      <p:cxnSp>
        <p:nvCxnSpPr>
          <p:cNvPr id="10" name="Connector 9"/>
          <p:cNvCxnSpPr/>
          <p:nvPr/>
        </p:nvCxnSpPr>
        <p:spPr>
          <a:xfrm>
            <a:off x="7086600" y="4574286"/>
            <a:ext cx="346710" cy="22082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7433310" y="4679899"/>
            <a:ext cx="346710" cy="115214"/>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80020" y="4679899"/>
            <a:ext cx="346710" cy="566471"/>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126730" y="4929530"/>
            <a:ext cx="346710" cy="31684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473440" y="4929530"/>
            <a:ext cx="346710" cy="48006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820150" y="4766310"/>
            <a:ext cx="346710" cy="64328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166860" y="4766310"/>
            <a:ext cx="346710" cy="31683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9513570" y="4641494"/>
            <a:ext cx="346710" cy="44165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860280" y="4641494"/>
            <a:ext cx="346710" cy="51846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206990" y="4871923"/>
            <a:ext cx="346710" cy="288036"/>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553700" y="4871923"/>
            <a:ext cx="346710" cy="46085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900410" y="4699101"/>
            <a:ext cx="346710" cy="63367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02</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FOLLOW THE COMMUNICATION CHAIN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Test the link with bits we already know</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8368"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Known bits</a:t>
            </a:r>
          </a:p>
        </p:txBody>
      </p:sp>
      <p:sp>
        <p:nvSpPr>
          <p:cNvPr id="15" name="Chevron 14"/>
          <p:cNvSpPr/>
          <p:nvPr/>
        </p:nvSpPr>
        <p:spPr>
          <a:xfrm>
            <a:off x="2743200"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2862072"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62072"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Transmit</a:t>
            </a:r>
          </a:p>
        </p:txBody>
      </p:sp>
      <p:sp>
        <p:nvSpPr>
          <p:cNvPr id="18" name="Chevron 17"/>
          <p:cNvSpPr/>
          <p:nvPr/>
        </p:nvSpPr>
        <p:spPr>
          <a:xfrm>
            <a:off x="4946904"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65776"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65776"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Channel</a:t>
            </a:r>
          </a:p>
        </p:txBody>
      </p:sp>
      <p:sp>
        <p:nvSpPr>
          <p:cNvPr id="21" name="Chevron 20"/>
          <p:cNvSpPr/>
          <p:nvPr/>
        </p:nvSpPr>
        <p:spPr>
          <a:xfrm>
            <a:off x="7150608"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269480" y="2057400"/>
            <a:ext cx="2066544"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269480"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Recover</a:t>
            </a:r>
          </a:p>
        </p:txBody>
      </p:sp>
      <p:sp>
        <p:nvSpPr>
          <p:cNvPr id="24" name="Chevron 23"/>
          <p:cNvSpPr/>
          <p:nvPr/>
        </p:nvSpPr>
        <p:spPr>
          <a:xfrm>
            <a:off x="9354312"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473184" y="2057400"/>
            <a:ext cx="2066544"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2057400"/>
            <a:ext cx="2066544" cy="841248"/>
          </a:xfrm>
          <a:prstGeom prst="rect">
            <a:avLst/>
          </a:prstGeom>
          <a:noFill/>
        </p:spPr>
        <p:txBody>
          <a:bodyPr wrap="square" lIns="27432" rIns="27432" tIns="27432" bIns="27432" anchor="ctr">
            <a:spAutoFit/>
          </a:bodyPr>
          <a:lstStyle/>
          <a:p>
            <a:pPr algn="ctr"/>
            <a:r>
              <a:rPr sz="1250" b="1" i="0">
                <a:solidFill>
                  <a:srgbClr val="FFFFFF"/>
                </a:solidFill>
                <a:latin typeface="Aptos"/>
              </a:rPr>
              <a:t>Compare</a:t>
            </a:r>
          </a:p>
        </p:txBody>
      </p:sp>
      <p:sp>
        <p:nvSpPr>
          <p:cNvPr id="27" name="Oval 26"/>
          <p:cNvSpPr/>
          <p:nvPr/>
        </p:nvSpPr>
        <p:spPr>
          <a:xfrm>
            <a:off x="1051560" y="3888760"/>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71016" y="3703320"/>
            <a:ext cx="9747504" cy="772668"/>
          </a:xfrm>
          <a:prstGeom prst="rect">
            <a:avLst/>
          </a:prstGeom>
          <a:noFill/>
        </p:spPr>
        <p:txBody>
          <a:bodyPr wrap="square" lIns="0" rIns="0" tIns="0" bIns="0" anchor="ctr">
            <a:spAutoFit/>
          </a:bodyPr>
          <a:lstStyle/>
          <a:p>
            <a:pPr algn="l"/>
            <a:r>
              <a:rPr sz="1700" b="0" i="0">
                <a:solidFill>
                  <a:srgbClr val="182028"/>
                </a:solidFill>
                <a:latin typeface="Aptos"/>
              </a:rPr>
              <a:t>The reference supplies the expected value of every compared bit.</a:t>
            </a:r>
          </a:p>
        </p:txBody>
      </p:sp>
      <p:sp>
        <p:nvSpPr>
          <p:cNvPr id="29" name="Oval 28"/>
          <p:cNvSpPr/>
          <p:nvPr/>
        </p:nvSpPr>
        <p:spPr>
          <a:xfrm>
            <a:off x="1051560" y="480773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271016" y="4622292"/>
            <a:ext cx="9747504" cy="772668"/>
          </a:xfrm>
          <a:prstGeom prst="rect">
            <a:avLst/>
          </a:prstGeom>
          <a:noFill/>
        </p:spPr>
        <p:txBody>
          <a:bodyPr wrap="square" lIns="0" rIns="0" tIns="0" bIns="0" anchor="ctr">
            <a:spAutoFit/>
          </a:bodyPr>
          <a:lstStyle/>
          <a:p>
            <a:pPr algn="l"/>
            <a:r>
              <a:rPr sz="1700" b="0" i="0">
                <a:solidFill>
                  <a:srgbClr val="182028"/>
                </a:solidFill>
                <a:latin typeface="Aptos"/>
              </a:rPr>
              <a:t>Align corresponding positions before counting mismatches.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03</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R_B = R_S LOG2(M). BEFORE CODING, FRAMING AND RETRY DEDUCTIONS.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Warm-up: same baud, different mapped rates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60" cy="4160520"/>
        </p:xfrm>
        <a:graphic>
          <a:graphicData uri="http://schemas.openxmlformats.org/drawingml/2006/table">
            <a:tbl>
              <a:tblPr firstRow="1" bandRow="1">
                <a:tableStyleId>{5C22544A-7EE6-4342-B048-85BDC9FD1C3A}</a:tableStyleId>
              </a:tblPr>
              <a:tblGrid>
                <a:gridCol w="3627120"/>
                <a:gridCol w="3627120"/>
                <a:gridCol w="3627120"/>
              </a:tblGrid>
              <a:tr h="1040130">
                <a:tc>
                  <a:txBody>
                    <a:bodyPr/>
                    <a:lstStyle/>
                    <a:p>
                      <a:r>
                        <a:rPr sz="1700" b="1">
                          <a:solidFill>
                            <a:srgbClr val="FFFFFF"/>
                          </a:solidFill>
                          <a:latin typeface="Aptos"/>
                        </a:rPr>
                        <a:t>Modulation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Bits per symbol</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At 50,000 symbols/s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QPSK: 4 states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log2(4) = 2</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100 kbit/s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16-QAM: 16 states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log2(16) = 4</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200 kbit/s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64-QAM: 64 states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log2(64) = 6</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300 kbit/s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04</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RECALL LECTURE 22: COMPARE AT EQUAL AVERAGE SYMBOL ENERGY</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More bits per symbol, less decision margin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1691640"/>
            <a:ext cx="4572000" cy="411480"/>
          </a:xfrm>
          <a:prstGeom prst="rect">
            <a:avLst/>
          </a:prstGeom>
          <a:noFill/>
        </p:spPr>
        <p:txBody>
          <a:bodyPr wrap="square" lIns="0" rIns="0" tIns="0" bIns="0" anchor="t">
            <a:spAutoFit/>
          </a:bodyPr>
          <a:lstStyle/>
          <a:p>
            <a:pPr algn="ctr"/>
            <a:r>
              <a:rPr sz="2100" b="1" i="0">
                <a:solidFill>
                  <a:srgbClr val="17324D"/>
                </a:solidFill>
                <a:latin typeface="Aptos"/>
              </a:rPr>
              <a:t>QPSK: 4 states / 2 bits</a:t>
            </a:r>
          </a:p>
        </p:txBody>
      </p:sp>
      <p:cxnSp>
        <p:nvCxnSpPr>
          <p:cNvPr id="14" name="Connector 13"/>
          <p:cNvCxnSpPr/>
          <p:nvPr/>
        </p:nvCxnSpPr>
        <p:spPr>
          <a:xfrm>
            <a:off x="1371600" y="3749039"/>
            <a:ext cx="3383280" cy="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063240" y="2285999"/>
            <a:ext cx="0" cy="292608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800600" y="3639311"/>
            <a:ext cx="320040" cy="320040"/>
          </a:xfrm>
          <a:prstGeom prst="rect">
            <a:avLst/>
          </a:prstGeom>
          <a:noFill/>
        </p:spPr>
        <p:txBody>
          <a:bodyPr wrap="square" lIns="0" rIns="0" tIns="0" bIns="0" anchor="t">
            <a:spAutoFit/>
          </a:bodyPr>
          <a:lstStyle/>
          <a:p>
            <a:pPr algn="l"/>
            <a:r>
              <a:rPr sz="1800" b="1" i="0">
                <a:solidFill>
                  <a:srgbClr val="17324D"/>
                </a:solidFill>
                <a:latin typeface="Aptos"/>
              </a:rPr>
              <a:t>I</a:t>
            </a:r>
          </a:p>
        </p:txBody>
      </p:sp>
      <p:sp>
        <p:nvSpPr>
          <p:cNvPr id="17" name="TextBox 16"/>
          <p:cNvSpPr txBox="1"/>
          <p:nvPr/>
        </p:nvSpPr>
        <p:spPr>
          <a:xfrm>
            <a:off x="3172968" y="2212848"/>
            <a:ext cx="274320" cy="274320"/>
          </a:xfrm>
          <a:prstGeom prst="rect">
            <a:avLst/>
          </a:prstGeom>
          <a:noFill/>
        </p:spPr>
        <p:txBody>
          <a:bodyPr wrap="square" lIns="0" rIns="0" tIns="0" bIns="0" anchor="t">
            <a:spAutoFit/>
          </a:bodyPr>
          <a:lstStyle/>
          <a:p>
            <a:pPr algn="l"/>
            <a:r>
              <a:rPr sz="1800" b="1" i="0">
                <a:solidFill>
                  <a:srgbClr val="17324D"/>
                </a:solidFill>
                <a:latin typeface="Aptos"/>
              </a:rPr>
              <a:t>Q</a:t>
            </a:r>
          </a:p>
        </p:txBody>
      </p:sp>
      <p:sp>
        <p:nvSpPr>
          <p:cNvPr id="18" name="Oval 17"/>
          <p:cNvSpPr/>
          <p:nvPr/>
        </p:nvSpPr>
        <p:spPr>
          <a:xfrm>
            <a:off x="2135495" y="4567056"/>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135495" y="2821295"/>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881256" y="4567056"/>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881256" y="2821295"/>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1691640"/>
            <a:ext cx="4572000" cy="411480"/>
          </a:xfrm>
          <a:prstGeom prst="rect">
            <a:avLst/>
          </a:prstGeom>
          <a:noFill/>
        </p:spPr>
        <p:txBody>
          <a:bodyPr wrap="square" lIns="0" rIns="0" tIns="0" bIns="0" anchor="t">
            <a:spAutoFit/>
          </a:bodyPr>
          <a:lstStyle/>
          <a:p>
            <a:pPr algn="ctr"/>
            <a:r>
              <a:rPr sz="2100" b="1" i="0">
                <a:solidFill>
                  <a:srgbClr val="17324D"/>
                </a:solidFill>
                <a:latin typeface="Aptos"/>
              </a:rPr>
              <a:t>16-QAM: 16 states / 4 bits</a:t>
            </a:r>
          </a:p>
        </p:txBody>
      </p:sp>
      <p:cxnSp>
        <p:nvCxnSpPr>
          <p:cNvPr id="23" name="Connector 22"/>
          <p:cNvCxnSpPr/>
          <p:nvPr/>
        </p:nvCxnSpPr>
        <p:spPr>
          <a:xfrm>
            <a:off x="6858000" y="3749039"/>
            <a:ext cx="3383280" cy="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49640" y="2285999"/>
            <a:ext cx="0" cy="292608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287000" y="3639311"/>
            <a:ext cx="320040" cy="320040"/>
          </a:xfrm>
          <a:prstGeom prst="rect">
            <a:avLst/>
          </a:prstGeom>
          <a:noFill/>
        </p:spPr>
        <p:txBody>
          <a:bodyPr wrap="square" lIns="0" rIns="0" tIns="0" bIns="0" anchor="t">
            <a:spAutoFit/>
          </a:bodyPr>
          <a:lstStyle/>
          <a:p>
            <a:pPr algn="l"/>
            <a:r>
              <a:rPr sz="1800" b="1" i="0">
                <a:solidFill>
                  <a:srgbClr val="17324D"/>
                </a:solidFill>
                <a:latin typeface="Aptos"/>
              </a:rPr>
              <a:t>I</a:t>
            </a:r>
          </a:p>
        </p:txBody>
      </p:sp>
      <p:sp>
        <p:nvSpPr>
          <p:cNvPr id="26" name="TextBox 25"/>
          <p:cNvSpPr txBox="1"/>
          <p:nvPr/>
        </p:nvSpPr>
        <p:spPr>
          <a:xfrm>
            <a:off x="8659367" y="2212848"/>
            <a:ext cx="274320" cy="274320"/>
          </a:xfrm>
          <a:prstGeom prst="rect">
            <a:avLst/>
          </a:prstGeom>
          <a:noFill/>
        </p:spPr>
        <p:txBody>
          <a:bodyPr wrap="square" lIns="0" rIns="0" tIns="0" bIns="0" anchor="t">
            <a:spAutoFit/>
          </a:bodyPr>
          <a:lstStyle/>
          <a:p>
            <a:pPr algn="l"/>
            <a:r>
              <a:rPr sz="1800" b="1" i="0">
                <a:solidFill>
                  <a:srgbClr val="17324D"/>
                </a:solidFill>
                <a:latin typeface="Aptos"/>
              </a:rPr>
              <a:t>Q</a:t>
            </a:r>
          </a:p>
        </p:txBody>
      </p:sp>
      <p:sp>
        <p:nvSpPr>
          <p:cNvPr id="27" name="Oval 26"/>
          <p:cNvSpPr/>
          <p:nvPr/>
        </p:nvSpPr>
        <p:spPr>
          <a:xfrm>
            <a:off x="7323683" y="4865268"/>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323683" y="4084540"/>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323683" y="3303811"/>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323683" y="2523083"/>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104411" y="4865268"/>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104411" y="4084540"/>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104411" y="3303811"/>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104411" y="2523083"/>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885140" y="4865268"/>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8885140" y="4084540"/>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885140" y="3303811"/>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885140" y="2523083"/>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9665868" y="4865268"/>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9665868" y="4084540"/>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665868" y="3303811"/>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65868" y="2523083"/>
            <a:ext cx="109728" cy="109728"/>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440680"/>
            <a:ext cx="10698480" cy="548640"/>
          </a:xfrm>
          <a:prstGeom prst="rect">
            <a:avLst/>
          </a:prstGeom>
          <a:noFill/>
        </p:spPr>
        <p:txBody>
          <a:bodyPr wrap="square" lIns="0" rIns="0" tIns="0" bIns="0" anchor="t">
            <a:spAutoFit/>
          </a:bodyPr>
          <a:lstStyle/>
          <a:p>
            <a:pPr algn="ctr"/>
            <a:r>
              <a:rPr sz="1800" b="1" i="0">
                <a:solidFill>
                  <a:srgbClr val="17324D"/>
                </a:solidFill>
                <a:latin typeface="Aptos"/>
              </a:rPr>
              <a:t>Same average symbol energy; equally likely states. More points leave less minimum spacing.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05</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BUILD THE IDEA</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PRBS gives us repeatable test data</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2960" y="207532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1755648"/>
            <a:ext cx="6181344" cy="1331976"/>
          </a:xfrm>
          <a:prstGeom prst="rect">
            <a:avLst/>
          </a:prstGeom>
          <a:noFill/>
        </p:spPr>
        <p:txBody>
          <a:bodyPr wrap="square" lIns="0" rIns="0" tIns="0" bIns="0" anchor="ctr">
            <a:spAutoFit/>
          </a:bodyPr>
          <a:lstStyle/>
          <a:p>
            <a:pPr algn="l"/>
            <a:r>
              <a:rPr sz="1650" b="0" i="0">
                <a:solidFill>
                  <a:srgbClr val="182028"/>
                </a:solidFill>
                <a:latin typeface="Aptos"/>
              </a:rPr>
              <a:t>PRBS: pseudorandom binary sequence; irregular-looking but reproducible.</a:t>
            </a:r>
          </a:p>
        </p:txBody>
      </p:sp>
      <p:sp>
        <p:nvSpPr>
          <p:cNvPr id="15" name="Oval 14"/>
          <p:cNvSpPr/>
          <p:nvPr/>
        </p:nvSpPr>
        <p:spPr>
          <a:xfrm>
            <a:off x="822960" y="3535314"/>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215640"/>
            <a:ext cx="6181344" cy="1331976"/>
          </a:xfrm>
          <a:prstGeom prst="rect">
            <a:avLst/>
          </a:prstGeom>
          <a:noFill/>
        </p:spPr>
        <p:txBody>
          <a:bodyPr wrap="square" lIns="0" rIns="0" tIns="0" bIns="0" anchor="ctr">
            <a:spAutoFit/>
          </a:bodyPr>
          <a:lstStyle/>
          <a:p>
            <a:pPr algn="l"/>
            <a:r>
              <a:rPr sz="1650" b="0" i="0">
                <a:solidFill>
                  <a:srgbClr val="182028"/>
                </a:solidFill>
                <a:latin typeface="Aptos"/>
              </a:rPr>
              <a:t>Varied runs and transitions exercise more patterns than constant 0 or repeating 01.</a:t>
            </a:r>
          </a:p>
        </p:txBody>
      </p:sp>
      <p:sp>
        <p:nvSpPr>
          <p:cNvPr id="17" name="Oval 16"/>
          <p:cNvSpPr/>
          <p:nvPr/>
        </p:nvSpPr>
        <p:spPr>
          <a:xfrm>
            <a:off x="822960" y="4995306"/>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675632"/>
            <a:ext cx="6181344" cy="1331976"/>
          </a:xfrm>
          <a:prstGeom prst="rect">
            <a:avLst/>
          </a:prstGeom>
          <a:noFill/>
        </p:spPr>
        <p:txBody>
          <a:bodyPr wrap="square" lIns="0" rIns="0" tIns="0" bIns="0" anchor="ctr">
            <a:spAutoFit/>
          </a:bodyPr>
          <a:lstStyle/>
          <a:p>
            <a:pPr algn="l"/>
            <a:r>
              <a:rPr sz="1650" b="0" i="0">
                <a:solidFill>
                  <a:srgbClr val="182028"/>
                </a:solidFill>
                <a:latin typeface="Aptos"/>
              </a:rPr>
              <a:t>Use the same generator settings and align the expected sequence with received bits.</a:t>
            </a:r>
          </a:p>
        </p:txBody>
      </p:sp>
      <p:sp>
        <p:nvSpPr>
          <p:cNvPr id="19" name="Rounded Rectangle 18"/>
          <p:cNvSpPr/>
          <p:nvPr/>
        </p:nvSpPr>
        <p:spPr>
          <a:xfrm>
            <a:off x="7571231" y="1828800"/>
            <a:ext cx="3703320" cy="3611880"/>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71231" y="1828800"/>
            <a:ext cx="82296" cy="361188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9831" y="1993392"/>
            <a:ext cx="3291840" cy="329184"/>
          </a:xfrm>
          <a:prstGeom prst="rect">
            <a:avLst/>
          </a:prstGeom>
          <a:noFill/>
        </p:spPr>
        <p:txBody>
          <a:bodyPr wrap="square" lIns="0" rIns="0" tIns="0" bIns="0" anchor="t">
            <a:spAutoFit/>
          </a:bodyPr>
          <a:lstStyle/>
          <a:p>
            <a:pPr algn="l"/>
            <a:r>
              <a:rPr sz="2200" b="1" i="0">
                <a:solidFill>
                  <a:srgbClr val="17324D"/>
                </a:solidFill>
                <a:latin typeface="Aptos"/>
              </a:rPr>
              <a:t>Takeaway</a:t>
            </a:r>
          </a:p>
        </p:txBody>
      </p:sp>
      <p:sp>
        <p:nvSpPr>
          <p:cNvPr id="22" name="TextBox 21"/>
          <p:cNvSpPr txBox="1"/>
          <p:nvPr/>
        </p:nvSpPr>
        <p:spPr>
          <a:xfrm>
            <a:off x="7799831" y="2432304"/>
            <a:ext cx="3291840" cy="2862072"/>
          </a:xfrm>
          <a:prstGeom prst="rect">
            <a:avLst/>
          </a:prstGeom>
          <a:noFill/>
        </p:spPr>
        <p:txBody>
          <a:bodyPr wrap="square" lIns="0" rIns="0" tIns="0" bIns="0" anchor="t">
            <a:spAutoFit/>
          </a:bodyPr>
          <a:lstStyle/>
          <a:p>
            <a:pPr algn="l">
              <a:lnSpc>
                <a:spcPct val="102000"/>
              </a:lnSpc>
            </a:pPr>
            <a:r>
              <a:rPr sz="1700" b="0" i="0">
                <a:solidFill>
                  <a:srgbClr val="182028"/>
                </a:solidFill>
                <a:latin typeface="Aptos"/>
              </a:rPr>
              <a:t>A diagnostic pattern is not a secret key or proof of an authorized sender.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06</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 SHORT HAND-CHECK EXAMPLE; NOT A SPECIFIED PRBS GENERATOR</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Find the wrong bits, position by position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365760"/>
          </a:xfrm>
          <a:prstGeom prst="rect">
            <a:avLst/>
          </a:prstGeom>
          <a:noFill/>
        </p:spPr>
        <p:txBody>
          <a:bodyPr wrap="square" lIns="0" rIns="0" tIns="0" bIns="0" anchor="t">
            <a:spAutoFit/>
          </a:bodyPr>
          <a:lstStyle/>
          <a:p>
            <a:pPr algn="l"/>
            <a:r>
              <a:rPr sz="2100" b="0" i="0">
                <a:solidFill>
                  <a:srgbClr val="17324D"/>
                </a:solidFill>
                <a:latin typeface="Aptos"/>
              </a:rPr>
              <a:t>Already aligned: compare the same bit position at both ends.</a:t>
            </a:r>
          </a:p>
        </p:txBody>
      </p:sp>
      <p:sp>
        <p:nvSpPr>
          <p:cNvPr id="14" name="TextBox 13"/>
          <p:cNvSpPr txBox="1"/>
          <p:nvPr/>
        </p:nvSpPr>
        <p:spPr>
          <a:xfrm>
            <a:off x="2834640"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1</a:t>
            </a:r>
          </a:p>
        </p:txBody>
      </p:sp>
      <p:sp>
        <p:nvSpPr>
          <p:cNvPr id="15" name="Rounded Rectangle 14"/>
          <p:cNvSpPr/>
          <p:nvPr/>
        </p:nvSpPr>
        <p:spPr>
          <a:xfrm>
            <a:off x="2834640"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17" name="Rounded Rectangle 16"/>
          <p:cNvSpPr/>
          <p:nvPr/>
        </p:nvSpPr>
        <p:spPr>
          <a:xfrm>
            <a:off x="2834640"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34640"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19" name="TextBox 18"/>
          <p:cNvSpPr txBox="1"/>
          <p:nvPr/>
        </p:nvSpPr>
        <p:spPr>
          <a:xfrm>
            <a:off x="3675888"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2</a:t>
            </a:r>
          </a:p>
        </p:txBody>
      </p:sp>
      <p:sp>
        <p:nvSpPr>
          <p:cNvPr id="20" name="Rounded Rectangle 19"/>
          <p:cNvSpPr/>
          <p:nvPr/>
        </p:nvSpPr>
        <p:spPr>
          <a:xfrm>
            <a:off x="3675888"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75888"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22" name="Rounded Rectangle 21"/>
          <p:cNvSpPr/>
          <p:nvPr/>
        </p:nvSpPr>
        <p:spPr>
          <a:xfrm>
            <a:off x="3675888"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75888"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24" name="TextBox 23"/>
          <p:cNvSpPr txBox="1"/>
          <p:nvPr/>
        </p:nvSpPr>
        <p:spPr>
          <a:xfrm>
            <a:off x="4517136"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3</a:t>
            </a:r>
          </a:p>
        </p:txBody>
      </p:sp>
      <p:sp>
        <p:nvSpPr>
          <p:cNvPr id="25" name="Rounded Rectangle 24"/>
          <p:cNvSpPr/>
          <p:nvPr/>
        </p:nvSpPr>
        <p:spPr>
          <a:xfrm>
            <a:off x="4517136" y="2926080"/>
            <a:ext cx="640080" cy="68580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17136"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27" name="Rounded Rectangle 26"/>
          <p:cNvSpPr/>
          <p:nvPr/>
        </p:nvSpPr>
        <p:spPr>
          <a:xfrm>
            <a:off x="4517136" y="3886200"/>
            <a:ext cx="640080" cy="68580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17136"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29" name="TextBox 28"/>
          <p:cNvSpPr txBox="1"/>
          <p:nvPr/>
        </p:nvSpPr>
        <p:spPr>
          <a:xfrm>
            <a:off x="5358384"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4</a:t>
            </a:r>
          </a:p>
        </p:txBody>
      </p:sp>
      <p:sp>
        <p:nvSpPr>
          <p:cNvPr id="30" name="Rounded Rectangle 29"/>
          <p:cNvSpPr/>
          <p:nvPr/>
        </p:nvSpPr>
        <p:spPr>
          <a:xfrm>
            <a:off x="5358384"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58384"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32" name="Rounded Rectangle 31"/>
          <p:cNvSpPr/>
          <p:nvPr/>
        </p:nvSpPr>
        <p:spPr>
          <a:xfrm>
            <a:off x="5358384"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358384"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34" name="TextBox 33"/>
          <p:cNvSpPr txBox="1"/>
          <p:nvPr/>
        </p:nvSpPr>
        <p:spPr>
          <a:xfrm>
            <a:off x="6199632"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5</a:t>
            </a:r>
          </a:p>
        </p:txBody>
      </p:sp>
      <p:sp>
        <p:nvSpPr>
          <p:cNvPr id="35" name="Rounded Rectangle 34"/>
          <p:cNvSpPr/>
          <p:nvPr/>
        </p:nvSpPr>
        <p:spPr>
          <a:xfrm>
            <a:off x="6199632"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37" name="Rounded Rectangle 36"/>
          <p:cNvSpPr/>
          <p:nvPr/>
        </p:nvSpPr>
        <p:spPr>
          <a:xfrm>
            <a:off x="6199632"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99632"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39" name="TextBox 38"/>
          <p:cNvSpPr txBox="1"/>
          <p:nvPr/>
        </p:nvSpPr>
        <p:spPr>
          <a:xfrm>
            <a:off x="7040880"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6</a:t>
            </a:r>
          </a:p>
        </p:txBody>
      </p:sp>
      <p:sp>
        <p:nvSpPr>
          <p:cNvPr id="40" name="Rounded Rectangle 39"/>
          <p:cNvSpPr/>
          <p:nvPr/>
        </p:nvSpPr>
        <p:spPr>
          <a:xfrm>
            <a:off x="7040880"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0"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42" name="Rounded Rectangle 41"/>
          <p:cNvSpPr/>
          <p:nvPr/>
        </p:nvSpPr>
        <p:spPr>
          <a:xfrm>
            <a:off x="7040880"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040880"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44" name="TextBox 43"/>
          <p:cNvSpPr txBox="1"/>
          <p:nvPr/>
        </p:nvSpPr>
        <p:spPr>
          <a:xfrm>
            <a:off x="7882128"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7</a:t>
            </a:r>
          </a:p>
        </p:txBody>
      </p:sp>
      <p:sp>
        <p:nvSpPr>
          <p:cNvPr id="45" name="Rounded Rectangle 44"/>
          <p:cNvSpPr/>
          <p:nvPr/>
        </p:nvSpPr>
        <p:spPr>
          <a:xfrm>
            <a:off x="7882128" y="2926080"/>
            <a:ext cx="640080" cy="68580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882128"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0</a:t>
            </a:r>
          </a:p>
        </p:txBody>
      </p:sp>
      <p:sp>
        <p:nvSpPr>
          <p:cNvPr id="47" name="Rounded Rectangle 46"/>
          <p:cNvSpPr/>
          <p:nvPr/>
        </p:nvSpPr>
        <p:spPr>
          <a:xfrm>
            <a:off x="7882128" y="3886200"/>
            <a:ext cx="640080" cy="685800"/>
          </a:xfrm>
          <a:prstGeom prst="roundRect">
            <a:avLst/>
          </a:prstGeom>
          <a:solidFill>
            <a:srgbClr val="F4E3D8"/>
          </a:solidFill>
          <a:ln w="12700">
            <a:solidFill>
              <a:srgbClr val="D96F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882128"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49" name="TextBox 48"/>
          <p:cNvSpPr txBox="1"/>
          <p:nvPr/>
        </p:nvSpPr>
        <p:spPr>
          <a:xfrm>
            <a:off x="8723376" y="2377440"/>
            <a:ext cx="640080" cy="365760"/>
          </a:xfrm>
          <a:prstGeom prst="rect">
            <a:avLst/>
          </a:prstGeom>
          <a:noFill/>
        </p:spPr>
        <p:txBody>
          <a:bodyPr wrap="square" lIns="0" rIns="0" tIns="0" bIns="0" anchor="t">
            <a:spAutoFit/>
          </a:bodyPr>
          <a:lstStyle/>
          <a:p>
            <a:pPr algn="ctr"/>
            <a:r>
              <a:rPr sz="1700" b="0" i="0">
                <a:solidFill>
                  <a:srgbClr val="5F6B73"/>
                </a:solidFill>
                <a:latin typeface="Aptos"/>
              </a:rPr>
              <a:t>8</a:t>
            </a:r>
          </a:p>
        </p:txBody>
      </p:sp>
      <p:sp>
        <p:nvSpPr>
          <p:cNvPr id="50" name="Rounded Rectangle 49"/>
          <p:cNvSpPr/>
          <p:nvPr/>
        </p:nvSpPr>
        <p:spPr>
          <a:xfrm>
            <a:off x="8723376" y="292608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23376" y="306324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52" name="Rounded Rectangle 51"/>
          <p:cNvSpPr/>
          <p:nvPr/>
        </p:nvSpPr>
        <p:spPr>
          <a:xfrm>
            <a:off x="8723376" y="3886200"/>
            <a:ext cx="640080" cy="685800"/>
          </a:xfrm>
          <a:prstGeom prst="roundRect">
            <a:avLst/>
          </a:prstGeom>
          <a:solidFill>
            <a:srgbClr val="E3EBF1"/>
          </a:solidFill>
          <a:ln w="1270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23376" y="4023360"/>
            <a:ext cx="640080" cy="365760"/>
          </a:xfrm>
          <a:prstGeom prst="rect">
            <a:avLst/>
          </a:prstGeom>
          <a:noFill/>
        </p:spPr>
        <p:txBody>
          <a:bodyPr wrap="square" lIns="0" rIns="0" tIns="0" bIns="0" anchor="t">
            <a:spAutoFit/>
          </a:bodyPr>
          <a:lstStyle/>
          <a:p>
            <a:pPr algn="ctr"/>
            <a:r>
              <a:rPr sz="2500" b="1" i="0">
                <a:solidFill>
                  <a:srgbClr val="17324D"/>
                </a:solidFill>
                <a:latin typeface="Aptos"/>
              </a:rPr>
              <a:t>1</a:t>
            </a:r>
          </a:p>
        </p:txBody>
      </p:sp>
      <p:sp>
        <p:nvSpPr>
          <p:cNvPr id="54" name="TextBox 53"/>
          <p:cNvSpPr txBox="1"/>
          <p:nvPr/>
        </p:nvSpPr>
        <p:spPr>
          <a:xfrm>
            <a:off x="731520" y="3063240"/>
            <a:ext cx="1828800" cy="365760"/>
          </a:xfrm>
          <a:prstGeom prst="rect">
            <a:avLst/>
          </a:prstGeom>
          <a:noFill/>
        </p:spPr>
        <p:txBody>
          <a:bodyPr wrap="square" lIns="0" rIns="0" tIns="0" bIns="0" anchor="t">
            <a:spAutoFit/>
          </a:bodyPr>
          <a:lstStyle/>
          <a:p>
            <a:pPr algn="l"/>
            <a:r>
              <a:rPr sz="1800" b="1" i="0">
                <a:solidFill>
                  <a:srgbClr val="17324D"/>
                </a:solidFill>
                <a:latin typeface="Aptos"/>
              </a:rPr>
              <a:t>Transmitted</a:t>
            </a:r>
          </a:p>
        </p:txBody>
      </p:sp>
      <p:sp>
        <p:nvSpPr>
          <p:cNvPr id="55" name="TextBox 54"/>
          <p:cNvSpPr txBox="1"/>
          <p:nvPr/>
        </p:nvSpPr>
        <p:spPr>
          <a:xfrm>
            <a:off x="731520" y="4023360"/>
            <a:ext cx="1828800" cy="365760"/>
          </a:xfrm>
          <a:prstGeom prst="rect">
            <a:avLst/>
          </a:prstGeom>
          <a:noFill/>
        </p:spPr>
        <p:txBody>
          <a:bodyPr wrap="square" lIns="0" rIns="0" tIns="0" bIns="0" anchor="t">
            <a:spAutoFit/>
          </a:bodyPr>
          <a:lstStyle/>
          <a:p>
            <a:pPr algn="l"/>
            <a:r>
              <a:rPr sz="1800" b="1" i="0">
                <a:solidFill>
                  <a:srgbClr val="17324D"/>
                </a:solidFill>
                <a:latin typeface="Aptos"/>
              </a:rPr>
              <a:t>Recovered</a:t>
            </a:r>
          </a:p>
        </p:txBody>
      </p:sp>
      <p:sp>
        <p:nvSpPr>
          <p:cNvPr id="56" name="TextBox 55"/>
          <p:cNvSpPr txBox="1"/>
          <p:nvPr/>
        </p:nvSpPr>
        <p:spPr>
          <a:xfrm>
            <a:off x="731520" y="5212080"/>
            <a:ext cx="10698480" cy="548640"/>
          </a:xfrm>
          <a:prstGeom prst="rect">
            <a:avLst/>
          </a:prstGeom>
          <a:noFill/>
        </p:spPr>
        <p:txBody>
          <a:bodyPr wrap="square" lIns="0" rIns="0" tIns="0" bIns="0" anchor="t">
            <a:spAutoFit/>
          </a:bodyPr>
          <a:lstStyle/>
          <a:p>
            <a:pPr algn="ctr"/>
            <a:r>
              <a:rPr sz="2200" b="1" i="0">
                <a:solidFill>
                  <a:srgbClr val="17324D"/>
                </a:solidFill>
                <a:latin typeface="Aptos"/>
              </a:rPr>
              <a:t>Positions 3 and 7 differ: 2 erroneous bits / 8 compared bits.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07</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BER = ERRONEOUS BITS / COMPARED BITS. STATE WHERE AND WHEN YOU COMPARE.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BER counts wrong bits as a fraction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60" cy="4160520"/>
        </p:xfrm>
        <a:graphic>
          <a:graphicData uri="http://schemas.openxmlformats.org/drawingml/2006/table">
            <a:tbl>
              <a:tblPr firstRow="1" bandRow="1">
                <a:tableStyleId>{5C22544A-7EE6-4342-B048-85BDC9FD1C3A}</a:tableStyleId>
              </a:tblPr>
              <a:tblGrid>
                <a:gridCol w="3627120"/>
                <a:gridCol w="3627120"/>
                <a:gridCol w="3627120"/>
              </a:tblGrid>
              <a:tr h="1040130">
                <a:tc>
                  <a:txBody>
                    <a:bodyPr/>
                    <a:lstStyle/>
                    <a:p>
                      <a:r>
                        <a:rPr sz="1700" b="1">
                          <a:solidFill>
                            <a:srgbClr val="FFFFFF"/>
                          </a:solidFill>
                          <a:latin typeface="Aptos"/>
                        </a:rPr>
                        <a:t>Erroneous / compared bits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BER fraction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Percentage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2 / 8</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0.25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25%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12 / 60,000</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0.0002 = 2 x 10^-4</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0.02%</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12 / 600,000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0.00002 = 2 x 10^-5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0.002%</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08</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 WRONG SYMBOL CAN CHANGE ONE OR MORE BITS, DEPENDING ON THE MAPPING.</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Wrong symbols and wrong bits are different counts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4026103"/>
                <a:gridCol w="3264408"/>
                <a:gridCol w="3590848"/>
              </a:tblGrid>
              <a:tr h="832104">
                <a:tc>
                  <a:txBody>
                    <a:bodyPr/>
                    <a:lstStyle/>
                    <a:p>
                      <a:r>
                        <a:rPr sz="1700" b="1">
                          <a:solidFill>
                            <a:srgbClr val="FFFFFF"/>
                          </a:solidFill>
                          <a:latin typeface="Aptos"/>
                        </a:rPr>
                        <a:t>Record / metric</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Value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What is counted?</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Transmitted QPSK groups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10 | 11 | 00 | 01</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4 symbols / 8 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Recovered groups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10 | 01 | 00 | 11</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Symbols 2 and 4 differ</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Symbol error fraction</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2 / 4 = 50%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Wrong symbol decisions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Bit error rate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2 / 8 = 25%</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Wrong individual 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09</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N = R_B T FOR A CONTINUOUS STREAM AT THE STATED MEASUREMENT POINT</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Zero observed errors needs a record length</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2960" y="207532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42416" y="1755648"/>
            <a:ext cx="6181344" cy="1331976"/>
          </a:xfrm>
          <a:prstGeom prst="rect">
            <a:avLst/>
          </a:prstGeom>
          <a:noFill/>
        </p:spPr>
        <p:txBody>
          <a:bodyPr wrap="square" lIns="0" rIns="0" tIns="0" bIns="0" anchor="ctr">
            <a:spAutoFit/>
          </a:bodyPr>
          <a:lstStyle/>
          <a:p>
            <a:pPr algn="l"/>
            <a:r>
              <a:rPr sz="1650" b="0" i="0">
                <a:solidFill>
                  <a:srgbClr val="182028"/>
                </a:solidFill>
                <a:latin typeface="Aptos"/>
              </a:rPr>
              <a:t>0 errors in 1,000,000 compared bits: measured BER = 0 for that record.</a:t>
            </a:r>
          </a:p>
        </p:txBody>
      </p:sp>
      <p:sp>
        <p:nvSpPr>
          <p:cNvPr id="15" name="Oval 14"/>
          <p:cNvSpPr/>
          <p:nvPr/>
        </p:nvSpPr>
        <p:spPr>
          <a:xfrm>
            <a:off x="822960" y="3535314"/>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42416" y="3215640"/>
            <a:ext cx="6181344" cy="1331976"/>
          </a:xfrm>
          <a:prstGeom prst="rect">
            <a:avLst/>
          </a:prstGeom>
          <a:noFill/>
        </p:spPr>
        <p:txBody>
          <a:bodyPr wrap="square" lIns="0" rIns="0" tIns="0" bIns="0" anchor="ctr">
            <a:spAutoFit/>
          </a:bodyPr>
          <a:lstStyle/>
          <a:p>
            <a:pPr algn="l"/>
            <a:r>
              <a:rPr sz="1650" b="0" i="0">
                <a:solidFill>
                  <a:srgbClr val="182028"/>
                </a:solidFill>
                <a:latin typeface="Aptos"/>
              </a:rPr>
              <a:t>It does not prove the link will never produce an error.</a:t>
            </a:r>
          </a:p>
        </p:txBody>
      </p:sp>
      <p:sp>
        <p:nvSpPr>
          <p:cNvPr id="17" name="Oval 16"/>
          <p:cNvSpPr/>
          <p:nvPr/>
        </p:nvSpPr>
        <p:spPr>
          <a:xfrm>
            <a:off x="822960" y="4995306"/>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42416" y="4675632"/>
            <a:ext cx="6181344" cy="1331976"/>
          </a:xfrm>
          <a:prstGeom prst="rect">
            <a:avLst/>
          </a:prstGeom>
          <a:noFill/>
        </p:spPr>
        <p:txBody>
          <a:bodyPr wrap="square" lIns="0" rIns="0" tIns="0" bIns="0" anchor="ctr">
            <a:spAutoFit/>
          </a:bodyPr>
          <a:lstStyle/>
          <a:p>
            <a:pPr algn="l"/>
            <a:r>
              <a:rPr sz="1650" b="0" i="0">
                <a:solidFill>
                  <a:srgbClr val="182028"/>
                </a:solidFill>
                <a:latin typeface="Aptos"/>
              </a:rPr>
              <a:t>At 200 kbit/s, 1,000,000 compared bits take 5 s, excluding startup and gaps.</a:t>
            </a:r>
          </a:p>
        </p:txBody>
      </p:sp>
      <p:sp>
        <p:nvSpPr>
          <p:cNvPr id="19" name="Rounded Rectangle 18"/>
          <p:cNvSpPr/>
          <p:nvPr/>
        </p:nvSpPr>
        <p:spPr>
          <a:xfrm>
            <a:off x="7571231" y="1828800"/>
            <a:ext cx="3703320" cy="3611880"/>
          </a:xfrm>
          <a:prstGeom prst="roundRect">
            <a:avLst/>
          </a:prstGeom>
          <a:solidFill>
            <a:srgbClr val="DDECEA"/>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71231" y="1828800"/>
            <a:ext cx="82296" cy="361188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99831" y="1993392"/>
            <a:ext cx="3291840" cy="329184"/>
          </a:xfrm>
          <a:prstGeom prst="rect">
            <a:avLst/>
          </a:prstGeom>
          <a:noFill/>
        </p:spPr>
        <p:txBody>
          <a:bodyPr wrap="square" lIns="0" rIns="0" tIns="0" bIns="0" anchor="t">
            <a:spAutoFit/>
          </a:bodyPr>
          <a:lstStyle/>
          <a:p>
            <a:pPr algn="l"/>
            <a:r>
              <a:rPr sz="2200" b="1" i="0">
                <a:solidFill>
                  <a:srgbClr val="17324D"/>
                </a:solidFill>
                <a:latin typeface="Aptos"/>
              </a:rPr>
              <a:t>Takeaway</a:t>
            </a:r>
          </a:p>
        </p:txBody>
      </p:sp>
      <p:sp>
        <p:nvSpPr>
          <p:cNvPr id="22" name="TextBox 21"/>
          <p:cNvSpPr txBox="1"/>
          <p:nvPr/>
        </p:nvSpPr>
        <p:spPr>
          <a:xfrm>
            <a:off x="7799831" y="2432304"/>
            <a:ext cx="3291840" cy="2862072"/>
          </a:xfrm>
          <a:prstGeom prst="rect">
            <a:avLst/>
          </a:prstGeom>
          <a:noFill/>
        </p:spPr>
        <p:txBody>
          <a:bodyPr wrap="square" lIns="0" rIns="0" tIns="0" bIns="0" anchor="t">
            <a:spAutoFit/>
          </a:bodyPr>
          <a:lstStyle/>
          <a:p>
            <a:pPr algn="l">
              <a:lnSpc>
                <a:spcPct val="102000"/>
              </a:lnSpc>
            </a:pPr>
            <a:r>
              <a:rPr sz="1700" b="0" i="0">
                <a:solidFill>
                  <a:srgbClr val="182028"/>
                </a:solidFill>
                <a:latin typeface="Aptos"/>
              </a:rPr>
              <a:t>Report error count, compared bit count, measurement point and test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10</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SYNCHRONIZED QPSK; NEAREST-POINT DECISIONS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A displaced point can still give the right bits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77240" y="1783080"/>
            <a:ext cx="4572000" cy="411480"/>
          </a:xfrm>
          <a:prstGeom prst="rect">
            <a:avLst/>
          </a:prstGeom>
          <a:noFill/>
        </p:spPr>
        <p:txBody>
          <a:bodyPr wrap="square" lIns="0" rIns="0" tIns="0" bIns="0" anchor="t">
            <a:spAutoFit/>
          </a:bodyPr>
          <a:lstStyle/>
          <a:p>
            <a:pPr algn="ctr"/>
            <a:r>
              <a:rPr sz="2100" b="1" i="0">
                <a:solidFill>
                  <a:srgbClr val="17324D"/>
                </a:solidFill>
                <a:latin typeface="Aptos"/>
              </a:rPr>
              <a:t>Disturbed, still correct</a:t>
            </a:r>
          </a:p>
        </p:txBody>
      </p:sp>
      <p:cxnSp>
        <p:nvCxnSpPr>
          <p:cNvPr id="14" name="Connector 13"/>
          <p:cNvCxnSpPr/>
          <p:nvPr/>
        </p:nvCxnSpPr>
        <p:spPr>
          <a:xfrm>
            <a:off x="1600200" y="3840480"/>
            <a:ext cx="2926080" cy="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063240" y="2423160"/>
            <a:ext cx="0" cy="274320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3749040"/>
            <a:ext cx="274320" cy="274320"/>
          </a:xfrm>
          <a:prstGeom prst="rect">
            <a:avLst/>
          </a:prstGeom>
          <a:noFill/>
        </p:spPr>
        <p:txBody>
          <a:bodyPr wrap="square" lIns="0" rIns="0" tIns="0" bIns="0" anchor="t">
            <a:spAutoFit/>
          </a:bodyPr>
          <a:lstStyle/>
          <a:p>
            <a:pPr algn="l"/>
            <a:r>
              <a:rPr sz="1700" b="0" i="0">
                <a:solidFill>
                  <a:srgbClr val="17324D"/>
                </a:solidFill>
                <a:latin typeface="Aptos"/>
              </a:rPr>
              <a:t>I</a:t>
            </a:r>
          </a:p>
        </p:txBody>
      </p:sp>
      <p:sp>
        <p:nvSpPr>
          <p:cNvPr id="17" name="TextBox 16"/>
          <p:cNvSpPr txBox="1"/>
          <p:nvPr/>
        </p:nvSpPr>
        <p:spPr>
          <a:xfrm>
            <a:off x="3154680" y="2350008"/>
            <a:ext cx="274320" cy="274320"/>
          </a:xfrm>
          <a:prstGeom prst="rect">
            <a:avLst/>
          </a:prstGeom>
          <a:noFill/>
        </p:spPr>
        <p:txBody>
          <a:bodyPr wrap="square" lIns="0" rIns="0" tIns="0" bIns="0" anchor="t">
            <a:spAutoFit/>
          </a:bodyPr>
          <a:lstStyle/>
          <a:p>
            <a:pPr algn="l"/>
            <a:r>
              <a:rPr sz="1700" b="0" i="0">
                <a:solidFill>
                  <a:srgbClr val="17324D"/>
                </a:solidFill>
                <a:latin typeface="Aptos"/>
              </a:rPr>
              <a:t>Q</a:t>
            </a:r>
          </a:p>
        </p:txBody>
      </p:sp>
      <p:sp>
        <p:nvSpPr>
          <p:cNvPr id="18" name="Oval 17"/>
          <p:cNvSpPr/>
          <p:nvPr/>
        </p:nvSpPr>
        <p:spPr>
          <a:xfrm>
            <a:off x="4165091" y="2601468"/>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39" y="2834640"/>
            <a:ext cx="512064" cy="320040"/>
          </a:xfrm>
          <a:prstGeom prst="rect">
            <a:avLst/>
          </a:prstGeom>
          <a:noFill/>
        </p:spPr>
        <p:txBody>
          <a:bodyPr wrap="square" lIns="0" rIns="0" tIns="0" bIns="0" anchor="t">
            <a:spAutoFit/>
          </a:bodyPr>
          <a:lstStyle/>
          <a:p>
            <a:pPr algn="ctr"/>
            <a:r>
              <a:rPr sz="1700" b="0" i="0">
                <a:solidFill>
                  <a:srgbClr val="17324D"/>
                </a:solidFill>
                <a:latin typeface="Aptos"/>
              </a:rPr>
              <a:t>00</a:t>
            </a:r>
          </a:p>
        </p:txBody>
      </p:sp>
      <p:sp>
        <p:nvSpPr>
          <p:cNvPr id="20" name="Oval 19"/>
          <p:cNvSpPr/>
          <p:nvPr/>
        </p:nvSpPr>
        <p:spPr>
          <a:xfrm>
            <a:off x="1824228" y="2601468"/>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36776" y="2834640"/>
            <a:ext cx="512064" cy="320040"/>
          </a:xfrm>
          <a:prstGeom prst="rect">
            <a:avLst/>
          </a:prstGeom>
          <a:noFill/>
        </p:spPr>
        <p:txBody>
          <a:bodyPr wrap="square" lIns="0" rIns="0" tIns="0" bIns="0" anchor="t">
            <a:spAutoFit/>
          </a:bodyPr>
          <a:lstStyle/>
          <a:p>
            <a:pPr algn="ctr"/>
            <a:r>
              <a:rPr sz="1700" b="0" i="0">
                <a:solidFill>
                  <a:srgbClr val="17324D"/>
                </a:solidFill>
                <a:latin typeface="Aptos"/>
              </a:rPr>
              <a:t>01</a:t>
            </a:r>
          </a:p>
        </p:txBody>
      </p:sp>
      <p:sp>
        <p:nvSpPr>
          <p:cNvPr id="22" name="Oval 21"/>
          <p:cNvSpPr/>
          <p:nvPr/>
        </p:nvSpPr>
        <p:spPr>
          <a:xfrm>
            <a:off x="1824228" y="4942332"/>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36776" y="5175504"/>
            <a:ext cx="512064" cy="320040"/>
          </a:xfrm>
          <a:prstGeom prst="rect">
            <a:avLst/>
          </a:prstGeom>
          <a:noFill/>
        </p:spPr>
        <p:txBody>
          <a:bodyPr wrap="square" lIns="0" rIns="0" tIns="0" bIns="0" anchor="t">
            <a:spAutoFit/>
          </a:bodyPr>
          <a:lstStyle/>
          <a:p>
            <a:pPr algn="ctr"/>
            <a:r>
              <a:rPr sz="1700" b="0" i="0">
                <a:solidFill>
                  <a:srgbClr val="17324D"/>
                </a:solidFill>
                <a:latin typeface="Aptos"/>
              </a:rPr>
              <a:t>11</a:t>
            </a:r>
          </a:p>
        </p:txBody>
      </p:sp>
      <p:sp>
        <p:nvSpPr>
          <p:cNvPr id="24" name="Oval 23"/>
          <p:cNvSpPr/>
          <p:nvPr/>
        </p:nvSpPr>
        <p:spPr>
          <a:xfrm>
            <a:off x="4165091" y="4942332"/>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77639" y="5175504"/>
            <a:ext cx="512064" cy="320040"/>
          </a:xfrm>
          <a:prstGeom prst="rect">
            <a:avLst/>
          </a:prstGeom>
          <a:noFill/>
        </p:spPr>
        <p:txBody>
          <a:bodyPr wrap="square" lIns="0" rIns="0" tIns="0" bIns="0" anchor="t">
            <a:spAutoFit/>
          </a:bodyPr>
          <a:lstStyle/>
          <a:p>
            <a:pPr algn="ctr"/>
            <a:r>
              <a:rPr sz="1700" b="0" i="0">
                <a:solidFill>
                  <a:srgbClr val="17324D"/>
                </a:solidFill>
                <a:latin typeface="Aptos"/>
              </a:rPr>
              <a:t>10</a:t>
            </a:r>
          </a:p>
        </p:txBody>
      </p:sp>
      <p:cxnSp>
        <p:nvCxnSpPr>
          <p:cNvPr id="26" name="Connector 25"/>
          <p:cNvCxnSpPr/>
          <p:nvPr/>
        </p:nvCxnSpPr>
        <p:spPr>
          <a:xfrm flipH="1">
            <a:off x="3589934" y="2670048"/>
            <a:ext cx="643738" cy="468172"/>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3521354" y="3069640"/>
            <a:ext cx="137160" cy="137160"/>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63640" y="1783080"/>
            <a:ext cx="4572000" cy="411480"/>
          </a:xfrm>
          <a:prstGeom prst="rect">
            <a:avLst/>
          </a:prstGeom>
          <a:noFill/>
        </p:spPr>
        <p:txBody>
          <a:bodyPr wrap="square" lIns="0" rIns="0" tIns="0" bIns="0" anchor="t">
            <a:spAutoFit/>
          </a:bodyPr>
          <a:lstStyle/>
          <a:p>
            <a:pPr algn="ctr"/>
            <a:r>
              <a:rPr sz="2100" b="1" i="0">
                <a:solidFill>
                  <a:srgbClr val="17324D"/>
                </a:solidFill>
                <a:latin typeface="Aptos"/>
              </a:rPr>
              <a:t>Crosses the decision boundary</a:t>
            </a:r>
          </a:p>
        </p:txBody>
      </p:sp>
      <p:cxnSp>
        <p:nvCxnSpPr>
          <p:cNvPr id="29" name="Connector 28"/>
          <p:cNvCxnSpPr/>
          <p:nvPr/>
        </p:nvCxnSpPr>
        <p:spPr>
          <a:xfrm>
            <a:off x="7086600" y="3840480"/>
            <a:ext cx="2926080" cy="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549640" y="2423160"/>
            <a:ext cx="0" cy="274320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058400" y="3749040"/>
            <a:ext cx="274320" cy="274320"/>
          </a:xfrm>
          <a:prstGeom prst="rect">
            <a:avLst/>
          </a:prstGeom>
          <a:noFill/>
        </p:spPr>
        <p:txBody>
          <a:bodyPr wrap="square" lIns="0" rIns="0" tIns="0" bIns="0" anchor="t">
            <a:spAutoFit/>
          </a:bodyPr>
          <a:lstStyle/>
          <a:p>
            <a:pPr algn="l"/>
            <a:r>
              <a:rPr sz="1700" b="0" i="0">
                <a:solidFill>
                  <a:srgbClr val="17324D"/>
                </a:solidFill>
                <a:latin typeface="Aptos"/>
              </a:rPr>
              <a:t>I</a:t>
            </a:r>
          </a:p>
        </p:txBody>
      </p:sp>
      <p:sp>
        <p:nvSpPr>
          <p:cNvPr id="32" name="TextBox 31"/>
          <p:cNvSpPr txBox="1"/>
          <p:nvPr/>
        </p:nvSpPr>
        <p:spPr>
          <a:xfrm>
            <a:off x="8641080" y="2350008"/>
            <a:ext cx="274320" cy="274320"/>
          </a:xfrm>
          <a:prstGeom prst="rect">
            <a:avLst/>
          </a:prstGeom>
          <a:noFill/>
        </p:spPr>
        <p:txBody>
          <a:bodyPr wrap="square" lIns="0" rIns="0" tIns="0" bIns="0" anchor="t">
            <a:spAutoFit/>
          </a:bodyPr>
          <a:lstStyle/>
          <a:p>
            <a:pPr algn="l"/>
            <a:r>
              <a:rPr sz="1700" b="0" i="0">
                <a:solidFill>
                  <a:srgbClr val="17324D"/>
                </a:solidFill>
                <a:latin typeface="Aptos"/>
              </a:rPr>
              <a:t>Q</a:t>
            </a:r>
          </a:p>
        </p:txBody>
      </p:sp>
      <p:sp>
        <p:nvSpPr>
          <p:cNvPr id="33" name="Oval 32"/>
          <p:cNvSpPr/>
          <p:nvPr/>
        </p:nvSpPr>
        <p:spPr>
          <a:xfrm>
            <a:off x="9651492" y="2601468"/>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2834640"/>
            <a:ext cx="512064" cy="320040"/>
          </a:xfrm>
          <a:prstGeom prst="rect">
            <a:avLst/>
          </a:prstGeom>
          <a:noFill/>
        </p:spPr>
        <p:txBody>
          <a:bodyPr wrap="square" lIns="0" rIns="0" tIns="0" bIns="0" anchor="t">
            <a:spAutoFit/>
          </a:bodyPr>
          <a:lstStyle/>
          <a:p>
            <a:pPr algn="ctr"/>
            <a:r>
              <a:rPr sz="1700" b="0" i="0">
                <a:solidFill>
                  <a:srgbClr val="17324D"/>
                </a:solidFill>
                <a:latin typeface="Aptos"/>
              </a:rPr>
              <a:t>00</a:t>
            </a:r>
          </a:p>
        </p:txBody>
      </p:sp>
      <p:sp>
        <p:nvSpPr>
          <p:cNvPr id="35" name="Oval 34"/>
          <p:cNvSpPr/>
          <p:nvPr/>
        </p:nvSpPr>
        <p:spPr>
          <a:xfrm>
            <a:off x="7310628" y="2601468"/>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23176" y="2834640"/>
            <a:ext cx="512064" cy="320040"/>
          </a:xfrm>
          <a:prstGeom prst="rect">
            <a:avLst/>
          </a:prstGeom>
          <a:noFill/>
        </p:spPr>
        <p:txBody>
          <a:bodyPr wrap="square" lIns="0" rIns="0" tIns="0" bIns="0" anchor="t">
            <a:spAutoFit/>
          </a:bodyPr>
          <a:lstStyle/>
          <a:p>
            <a:pPr algn="ctr"/>
            <a:r>
              <a:rPr sz="1700" b="0" i="0">
                <a:solidFill>
                  <a:srgbClr val="17324D"/>
                </a:solidFill>
                <a:latin typeface="Aptos"/>
              </a:rPr>
              <a:t>01</a:t>
            </a:r>
          </a:p>
        </p:txBody>
      </p:sp>
      <p:sp>
        <p:nvSpPr>
          <p:cNvPr id="37" name="Oval 36"/>
          <p:cNvSpPr/>
          <p:nvPr/>
        </p:nvSpPr>
        <p:spPr>
          <a:xfrm>
            <a:off x="7310628" y="4942332"/>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23176" y="5175504"/>
            <a:ext cx="512064" cy="320040"/>
          </a:xfrm>
          <a:prstGeom prst="rect">
            <a:avLst/>
          </a:prstGeom>
          <a:noFill/>
        </p:spPr>
        <p:txBody>
          <a:bodyPr wrap="square" lIns="0" rIns="0" tIns="0" bIns="0" anchor="t">
            <a:spAutoFit/>
          </a:bodyPr>
          <a:lstStyle/>
          <a:p>
            <a:pPr algn="ctr"/>
            <a:r>
              <a:rPr sz="1700" b="0" i="0">
                <a:solidFill>
                  <a:srgbClr val="17324D"/>
                </a:solidFill>
                <a:latin typeface="Aptos"/>
              </a:rPr>
              <a:t>11</a:t>
            </a:r>
          </a:p>
        </p:txBody>
      </p:sp>
      <p:sp>
        <p:nvSpPr>
          <p:cNvPr id="39" name="Oval 38"/>
          <p:cNvSpPr/>
          <p:nvPr/>
        </p:nvSpPr>
        <p:spPr>
          <a:xfrm>
            <a:off x="9651492" y="4942332"/>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64040" y="5175504"/>
            <a:ext cx="512064" cy="320040"/>
          </a:xfrm>
          <a:prstGeom prst="rect">
            <a:avLst/>
          </a:prstGeom>
          <a:noFill/>
        </p:spPr>
        <p:txBody>
          <a:bodyPr wrap="square" lIns="0" rIns="0" tIns="0" bIns="0" anchor="t">
            <a:spAutoFit/>
          </a:bodyPr>
          <a:lstStyle/>
          <a:p>
            <a:pPr algn="ctr"/>
            <a:r>
              <a:rPr sz="1700" b="0" i="0">
                <a:solidFill>
                  <a:srgbClr val="17324D"/>
                </a:solidFill>
                <a:latin typeface="Aptos"/>
              </a:rPr>
              <a:t>10</a:t>
            </a:r>
          </a:p>
        </p:txBody>
      </p:sp>
      <p:cxnSp>
        <p:nvCxnSpPr>
          <p:cNvPr id="41" name="Connector 40"/>
          <p:cNvCxnSpPr/>
          <p:nvPr/>
        </p:nvCxnSpPr>
        <p:spPr>
          <a:xfrm flipH="1">
            <a:off x="8139988" y="2670048"/>
            <a:ext cx="1580084" cy="468172"/>
          </a:xfrm>
          <a:prstGeom prst="line">
            <a:avLst/>
          </a:prstGeom>
          <a:ln w="25400">
            <a:solidFill>
              <a:srgbClr val="D96F32"/>
            </a:solidFill>
          </a:ln>
        </p:spPr>
        <p:style>
          <a:lnRef idx="2">
            <a:schemeClr val="accent1"/>
          </a:lnRef>
          <a:fillRef idx="0">
            <a:schemeClr val="accent1"/>
          </a:fillRef>
          <a:effectRef idx="1">
            <a:schemeClr val="accent1"/>
          </a:effectRef>
          <a:fontRef idx="minor">
            <a:schemeClr val="tx1"/>
          </a:fontRef>
        </p:style>
      </p:cxnSp>
      <p:sp>
        <p:nvSpPr>
          <p:cNvPr id="42" name="Oval 41"/>
          <p:cNvSpPr/>
          <p:nvPr/>
        </p:nvSpPr>
        <p:spPr>
          <a:xfrm>
            <a:off x="8071408" y="3069640"/>
            <a:ext cx="137160" cy="137160"/>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77240" y="5532120"/>
            <a:ext cx="10698480" cy="457200"/>
          </a:xfrm>
          <a:prstGeom prst="rect">
            <a:avLst/>
          </a:prstGeom>
          <a:noFill/>
        </p:spPr>
        <p:txBody>
          <a:bodyPr wrap="square" lIns="0" rIns="0" tIns="0" bIns="0" anchor="t">
            <a:spAutoFit/>
          </a:bodyPr>
          <a:lstStyle/>
          <a:p>
            <a:pPr algn="ctr"/>
            <a:r>
              <a:rPr sz="1800" b="1" i="0">
                <a:solidFill>
                  <a:srgbClr val="17324D"/>
                </a:solidFill>
                <a:latin typeface="Aptos"/>
              </a:rPr>
              <a:t>Teal = allowed points. Orange = received estimate. Intended symbol in both: 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11</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MAKE IT VISIBLE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EVM measures symbol-position error</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097280" y="4800600"/>
            <a:ext cx="4663440" cy="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154680" y="2057400"/>
            <a:ext cx="0" cy="3429000"/>
          </a:xfrm>
          <a:prstGeom prst="line">
            <a:avLst/>
          </a:prstGeom>
          <a:ln w="12700">
            <a:solidFill>
              <a:srgbClr val="5F6B73"/>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806440" y="4690872"/>
            <a:ext cx="320040" cy="320040"/>
          </a:xfrm>
          <a:prstGeom prst="rect">
            <a:avLst/>
          </a:prstGeom>
          <a:noFill/>
        </p:spPr>
        <p:txBody>
          <a:bodyPr wrap="square" lIns="0" rIns="0" tIns="0" bIns="0" anchor="t">
            <a:spAutoFit/>
          </a:bodyPr>
          <a:lstStyle/>
          <a:p>
            <a:pPr algn="l"/>
            <a:r>
              <a:rPr sz="1800" b="1" i="0">
                <a:solidFill>
                  <a:srgbClr val="17324D"/>
                </a:solidFill>
                <a:latin typeface="Aptos"/>
              </a:rPr>
              <a:t>I</a:t>
            </a:r>
          </a:p>
        </p:txBody>
      </p:sp>
      <p:sp>
        <p:nvSpPr>
          <p:cNvPr id="16" name="TextBox 15"/>
          <p:cNvSpPr txBox="1"/>
          <p:nvPr/>
        </p:nvSpPr>
        <p:spPr>
          <a:xfrm>
            <a:off x="3246120" y="1965960"/>
            <a:ext cx="320040" cy="320040"/>
          </a:xfrm>
          <a:prstGeom prst="rect">
            <a:avLst/>
          </a:prstGeom>
          <a:noFill/>
        </p:spPr>
        <p:txBody>
          <a:bodyPr wrap="square" lIns="0" rIns="0" tIns="0" bIns="0" anchor="t">
            <a:spAutoFit/>
          </a:bodyPr>
          <a:lstStyle/>
          <a:p>
            <a:pPr algn="l"/>
            <a:r>
              <a:rPr sz="1800" b="1" i="0">
                <a:solidFill>
                  <a:srgbClr val="17324D"/>
                </a:solidFill>
                <a:latin typeface="Aptos"/>
              </a:rPr>
              <a:t>Q</a:t>
            </a:r>
          </a:p>
        </p:txBody>
      </p:sp>
      <p:cxnSp>
        <p:nvCxnSpPr>
          <p:cNvPr id="17" name="Connector 16"/>
          <p:cNvCxnSpPr/>
          <p:nvPr/>
        </p:nvCxnSpPr>
        <p:spPr>
          <a:xfrm flipV="1">
            <a:off x="3154680" y="3081528"/>
            <a:ext cx="1719072" cy="1719072"/>
          </a:xfrm>
          <a:prstGeom prst="line">
            <a:avLst/>
          </a:prstGeom>
          <a:ln w="25400">
            <a:solidFill>
              <a:srgbClr val="0F6D74"/>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014216" y="3081528"/>
            <a:ext cx="859536" cy="537209"/>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805172" y="3012948"/>
            <a:ext cx="137160" cy="137160"/>
          </a:xfrm>
          <a:prstGeom prst="ellipse">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945636" y="3550157"/>
            <a:ext cx="137160" cy="137160"/>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069080" y="2423160"/>
            <a:ext cx="1828800" cy="365760"/>
          </a:xfrm>
          <a:prstGeom prst="rect">
            <a:avLst/>
          </a:prstGeom>
          <a:noFill/>
        </p:spPr>
        <p:txBody>
          <a:bodyPr wrap="square" lIns="0" rIns="0" tIns="0" bIns="0" anchor="t">
            <a:spAutoFit/>
          </a:bodyPr>
          <a:lstStyle/>
          <a:p>
            <a:pPr algn="l"/>
            <a:r>
              <a:rPr sz="1800" b="1" i="0">
                <a:solidFill>
                  <a:srgbClr val="0F6D74"/>
                </a:solidFill>
                <a:latin typeface="Aptos"/>
              </a:rPr>
              <a:t>Ideal reference</a:t>
            </a:r>
          </a:p>
        </p:txBody>
      </p:sp>
      <p:sp>
        <p:nvSpPr>
          <p:cNvPr id="22" name="TextBox 21"/>
          <p:cNvSpPr txBox="1"/>
          <p:nvPr/>
        </p:nvSpPr>
        <p:spPr>
          <a:xfrm>
            <a:off x="3611880" y="3840480"/>
            <a:ext cx="2103120" cy="365760"/>
          </a:xfrm>
          <a:prstGeom prst="rect">
            <a:avLst/>
          </a:prstGeom>
          <a:noFill/>
        </p:spPr>
        <p:txBody>
          <a:bodyPr wrap="square" lIns="0" rIns="0" tIns="0" bIns="0" anchor="t">
            <a:spAutoFit/>
          </a:bodyPr>
          <a:lstStyle/>
          <a:p>
            <a:pPr algn="l"/>
            <a:r>
              <a:rPr sz="1700" b="0" i="0">
                <a:solidFill>
                  <a:srgbClr val="D96F32"/>
                </a:solidFill>
                <a:latin typeface="Aptos"/>
              </a:rPr>
              <a:t>Received estimate</a:t>
            </a:r>
          </a:p>
        </p:txBody>
      </p:sp>
      <p:sp>
        <p:nvSpPr>
          <p:cNvPr id="23" name="TextBox 22"/>
          <p:cNvSpPr txBox="1"/>
          <p:nvPr/>
        </p:nvSpPr>
        <p:spPr>
          <a:xfrm>
            <a:off x="6400800" y="2240280"/>
            <a:ext cx="4892040" cy="594360"/>
          </a:xfrm>
          <a:prstGeom prst="rect">
            <a:avLst/>
          </a:prstGeom>
          <a:noFill/>
        </p:spPr>
        <p:txBody>
          <a:bodyPr wrap="square" lIns="0" rIns="0" tIns="0" bIns="0" anchor="t">
            <a:spAutoFit/>
          </a:bodyPr>
          <a:lstStyle/>
          <a:p>
            <a:pPr algn="l"/>
            <a:r>
              <a:rPr sz="2300" b="1" i="0">
                <a:solidFill>
                  <a:srgbClr val="17324D"/>
                </a:solidFill>
                <a:latin typeface="Aptos"/>
              </a:rPr>
              <a:t>EVM = error vector magnitude</a:t>
            </a:r>
          </a:p>
        </p:txBody>
      </p:sp>
      <p:sp>
        <p:nvSpPr>
          <p:cNvPr id="24" name="TextBox 23"/>
          <p:cNvSpPr txBox="1"/>
          <p:nvPr/>
        </p:nvSpPr>
        <p:spPr>
          <a:xfrm>
            <a:off x="6400800" y="3063240"/>
            <a:ext cx="4892040" cy="914400"/>
          </a:xfrm>
          <a:prstGeom prst="rect">
            <a:avLst/>
          </a:prstGeom>
          <a:noFill/>
        </p:spPr>
        <p:txBody>
          <a:bodyPr wrap="square" lIns="0" rIns="0" tIns="0" bIns="0" anchor="t">
            <a:spAutoFit/>
          </a:bodyPr>
          <a:lstStyle/>
          <a:p>
            <a:pPr algn="l"/>
            <a:r>
              <a:rPr sz="2100" b="0" i="0">
                <a:solidFill>
                  <a:srgbClr val="17324D"/>
                </a:solidFill>
                <a:latin typeface="Aptos"/>
              </a:rPr>
              <a:t>Orange segment: difference between the intended and measured positions.</a:t>
            </a:r>
          </a:p>
        </p:txBody>
      </p:sp>
      <p:sp>
        <p:nvSpPr>
          <p:cNvPr id="25" name="TextBox 24"/>
          <p:cNvSpPr txBox="1"/>
          <p:nvPr/>
        </p:nvSpPr>
        <p:spPr>
          <a:xfrm>
            <a:off x="6400800" y="4297680"/>
            <a:ext cx="4892040" cy="1005840"/>
          </a:xfrm>
          <a:prstGeom prst="rect">
            <a:avLst/>
          </a:prstGeom>
          <a:noFill/>
        </p:spPr>
        <p:txBody>
          <a:bodyPr wrap="square" lIns="0" rIns="0" tIns="0" bIns="0" anchor="t">
            <a:spAutoFit/>
          </a:bodyPr>
          <a:lstStyle/>
          <a:p>
            <a:pPr algn="l"/>
            <a:r>
              <a:rPr sz="2100" b="1" i="0">
                <a:solidFill>
                  <a:srgbClr val="17324D"/>
                </a:solidFill>
                <a:latin typeface="Aptos"/>
              </a:rPr>
              <a:t>The bit decision can still be correct. Distance error is not a bit-error count.</a:t>
            </a:r>
          </a:p>
        </p:txBody>
      </p:sp>
      <p:sp>
        <p:nvSpPr>
          <p:cNvPr id="26" name="TextBox 25"/>
          <p:cNvSpPr txBox="1"/>
          <p:nvPr/>
        </p:nvSpPr>
        <p:spPr>
          <a:xfrm>
            <a:off x="777240" y="5623560"/>
            <a:ext cx="10698480" cy="365760"/>
          </a:xfrm>
          <a:prstGeom prst="rect">
            <a:avLst/>
          </a:prstGeom>
          <a:noFill/>
        </p:spPr>
        <p:txBody>
          <a:bodyPr wrap="square" lIns="0" rIns="0" tIns="0" bIns="0" anchor="t">
            <a:spAutoFit/>
          </a:bodyPr>
          <a:lstStyle/>
          <a:p>
            <a:pPr algn="ctr"/>
            <a:r>
              <a:rPr sz="1700" b="0" i="0">
                <a:solidFill>
                  <a:srgbClr val="17324D"/>
                </a:solidFill>
                <a:latin typeface="Aptos"/>
              </a:rPr>
              <a:t>Compare records using the same alignment, reference normalization and receiver processing.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12</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RMS = ROOT MEAN SQUARE. USE THE SAME REFERENCE NORMALIZATION.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EVM is not a percentage of wrong bits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EVM (%) = 100 x (RMS error magnitude / RMS reference magnitude)</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3627120"/>
                <a:gridCol w="3627120"/>
                <a:gridCol w="3627120"/>
              </a:tblGrid>
              <a:tr h="1082040">
                <a:tc>
                  <a:txBody>
                    <a:bodyPr/>
                    <a:lstStyle/>
                    <a:p>
                      <a:r>
                        <a:rPr sz="1800" b="1">
                          <a:solidFill>
                            <a:srgbClr val="FFFFFF"/>
                          </a:solidFill>
                          <a:latin typeface="Aptos"/>
                        </a:rPr>
                        <a:t>RMS error magnitude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RMS reference magnitude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EVM</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0.05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 x 0.05 / 1.00 = 5%</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0.15</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 x 0.15 / 1.00 = 15%</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13</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SNR = SIGNAL-TO-NOISE RATIO. C/N = CARRIER-TO-NOISE RATIO; SPECIFY ITS CONVENTION.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Same signal power can hide a noisier link</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60" cy="4160520"/>
        </p:xfrm>
        <a:graphic>
          <a:graphicData uri="http://schemas.openxmlformats.org/drawingml/2006/table">
            <a:tbl>
              <a:tblPr firstRow="1" bandRow="1">
                <a:tableStyleId>{5C22544A-7EE6-4342-B048-85BDC9FD1C3A}</a:tableStyleId>
              </a:tblPr>
              <a:tblGrid>
                <a:gridCol w="3627120"/>
                <a:gridCol w="3627120"/>
                <a:gridCol w="3627120"/>
              </a:tblGrid>
              <a:tr h="1386840">
                <a:tc>
                  <a:txBody>
                    <a:bodyPr/>
                    <a:lstStyle/>
                    <a:p>
                      <a:r>
                        <a:rPr sz="1700" b="1">
                          <a:solidFill>
                            <a:srgbClr val="FFFFFF"/>
                          </a:solidFill>
                          <a:latin typeface="Aptos"/>
                        </a:rPr>
                        <a:t>Desired signal</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Noise, same bandwidth</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SNR</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386840">
                <a:tc>
                  <a:txBody>
                    <a:bodyPr/>
                    <a:lstStyle/>
                    <a:p>
                      <a:r>
                        <a:rPr sz="1700">
                          <a:solidFill>
                            <a:srgbClr val="182028"/>
                          </a:solidFill>
                          <a:latin typeface="Aptos"/>
                        </a:rPr>
                        <a:t>-55 dBm</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-75 dBm</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-55 - (-75) = 20 dB</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386840">
                <a:tc>
                  <a:txBody>
                    <a:bodyPr/>
                    <a:lstStyle/>
                    <a:p>
                      <a:r>
                        <a:rPr sz="1700">
                          <a:solidFill>
                            <a:srgbClr val="182028"/>
                          </a:solidFill>
                          <a:latin typeface="Aptos"/>
                        </a:rPr>
                        <a:t>-55 dBm</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-65 dBm</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-55 - (-65) = 10 dB</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14</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FEC = FORWARD ERROR CORRECTION. THESE EXAMPLE RECORDS USE NO ERROR-CORRECTING CODE.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700" b="1" i="0">
                <a:solidFill>
                  <a:srgbClr val="17324D"/>
                </a:solidFill>
                <a:latin typeface="Aptos Display"/>
              </a:rPr>
              <a:t>Change the modulation, control the comparison</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4134916"/>
                <a:gridCol w="6746443"/>
              </a:tblGrid>
              <a:tr h="832104">
                <a:tc>
                  <a:txBody>
                    <a:bodyPr/>
                    <a:lstStyle/>
                    <a:p>
                      <a:r>
                        <a:rPr sz="1700" b="1">
                          <a:solidFill>
                            <a:srgbClr val="FFFFFF"/>
                          </a:solidFill>
                          <a:latin typeface="Aptos"/>
                        </a:rPr>
                        <a:t>Keep / state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Our comparison condition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Symbol rate and average symbol energy</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50 kbaud; same average symbol energy</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Filtering, channel and receiver</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Same shaping, stationary noise and synchronization policy</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Measurement point and count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1,000,000 aligned uncoded bits per case; no FEC</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32104">
                <a:tc>
                  <a:txBody>
                    <a:bodyPr/>
                    <a:lstStyle/>
                    <a:p>
                      <a:r>
                        <a:rPr sz="1700">
                          <a:solidFill>
                            <a:srgbClr val="182028"/>
                          </a:solidFill>
                          <a:latin typeface="Aptos"/>
                        </a:rPr>
                        <a:t>Record duration</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May differ because mapped bit rates differ</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15</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ILLUSTRATIVE RECORDS UNDER THE MATCHED CONDITIONS; CALCULATE BEFORE CHOOSING</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Which candidate meets BOTH requirements?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Require mapped rate &gt;= 150 kbit/s AND BER &lt;= 0.001.</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3627120"/>
                <a:gridCol w="3627120"/>
                <a:gridCol w="3627120"/>
              </a:tblGrid>
              <a:tr h="811530">
                <a:tc>
                  <a:txBody>
                    <a:bodyPr/>
                    <a:lstStyle/>
                    <a:p>
                      <a:r>
                        <a:rPr sz="1800" b="1">
                          <a:solidFill>
                            <a:srgbClr val="FFFFFF"/>
                          </a:solidFill>
                          <a:latin typeface="Aptos"/>
                        </a:rPr>
                        <a:t>Modulation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Mapped rate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Errors / compared bits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QPSK</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 kbit/s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100 / 1,000,000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16-QAM</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200 kbit/s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800 / 1,000,000</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811530">
                <a:tc>
                  <a:txBody>
                    <a:bodyPr/>
                    <a:lstStyle/>
                    <a:p>
                      <a:r>
                        <a:rPr sz="1800">
                          <a:solidFill>
                            <a:srgbClr val="182028"/>
                          </a:solidFill>
                          <a:latin typeface="Aptos"/>
                        </a:rPr>
                        <a:t>64-QAM</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300 kbit/s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12,000 / 1,000,000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16</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CHOOSE FROM THE REQUIREMENTS AND THE RECORD, THEN RETEST IF CONDITIONS CHANGE.</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16-QAM meets this tested requirement</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9" cy="4160520"/>
        </p:xfrm>
        <a:graphic>
          <a:graphicData uri="http://schemas.openxmlformats.org/drawingml/2006/table">
            <a:tbl>
              <a:tblPr firstRow="1" bandRow="1">
                <a:tableStyleId>{5C22544A-7EE6-4342-B048-85BDC9FD1C3A}</a:tableStyleId>
              </a:tblPr>
              <a:tblGrid>
                <a:gridCol w="1741017"/>
                <a:gridCol w="3264408"/>
                <a:gridCol w="5875934"/>
              </a:tblGrid>
              <a:tr h="1040130">
                <a:tc>
                  <a:txBody>
                    <a:bodyPr/>
                    <a:lstStyle/>
                    <a:p>
                      <a:r>
                        <a:rPr sz="1700" b="1">
                          <a:solidFill>
                            <a:srgbClr val="FFFFFF"/>
                          </a:solidFill>
                          <a:latin typeface="Aptos"/>
                        </a:rPr>
                        <a:t>Candidate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Measured BER</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Combined decision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QPSK</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0.0001 = 1 x 10^-4</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Error limit passes; mapped rate fails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16-QAM</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0.0008 = 8 x 10^-4</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Both pass: 200 kbit/s and BER &lt;= 0.001</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64-QAM</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0.012 = 1.2 x 10^-2</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Mapped rate passes; error limit fails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17</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A PHYSICAL-LAYER CYBERSECURITY CONNECTION</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A corrupted command can become an outage</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58368" y="2057400"/>
            <a:ext cx="2617470"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057400"/>
            <a:ext cx="2617470" cy="841248"/>
          </a:xfrm>
          <a:prstGeom prst="rect">
            <a:avLst/>
          </a:prstGeom>
          <a:noFill/>
        </p:spPr>
        <p:txBody>
          <a:bodyPr wrap="square" lIns="27432" rIns="27432" tIns="27432" bIns="27432" anchor="ctr">
            <a:spAutoFit/>
          </a:bodyPr>
          <a:lstStyle/>
          <a:p>
            <a:pPr algn="ctr"/>
            <a:r>
              <a:rPr sz="1250" b="1" i="0">
                <a:solidFill>
                  <a:srgbClr val="FFFFFF"/>
                </a:solidFill>
                <a:latin typeface="Aptos"/>
              </a:rPr>
              <a:t>Interference</a:t>
            </a:r>
          </a:p>
        </p:txBody>
      </p:sp>
      <p:sp>
        <p:nvSpPr>
          <p:cNvPr id="15" name="Chevron 14"/>
          <p:cNvSpPr/>
          <p:nvPr/>
        </p:nvSpPr>
        <p:spPr>
          <a:xfrm>
            <a:off x="3294126"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412998" y="2057400"/>
            <a:ext cx="2617470"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412998" y="2057400"/>
            <a:ext cx="2617470" cy="841248"/>
          </a:xfrm>
          <a:prstGeom prst="rect">
            <a:avLst/>
          </a:prstGeom>
          <a:noFill/>
        </p:spPr>
        <p:txBody>
          <a:bodyPr wrap="square" lIns="27432" rIns="27432" tIns="27432" bIns="27432" anchor="ctr">
            <a:spAutoFit/>
          </a:bodyPr>
          <a:lstStyle/>
          <a:p>
            <a:pPr algn="ctr"/>
            <a:r>
              <a:rPr sz="1250" b="1" i="0">
                <a:solidFill>
                  <a:srgbClr val="FFFFFF"/>
                </a:solidFill>
                <a:latin typeface="Aptos"/>
              </a:rPr>
              <a:t>Bit errors</a:t>
            </a:r>
          </a:p>
        </p:txBody>
      </p:sp>
      <p:sp>
        <p:nvSpPr>
          <p:cNvPr id="18" name="Chevron 17"/>
          <p:cNvSpPr/>
          <p:nvPr/>
        </p:nvSpPr>
        <p:spPr>
          <a:xfrm>
            <a:off x="6048756"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67628" y="2057400"/>
            <a:ext cx="2617470" cy="841248"/>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67628" y="2057400"/>
            <a:ext cx="2617470" cy="841248"/>
          </a:xfrm>
          <a:prstGeom prst="rect">
            <a:avLst/>
          </a:prstGeom>
          <a:noFill/>
        </p:spPr>
        <p:txBody>
          <a:bodyPr wrap="square" lIns="27432" rIns="27432" tIns="27432" bIns="27432" anchor="ctr">
            <a:spAutoFit/>
          </a:bodyPr>
          <a:lstStyle/>
          <a:p>
            <a:pPr algn="ctr"/>
            <a:r>
              <a:rPr sz="1250" b="1" i="0">
                <a:solidFill>
                  <a:srgbClr val="FFFFFF"/>
                </a:solidFill>
                <a:latin typeface="Aptos"/>
              </a:rPr>
              <a:t>Frame fails</a:t>
            </a:r>
          </a:p>
        </p:txBody>
      </p:sp>
      <p:sp>
        <p:nvSpPr>
          <p:cNvPr id="21" name="Chevron 20"/>
          <p:cNvSpPr/>
          <p:nvPr/>
        </p:nvSpPr>
        <p:spPr>
          <a:xfrm>
            <a:off x="8803386" y="2359152"/>
            <a:ext cx="100584" cy="228600"/>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922258" y="2057400"/>
            <a:ext cx="2617470" cy="841248"/>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2258" y="2057400"/>
            <a:ext cx="2617470" cy="841248"/>
          </a:xfrm>
          <a:prstGeom prst="rect">
            <a:avLst/>
          </a:prstGeom>
          <a:noFill/>
        </p:spPr>
        <p:txBody>
          <a:bodyPr wrap="square" lIns="27432" rIns="27432" tIns="27432" bIns="27432" anchor="ctr">
            <a:spAutoFit/>
          </a:bodyPr>
          <a:lstStyle/>
          <a:p>
            <a:pPr algn="ctr"/>
            <a:r>
              <a:rPr sz="1250" b="1" i="0">
                <a:solidFill>
                  <a:srgbClr val="FFFFFF"/>
                </a:solidFill>
                <a:latin typeface="Aptos"/>
              </a:rPr>
              <a:t>Retry / timeout</a:t>
            </a:r>
          </a:p>
        </p:txBody>
      </p:sp>
      <p:sp>
        <p:nvSpPr>
          <p:cNvPr id="24" name="Oval 23"/>
          <p:cNvSpPr/>
          <p:nvPr/>
        </p:nvSpPr>
        <p:spPr>
          <a:xfrm>
            <a:off x="1051560" y="3888760"/>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71016" y="3703320"/>
            <a:ext cx="9747504" cy="772668"/>
          </a:xfrm>
          <a:prstGeom prst="rect">
            <a:avLst/>
          </a:prstGeom>
          <a:noFill/>
        </p:spPr>
        <p:txBody>
          <a:bodyPr wrap="square" lIns="0" rIns="0" tIns="0" bIns="0" anchor="ctr">
            <a:spAutoFit/>
          </a:bodyPr>
          <a:lstStyle/>
          <a:p>
            <a:pPr algn="l"/>
            <a:r>
              <a:rPr sz="1700" b="0" i="0">
                <a:solidFill>
                  <a:srgbClr val="182028"/>
                </a:solidFill>
                <a:latin typeface="Aptos"/>
              </a:rPr>
              <a:t>A legitimate door command can fail to arrive correctly: an availability problem.</a:t>
            </a:r>
          </a:p>
        </p:txBody>
      </p:sp>
      <p:sp>
        <p:nvSpPr>
          <p:cNvPr id="26" name="Oval 25"/>
          <p:cNvSpPr/>
          <p:nvPr/>
        </p:nvSpPr>
        <p:spPr>
          <a:xfrm>
            <a:off x="1051560" y="4807732"/>
            <a:ext cx="100584" cy="100584"/>
          </a:xfrm>
          <a:prstGeom prst="ellipse">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71016" y="4622292"/>
            <a:ext cx="9747504" cy="772668"/>
          </a:xfrm>
          <a:prstGeom prst="rect">
            <a:avLst/>
          </a:prstGeom>
          <a:noFill/>
        </p:spPr>
        <p:txBody>
          <a:bodyPr wrap="square" lIns="0" rIns="0" tIns="0" bIns="0" anchor="ctr">
            <a:spAutoFit/>
          </a:bodyPr>
          <a:lstStyle/>
          <a:p>
            <a:pPr algn="l"/>
            <a:r>
              <a:rPr sz="1700" b="0" i="0">
                <a:solidFill>
                  <a:srgbClr val="182028"/>
                </a:solidFill>
                <a:latin typeface="Aptos"/>
              </a:rPr>
              <a:t>A more robust mode may help, but must still meet the required service rate.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18</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INVESTIGATE CAUSES; KEEP DELIVERY MEASUREMENTS SEPARATE FROM TRUST CHECKS.</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Link evidence has limits</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nvGraphicFramePr>
        <p:xfrm>
          <a:off x="658368" y="1737360"/>
          <a:ext cx="10881358" cy="4160520"/>
        </p:xfrm>
        <a:graphic>
          <a:graphicData uri="http://schemas.openxmlformats.org/drawingml/2006/table">
            <a:tbl>
              <a:tblPr firstRow="1" bandRow="1">
                <a:tableStyleId>{5C22544A-7EE6-4342-B048-85BDC9FD1C3A}</a:tableStyleId>
              </a:tblPr>
              <a:tblGrid>
                <a:gridCol w="3373221"/>
                <a:gridCol w="3699662"/>
                <a:gridCol w="3808475"/>
              </a:tblGrid>
              <a:tr h="1040130">
                <a:tc>
                  <a:txBody>
                    <a:bodyPr/>
                    <a:lstStyle/>
                    <a:p>
                      <a:r>
                        <a:rPr sz="1700" b="1">
                          <a:solidFill>
                            <a:srgbClr val="FFFFFF"/>
                          </a:solidFill>
                          <a:latin typeface="Aptos"/>
                        </a:rPr>
                        <a:t>Observation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Supported conclusion</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b="1">
                          <a:solidFill>
                            <a:srgbClr val="FFFFFF"/>
                          </a:solidFill>
                          <a:latin typeface="Aptos"/>
                        </a:rPr>
                        <a:t>Still not established</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BER rose in a matched test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More recovered bits were wrong</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Attacker identity or deliberate intent</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Clouds spread around ideal states</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Larger received position variation</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One unique impairment or cause</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40130">
                <a:tc>
                  <a:txBody>
                    <a:bodyPr/>
                    <a:lstStyle/>
                    <a:p>
                      <a:r>
                        <a:rPr sz="1700">
                          <a:solidFill>
                            <a:srgbClr val="182028"/>
                          </a:solidFill>
                          <a:latin typeface="Aptos"/>
                        </a:rPr>
                        <a:t>Received bits match transmitted bits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Accurate delivery in this record</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700">
                          <a:solidFill>
                            <a:srgbClr val="182028"/>
                          </a:solidFill>
                          <a:latin typeface="Aptos"/>
                        </a:rPr>
                        <a:t>Sender authorization or freshness</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19</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CALCULATE THE MAPPED RATE AND BER; STATE ONE LIMIT OF YOUR ANSWER</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Practice: choose at 25 kbaud</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1783080"/>
            <a:ext cx="10698480" cy="594360"/>
          </a:xfrm>
          <a:prstGeom prst="rect">
            <a:avLst/>
          </a:prstGeom>
          <a:noFill/>
        </p:spPr>
        <p:txBody>
          <a:bodyPr wrap="square" lIns="0" rIns="0" tIns="0" bIns="0" anchor="t">
            <a:spAutoFit/>
          </a:bodyPr>
          <a:lstStyle/>
          <a:p>
            <a:pPr algn="l"/>
            <a:r>
              <a:rPr sz="2200" b="1" i="0">
                <a:solidFill>
                  <a:srgbClr val="17324D"/>
                </a:solidFill>
                <a:latin typeface="Aptos"/>
              </a:rPr>
              <a:t>Require mapped rate &gt;= 75 kbit/s AND BER &lt;= 0.001.</a:t>
            </a:r>
          </a:p>
        </p:txBody>
      </p:sp>
      <p:graphicFrame>
        <p:nvGraphicFramePr>
          <p:cNvPr id="14" name="Table 13"/>
          <p:cNvGraphicFramePr>
            <a:graphicFrameLocks noGrp="1"/>
          </p:cNvGraphicFramePr>
          <p:nvPr/>
        </p:nvGraphicFramePr>
        <p:xfrm>
          <a:off x="658368" y="2606040"/>
          <a:ext cx="10881360" cy="3246120"/>
        </p:xfrm>
        <a:graphic>
          <a:graphicData uri="http://schemas.openxmlformats.org/drawingml/2006/table">
            <a:tbl>
              <a:tblPr firstRow="1" bandRow="1">
                <a:tableStyleId>{5C22544A-7EE6-4342-B048-85BDC9FD1C3A}</a:tableStyleId>
              </a:tblPr>
              <a:tblGrid>
                <a:gridCol w="3627120"/>
                <a:gridCol w="3627120"/>
                <a:gridCol w="3627120"/>
              </a:tblGrid>
              <a:tr h="1082040">
                <a:tc>
                  <a:txBody>
                    <a:bodyPr/>
                    <a:lstStyle/>
                    <a:p>
                      <a:r>
                        <a:rPr sz="1800" b="1">
                          <a:solidFill>
                            <a:srgbClr val="FFFFFF"/>
                          </a:solidFill>
                          <a:latin typeface="Aptos"/>
                        </a:rPr>
                        <a:t>Candidate</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Errors / compared bits</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b="1">
                          <a:solidFill>
                            <a:srgbClr val="FFFFFF"/>
                          </a:solidFill>
                          <a:latin typeface="Aptos"/>
                        </a:rPr>
                        <a:t>Find and justify</a:t>
                      </a:r>
                    </a:p>
                  </a:txBody>
                  <a:tcPr marL="82296" marR="82296" marT="54864" marB="36576">
                    <a:solidFill>
                      <a:srgbClr val="17324D"/>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QPSK</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10 / 100,000</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Mapped rate and BER</a:t>
                      </a:r>
                    </a:p>
                  </a:txBody>
                  <a:tcPr marL="82296" marR="82296" marT="45720" marB="27432">
                    <a:solidFill>
                      <a:srgbClr val="FBF9F4"/>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r h="1082040">
                <a:tc>
                  <a:txBody>
                    <a:bodyPr/>
                    <a:lstStyle/>
                    <a:p>
                      <a:r>
                        <a:rPr sz="1800">
                          <a:solidFill>
                            <a:srgbClr val="182028"/>
                          </a:solidFill>
                          <a:latin typeface="Aptos"/>
                        </a:rPr>
                        <a:t>16-QAM</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60 / 100,000</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c>
                  <a:txBody>
                    <a:bodyPr/>
                    <a:lstStyle/>
                    <a:p>
                      <a:r>
                        <a:rPr sz="1800">
                          <a:solidFill>
                            <a:srgbClr val="182028"/>
                          </a:solidFill>
                          <a:latin typeface="Aptos"/>
                        </a:rPr>
                        <a:t>Mapped rate and BER</a:t>
                      </a:r>
                    </a:p>
                  </a:txBody>
                  <a:tcPr marL="82296" marR="82296" marT="45720" marB="27432">
                    <a:solidFill>
                      <a:srgbClr val="E3EBF1"/>
                    </a:solidFill>
                    <a:lnL w="9000">
                      <a:solidFill>
                        <a:srgbClr val="CCD1D0"/>
                      </a:solidFill>
                      <a:prstDash val="solid"/>
                    </a:lnL>
                    <a:lnR w="9000">
                      <a:solidFill>
                        <a:srgbClr val="CCD1D0"/>
                      </a:solidFill>
                      <a:prstDash val="solid"/>
                    </a:lnR>
                    <a:lnT w="9000">
                      <a:solidFill>
                        <a:srgbClr val="CCD1D0"/>
                      </a:solidFill>
                      <a:prstDash val="solid"/>
                    </a:lnT>
                    <a:lnB w="9000">
                      <a:solidFill>
                        <a:srgbClr val="CCD1D0"/>
                      </a:solidFill>
                      <a:prstDash val="solid"/>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8"/>
        </a:solidFill>
        <a:effectLst/>
      </p:bgPr>
    </p:bg>
    <p:spTree>
      <p:nvGrpSpPr>
        <p:cNvPr id="1" name=""/>
        <p:cNvGrpSpPr/>
        <p:nvPr/>
      </p:nvGrpSpPr>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rIns="0" tIns="0" bIns="0" anchor="t">
            <a:spAutoFit/>
          </a:bodyPr>
          <a:lstStyle/>
          <a:p>
            <a:pPr algn="l"/>
            <a:r>
              <a:rPr sz="850" b="1" i="0">
                <a:solidFill>
                  <a:srgbClr val="5F6B73"/>
                </a:solidFill>
                <a:latin typeface="Aptos"/>
              </a:rPr>
              <a:t>LECTURE 23 | QAM PRBS BER AND LINK METRIC</a:t>
            </a:r>
          </a:p>
        </p:txBody>
      </p:sp>
      <p:sp>
        <p:nvSpPr>
          <p:cNvPr id="9" name="TextBox 8"/>
          <p:cNvSpPr txBox="1"/>
          <p:nvPr/>
        </p:nvSpPr>
        <p:spPr>
          <a:xfrm>
            <a:off x="11018520" y="6419088"/>
            <a:ext cx="594360" cy="228600"/>
          </a:xfrm>
          <a:prstGeom prst="rect">
            <a:avLst/>
          </a:prstGeom>
          <a:noFill/>
        </p:spPr>
        <p:txBody>
          <a:bodyPr wrap="square" lIns="0" rIns="0" tIns="0" bIns="0" anchor="t">
            <a:spAutoFit/>
          </a:bodyPr>
          <a:lstStyle/>
          <a:p>
            <a:pPr algn="r"/>
            <a:r>
              <a:rPr sz="1000" b="1" i="0">
                <a:solidFill>
                  <a:srgbClr val="5F6B73"/>
                </a:solidFill>
                <a:latin typeface="Aptos"/>
              </a:rPr>
              <a:t>20</a:t>
            </a:r>
          </a:p>
        </p:txBody>
      </p:sp>
      <p:sp>
        <p:nvSpPr>
          <p:cNvPr id="10" name="TextBox 9"/>
          <p:cNvSpPr txBox="1"/>
          <p:nvPr/>
        </p:nvSpPr>
        <p:spPr>
          <a:xfrm>
            <a:off x="621792" y="384048"/>
            <a:ext cx="10881360" cy="292608"/>
          </a:xfrm>
          <a:prstGeom prst="rect">
            <a:avLst/>
          </a:prstGeom>
          <a:noFill/>
        </p:spPr>
        <p:txBody>
          <a:bodyPr wrap="square" lIns="0" rIns="0" tIns="0" bIns="0" anchor="t">
            <a:spAutoFit/>
          </a:bodyPr>
          <a:lstStyle/>
          <a:p>
            <a:pPr algn="l"/>
            <a:r>
              <a:rPr sz="1050" b="1" i="0">
                <a:solidFill>
                  <a:srgbClr val="0F6D74"/>
                </a:solidFill>
                <a:latin typeface="Aptos"/>
              </a:rPr>
              <a:t>CHECK UNDERSTANDING</a:t>
            </a:r>
          </a:p>
        </p:txBody>
      </p:sp>
      <p:sp>
        <p:nvSpPr>
          <p:cNvPr id="11" name="TextBox 10"/>
          <p:cNvSpPr txBox="1"/>
          <p:nvPr/>
        </p:nvSpPr>
        <p:spPr>
          <a:xfrm>
            <a:off x="594360" y="749808"/>
            <a:ext cx="10881360" cy="685800"/>
          </a:xfrm>
          <a:prstGeom prst="rect">
            <a:avLst/>
          </a:prstGeom>
          <a:noFill/>
        </p:spPr>
        <p:txBody>
          <a:bodyPr wrap="square" lIns="0" rIns="0" tIns="0" bIns="0" anchor="t">
            <a:spAutoFit/>
          </a:bodyPr>
          <a:lstStyle/>
          <a:p>
            <a:pPr algn="l"/>
            <a:r>
              <a:rPr sz="2900" b="1" i="0">
                <a:solidFill>
                  <a:srgbClr val="17324D"/>
                </a:solidFill>
                <a:latin typeface="Aptos Display"/>
              </a:rPr>
              <a:t>Explain the next step</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1828800"/>
            <a:ext cx="10469880" cy="1417320"/>
          </a:xfrm>
          <a:prstGeom prst="rect">
            <a:avLst/>
          </a:prstGeom>
          <a:noFill/>
        </p:spPr>
        <p:txBody>
          <a:bodyPr wrap="square" lIns="0" rIns="0" tIns="0" bIns="0" anchor="ctr">
            <a:spAutoFit/>
          </a:bodyPr>
          <a:lstStyle/>
          <a:p>
            <a:pPr algn="ctr"/>
            <a:r>
              <a:rPr sz="3000" b="1" i="0">
                <a:solidFill>
                  <a:srgbClr val="17324D"/>
                </a:solidFill>
                <a:latin typeface="Aptos Display"/>
              </a:rPr>
              <a:t>Why did 16-QAM win today's comparison?</a:t>
            </a:r>
          </a:p>
        </p:txBody>
      </p:sp>
      <p:sp>
        <p:nvSpPr>
          <p:cNvPr id="14" name="TextBox 13"/>
          <p:cNvSpPr txBox="1"/>
          <p:nvPr/>
        </p:nvSpPr>
        <p:spPr>
          <a:xfrm>
            <a:off x="1828800" y="3520440"/>
            <a:ext cx="8503920" cy="822960"/>
          </a:xfrm>
          <a:prstGeom prst="rect">
            <a:avLst/>
          </a:prstGeom>
          <a:noFill/>
        </p:spPr>
        <p:txBody>
          <a:bodyPr wrap="square" lIns="0" rIns="0" tIns="0" bIns="0" anchor="ctr">
            <a:spAutoFit/>
          </a:bodyPr>
          <a:lstStyle/>
          <a:p>
            <a:pPr algn="ctr"/>
            <a:r>
              <a:rPr sz="1800" b="0" i="0">
                <a:solidFill>
                  <a:srgbClr val="5F6B73"/>
                </a:solidFill>
                <a:latin typeface="Aptos"/>
              </a:rPr>
              <a:t>Give both the mapped rate and measured BER. Explain why neither the largest rate nor the fewest errors alone settles the design.</a:t>
            </a:r>
          </a:p>
        </p:txBody>
      </p:sp>
      <p:sp>
        <p:nvSpPr>
          <p:cNvPr id="15" name="Rounded Rectangle 14"/>
          <p:cNvSpPr/>
          <p:nvPr/>
        </p:nvSpPr>
        <p:spPr>
          <a:xfrm>
            <a:off x="3657600" y="4892040"/>
            <a:ext cx="484632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4892040"/>
            <a:ext cx="4846320" cy="420624"/>
          </a:xfrm>
          <a:prstGeom prst="rect">
            <a:avLst/>
          </a:prstGeom>
          <a:noFill/>
        </p:spPr>
        <p:txBody>
          <a:bodyPr wrap="square" lIns="18288" rIns="18288" tIns="18288" bIns="18288" anchor="ctr">
            <a:spAutoFit/>
          </a:bodyPr>
          <a:lstStyle/>
          <a:p>
            <a:pPr algn="ctr"/>
            <a:r>
              <a:rPr sz="1150" b="1" i="0">
                <a:solidFill>
                  <a:srgbClr val="FFFFFF"/>
                </a:solidFill>
                <a:latin typeface="Aptos"/>
              </a:rPr>
              <a:t>NEXT: OFDM AND SPREAD SPECTRUM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