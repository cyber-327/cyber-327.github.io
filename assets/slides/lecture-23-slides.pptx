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7" r:id="rId3"/>
    <p:sldId id="258" r:id="rId4"/>
    <p:sldId id="259" r:id="rId5"/>
    <p:sldId id="260" r:id="rId6"/>
    <p:sldId id="261" r:id="rId7"/>
    <p:sldId id="263" r:id="rId8"/>
    <p:sldId id="266" r:id="rId9"/>
    <p:sldId id="267" r:id="rId10"/>
    <p:sldId id="270" r:id="rId11"/>
    <p:sldId id="27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1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94"/>
    <p:restoredTop sz="65503"/>
  </p:normalViewPr>
  <p:slideViewPr>
    <p:cSldViewPr snapToGrid="0" snapToObjects="1">
      <p:cViewPr varScale="1">
        <p:scale>
          <a:sx n="75" d="100"/>
          <a:sy n="75" d="100"/>
        </p:scale>
        <p:origin x="2112" y="1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37435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9EB0BC"/>
                </a:solidFill>
                <a:latin typeface="Aptos"/>
              </a:rPr>
              <a:t>LECTURE 23 | QAM PRBS BER AND LINK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9EB0BC"/>
                </a:solidFill>
                <a:latin typeface="Apto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62C6C8"/>
                </a:solidFill>
                <a:latin typeface="Aptos"/>
              </a:rPr>
              <a:t>CYBER 327  /  LECTURE 23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152144"/>
            <a:ext cx="1371600" cy="0"/>
          </a:xfrm>
          <a:prstGeom prst="line">
            <a:avLst/>
          </a:prstGeom>
          <a:ln w="508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481328"/>
            <a:ext cx="996696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ptos Display"/>
              </a:rPr>
              <a:t>QAM, PRBS, BER, and Link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182112"/>
            <a:ext cx="8961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D6E1E7"/>
                </a:solidFill>
                <a:latin typeface="Aptos"/>
              </a:rPr>
              <a:t>The receiver produces bits. How do we know they are right?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5230368"/>
            <a:ext cx="196596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5230368"/>
            <a:ext cx="196596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MONDAY, OCTOBER 26, 2026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086600" y="4574286"/>
            <a:ext cx="346710" cy="22082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7433310" y="4679899"/>
            <a:ext cx="346710" cy="115214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80020" y="4679899"/>
            <a:ext cx="346710" cy="566471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126730" y="4929530"/>
            <a:ext cx="346710" cy="31684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473440" y="4929530"/>
            <a:ext cx="346710" cy="48006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820150" y="4766310"/>
            <a:ext cx="346710" cy="64328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166860" y="4766310"/>
            <a:ext cx="346710" cy="31683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9513570" y="4641494"/>
            <a:ext cx="346710" cy="44165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860280" y="4641494"/>
            <a:ext cx="346710" cy="51846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0206990" y="4871923"/>
            <a:ext cx="346710" cy="288036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553700" y="4871923"/>
            <a:ext cx="346710" cy="46085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900410" y="4699101"/>
            <a:ext cx="346710" cy="63367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SYSTEM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700" b="1" i="0" dirty="0">
                <a:solidFill>
                  <a:srgbClr val="17324D"/>
                </a:solidFill>
                <a:latin typeface="Aptos Display"/>
              </a:rPr>
              <a:t>Components of all Communication Systems</a:t>
            </a:r>
            <a:endParaRPr sz="27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1892" y="1969173"/>
            <a:ext cx="1865376" cy="566926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1892" y="2128756"/>
            <a:ext cx="1865376" cy="247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 dirty="0">
                <a:solidFill>
                  <a:srgbClr val="FFFFFF"/>
                </a:solidFill>
                <a:latin typeface="Aptos"/>
              </a:rPr>
              <a:t>Message</a:t>
            </a:r>
          </a:p>
        </p:txBody>
      </p:sp>
      <p:sp>
        <p:nvSpPr>
          <p:cNvPr id="15" name="Chevron 14"/>
          <p:cNvSpPr/>
          <p:nvPr/>
        </p:nvSpPr>
        <p:spPr>
          <a:xfrm>
            <a:off x="2261036" y="2171036"/>
            <a:ext cx="90792" cy="154056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962656" y="2194561"/>
            <a:ext cx="1865376" cy="566926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62656" y="2354144"/>
            <a:ext cx="1865376" cy="247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 dirty="0">
                <a:solidFill>
                  <a:srgbClr val="FFFFFF"/>
                </a:solidFill>
                <a:latin typeface="Aptos"/>
              </a:rPr>
              <a:t>Transmitter</a:t>
            </a:r>
          </a:p>
        </p:txBody>
      </p:sp>
      <p:sp>
        <p:nvSpPr>
          <p:cNvPr id="18" name="Chevron 17"/>
          <p:cNvSpPr/>
          <p:nvPr/>
        </p:nvSpPr>
        <p:spPr>
          <a:xfrm>
            <a:off x="4951800" y="2396424"/>
            <a:ext cx="90792" cy="154056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128840" y="3020084"/>
            <a:ext cx="1865376" cy="566926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236140" y="3179667"/>
            <a:ext cx="1650776" cy="247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Medium</a:t>
            </a:r>
          </a:p>
        </p:txBody>
      </p:sp>
      <p:sp>
        <p:nvSpPr>
          <p:cNvPr id="21" name="Chevron 20"/>
          <p:cNvSpPr/>
          <p:nvPr/>
        </p:nvSpPr>
        <p:spPr>
          <a:xfrm>
            <a:off x="7155504" y="3273371"/>
            <a:ext cx="90792" cy="154056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370064" y="2194561"/>
            <a:ext cx="1865376" cy="566926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77364" y="2354144"/>
            <a:ext cx="1650776" cy="247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Receiver</a:t>
            </a:r>
          </a:p>
        </p:txBody>
      </p:sp>
      <p:sp>
        <p:nvSpPr>
          <p:cNvPr id="24" name="Chevron 23"/>
          <p:cNvSpPr/>
          <p:nvPr/>
        </p:nvSpPr>
        <p:spPr>
          <a:xfrm>
            <a:off x="9359208" y="2396424"/>
            <a:ext cx="90792" cy="154056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573768" y="2194561"/>
            <a:ext cx="1865376" cy="566926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573768" y="2354144"/>
            <a:ext cx="1865376" cy="247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Recovered message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0" y="5650992"/>
            <a:ext cx="576072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0" y="5754351"/>
            <a:ext cx="5760720" cy="21390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lang="en-US" sz="1150" b="1" i="0" dirty="0">
                <a:solidFill>
                  <a:srgbClr val="FFFFFF"/>
                </a:solidFill>
                <a:latin typeface="Aptos"/>
              </a:rPr>
              <a:t>EVERY BLOCK TRANSFORMS, TRANSPORTS, OR INTERPRETS A PHYSICAL SIGNAL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6DE57B6-709F-0B76-7379-0C6EC8EED2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55706" y="2731944"/>
            <a:ext cx="3999300" cy="266620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E87F4398-806A-E781-F7F8-7911BFE6ED6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 flipH="1">
            <a:off x="7489755" y="2791206"/>
            <a:ext cx="3686175" cy="24574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23 | QAM PRBS BER AND LINK 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R_B = R_S LOG2(M). BEFORE CODING, FRAMING AND RETRY DEDUCTIONS.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Warm-up: same baud, different mapped rates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1737360"/>
          <a:ext cx="108813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013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tos"/>
                        </a:rPr>
                        <a:t>Modulation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tos"/>
                        </a:rPr>
                        <a:t>Bits per symbol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tos"/>
                        </a:rPr>
                        <a:t>At 50,000 symbols/s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QPSK: 4 states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log2(4) = 2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100 kbit/s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16-QAM: 16 states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log2(16) = 4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200 kbit/s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64-QAM: 64 states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log2(64) = 6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300 kbit/s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23 | QAM PRBS BER AND LINK 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RECALL LECTURE 22: COMPARE AT EQUAL AVERAGE SYMBOL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More bits per symbol, less decision margin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77240" y="169164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>
                <a:solidFill>
                  <a:srgbClr val="17324D"/>
                </a:solidFill>
                <a:latin typeface="Aptos"/>
              </a:rPr>
              <a:t>QPSK: 4 states / 2 bits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371600" y="3749039"/>
            <a:ext cx="3383280" cy="0"/>
          </a:xfrm>
          <a:prstGeom prst="line">
            <a:avLst/>
          </a:prstGeom>
          <a:ln w="12700">
            <a:solidFill>
              <a:srgbClr val="5F6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63240" y="2285999"/>
            <a:ext cx="0" cy="2926080"/>
          </a:xfrm>
          <a:prstGeom prst="line">
            <a:avLst/>
          </a:prstGeom>
          <a:ln w="12700">
            <a:solidFill>
              <a:srgbClr val="5F6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800600" y="3639311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Aptos"/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72968" y="221284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Aptos"/>
              </a:rPr>
              <a:t>Q</a:t>
            </a:r>
          </a:p>
        </p:txBody>
      </p:sp>
      <p:sp>
        <p:nvSpPr>
          <p:cNvPr id="18" name="Oval 17"/>
          <p:cNvSpPr/>
          <p:nvPr/>
        </p:nvSpPr>
        <p:spPr>
          <a:xfrm>
            <a:off x="2135495" y="4567056"/>
            <a:ext cx="109728" cy="109728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135495" y="2821295"/>
            <a:ext cx="109728" cy="109728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3881256" y="4567056"/>
            <a:ext cx="109728" cy="109728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3881256" y="2821295"/>
            <a:ext cx="109728" cy="109728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63640" y="169164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>
                <a:solidFill>
                  <a:srgbClr val="17324D"/>
                </a:solidFill>
                <a:latin typeface="Aptos"/>
              </a:rPr>
              <a:t>16-QAM: 16 states / 4 bits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0" y="3749039"/>
            <a:ext cx="3383280" cy="0"/>
          </a:xfrm>
          <a:prstGeom prst="line">
            <a:avLst/>
          </a:prstGeom>
          <a:ln w="12700">
            <a:solidFill>
              <a:srgbClr val="5F6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549640" y="2285999"/>
            <a:ext cx="0" cy="2926080"/>
          </a:xfrm>
          <a:prstGeom prst="line">
            <a:avLst/>
          </a:prstGeom>
          <a:ln w="12700">
            <a:solidFill>
              <a:srgbClr val="5F6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287000" y="3639311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Aptos"/>
              </a:rPr>
              <a:t>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9367" y="221284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Aptos"/>
              </a:rPr>
              <a:t>Q</a:t>
            </a:r>
          </a:p>
        </p:txBody>
      </p:sp>
      <p:sp>
        <p:nvSpPr>
          <p:cNvPr id="27" name="Oval 26"/>
          <p:cNvSpPr/>
          <p:nvPr/>
        </p:nvSpPr>
        <p:spPr>
          <a:xfrm>
            <a:off x="7323683" y="4865268"/>
            <a:ext cx="109728" cy="109728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323683" y="4084540"/>
            <a:ext cx="109728" cy="109728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7323683" y="3303811"/>
            <a:ext cx="109728" cy="109728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7323683" y="2523083"/>
            <a:ext cx="109728" cy="109728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104411" y="4865268"/>
            <a:ext cx="109728" cy="109728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8104411" y="4084540"/>
            <a:ext cx="109728" cy="109728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8104411" y="3303811"/>
            <a:ext cx="109728" cy="109728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104411" y="2523083"/>
            <a:ext cx="109728" cy="109728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8885140" y="4865268"/>
            <a:ext cx="109728" cy="109728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885140" y="4084540"/>
            <a:ext cx="109728" cy="109728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885140" y="3303811"/>
            <a:ext cx="109728" cy="109728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8885140" y="2523083"/>
            <a:ext cx="109728" cy="109728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9665868" y="4865268"/>
            <a:ext cx="109728" cy="109728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9665868" y="4084540"/>
            <a:ext cx="109728" cy="109728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9665868" y="3303811"/>
            <a:ext cx="109728" cy="109728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9665868" y="2523083"/>
            <a:ext cx="109728" cy="109728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77240" y="54406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 dirty="0">
                <a:solidFill>
                  <a:srgbClr val="17324D"/>
                </a:solidFill>
                <a:latin typeface="Aptos"/>
              </a:rPr>
              <a:t>Same average symbol energy; equally likely states. More points leave less minimum spacing.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A cartoon of a person working on a computer&#10;&#10;Description automatically generated">
            <a:extLst>
              <a:ext uri="{FF2B5EF4-FFF2-40B4-BE49-F238E27FC236}">
                <a16:creationId xmlns:a16="http://schemas.microsoft.com/office/drawing/2014/main" id="{87CCC4DC-A43A-B07D-320C-64999D4DE4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14" t="6900" r="2117" b="3136"/>
          <a:stretch/>
        </p:blipFill>
        <p:spPr>
          <a:xfrm>
            <a:off x="2066544" y="1853502"/>
            <a:ext cx="7856390" cy="3644073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23 | QAM PRBS BER AND LINK 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BUILD THE IDEA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Repeatable </a:t>
            </a:r>
            <a:r>
              <a:rPr sz="2900" b="1" i="0" dirty="0">
                <a:solidFill>
                  <a:srgbClr val="17324D"/>
                </a:solidFill>
                <a:latin typeface="Aptos Display"/>
              </a:rPr>
              <a:t>test data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33272" y="4631626"/>
            <a:ext cx="3703320" cy="160020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033272" y="4631626"/>
            <a:ext cx="82296" cy="16002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61872" y="4796218"/>
            <a:ext cx="329184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i="0" dirty="0">
                <a:solidFill>
                  <a:srgbClr val="17324D"/>
                </a:solidFill>
                <a:latin typeface="Aptos"/>
              </a:rPr>
              <a:t>PRBS</a:t>
            </a:r>
            <a:endParaRPr sz="22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261872" y="5235130"/>
            <a:ext cx="3291840" cy="79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Pseudorandom Binary Sequence looks random-looking but reproducible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23 | QAM PRBS BER AND LINK 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F6D74"/>
                </a:solidFill>
                <a:latin typeface="Aptos"/>
              </a:rPr>
              <a:t>EXAMPLE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BER counts wrong bits as a fraction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834640" y="142100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5F6B73"/>
                </a:solidFill>
                <a:latin typeface="Aptos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34640" y="1969642"/>
            <a:ext cx="640080" cy="685800"/>
          </a:xfrm>
          <a:prstGeom prst="roundRect">
            <a:avLst/>
          </a:prstGeom>
          <a:solidFill>
            <a:srgbClr val="E3EBF1"/>
          </a:solidFill>
          <a:ln w="1270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834640" y="210680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500" b="1" i="0">
                <a:solidFill>
                  <a:srgbClr val="17324D"/>
                </a:solidFill>
                <a:latin typeface="Aptos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34640" y="2929762"/>
            <a:ext cx="640080" cy="685800"/>
          </a:xfrm>
          <a:prstGeom prst="roundRect">
            <a:avLst/>
          </a:prstGeom>
          <a:solidFill>
            <a:srgbClr val="E3EBF1"/>
          </a:solidFill>
          <a:ln w="1270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834640" y="306692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500" b="1" i="0">
                <a:solidFill>
                  <a:srgbClr val="17324D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8" y="142100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5F6B73"/>
                </a:solidFill>
                <a:latin typeface="Aptos"/>
              </a:rPr>
              <a:t>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75888" y="1969642"/>
            <a:ext cx="640080" cy="685800"/>
          </a:xfrm>
          <a:prstGeom prst="roundRect">
            <a:avLst/>
          </a:prstGeom>
          <a:solidFill>
            <a:srgbClr val="E3EBF1"/>
          </a:solidFill>
          <a:ln w="1270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75888" y="210680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500" b="1" i="0">
                <a:solidFill>
                  <a:srgbClr val="17324D"/>
                </a:solidFill>
                <a:latin typeface="Aptos"/>
              </a:rPr>
              <a:t>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2929762"/>
            <a:ext cx="640080" cy="685800"/>
          </a:xfrm>
          <a:prstGeom prst="roundRect">
            <a:avLst/>
          </a:prstGeom>
          <a:solidFill>
            <a:srgbClr val="E3EBF1"/>
          </a:solidFill>
          <a:ln w="1270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75888" y="306692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500" b="1" i="0">
                <a:solidFill>
                  <a:srgbClr val="17324D"/>
                </a:solidFill>
                <a:latin typeface="Aptos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142100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5F6B73"/>
                </a:solidFill>
                <a:latin typeface="Aptos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1969642"/>
            <a:ext cx="640080" cy="685800"/>
          </a:xfrm>
          <a:prstGeom prst="roundRect">
            <a:avLst/>
          </a:prstGeom>
          <a:solidFill>
            <a:srgbClr val="F4E3D8"/>
          </a:solidFill>
          <a:ln w="12700">
            <a:solidFill>
              <a:srgbClr val="D96F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17136" y="210680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500" b="1" i="0">
                <a:solidFill>
                  <a:srgbClr val="17324D"/>
                </a:solidFill>
                <a:latin typeface="Aptos"/>
              </a:rPr>
              <a:t>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17136" y="2929762"/>
            <a:ext cx="640080" cy="685800"/>
          </a:xfrm>
          <a:prstGeom prst="roundRect">
            <a:avLst/>
          </a:prstGeom>
          <a:solidFill>
            <a:srgbClr val="F4E3D8"/>
          </a:solidFill>
          <a:ln w="12700">
            <a:solidFill>
              <a:srgbClr val="D96F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17136" y="306692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500" b="1" i="0">
                <a:solidFill>
                  <a:srgbClr val="17324D"/>
                </a:solidFill>
                <a:latin typeface="Aptos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58384" y="142100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5F6B73"/>
                </a:solidFill>
                <a:latin typeface="Aptos"/>
              </a:rPr>
              <a:t>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58384" y="1969642"/>
            <a:ext cx="640080" cy="685800"/>
          </a:xfrm>
          <a:prstGeom prst="roundRect">
            <a:avLst/>
          </a:prstGeom>
          <a:solidFill>
            <a:srgbClr val="E3EBF1"/>
          </a:solidFill>
          <a:ln w="1270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358384" y="210680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500" b="1" i="0">
                <a:solidFill>
                  <a:srgbClr val="17324D"/>
                </a:solidFill>
                <a:latin typeface="Aptos"/>
              </a:rPr>
              <a:t>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58384" y="2929762"/>
            <a:ext cx="640080" cy="685800"/>
          </a:xfrm>
          <a:prstGeom prst="roundRect">
            <a:avLst/>
          </a:prstGeom>
          <a:solidFill>
            <a:srgbClr val="E3EBF1"/>
          </a:solidFill>
          <a:ln w="1270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58384" y="306692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500" b="1" i="0">
                <a:solidFill>
                  <a:srgbClr val="17324D"/>
                </a:solidFill>
                <a:latin typeface="Aptos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9632" y="142100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5F6B73"/>
                </a:solidFill>
                <a:latin typeface="Aptos"/>
              </a:rPr>
              <a:t>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99632" y="1969642"/>
            <a:ext cx="640080" cy="685800"/>
          </a:xfrm>
          <a:prstGeom prst="roundRect">
            <a:avLst/>
          </a:prstGeom>
          <a:solidFill>
            <a:srgbClr val="E3EBF1"/>
          </a:solidFill>
          <a:ln w="1270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199632" y="210680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500" b="1" i="0">
                <a:solidFill>
                  <a:srgbClr val="17324D"/>
                </a:solidFill>
                <a:latin typeface="Aptos"/>
              </a:rPr>
              <a:t>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99632" y="2929762"/>
            <a:ext cx="640080" cy="685800"/>
          </a:xfrm>
          <a:prstGeom prst="roundRect">
            <a:avLst/>
          </a:prstGeom>
          <a:solidFill>
            <a:srgbClr val="E3EBF1"/>
          </a:solidFill>
          <a:ln w="1270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199632" y="306692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500" b="1" i="0">
                <a:solidFill>
                  <a:srgbClr val="17324D"/>
                </a:solidFill>
                <a:latin typeface="Aptos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142100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5F6B73"/>
                </a:solidFill>
                <a:latin typeface="Aptos"/>
              </a:rPr>
              <a:t>6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040880" y="1969642"/>
            <a:ext cx="640080" cy="685800"/>
          </a:xfrm>
          <a:prstGeom prst="roundRect">
            <a:avLst/>
          </a:prstGeom>
          <a:solidFill>
            <a:srgbClr val="E3EBF1"/>
          </a:solidFill>
          <a:ln w="1270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040880" y="210680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500" b="1" i="0">
                <a:solidFill>
                  <a:srgbClr val="17324D"/>
                </a:solidFill>
                <a:latin typeface="Aptos"/>
              </a:rPr>
              <a:t>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040880" y="2929762"/>
            <a:ext cx="640080" cy="685800"/>
          </a:xfrm>
          <a:prstGeom prst="roundRect">
            <a:avLst/>
          </a:prstGeom>
          <a:solidFill>
            <a:srgbClr val="E3EBF1"/>
          </a:solidFill>
          <a:ln w="1270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040880" y="306692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500" b="1" i="0">
                <a:solidFill>
                  <a:srgbClr val="17324D"/>
                </a:solidFill>
                <a:latin typeface="Aptos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82128" y="142100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5F6B73"/>
                </a:solidFill>
                <a:latin typeface="Aptos"/>
              </a:rPr>
              <a:t>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882128" y="1969642"/>
            <a:ext cx="640080" cy="685800"/>
          </a:xfrm>
          <a:prstGeom prst="roundRect">
            <a:avLst/>
          </a:prstGeom>
          <a:solidFill>
            <a:srgbClr val="F4E3D8"/>
          </a:solidFill>
          <a:ln w="12700">
            <a:solidFill>
              <a:srgbClr val="D96F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882128" y="210680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500" b="1" i="0">
                <a:solidFill>
                  <a:srgbClr val="17324D"/>
                </a:solidFill>
                <a:latin typeface="Aptos"/>
              </a:rPr>
              <a:t>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82128" y="2929762"/>
            <a:ext cx="640080" cy="685800"/>
          </a:xfrm>
          <a:prstGeom prst="roundRect">
            <a:avLst/>
          </a:prstGeom>
          <a:solidFill>
            <a:srgbClr val="F4E3D8"/>
          </a:solidFill>
          <a:ln w="12700">
            <a:solidFill>
              <a:srgbClr val="D96F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882128" y="306692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500" b="1" i="0">
                <a:solidFill>
                  <a:srgbClr val="17324D"/>
                </a:solidFill>
                <a:latin typeface="Aptos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23376" y="142100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5F6B73"/>
                </a:solidFill>
                <a:latin typeface="Aptos"/>
              </a:rPr>
              <a:t>8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23376" y="1969642"/>
            <a:ext cx="640080" cy="685800"/>
          </a:xfrm>
          <a:prstGeom prst="roundRect">
            <a:avLst/>
          </a:prstGeom>
          <a:solidFill>
            <a:srgbClr val="E3EBF1"/>
          </a:solidFill>
          <a:ln w="1270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723376" y="210680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500" b="1" i="0">
                <a:solidFill>
                  <a:srgbClr val="17324D"/>
                </a:solidFill>
                <a:latin typeface="Aptos"/>
              </a:rPr>
              <a:t>1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23376" y="2929762"/>
            <a:ext cx="640080" cy="685800"/>
          </a:xfrm>
          <a:prstGeom prst="roundRect">
            <a:avLst/>
          </a:prstGeom>
          <a:solidFill>
            <a:srgbClr val="E3EBF1"/>
          </a:solidFill>
          <a:ln w="1270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723376" y="306692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500" b="1" i="0">
                <a:solidFill>
                  <a:srgbClr val="17324D"/>
                </a:solidFill>
                <a:latin typeface="Aptos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10680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Aptos"/>
              </a:rPr>
              <a:t>Transmitted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06692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Aptos"/>
              </a:rPr>
              <a:t>Recovered</a:t>
            </a:r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5AEF7F56-83A3-DC1A-0548-D2AD98FB98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6671004"/>
              </p:ext>
            </p:extLst>
          </p:nvPr>
        </p:nvGraphicFramePr>
        <p:xfrm>
          <a:off x="1822366" y="3836798"/>
          <a:ext cx="9219861" cy="20610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2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73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73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5271">
                <a:tc>
                  <a:txBody>
                    <a:bodyPr/>
                    <a:lstStyle/>
                    <a:p>
                      <a:r>
                        <a:rPr sz="1700" b="1" dirty="0">
                          <a:solidFill>
                            <a:srgbClr val="FFFFFF"/>
                          </a:solidFill>
                          <a:latin typeface="Aptos"/>
                        </a:rPr>
                        <a:t>Erroneous / compared bits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tos"/>
                        </a:rPr>
                        <a:t>BER fraction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tos"/>
                        </a:rPr>
                        <a:t>Percentage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5271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2 / 8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0.25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25%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5271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12 / 60,000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0.0002 = 2 x 10^-4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0.02%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5271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12 / 600,000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0.00002 = 2 x 10^-5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dirty="0">
                          <a:solidFill>
                            <a:srgbClr val="182028"/>
                          </a:solidFill>
                          <a:latin typeface="Aptos"/>
                        </a:rPr>
                        <a:t>0.002%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23 | QAM PRBS BER AND LINK 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A WRONG SYMBOL CAN CHANGE ONE OR MORE BITS, DEPENDING ON THE MAPPING.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17324D"/>
                </a:solidFill>
                <a:latin typeface="Aptos Display"/>
              </a:rPr>
              <a:t>Wrong symbols and wrong bits are different counts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7621739"/>
              </p:ext>
            </p:extLst>
          </p:nvPr>
        </p:nvGraphicFramePr>
        <p:xfrm>
          <a:off x="658368" y="1737360"/>
          <a:ext cx="6419765" cy="40663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53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59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185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03989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tos"/>
                        </a:rPr>
                        <a:t>Record / metric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tos"/>
                        </a:rPr>
                        <a:t>Value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tos"/>
                        </a:rPr>
                        <a:t>What is counted?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3989">
                <a:tc>
                  <a:txBody>
                    <a:bodyPr/>
                    <a:lstStyle/>
                    <a:p>
                      <a:r>
                        <a:rPr sz="1700" dirty="0">
                          <a:solidFill>
                            <a:srgbClr val="182028"/>
                          </a:solidFill>
                          <a:latin typeface="Aptos"/>
                        </a:rPr>
                        <a:t>Transmitted QPSK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10 | 11 | 00 | 01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4 symbols / 8 bits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3989">
                <a:tc>
                  <a:txBody>
                    <a:bodyPr/>
                    <a:lstStyle/>
                    <a:p>
                      <a:r>
                        <a:rPr lang="en-US" sz="1700" dirty="0">
                          <a:solidFill>
                            <a:srgbClr val="182028"/>
                          </a:solidFill>
                          <a:latin typeface="Aptos"/>
                        </a:rPr>
                        <a:t>Received</a:t>
                      </a:r>
                      <a:r>
                        <a:rPr sz="1700" dirty="0">
                          <a:solidFill>
                            <a:srgbClr val="182028"/>
                          </a:solidFill>
                          <a:latin typeface="Aptos"/>
                        </a:rPr>
                        <a:t> </a:t>
                      </a:r>
                      <a:r>
                        <a:rPr lang="en-US" sz="1700" dirty="0">
                          <a:solidFill>
                            <a:srgbClr val="182028"/>
                          </a:solidFill>
                          <a:latin typeface="Aptos"/>
                        </a:rPr>
                        <a:t>QPSK</a:t>
                      </a:r>
                      <a:endParaRPr sz="17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10 | 01 | 00 | 11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>
                          <a:solidFill>
                            <a:srgbClr val="182028"/>
                          </a:solidFill>
                          <a:latin typeface="Aptos"/>
                        </a:rPr>
                        <a:t>2 &amp; 4 differ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3989">
                <a:tc>
                  <a:txBody>
                    <a:bodyPr/>
                    <a:lstStyle/>
                    <a:p>
                      <a:r>
                        <a:rPr lang="en-US" sz="1700" dirty="0">
                          <a:solidFill>
                            <a:srgbClr val="182028"/>
                          </a:solidFill>
                          <a:latin typeface="Aptos"/>
                        </a:rPr>
                        <a:t>SER</a:t>
                      </a:r>
                      <a:endParaRPr sz="17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dirty="0">
                          <a:solidFill>
                            <a:srgbClr val="182028"/>
                          </a:solidFill>
                          <a:latin typeface="Aptos"/>
                        </a:rPr>
                        <a:t>2 / 4 = 50%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>
                          <a:solidFill>
                            <a:srgbClr val="182028"/>
                          </a:solidFill>
                          <a:latin typeface="Aptos"/>
                        </a:rPr>
                        <a:t>How reliably the system identifies symbols</a:t>
                      </a:r>
                      <a:endParaRPr sz="17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3989">
                <a:tc>
                  <a:txBody>
                    <a:bodyPr/>
                    <a:lstStyle/>
                    <a:p>
                      <a:r>
                        <a:rPr lang="en-US" sz="1700" dirty="0">
                          <a:solidFill>
                            <a:srgbClr val="182028"/>
                          </a:solidFill>
                          <a:latin typeface="Aptos"/>
                        </a:rPr>
                        <a:t>BER</a:t>
                      </a:r>
                      <a:endParaRPr sz="17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2 / 8 = 25%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>
                          <a:solidFill>
                            <a:srgbClr val="182028"/>
                          </a:solidFill>
                          <a:latin typeface="Aptos"/>
                        </a:rPr>
                        <a:t>How reliably the system recovers bits</a:t>
                      </a:r>
                      <a:endParaRPr sz="17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6DB01D5-93DF-75C5-4F39-A963895E754D}"/>
                  </a:ext>
                </a:extLst>
              </p:cNvPr>
              <p:cNvSpPr txBox="1"/>
              <p:nvPr/>
            </p:nvSpPr>
            <p:spPr>
              <a:xfrm>
                <a:off x="7645590" y="1608652"/>
                <a:ext cx="3368358" cy="7014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𝐵𝐸𝑅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𝑒𝑟𝑟𝑜𝑟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𝑏𝑖𝑡𝑠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𝑡𝑟𝑎𝑛𝑠𝑚𝑖𝑡𝑡𝑒𝑑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𝑏𝑖𝑡𝑠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6DB01D5-93DF-75C5-4F39-A963895E7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5590" y="1608652"/>
                <a:ext cx="3368358" cy="701410"/>
              </a:xfrm>
              <a:prstGeom prst="rect">
                <a:avLst/>
              </a:prstGeom>
              <a:blipFill>
                <a:blip r:embed="rId3"/>
                <a:stretch>
                  <a:fillRect l="-1498" t="-8929" r="-1498" b="-303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8B1D83A-DAA3-05A0-E797-2A990372BE93}"/>
                  </a:ext>
                </a:extLst>
              </p:cNvPr>
              <p:cNvSpPr txBox="1"/>
              <p:nvPr/>
            </p:nvSpPr>
            <p:spPr>
              <a:xfrm>
                <a:off x="7784900" y="2689675"/>
                <a:ext cx="3283912" cy="5731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2400" b="0" dirty="0"/>
                  <a:t>S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𝐸𝑅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𝑒𝑟𝑟𝑜𝑟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𝑠𝑦𝑚𝑏𝑜𝑙𝑠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𝑡𝑟𝑎𝑛𝑠𝑚𝑖𝑡𝑡𝑒𝑑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𝑠𝑦𝑚𝑏𝑜𝑙𝑠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8B1D83A-DAA3-05A0-E797-2A990372B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4900" y="2689675"/>
                <a:ext cx="3283912" cy="573170"/>
              </a:xfrm>
              <a:prstGeom prst="rect">
                <a:avLst/>
              </a:prstGeom>
              <a:blipFill>
                <a:blip r:embed="rId4"/>
                <a:stretch>
                  <a:fillRect l="-5385" t="-8696" r="-1923" b="-195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1236B4E-4972-80C4-DA17-6A80C508805D}"/>
              </a:ext>
            </a:extLst>
          </p:cNvPr>
          <p:cNvSpPr/>
          <p:nvPr/>
        </p:nvSpPr>
        <p:spPr>
          <a:xfrm>
            <a:off x="7845552" y="3913204"/>
            <a:ext cx="3703320" cy="170651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E834E45-C4DC-117F-8FB0-753207D58213}"/>
              </a:ext>
            </a:extLst>
          </p:cNvPr>
          <p:cNvSpPr/>
          <p:nvPr/>
        </p:nvSpPr>
        <p:spPr>
          <a:xfrm>
            <a:off x="7845552" y="3913204"/>
            <a:ext cx="82296" cy="170651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059E5C-CFEB-D290-F512-6A248F1087AE}"/>
              </a:ext>
            </a:extLst>
          </p:cNvPr>
          <p:cNvSpPr txBox="1"/>
          <p:nvPr/>
        </p:nvSpPr>
        <p:spPr>
          <a:xfrm>
            <a:off x="8074152" y="4077796"/>
            <a:ext cx="329184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i="0" dirty="0">
                <a:solidFill>
                  <a:srgbClr val="17324D"/>
                </a:solidFill>
                <a:latin typeface="Aptos"/>
              </a:rPr>
              <a:t>Note</a:t>
            </a:r>
            <a:endParaRPr sz="22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5173A1-43C4-86E2-1371-C1FB926A5C8B}"/>
              </a:ext>
            </a:extLst>
          </p:cNvPr>
          <p:cNvSpPr txBox="1"/>
          <p:nvPr/>
        </p:nvSpPr>
        <p:spPr>
          <a:xfrm>
            <a:off x="8074152" y="4516708"/>
            <a:ext cx="329184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0" i="0" dirty="0">
                <a:solidFill>
                  <a:srgbClr val="182028"/>
                </a:solidFill>
                <a:latin typeface="Aptos"/>
              </a:rPr>
              <a:t>0 errors in 1,000,000 compared bits</a:t>
            </a:r>
            <a:r>
              <a:rPr lang="en-US" sz="1800" dirty="0">
                <a:solidFill>
                  <a:srgbClr val="182028"/>
                </a:solidFill>
                <a:latin typeface="Aptos"/>
              </a:rPr>
              <a:t> does not prove the link will never produce an error</a:t>
            </a:r>
            <a:endParaRPr lang="en-US" sz="1800" b="0" i="0" dirty="0">
              <a:solidFill>
                <a:srgbClr val="18202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23 | QAM PRBS BER AND LINK 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MAKE IT VISIBLE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EVM measures symbol-position error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</p:cNvCxnSpPr>
          <p:nvPr/>
        </p:nvCxnSpPr>
        <p:spPr>
          <a:xfrm>
            <a:off x="621792" y="4340013"/>
            <a:ext cx="2990088" cy="0"/>
          </a:xfrm>
          <a:prstGeom prst="line">
            <a:avLst/>
          </a:prstGeom>
          <a:ln w="12700">
            <a:solidFill>
              <a:srgbClr val="5F6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cxnSpLocks/>
          </p:cNvCxnSpPr>
          <p:nvPr/>
        </p:nvCxnSpPr>
        <p:spPr>
          <a:xfrm>
            <a:off x="959781" y="2057400"/>
            <a:ext cx="0" cy="2633472"/>
          </a:xfrm>
          <a:prstGeom prst="line">
            <a:avLst/>
          </a:prstGeom>
          <a:ln w="12700">
            <a:solidFill>
              <a:srgbClr val="5F6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46120" y="196596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Aptos"/>
              </a:rPr>
              <a:t>Q</a:t>
            </a:r>
          </a:p>
        </p:txBody>
      </p:sp>
      <p:cxnSp>
        <p:nvCxnSpPr>
          <p:cNvPr id="17" name="Connector 16"/>
          <p:cNvCxnSpPr>
            <a:cxnSpLocks/>
          </p:cNvCxnSpPr>
          <p:nvPr/>
        </p:nvCxnSpPr>
        <p:spPr>
          <a:xfrm flipV="1">
            <a:off x="951315" y="2779945"/>
            <a:ext cx="1705017" cy="1560407"/>
          </a:xfrm>
          <a:prstGeom prst="line">
            <a:avLst/>
          </a:prstGeom>
          <a:ln w="25400">
            <a:solidFill>
              <a:srgbClr val="0F6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cxnSpLocks/>
          </p:cNvCxnSpPr>
          <p:nvPr/>
        </p:nvCxnSpPr>
        <p:spPr>
          <a:xfrm flipH="1">
            <a:off x="1623991" y="2749296"/>
            <a:ext cx="1032341" cy="461433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2565657" y="2726436"/>
            <a:ext cx="137160" cy="137160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574973" y="3126826"/>
            <a:ext cx="137160" cy="137160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209969" y="2457170"/>
            <a:ext cx="18288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0F6D74"/>
                </a:solidFill>
                <a:latin typeface="Aptos"/>
              </a:rPr>
              <a:t>Ideal reference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4115" y="2822166"/>
            <a:ext cx="21031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D96F32"/>
                </a:solidFill>
                <a:latin typeface="Aptos"/>
              </a:rPr>
              <a:t>Received estimate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45675" y="3850485"/>
            <a:ext cx="229785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dirty="0">
                <a:solidFill>
                  <a:srgbClr val="17324D"/>
                </a:solidFill>
                <a:latin typeface="Aptos"/>
              </a:rPr>
              <a:t>Error Vector Magnitude</a:t>
            </a:r>
            <a:endParaRPr sz="16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307338" y="5450352"/>
            <a:ext cx="489204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7324D"/>
                </a:solidFill>
                <a:latin typeface="Aptos"/>
              </a:rPr>
              <a:t>The decision can still be correct</a:t>
            </a:r>
            <a:r>
              <a:rPr lang="en-US" sz="1600" b="1" i="0" dirty="0">
                <a:solidFill>
                  <a:srgbClr val="17324D"/>
                </a:solidFill>
                <a:latin typeface="Aptos"/>
              </a:rPr>
              <a:t>!</a:t>
            </a:r>
            <a:r>
              <a:rPr sz="1600" b="1" i="0" dirty="0">
                <a:solidFill>
                  <a:srgbClr val="17324D"/>
                </a:solidFill>
                <a:latin typeface="Aptos"/>
              </a:rPr>
              <a:t> </a:t>
            </a:r>
          </a:p>
        </p:txBody>
      </p:sp>
      <p:cxnSp>
        <p:nvCxnSpPr>
          <p:cNvPr id="33" name="Connector 13">
            <a:extLst>
              <a:ext uri="{FF2B5EF4-FFF2-40B4-BE49-F238E27FC236}">
                <a16:creationId xmlns:a16="http://schemas.microsoft.com/office/drawing/2014/main" id="{C51215D5-DDFF-A2E2-2262-9E65EB0EA971}"/>
              </a:ext>
            </a:extLst>
          </p:cNvPr>
          <p:cNvCxnSpPr>
            <a:cxnSpLocks/>
          </p:cNvCxnSpPr>
          <p:nvPr/>
        </p:nvCxnSpPr>
        <p:spPr>
          <a:xfrm>
            <a:off x="7162802" y="1938527"/>
            <a:ext cx="2926080" cy="0"/>
          </a:xfrm>
          <a:prstGeom prst="line">
            <a:avLst/>
          </a:prstGeom>
          <a:ln w="12700">
            <a:solidFill>
              <a:srgbClr val="5F6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14">
            <a:extLst>
              <a:ext uri="{FF2B5EF4-FFF2-40B4-BE49-F238E27FC236}">
                <a16:creationId xmlns:a16="http://schemas.microsoft.com/office/drawing/2014/main" id="{173EA816-BD32-2C8B-048A-0CA7A7D59C8F}"/>
              </a:ext>
            </a:extLst>
          </p:cNvPr>
          <p:cNvCxnSpPr>
            <a:cxnSpLocks/>
          </p:cNvCxnSpPr>
          <p:nvPr/>
        </p:nvCxnSpPr>
        <p:spPr>
          <a:xfrm>
            <a:off x="8625842" y="521207"/>
            <a:ext cx="0" cy="2743200"/>
          </a:xfrm>
          <a:prstGeom prst="line">
            <a:avLst/>
          </a:prstGeom>
          <a:ln w="12700">
            <a:solidFill>
              <a:srgbClr val="5F6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03AA095-93B0-66E1-4498-02834279E9E2}"/>
              </a:ext>
            </a:extLst>
          </p:cNvPr>
          <p:cNvSpPr txBox="1"/>
          <p:nvPr/>
        </p:nvSpPr>
        <p:spPr>
          <a:xfrm>
            <a:off x="10134602" y="1847087"/>
            <a:ext cx="27432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17324D"/>
                </a:solidFill>
                <a:latin typeface="Aptos"/>
              </a:rPr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6A8E82E-926B-706E-21E6-24BBCBE870B9}"/>
              </a:ext>
            </a:extLst>
          </p:cNvPr>
          <p:cNvSpPr txBox="1"/>
          <p:nvPr/>
        </p:nvSpPr>
        <p:spPr>
          <a:xfrm>
            <a:off x="8717282" y="448055"/>
            <a:ext cx="27432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17324D"/>
                </a:solidFill>
                <a:latin typeface="Aptos"/>
              </a:rPr>
              <a:t>Q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381B1483-E68A-8C7C-7657-8416E06BEFA9}"/>
              </a:ext>
            </a:extLst>
          </p:cNvPr>
          <p:cNvSpPr/>
          <p:nvPr/>
        </p:nvSpPr>
        <p:spPr>
          <a:xfrm>
            <a:off x="9727693" y="699515"/>
            <a:ext cx="137160" cy="137160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5C02A0A-1E34-BD0E-39FF-09AC88E3B583}"/>
              </a:ext>
            </a:extLst>
          </p:cNvPr>
          <p:cNvSpPr txBox="1"/>
          <p:nvPr/>
        </p:nvSpPr>
        <p:spPr>
          <a:xfrm>
            <a:off x="9540241" y="932687"/>
            <a:ext cx="512064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17324D"/>
                </a:solidFill>
                <a:latin typeface="Aptos"/>
              </a:rPr>
              <a:t>00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38E21FE-A105-D27D-B19C-6131AF853C7A}"/>
              </a:ext>
            </a:extLst>
          </p:cNvPr>
          <p:cNvSpPr/>
          <p:nvPr/>
        </p:nvSpPr>
        <p:spPr>
          <a:xfrm>
            <a:off x="7386830" y="699515"/>
            <a:ext cx="137160" cy="137160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72DCE8-1DCB-5489-4669-D334E47776C4}"/>
              </a:ext>
            </a:extLst>
          </p:cNvPr>
          <p:cNvSpPr txBox="1"/>
          <p:nvPr/>
        </p:nvSpPr>
        <p:spPr>
          <a:xfrm>
            <a:off x="7199378" y="932687"/>
            <a:ext cx="512064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17324D"/>
                </a:solidFill>
                <a:latin typeface="Aptos"/>
              </a:rPr>
              <a:t>01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E1E9839C-A470-4739-74E9-CE5699B9358F}"/>
              </a:ext>
            </a:extLst>
          </p:cNvPr>
          <p:cNvSpPr/>
          <p:nvPr/>
        </p:nvSpPr>
        <p:spPr>
          <a:xfrm>
            <a:off x="7386830" y="3040379"/>
            <a:ext cx="137160" cy="137160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C5A1DA1-1ACA-29F5-822D-0BE5E94F712E}"/>
              </a:ext>
            </a:extLst>
          </p:cNvPr>
          <p:cNvSpPr txBox="1"/>
          <p:nvPr/>
        </p:nvSpPr>
        <p:spPr>
          <a:xfrm>
            <a:off x="7199378" y="3273551"/>
            <a:ext cx="512064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17324D"/>
                </a:solidFill>
                <a:latin typeface="Aptos"/>
              </a:rPr>
              <a:t>11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3E9AEA50-6E60-C6AB-0941-34D6ACC526CB}"/>
              </a:ext>
            </a:extLst>
          </p:cNvPr>
          <p:cNvSpPr/>
          <p:nvPr/>
        </p:nvSpPr>
        <p:spPr>
          <a:xfrm>
            <a:off x="9727693" y="3040379"/>
            <a:ext cx="137160" cy="137160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A699046-0A19-4F7A-95D1-56E49E59E5B8}"/>
              </a:ext>
            </a:extLst>
          </p:cNvPr>
          <p:cNvSpPr txBox="1"/>
          <p:nvPr/>
        </p:nvSpPr>
        <p:spPr>
          <a:xfrm>
            <a:off x="9540241" y="3273551"/>
            <a:ext cx="512064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17324D"/>
                </a:solidFill>
                <a:latin typeface="Aptos"/>
              </a:rPr>
              <a:t>10</a:t>
            </a:r>
          </a:p>
        </p:txBody>
      </p:sp>
      <p:cxnSp>
        <p:nvCxnSpPr>
          <p:cNvPr id="45" name="Connector 25">
            <a:extLst>
              <a:ext uri="{FF2B5EF4-FFF2-40B4-BE49-F238E27FC236}">
                <a16:creationId xmlns:a16="http://schemas.microsoft.com/office/drawing/2014/main" id="{9888E7E2-0F97-BCEB-E9B5-083554C8DBE7}"/>
              </a:ext>
            </a:extLst>
          </p:cNvPr>
          <p:cNvCxnSpPr>
            <a:cxnSpLocks/>
          </p:cNvCxnSpPr>
          <p:nvPr/>
        </p:nvCxnSpPr>
        <p:spPr>
          <a:xfrm flipH="1">
            <a:off x="9152536" y="768095"/>
            <a:ext cx="643738" cy="468172"/>
          </a:xfrm>
          <a:prstGeom prst="line">
            <a:avLst/>
          </a:prstGeom>
          <a:ln w="254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>
            <a:extLst>
              <a:ext uri="{FF2B5EF4-FFF2-40B4-BE49-F238E27FC236}">
                <a16:creationId xmlns:a16="http://schemas.microsoft.com/office/drawing/2014/main" id="{85DB96C6-4FE0-A551-2E66-DEA1C7E438A9}"/>
              </a:ext>
            </a:extLst>
          </p:cNvPr>
          <p:cNvSpPr/>
          <p:nvPr/>
        </p:nvSpPr>
        <p:spPr>
          <a:xfrm>
            <a:off x="9083956" y="1167687"/>
            <a:ext cx="137160" cy="137160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28">
            <a:extLst>
              <a:ext uri="{FF2B5EF4-FFF2-40B4-BE49-F238E27FC236}">
                <a16:creationId xmlns:a16="http://schemas.microsoft.com/office/drawing/2014/main" id="{1920072B-4F92-D91B-150E-25FE6298A207}"/>
              </a:ext>
            </a:extLst>
          </p:cNvPr>
          <p:cNvCxnSpPr>
            <a:cxnSpLocks/>
          </p:cNvCxnSpPr>
          <p:nvPr/>
        </p:nvCxnSpPr>
        <p:spPr>
          <a:xfrm>
            <a:off x="7254242" y="5172758"/>
            <a:ext cx="2926080" cy="0"/>
          </a:xfrm>
          <a:prstGeom prst="line">
            <a:avLst/>
          </a:prstGeom>
          <a:ln w="12700">
            <a:solidFill>
              <a:srgbClr val="5F6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29">
            <a:extLst>
              <a:ext uri="{FF2B5EF4-FFF2-40B4-BE49-F238E27FC236}">
                <a16:creationId xmlns:a16="http://schemas.microsoft.com/office/drawing/2014/main" id="{92918243-03BF-4F4E-B943-2A8CDE7B16EB}"/>
              </a:ext>
            </a:extLst>
          </p:cNvPr>
          <p:cNvCxnSpPr>
            <a:cxnSpLocks/>
          </p:cNvCxnSpPr>
          <p:nvPr/>
        </p:nvCxnSpPr>
        <p:spPr>
          <a:xfrm>
            <a:off x="8717282" y="3755438"/>
            <a:ext cx="0" cy="2743200"/>
          </a:xfrm>
          <a:prstGeom prst="line">
            <a:avLst/>
          </a:prstGeom>
          <a:ln w="12700">
            <a:solidFill>
              <a:srgbClr val="5F6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61C11C28-74E8-99CC-7CE3-2632B634080C}"/>
              </a:ext>
            </a:extLst>
          </p:cNvPr>
          <p:cNvSpPr txBox="1"/>
          <p:nvPr/>
        </p:nvSpPr>
        <p:spPr>
          <a:xfrm>
            <a:off x="10226042" y="5081318"/>
            <a:ext cx="27432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17324D"/>
                </a:solidFill>
                <a:latin typeface="Aptos"/>
              </a:rPr>
              <a:t>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927B699-2504-7D43-088D-1BE9089D8F3D}"/>
              </a:ext>
            </a:extLst>
          </p:cNvPr>
          <p:cNvSpPr txBox="1"/>
          <p:nvPr/>
        </p:nvSpPr>
        <p:spPr>
          <a:xfrm>
            <a:off x="8808722" y="3682286"/>
            <a:ext cx="27432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17324D"/>
                </a:solidFill>
                <a:latin typeface="Aptos"/>
              </a:rPr>
              <a:t>Q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F8D779B-5492-5E01-4BBE-4548FB10264D}"/>
              </a:ext>
            </a:extLst>
          </p:cNvPr>
          <p:cNvSpPr/>
          <p:nvPr/>
        </p:nvSpPr>
        <p:spPr>
          <a:xfrm>
            <a:off x="9819134" y="3933746"/>
            <a:ext cx="137160" cy="137160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9604316-04EC-AC8F-173D-E570E9D91261}"/>
              </a:ext>
            </a:extLst>
          </p:cNvPr>
          <p:cNvSpPr txBox="1"/>
          <p:nvPr/>
        </p:nvSpPr>
        <p:spPr>
          <a:xfrm>
            <a:off x="9631682" y="4166918"/>
            <a:ext cx="512064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17324D"/>
                </a:solidFill>
                <a:latin typeface="Aptos"/>
              </a:rPr>
              <a:t>00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D1E54733-9A4E-0251-3134-0D8AD58B567F}"/>
              </a:ext>
            </a:extLst>
          </p:cNvPr>
          <p:cNvSpPr/>
          <p:nvPr/>
        </p:nvSpPr>
        <p:spPr>
          <a:xfrm>
            <a:off x="7478270" y="3933746"/>
            <a:ext cx="137160" cy="137160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C44DA53-BE94-46D3-B9C6-120B9C59A246}"/>
              </a:ext>
            </a:extLst>
          </p:cNvPr>
          <p:cNvSpPr txBox="1"/>
          <p:nvPr/>
        </p:nvSpPr>
        <p:spPr>
          <a:xfrm>
            <a:off x="7290818" y="4166918"/>
            <a:ext cx="512064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17324D"/>
                </a:solidFill>
                <a:latin typeface="Aptos"/>
              </a:rPr>
              <a:t>01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DD4F350-6552-D944-3893-CF3070B364EA}"/>
              </a:ext>
            </a:extLst>
          </p:cNvPr>
          <p:cNvSpPr/>
          <p:nvPr/>
        </p:nvSpPr>
        <p:spPr>
          <a:xfrm>
            <a:off x="7478270" y="6274610"/>
            <a:ext cx="137160" cy="137160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8BDE5E5-97EA-9A17-A670-110C062B5591}"/>
              </a:ext>
            </a:extLst>
          </p:cNvPr>
          <p:cNvSpPr txBox="1"/>
          <p:nvPr/>
        </p:nvSpPr>
        <p:spPr>
          <a:xfrm>
            <a:off x="7290818" y="6507782"/>
            <a:ext cx="512064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17324D"/>
                </a:solidFill>
                <a:latin typeface="Aptos"/>
              </a:rPr>
              <a:t>11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F0CBFC1-1ACA-DFA6-8C1E-358C7F5C0048}"/>
              </a:ext>
            </a:extLst>
          </p:cNvPr>
          <p:cNvSpPr/>
          <p:nvPr/>
        </p:nvSpPr>
        <p:spPr>
          <a:xfrm>
            <a:off x="9819134" y="6274610"/>
            <a:ext cx="137160" cy="137160"/>
          </a:xfrm>
          <a:prstGeom prst="ellipse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040A476-9C29-1D77-4B3D-E22E84B5B7FC}"/>
              </a:ext>
            </a:extLst>
          </p:cNvPr>
          <p:cNvSpPr txBox="1"/>
          <p:nvPr/>
        </p:nvSpPr>
        <p:spPr>
          <a:xfrm>
            <a:off x="9631682" y="6507782"/>
            <a:ext cx="512064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17324D"/>
                </a:solidFill>
                <a:latin typeface="Aptos"/>
              </a:rPr>
              <a:t>10</a:t>
            </a:r>
          </a:p>
        </p:txBody>
      </p:sp>
      <p:cxnSp>
        <p:nvCxnSpPr>
          <p:cNvPr id="59" name="Connector 40">
            <a:extLst>
              <a:ext uri="{FF2B5EF4-FFF2-40B4-BE49-F238E27FC236}">
                <a16:creationId xmlns:a16="http://schemas.microsoft.com/office/drawing/2014/main" id="{65C72576-96E5-5FAA-60FC-80282036698D}"/>
              </a:ext>
            </a:extLst>
          </p:cNvPr>
          <p:cNvCxnSpPr>
            <a:cxnSpLocks/>
          </p:cNvCxnSpPr>
          <p:nvPr/>
        </p:nvCxnSpPr>
        <p:spPr>
          <a:xfrm flipH="1">
            <a:off x="8307630" y="4002326"/>
            <a:ext cx="1580084" cy="468172"/>
          </a:xfrm>
          <a:prstGeom prst="line">
            <a:avLst/>
          </a:prstGeom>
          <a:ln w="254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95BA1AC2-F787-B2F1-1714-4513D9F59DFB}"/>
              </a:ext>
            </a:extLst>
          </p:cNvPr>
          <p:cNvSpPr/>
          <p:nvPr/>
        </p:nvSpPr>
        <p:spPr>
          <a:xfrm>
            <a:off x="8239050" y="4401918"/>
            <a:ext cx="137160" cy="137160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1E71240-658A-BB90-4967-EFE20C76ABD5}"/>
              </a:ext>
            </a:extLst>
          </p:cNvPr>
          <p:cNvSpPr txBox="1"/>
          <p:nvPr/>
        </p:nvSpPr>
        <p:spPr>
          <a:xfrm>
            <a:off x="4876802" y="2207689"/>
            <a:ext cx="45720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dirty="0">
                <a:solidFill>
                  <a:srgbClr val="17324D"/>
                </a:solidFill>
                <a:latin typeface="Aptos"/>
              </a:rPr>
              <a:t>Disturbed</a:t>
            </a:r>
            <a:endParaRPr lang="en-US" sz="1400" b="1" dirty="0">
              <a:solidFill>
                <a:srgbClr val="17324D"/>
              </a:solidFill>
              <a:latin typeface="Aptos"/>
            </a:endParaRPr>
          </a:p>
          <a:p>
            <a:pPr algn="ctr"/>
            <a:r>
              <a:rPr lang="en-US" sz="1400" b="1" i="0" dirty="0">
                <a:solidFill>
                  <a:srgbClr val="17324D"/>
                </a:solidFill>
                <a:latin typeface="Aptos"/>
              </a:rPr>
              <a:t>But </a:t>
            </a:r>
            <a:r>
              <a:rPr sz="1400" b="1" i="0" dirty="0">
                <a:solidFill>
                  <a:srgbClr val="17324D"/>
                </a:solidFill>
                <a:latin typeface="Aptos"/>
              </a:rPr>
              <a:t>still correct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ACE94B-A4D5-BC98-C75E-9C3752B9446A}"/>
              </a:ext>
            </a:extLst>
          </p:cNvPr>
          <p:cNvSpPr txBox="1"/>
          <p:nvPr/>
        </p:nvSpPr>
        <p:spPr>
          <a:xfrm>
            <a:off x="5654042" y="5472429"/>
            <a:ext cx="3337557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b="1" i="0" dirty="0">
                <a:solidFill>
                  <a:srgbClr val="17324D"/>
                </a:solidFill>
                <a:latin typeface="Aptos"/>
              </a:rPr>
              <a:t>Crosses </a:t>
            </a:r>
          </a:p>
          <a:p>
            <a:pPr algn="ctr"/>
            <a:r>
              <a:rPr lang="en-US" sz="1600" b="1" i="0" dirty="0">
                <a:solidFill>
                  <a:srgbClr val="17324D"/>
                </a:solidFill>
                <a:latin typeface="Aptos"/>
              </a:rPr>
              <a:t>The decision boundary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31B0657-92EC-AA86-3429-2B7DC2E78973}"/>
                  </a:ext>
                </a:extLst>
              </p:cNvPr>
              <p:cNvSpPr txBox="1"/>
              <p:nvPr/>
            </p:nvSpPr>
            <p:spPr>
              <a:xfrm>
                <a:off x="2164409" y="4555047"/>
                <a:ext cx="4298036" cy="81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𝐸𝑉𝑀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𝑟𝑒𝑐𝑒𝑖𝑣𝑒𝑑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𝑖𝑑𝑒𝑎𝑙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𝑖𝑑𝑒𝑎𝑙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den>
                          </m:f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100%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31B0657-92EC-AA86-3429-2B7DC2E789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4409" y="4555047"/>
                <a:ext cx="4298036" cy="818366"/>
              </a:xfrm>
              <a:prstGeom prst="rect">
                <a:avLst/>
              </a:prstGeom>
              <a:blipFill>
                <a:blip r:embed="rId3"/>
                <a:stretch>
                  <a:fillRect l="-590" t="-40000" r="-885" b="-7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23 | QAM PRBS BER AND LINK 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RMS = ROOT MEAN SQUARE. USE THE SAME REFERENCE NORMALIZATION.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EVM is not a percentage of wrong bits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6741015"/>
              </p:ext>
            </p:extLst>
          </p:nvPr>
        </p:nvGraphicFramePr>
        <p:xfrm>
          <a:off x="713233" y="4840238"/>
          <a:ext cx="7543377" cy="1359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4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44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4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9657">
                <a:tc>
                  <a:txBody>
                    <a:bodyPr/>
                    <a:lstStyle/>
                    <a:p>
                      <a:r>
                        <a:rPr sz="1800" b="1" dirty="0">
                          <a:solidFill>
                            <a:srgbClr val="FFFFFF"/>
                          </a:solidFill>
                          <a:latin typeface="Aptos"/>
                        </a:rPr>
                        <a:t>RMS error magnitude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RMS reference magnitude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dirty="0">
                          <a:solidFill>
                            <a:srgbClr val="FFFFFF"/>
                          </a:solidFill>
                          <a:latin typeface="Aptos"/>
                        </a:rPr>
                        <a:t>EVM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65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028"/>
                          </a:solidFill>
                          <a:latin typeface="Aptos"/>
                        </a:rPr>
                        <a:t>0.05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028"/>
                          </a:solidFill>
                          <a:latin typeface="Aptos"/>
                        </a:rPr>
                        <a:t>1.00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028"/>
                          </a:solidFill>
                          <a:latin typeface="Aptos"/>
                        </a:rPr>
                        <a:t>100 x 0.05 / 1.00 = 5%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65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028"/>
                          </a:solidFill>
                          <a:latin typeface="Aptos"/>
                        </a:rPr>
                        <a:t>0.15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dirty="0">
                          <a:solidFill>
                            <a:srgbClr val="182028"/>
                          </a:solidFill>
                          <a:latin typeface="Aptos"/>
                        </a:rPr>
                        <a:t>1.00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dirty="0">
                          <a:solidFill>
                            <a:srgbClr val="182028"/>
                          </a:solidFill>
                          <a:latin typeface="Aptos"/>
                        </a:rPr>
                        <a:t>100 x 0.15 / 1.00 = 15%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380FB80-7B30-5C5B-5E37-A485B1FF5D3F}"/>
                  </a:ext>
                </a:extLst>
              </p:cNvPr>
              <p:cNvSpPr txBox="1"/>
              <p:nvPr/>
            </p:nvSpPr>
            <p:spPr>
              <a:xfrm>
                <a:off x="3310298" y="1427227"/>
                <a:ext cx="612140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∆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.4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0.707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307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∆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0.8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0.707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093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380FB80-7B30-5C5B-5E37-A485B1FF5D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0298" y="1427227"/>
                <a:ext cx="6121400" cy="646331"/>
              </a:xfrm>
              <a:prstGeom prst="rect">
                <a:avLst/>
              </a:prstGeom>
              <a:blipFill>
                <a:blip r:embed="rId3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E31C9B-80F8-2CA4-81E1-2C50372059F8}"/>
                  </a:ext>
                </a:extLst>
              </p:cNvPr>
              <p:cNvSpPr txBox="1"/>
              <p:nvPr/>
            </p:nvSpPr>
            <p:spPr>
              <a:xfrm>
                <a:off x="3166533" y="2111962"/>
                <a:ext cx="6574367" cy="4357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−0.307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093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.321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E31C9B-80F8-2CA4-81E1-2C50372059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6533" y="2111962"/>
                <a:ext cx="6574367" cy="435760"/>
              </a:xfrm>
              <a:prstGeom prst="rect">
                <a:avLst/>
              </a:prstGeom>
              <a:blipFill>
                <a:blip r:embed="rId4"/>
                <a:stretch>
                  <a:fillRect b="-1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8DA21D2E-508A-B547-379A-3477A7AF3D96}"/>
              </a:ext>
            </a:extLst>
          </p:cNvPr>
          <p:cNvSpPr/>
          <p:nvPr/>
        </p:nvSpPr>
        <p:spPr>
          <a:xfrm>
            <a:off x="502920" y="1828800"/>
            <a:ext cx="3703320" cy="160020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F6DD9B-AECF-820B-2B58-3A84D4A72775}"/>
              </a:ext>
            </a:extLst>
          </p:cNvPr>
          <p:cNvSpPr txBox="1"/>
          <p:nvPr/>
        </p:nvSpPr>
        <p:spPr>
          <a:xfrm>
            <a:off x="731520" y="2181431"/>
            <a:ext cx="329184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600" dirty="0">
                <a:latin typeface="Aptos" panose="020B0004020202020204" pitchFamily="34" charset="0"/>
              </a:rPr>
              <a:t>A QPSK symbol should be at I=0.707, Q=0.707, but arrives at I=0.4, Q=0.8. Calculate its EVM.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F9C4028-38DB-A851-3956-D4BC6E11A551}"/>
              </a:ext>
            </a:extLst>
          </p:cNvPr>
          <p:cNvSpPr txBox="1"/>
          <p:nvPr/>
        </p:nvSpPr>
        <p:spPr>
          <a:xfrm>
            <a:off x="713232" y="4477224"/>
            <a:ext cx="106984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 i="0" dirty="0">
                <a:solidFill>
                  <a:srgbClr val="17324D"/>
                </a:solidFill>
                <a:latin typeface="Aptos"/>
              </a:rPr>
              <a:t>Comparisons</a:t>
            </a:r>
            <a:endParaRPr b="1" i="0" dirty="0">
              <a:solidFill>
                <a:srgbClr val="17324D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DCF652C-D5B3-275D-75B8-787A01F84359}"/>
                  </a:ext>
                </a:extLst>
              </p:cNvPr>
              <p:cNvSpPr txBox="1"/>
              <p:nvPr/>
            </p:nvSpPr>
            <p:spPr>
              <a:xfrm>
                <a:off x="3318933" y="2562729"/>
                <a:ext cx="6574367" cy="4354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0.707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0.707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DCF652C-D5B3-275D-75B8-787A01F843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8933" y="2562729"/>
                <a:ext cx="6574367" cy="435440"/>
              </a:xfrm>
              <a:prstGeom prst="rect">
                <a:avLst/>
              </a:prstGeom>
              <a:blipFill>
                <a:blip r:embed="rId5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C8EF77D-D23E-D312-1775-0922963416E3}"/>
                  </a:ext>
                </a:extLst>
              </p:cNvPr>
              <p:cNvSpPr txBox="1"/>
              <p:nvPr/>
            </p:nvSpPr>
            <p:spPr>
              <a:xfrm>
                <a:off x="2928282" y="3202355"/>
                <a:ext cx="6574367" cy="6685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𝐸𝑉𝑀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0.321</m:t>
                          </m:r>
                        </m:num>
                        <m:den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den>
                      </m:f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 100%=32.1%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C8EF77D-D23E-D312-1775-0922963416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8282" y="3202355"/>
                <a:ext cx="6574367" cy="668516"/>
              </a:xfrm>
              <a:prstGeom prst="rect">
                <a:avLst/>
              </a:prstGeom>
              <a:blipFill>
                <a:blip r:embed="rId6"/>
                <a:stretch>
                  <a:fillRect b="-7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" name="Picture 30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F4B0C25A-7D6D-BB38-F004-8A1C8F2E020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547" t="11623" r="52545" b="2555"/>
          <a:stretch/>
        </p:blipFill>
        <p:spPr>
          <a:xfrm>
            <a:off x="8805249" y="156714"/>
            <a:ext cx="3169920" cy="2959626"/>
          </a:xfrm>
          <a:prstGeom prst="rect">
            <a:avLst/>
          </a:prstGeom>
        </p:spPr>
      </p:pic>
      <p:pic>
        <p:nvPicPr>
          <p:cNvPr id="32" name="Picture 31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664B6CD1-5472-945E-37B6-2593C206A78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56224" t="11571" r="4042" b="18211"/>
          <a:stretch/>
        </p:blipFill>
        <p:spPr>
          <a:xfrm>
            <a:off x="8839624" y="3941494"/>
            <a:ext cx="2743623" cy="2421470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B7D77673-11D8-E552-C7BD-784047BE40F0}"/>
              </a:ext>
            </a:extLst>
          </p:cNvPr>
          <p:cNvSpPr txBox="1"/>
          <p:nvPr/>
        </p:nvSpPr>
        <p:spPr>
          <a:xfrm>
            <a:off x="8839624" y="3560797"/>
            <a:ext cx="106984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 i="0" dirty="0">
                <a:solidFill>
                  <a:srgbClr val="17324D"/>
                </a:solidFill>
                <a:latin typeface="Aptos"/>
              </a:rPr>
              <a:t>What if 16 QAM?</a:t>
            </a:r>
            <a:endParaRPr b="1" i="0" dirty="0">
              <a:solidFill>
                <a:srgbClr val="17324D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8AF4FD5-10A4-AA36-10EC-1A13E140608C}"/>
                  </a:ext>
                </a:extLst>
              </p:cNvPr>
              <p:cNvSpPr txBox="1"/>
              <p:nvPr/>
            </p:nvSpPr>
            <p:spPr>
              <a:xfrm>
                <a:off x="440936" y="3493459"/>
                <a:ext cx="3820918" cy="727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𝐸𝑉𝑀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𝑅𝑀𝑆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𝑟𝑒𝑐𝑒𝑖𝑣𝑒𝑑</m:t>
                                          </m:r>
                                        </m:sub>
                                      </m:sSub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i="1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𝑖𝑑𝑒𝑎𝑙</m:t>
                                          </m:r>
                                        </m:sub>
                                      </m:sSub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</m:e>
                                    <m:sup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𝑖𝑑𝑒𝑎𝑙</m:t>
                                          </m:r>
                                        </m:sub>
                                      </m:sSub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</m:e>
                                    <m:sup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den>
                          </m:f>
                        </m:e>
                      </m:ra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100%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8AF4FD5-10A4-AA36-10EC-1A13E14060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936" y="3493459"/>
                <a:ext cx="3820918" cy="727507"/>
              </a:xfrm>
              <a:prstGeom prst="rect">
                <a:avLst/>
              </a:prstGeom>
              <a:blipFill>
                <a:blip r:embed="rId8"/>
                <a:stretch>
                  <a:fillRect l="-662" t="-43103" r="-993" b="-79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23 | QAM PRBS BER AND LINK 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ILLUSTRATIVE RECORDS UNDER THE MATCHED CONDITIONS; CALCULATE BEFORE CHOOSING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Which candidate meets BOTH requirements?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17830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 dirty="0">
                <a:solidFill>
                  <a:srgbClr val="17324D"/>
                </a:solidFill>
                <a:latin typeface="Aptos"/>
              </a:rPr>
              <a:t>Require mapped rate &gt;= 150 kbit/s AND BER &lt;= 0.001.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6461752"/>
              </p:ext>
            </p:extLst>
          </p:nvPr>
        </p:nvGraphicFramePr>
        <p:xfrm>
          <a:off x="612648" y="2239948"/>
          <a:ext cx="10698480" cy="1819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4911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Modulation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"/>
                        </a:rPr>
                        <a:t>Baud</a:t>
                      </a:r>
                      <a:r>
                        <a:rPr sz="1800" b="1" dirty="0">
                          <a:solidFill>
                            <a:srgbClr val="FFFFFF"/>
                          </a:solidFill>
                          <a:latin typeface="Aptos"/>
                        </a:rPr>
                        <a:t> rate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Errors / compared bits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4911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028"/>
                          </a:solidFill>
                          <a:latin typeface="Aptos"/>
                        </a:rPr>
                        <a:t>QPSK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182028"/>
                          </a:solidFill>
                          <a:latin typeface="Aptos"/>
                        </a:rPr>
                        <a:t>50</a:t>
                      </a:r>
                      <a:r>
                        <a:rPr sz="1800" dirty="0">
                          <a:solidFill>
                            <a:srgbClr val="182028"/>
                          </a:solidFill>
                          <a:latin typeface="Aptos"/>
                        </a:rPr>
                        <a:t> k</a:t>
                      </a:r>
                      <a:r>
                        <a:rPr lang="en-US" sz="1800" dirty="0">
                          <a:solidFill>
                            <a:srgbClr val="182028"/>
                          </a:solidFill>
                          <a:latin typeface="Aptos"/>
                        </a:rPr>
                        <a:t> baud</a:t>
                      </a:r>
                      <a:endParaRPr sz="18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028"/>
                          </a:solidFill>
                          <a:latin typeface="Aptos"/>
                        </a:rPr>
                        <a:t>100 / 1,000,000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4911">
                <a:tc>
                  <a:txBody>
                    <a:bodyPr/>
                    <a:lstStyle/>
                    <a:p>
                      <a:r>
                        <a:rPr sz="1800" dirty="0">
                          <a:solidFill>
                            <a:srgbClr val="182028"/>
                          </a:solidFill>
                          <a:latin typeface="Aptos"/>
                        </a:rPr>
                        <a:t>16-QAM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182028"/>
                          </a:solidFill>
                          <a:latin typeface="Aptos"/>
                        </a:rPr>
                        <a:t>50 k </a:t>
                      </a:r>
                      <a:r>
                        <a:rPr sz="1800" dirty="0">
                          <a:solidFill>
                            <a:srgbClr val="182028"/>
                          </a:solidFill>
                          <a:latin typeface="Aptos"/>
                        </a:rPr>
                        <a:t> b</a:t>
                      </a:r>
                      <a:r>
                        <a:rPr lang="en-US" sz="1800" dirty="0">
                          <a:solidFill>
                            <a:srgbClr val="182028"/>
                          </a:solidFill>
                          <a:latin typeface="Aptos"/>
                        </a:rPr>
                        <a:t>aud</a:t>
                      </a:r>
                      <a:endParaRPr sz="18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028"/>
                          </a:solidFill>
                          <a:latin typeface="Aptos"/>
                        </a:rPr>
                        <a:t>800 / 1,000,000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4911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028"/>
                          </a:solidFill>
                          <a:latin typeface="Aptos"/>
                        </a:rPr>
                        <a:t>64-QAM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182028"/>
                          </a:solidFill>
                          <a:latin typeface="Aptos"/>
                        </a:rPr>
                        <a:t>50 k baud</a:t>
                      </a:r>
                      <a:endParaRPr sz="18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dirty="0">
                          <a:solidFill>
                            <a:srgbClr val="182028"/>
                          </a:solidFill>
                          <a:latin typeface="Aptos"/>
                        </a:rPr>
                        <a:t>12,000 / 1,000,000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254216C8-8170-30A8-3A8A-88525536ED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380938"/>
              </p:ext>
            </p:extLst>
          </p:nvPr>
        </p:nvGraphicFramePr>
        <p:xfrm>
          <a:off x="658369" y="4370844"/>
          <a:ext cx="10561321" cy="1527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98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7228">
                  <a:extLst>
                    <a:ext uri="{9D8B030D-6E8A-4147-A177-3AD203B41FA5}">
                      <a16:colId xmlns:a16="http://schemas.microsoft.com/office/drawing/2014/main" val="3281277310"/>
                    </a:ext>
                  </a:extLst>
                </a:gridCol>
                <a:gridCol w="24372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70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759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tos"/>
                        </a:rPr>
                        <a:t>Candidate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Aptos"/>
                        </a:rPr>
                        <a:t>Bit rate</a:t>
                      </a:r>
                      <a:endParaRPr sz="1700" b="1" dirty="0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 dirty="0">
                          <a:solidFill>
                            <a:srgbClr val="FFFFFF"/>
                          </a:solidFill>
                          <a:latin typeface="Aptos"/>
                        </a:rPr>
                        <a:t>Measured BER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 dirty="0">
                          <a:solidFill>
                            <a:srgbClr val="FFFFFF"/>
                          </a:solidFill>
                          <a:latin typeface="Aptos"/>
                        </a:rPr>
                        <a:t>Combined decision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759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QPSK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>
                          <a:solidFill>
                            <a:srgbClr val="182028"/>
                          </a:solidFill>
                          <a:latin typeface="Aptos"/>
                        </a:rPr>
                        <a:t>100 kbit/s</a:t>
                      </a:r>
                      <a:endParaRPr sz="17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dirty="0">
                          <a:solidFill>
                            <a:srgbClr val="182028"/>
                          </a:solidFill>
                          <a:latin typeface="Aptos"/>
                        </a:rPr>
                        <a:t>0.0001 = 1 x 10^-4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Error limit passes; mapped rate fails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759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16-QAM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>
                          <a:solidFill>
                            <a:srgbClr val="182028"/>
                          </a:solidFill>
                          <a:latin typeface="Aptos"/>
                        </a:rPr>
                        <a:t>200 kbit/s</a:t>
                      </a:r>
                      <a:endParaRPr sz="17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dirty="0">
                          <a:solidFill>
                            <a:srgbClr val="182028"/>
                          </a:solidFill>
                          <a:latin typeface="Aptos"/>
                        </a:rPr>
                        <a:t>0.0008 = 8 x 10^-4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Both pass: 200 kbit/s and BER &lt;= 0.001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759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64-QAM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>
                          <a:solidFill>
                            <a:srgbClr val="182028"/>
                          </a:solidFill>
                          <a:latin typeface="Aptos"/>
                        </a:rPr>
                        <a:t>300 kbit/s</a:t>
                      </a:r>
                      <a:endParaRPr sz="17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2028"/>
                          </a:solidFill>
                          <a:latin typeface="Aptos"/>
                        </a:rPr>
                        <a:t>0.012 = 1.2 x 10^-2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dirty="0">
                          <a:solidFill>
                            <a:srgbClr val="182028"/>
                          </a:solidFill>
                          <a:latin typeface="Aptos"/>
                        </a:rPr>
                        <a:t>Mapped rate passes; error limit fails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23 | QAM PRBS BER AND LINK 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CHECK UNDERSTANDING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dirty="0">
                <a:solidFill>
                  <a:srgbClr val="17324D"/>
                </a:solidFill>
                <a:latin typeface="Aptos Display"/>
              </a:rPr>
              <a:t>Exit check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2075795"/>
            <a:ext cx="10469880" cy="9233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0" b="1" i="0" dirty="0">
                <a:solidFill>
                  <a:srgbClr val="17324D"/>
                </a:solidFill>
                <a:latin typeface="Aptos Display"/>
              </a:rPr>
              <a:t>At 25 </a:t>
            </a:r>
            <a:r>
              <a:rPr lang="en-US" sz="3000" b="1" i="0" dirty="0" err="1">
                <a:solidFill>
                  <a:srgbClr val="17324D"/>
                </a:solidFill>
                <a:latin typeface="Aptos Display"/>
              </a:rPr>
              <a:t>kbaud</a:t>
            </a:r>
            <a:r>
              <a:rPr lang="en-US" sz="3000" b="1" i="0" dirty="0">
                <a:solidFill>
                  <a:srgbClr val="17324D"/>
                </a:solidFill>
                <a:latin typeface="Aptos Display"/>
              </a:rPr>
              <a:t>, If you require BR ≥50 kbit/s and BER ≤ 0.001, which one will you use? </a:t>
            </a:r>
            <a:endParaRPr sz="3000" b="1" i="0" dirty="0">
              <a:solidFill>
                <a:srgbClr val="17324D"/>
              </a:solidFill>
              <a:latin typeface="Aptos Display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828800" y="3654921"/>
            <a:ext cx="850392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800" b="0" i="0" dirty="0">
                <a:solidFill>
                  <a:srgbClr val="5F6B73"/>
                </a:solidFill>
                <a:latin typeface="Aptos"/>
              </a:rPr>
              <a:t>QPSK (</a:t>
            </a:r>
            <a:r>
              <a:rPr lang="en-US" sz="1800" dirty="0">
                <a:solidFill>
                  <a:srgbClr val="182028"/>
                </a:solidFill>
                <a:latin typeface="Aptos"/>
              </a:rPr>
              <a:t>10 / 100,000</a:t>
            </a:r>
            <a:r>
              <a:rPr lang="en-US" dirty="0">
                <a:solidFill>
                  <a:srgbClr val="5F6B73"/>
                </a:solidFill>
                <a:latin typeface="Aptos"/>
              </a:rPr>
              <a:t> bit errors)</a:t>
            </a:r>
          </a:p>
          <a:p>
            <a:pPr algn="ctr"/>
            <a:r>
              <a:rPr lang="en-US" sz="1800" dirty="0">
                <a:solidFill>
                  <a:srgbClr val="5F6B73"/>
                </a:solidFill>
                <a:latin typeface="Aptos"/>
              </a:rPr>
              <a:t>16 QAM ( 60 / 100,000 bit errors)</a:t>
            </a:r>
            <a:endParaRPr lang="en-US" sz="180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0" y="4892040"/>
            <a:ext cx="484632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0" y="4892040"/>
            <a:ext cx="484632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NEXT: OFDM AND SPREAD SPECTRUM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2669</TotalTime>
  <Words>822</Words>
  <Application>Microsoft Macintosh PowerPoint</Application>
  <PresentationFormat>Widescreen</PresentationFormat>
  <Paragraphs>202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Jerson Francia</cp:lastModifiedBy>
  <cp:revision>4</cp:revision>
  <dcterms:created xsi:type="dcterms:W3CDTF">2013-01-27T09:14:16Z</dcterms:created>
  <dcterms:modified xsi:type="dcterms:W3CDTF">2026-10-27T20:15:45Z</dcterms:modified>
  <cp:category/>
</cp:coreProperties>
</file>