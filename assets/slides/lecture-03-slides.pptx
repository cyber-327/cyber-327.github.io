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72" r:id="rId4"/>
    <p:sldId id="269" r:id="rId5"/>
    <p:sldId id="271" r:id="rId6"/>
    <p:sldId id="270" r:id="rId7"/>
    <p:sldId id="259" r:id="rId8"/>
    <p:sldId id="273" r:id="rId9"/>
    <p:sldId id="263" r:id="rId10"/>
    <p:sldId id="266" r:id="rId11"/>
    <p:sldId id="267" r:id="rId12"/>
    <p:sldId id="275" r:id="rId13"/>
    <p:sldId id="274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065" autoAdjust="0"/>
  </p:normalViewPr>
  <p:slideViewPr>
    <p:cSldViewPr snapToGrid="0" snapToObjects="1">
      <p:cViewPr varScale="1">
        <p:scale>
          <a:sx n="72" d="100"/>
          <a:sy n="72" d="100"/>
        </p:scale>
        <p:origin x="192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0636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43CEA-2D01-DE3D-F5BB-0140D882C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395633-1173-2FA2-60E4-D552A8027E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E1A6D1-ADAF-DACC-6A44-B04CAA629B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02D967-03B8-7AF5-8955-9ADCC0075F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408867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6C131-F24B-4EB8-E73A-6B5592D7A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1A7BF1-FF54-966A-6FE1-72A909D429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3018AE-6DC6-69B1-DCDF-2DADCD4668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154E1E-A6D1-F345-2D5B-6DC2E16976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398516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8874E-193A-4FA0-6644-B807D9A31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436624-DC4E-0412-FE7A-25ECC433F9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B4B1DB-49C3-C48C-8D1F-9CC52A3C6C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B0BFB2-C039-FF27-4351-665FA2C590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7527983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35DEE-6F49-40EE-69B4-E106AABB5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4CAE02-DF08-82FA-A350-8707463FF5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AD6994-2724-5524-4D8B-0A0D2E517E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5FF02-9A97-7ED5-C222-5EB625B87C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4248528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2E681-A9A2-8BE3-D960-4EF2407EA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9DBCF1-542D-DE65-B748-99606D0856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44F280-59E8-5F39-797A-9B63CD7850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54B00E-9E8E-FA7C-A8B4-6C192E5F19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898822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Alternatives include current limit, weak supply, wiring resistance, incorrect Load B, or short. Do not jump directly to malicious 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F64E5-8806-8E8A-B41E-FD0035B3E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BA2630-5933-1846-94B9-8BC3FE9FD9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7EEAF3-9C38-00BF-AEEB-FC411FC905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8E00C-8D8C-E10E-931A-995D44686A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638541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FAC05-3C76-4969-97D3-0954CC54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06237C-2668-47BE-DF1A-9AE17CA710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55229E-349F-914C-6EF8-A7225A763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B86BEE-BC05-C14F-AD6F-D78670FD47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2218386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9EB0BC"/>
                </a:solidFill>
                <a:latin typeface="Aptos"/>
              </a:rPr>
              <a:t>LECTURE 03 | PARALLEL + POWER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9EB0BC"/>
                </a:solidFill>
                <a:latin typeface="Apto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5836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62C6C8"/>
                </a:solidFill>
                <a:latin typeface="Aptos"/>
              </a:rPr>
              <a:t>CYBER 327  /  LECTURE 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152144"/>
            <a:ext cx="1371600" cy="0"/>
          </a:xfrm>
          <a:prstGeom prst="line">
            <a:avLst/>
          </a:prstGeom>
          <a:ln w="508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3232" y="1481328"/>
            <a:ext cx="99669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 dirty="0">
                <a:solidFill>
                  <a:srgbClr val="FFFFFF"/>
                </a:solidFill>
                <a:latin typeface="Aptos Display"/>
              </a:rPr>
              <a:t>Parallel Circuits</a:t>
            </a:r>
            <a:r>
              <a:rPr lang="en-US" sz="4000" b="1" i="0" dirty="0">
                <a:solidFill>
                  <a:srgbClr val="FFFFFF"/>
                </a:solidFill>
                <a:latin typeface="Aptos Display"/>
              </a:rPr>
              <a:t> and </a:t>
            </a:r>
            <a:r>
              <a:rPr sz="4000" b="1" i="0" dirty="0">
                <a:solidFill>
                  <a:srgbClr val="FFFFFF"/>
                </a:solidFill>
                <a:latin typeface="Aptos Display"/>
              </a:rPr>
              <a:t>Loading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182112"/>
            <a:ext cx="896112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 dirty="0">
                <a:solidFill>
                  <a:srgbClr val="D6E1E7"/>
                </a:solidFill>
                <a:latin typeface="Aptos"/>
              </a:rPr>
              <a:t>A new branch changes </a:t>
            </a:r>
            <a:r>
              <a:rPr lang="en-US" sz="1900" dirty="0">
                <a:solidFill>
                  <a:srgbClr val="D6E1E7"/>
                </a:solidFill>
                <a:latin typeface="Aptos"/>
              </a:rPr>
              <a:t>a lot</a:t>
            </a:r>
            <a:endParaRPr sz="1900" b="0" i="0" dirty="0">
              <a:solidFill>
                <a:srgbClr val="D6E1E7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49808" y="5230368"/>
            <a:ext cx="1965960" cy="420624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5230368"/>
            <a:ext cx="196596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SEP 09,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71216" y="5230368"/>
            <a:ext cx="2377440" cy="420624"/>
          </a:xfrm>
          <a:prstGeom prst="round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7086600" y="4574286"/>
            <a:ext cx="346710" cy="220827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433310" y="4679899"/>
            <a:ext cx="346710" cy="115214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80020" y="4679899"/>
            <a:ext cx="346710" cy="566471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126730" y="4929530"/>
            <a:ext cx="346710" cy="31684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473440" y="4929530"/>
            <a:ext cx="346710" cy="48006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820150" y="4766310"/>
            <a:ext cx="346710" cy="64328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66860" y="4766310"/>
            <a:ext cx="346710" cy="316839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9513570" y="4641494"/>
            <a:ext cx="346710" cy="441655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860280" y="4641494"/>
            <a:ext cx="346710" cy="518465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0206990" y="4871923"/>
            <a:ext cx="346710" cy="288036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553700" y="4871923"/>
            <a:ext cx="346710" cy="460857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900410" y="4699101"/>
            <a:ext cx="346710" cy="633679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03 | PARALLEL + POWER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OPENING 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What happens when you add a parallel load?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918704" y="4294617"/>
            <a:ext cx="3520440" cy="1272122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918704" y="4305718"/>
            <a:ext cx="82296" cy="1272122"/>
          </a:xfrm>
          <a:prstGeom prst="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47304" y="4435143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100" b="1" i="0" dirty="0">
                <a:solidFill>
                  <a:srgbClr val="17324D"/>
                </a:solidFill>
                <a:latin typeface="Aptos"/>
              </a:rPr>
              <a:t>Before:</a:t>
            </a:r>
            <a:endParaRPr sz="21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147304" y="4768999"/>
            <a:ext cx="3108960" cy="429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2800" b="0" i="0" dirty="0">
                <a:solidFill>
                  <a:srgbClr val="182028"/>
                </a:solidFill>
                <a:latin typeface="Aptos"/>
              </a:rPr>
              <a:t>I = 5mA</a:t>
            </a:r>
            <a:endParaRPr sz="2800" b="0" i="0" dirty="0">
              <a:solidFill>
                <a:srgbClr val="182028"/>
              </a:solidFill>
              <a:latin typeface="Aptos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E98B5335-5991-0C8E-51A1-36B3F05CA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02920" y="1444752"/>
            <a:ext cx="6096000" cy="31599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284AB5-4E4D-3D46-28F3-A150146CC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BECE0E-1E4D-9366-3E97-9DCFA2CC3151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B995772F-2973-4ABC-AE45-899456A8C962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4380FE74-FF3A-5A2A-9067-DE087F4B1D91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3C3D2B5F-C86E-FEC6-88C2-4253AF434475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C61B7D2C-AB01-3222-9034-6B6A38832FCD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5CF7761B-AB26-DED4-3836-4DCF1CA0C44A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C4B4F0C-546C-E07E-851A-3E500BF01556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03 | PARALLEL + POWER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7E6C20-D9B1-5D82-56F7-9C3F99E64732}"/>
              </a:ext>
            </a:extLst>
          </p:cNvPr>
          <p:cNvSpPr txBox="1"/>
          <p:nvPr/>
        </p:nvSpPr>
        <p:spPr>
          <a:xfrm>
            <a:off x="11018520" y="6419088"/>
            <a:ext cx="59436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 dirty="0">
                <a:solidFill>
                  <a:srgbClr val="5F6B73"/>
                </a:solidFill>
                <a:latin typeface="Aptos"/>
              </a:rPr>
              <a:t>0</a:t>
            </a:r>
            <a:r>
              <a:rPr lang="en-US" sz="1000" b="1" i="0" dirty="0">
                <a:solidFill>
                  <a:srgbClr val="5F6B73"/>
                </a:solidFill>
                <a:latin typeface="Aptos"/>
              </a:rPr>
              <a:t>3</a:t>
            </a:r>
            <a:endParaRPr sz="1000" b="1" i="0" dirty="0">
              <a:solidFill>
                <a:srgbClr val="5F6B73"/>
              </a:solidFill>
              <a:latin typeface="Apto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A3E84C-A47E-D2AD-3024-F283D6372CA4}"/>
              </a:ext>
            </a:extLst>
          </p:cNvPr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OPENING CASE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7B7245-A84F-1454-AC9F-4D6FDEB24B70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What happens when you add a parallel load?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D045F209-DCCD-D9D8-A669-72B528B0E7AB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90107FC-6A65-8942-6489-816E02AD164A}"/>
              </a:ext>
            </a:extLst>
          </p:cNvPr>
          <p:cNvSpPr/>
          <p:nvPr/>
        </p:nvSpPr>
        <p:spPr>
          <a:xfrm>
            <a:off x="1007542" y="4305718"/>
            <a:ext cx="3520440" cy="1272122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0518F91-A39F-9D5A-6C07-15E5BB1754A3}"/>
              </a:ext>
            </a:extLst>
          </p:cNvPr>
          <p:cNvSpPr/>
          <p:nvPr/>
        </p:nvSpPr>
        <p:spPr>
          <a:xfrm>
            <a:off x="1007542" y="4305718"/>
            <a:ext cx="82296" cy="1272122"/>
          </a:xfrm>
          <a:prstGeom prst="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9A4935-7069-ADDE-2485-97BD5E9532D7}"/>
              </a:ext>
            </a:extLst>
          </p:cNvPr>
          <p:cNvSpPr txBox="1"/>
          <p:nvPr/>
        </p:nvSpPr>
        <p:spPr>
          <a:xfrm>
            <a:off x="1236142" y="4446244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dirty="0">
                <a:solidFill>
                  <a:srgbClr val="17324D"/>
                </a:solidFill>
                <a:latin typeface="Aptos"/>
              </a:rPr>
              <a:t>Question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81F7A8-2D10-B6A7-B1D9-C1290AD22AA1}"/>
              </a:ext>
            </a:extLst>
          </p:cNvPr>
          <p:cNvSpPr txBox="1"/>
          <p:nvPr/>
        </p:nvSpPr>
        <p:spPr>
          <a:xfrm>
            <a:off x="1236142" y="4780100"/>
            <a:ext cx="3108960" cy="4964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00" b="0" i="0" dirty="0">
                <a:solidFill>
                  <a:srgbClr val="182028"/>
                </a:solidFill>
                <a:latin typeface="Aptos"/>
              </a:rPr>
              <a:t>What must the source now provide, and what happens if it cannot?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C5A56AB-DC02-8A96-FD0D-6EA9810650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18393" y="996046"/>
            <a:ext cx="7453423" cy="3670404"/>
          </a:xfrm>
          <a:prstGeom prst="rect">
            <a:avLst/>
          </a:prstGeom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0E7E13D-7BE2-1FD7-3290-0E65A92803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321789"/>
              </p:ext>
            </p:extLst>
          </p:nvPr>
        </p:nvGraphicFramePr>
        <p:xfrm>
          <a:off x="7602244" y="1383934"/>
          <a:ext cx="3946628" cy="279084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86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6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6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6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2991">
                <a:tc>
                  <a:txBody>
                    <a:bodyPr/>
                    <a:lstStyle/>
                    <a:p>
                      <a:pPr algn="ctr"/>
                      <a:r>
                        <a:rPr lang="es-MX" dirty="0" err="1"/>
                        <a:t>Element</a:t>
                      </a:r>
                      <a:endParaRPr lang="en-US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 err="1"/>
                        <a:t>Voltage</a:t>
                      </a:r>
                      <a:endParaRPr lang="en-US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 err="1"/>
                        <a:t>Current</a:t>
                      </a:r>
                      <a:endParaRPr lang="en-US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 err="1"/>
                        <a:t>Power</a:t>
                      </a:r>
                      <a:endParaRPr lang="en-US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2618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R1</a:t>
                      </a:r>
                      <a:endParaRPr lang="en-US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2618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R2</a:t>
                      </a:r>
                      <a:endParaRPr lang="en-US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261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Source</a:t>
                      </a:r>
                      <a:endParaRPr lang="en-US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Rounded Rectangle 16">
            <a:extLst>
              <a:ext uri="{FF2B5EF4-FFF2-40B4-BE49-F238E27FC236}">
                <a16:creationId xmlns:a16="http://schemas.microsoft.com/office/drawing/2014/main" id="{D380F83F-AD2B-5AB7-51CA-C06F9C59DF51}"/>
              </a:ext>
            </a:extLst>
          </p:cNvPr>
          <p:cNvSpPr/>
          <p:nvPr/>
        </p:nvSpPr>
        <p:spPr>
          <a:xfrm>
            <a:off x="5550408" y="4364463"/>
            <a:ext cx="5341442" cy="1972329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929A9FF-919A-0AD5-A297-9BBFB0D4C185}"/>
              </a:ext>
            </a:extLst>
          </p:cNvPr>
          <p:cNvSpPr/>
          <p:nvPr/>
        </p:nvSpPr>
        <p:spPr>
          <a:xfrm>
            <a:off x="5518404" y="4446244"/>
            <a:ext cx="82296" cy="1860179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5F3226-0D49-977B-59F9-C4758A949B39}"/>
              </a:ext>
            </a:extLst>
          </p:cNvPr>
          <p:cNvSpPr txBox="1"/>
          <p:nvPr/>
        </p:nvSpPr>
        <p:spPr>
          <a:xfrm>
            <a:off x="5779008" y="4446244"/>
            <a:ext cx="4919472" cy="1594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lnSpc>
                <a:spcPct val="102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82028"/>
                </a:solidFill>
                <a:latin typeface="Aptos"/>
              </a:rPr>
              <a:t>The load determines the requested current through Ohm’s law. </a:t>
            </a:r>
          </a:p>
          <a:p>
            <a:pPr marL="285750" indent="-285750">
              <a:lnSpc>
                <a:spcPct val="102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82028"/>
                </a:solidFill>
                <a:latin typeface="Aptos"/>
              </a:rPr>
              <a:t>If the source reaches its current limit, its output voltage may fall.</a:t>
            </a:r>
          </a:p>
          <a:p>
            <a:pPr marL="285750" indent="-285750">
              <a:lnSpc>
                <a:spcPct val="102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82028"/>
                </a:solidFill>
                <a:latin typeface="Aptos"/>
              </a:rPr>
              <a:t>Wiring and connection resistance can also produce voltage droop under load.</a:t>
            </a:r>
            <a:endParaRPr sz="1700" b="0" i="0" dirty="0">
              <a:solidFill>
                <a:srgbClr val="182028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13970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/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3E331-7DA3-D6BB-9AC9-883E3DB45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81EE50-1F04-11E1-D59C-0997B48F143A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6F110C53-AA84-166E-EDD1-15B7E40065C1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0DACA577-9A2A-276C-DCDC-486D3D912896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4995C5E3-19E7-F6B1-835A-241EDCDCBBBA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C1A0BE85-514C-4554-2693-24CFEFA2C962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10514243-89C6-FB69-EF23-2E05CC829C71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952EABA-418A-94C3-FA49-6F4330B0F2B9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03 | PARALLEL + POWER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740567-82F4-8385-EEC5-E0F2957DFF41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D452AF-6872-D723-886D-8B51E7704BC3}"/>
              </a:ext>
            </a:extLst>
          </p:cNvPr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OPENING CASE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83B42D-3E9D-3B75-2FDE-59CC22E9A285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dirty="0">
                <a:solidFill>
                  <a:srgbClr val="17324D"/>
                </a:solidFill>
                <a:latin typeface="Aptos Display"/>
              </a:rPr>
              <a:t>Battery Load Testing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724D333B-EEFD-E451-05DC-5DF1CEB1BFF1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24086363-1447-6C29-5061-A7F2C817B0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8903" y="1354633"/>
            <a:ext cx="8189641" cy="5043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72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9086C2-C4F7-B543-DEAB-E50E9A29D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154AC5-410E-4BC0-4551-2BCC3EB31118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C7308D84-5E13-DE70-8AF9-345CD91AABA2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1C89FA69-36F0-694F-20F9-441E525ABD7A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A9394F0B-B930-D4A2-8228-84A2D5E762E6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8D2DCB37-F15D-5FE7-8C03-D3D65BC183F0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7C9B7B55-6832-33C4-0BCF-C2DA382D4352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AEACB16-8DC0-0803-526C-345917CF7F62}"/>
              </a:ext>
            </a:extLst>
          </p:cNvPr>
          <p:cNvSpPr txBox="1"/>
          <p:nvPr/>
        </p:nvSpPr>
        <p:spPr>
          <a:xfrm>
            <a:off x="562356" y="6464808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03 | PARALLEL + POWER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DA611E-F997-8B2D-37AA-76A189802FB0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0C3437-F560-C14D-C7C2-5684948F8FD5}"/>
              </a:ext>
            </a:extLst>
          </p:cNvPr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OPENING CASE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B550FF-5CDB-EC75-1377-7643DE3BC57B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dirty="0">
                <a:solidFill>
                  <a:srgbClr val="17324D"/>
                </a:solidFill>
                <a:latin typeface="Aptos Display"/>
              </a:rPr>
              <a:t>Ampacity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763CB668-D2B8-4ECE-7236-71EED3A6DE8D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95126CF9-FCBD-AFFF-84AC-088290EFFA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87610" y="2348455"/>
            <a:ext cx="2505075" cy="2009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F80E920-23A7-A100-D263-27A69850D5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799058" y="2466505"/>
            <a:ext cx="1891725" cy="189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EA12C36-6242-66AB-2026-14AEC3E16506}"/>
              </a:ext>
            </a:extLst>
          </p:cNvPr>
          <p:cNvSpPr txBox="1"/>
          <p:nvPr/>
        </p:nvSpPr>
        <p:spPr>
          <a:xfrm>
            <a:off x="5838306" y="4446244"/>
            <a:ext cx="1690033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100" b="1" i="0" dirty="0">
                <a:solidFill>
                  <a:srgbClr val="17324D"/>
                </a:solidFill>
                <a:latin typeface="Aptos"/>
              </a:rPr>
              <a:t>700 A</a:t>
            </a:r>
            <a:endParaRPr sz="21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A35A48-AE0D-D770-CDFA-5E30F9E83164}"/>
              </a:ext>
            </a:extLst>
          </p:cNvPr>
          <p:cNvSpPr txBox="1"/>
          <p:nvPr/>
        </p:nvSpPr>
        <p:spPr>
          <a:xfrm>
            <a:off x="8560089" y="4446244"/>
            <a:ext cx="123112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100" b="1" i="0" dirty="0">
                <a:solidFill>
                  <a:srgbClr val="17324D"/>
                </a:solidFill>
                <a:latin typeface="Aptos"/>
              </a:rPr>
              <a:t>3 A</a:t>
            </a:r>
            <a:endParaRPr sz="21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37CAAF4-8C8C-4FFC-D076-DF72ABED90A3}"/>
              </a:ext>
            </a:extLst>
          </p:cNvPr>
          <p:cNvSpPr txBox="1"/>
          <p:nvPr/>
        </p:nvSpPr>
        <p:spPr>
          <a:xfrm>
            <a:off x="10208019" y="4446244"/>
            <a:ext cx="123112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100" b="1" i="0" dirty="0">
                <a:solidFill>
                  <a:srgbClr val="17324D"/>
                </a:solidFill>
                <a:latin typeface="Aptos"/>
              </a:rPr>
              <a:t>0.75 A</a:t>
            </a:r>
            <a:endParaRPr sz="21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8689AD-898E-3725-1D95-907DC26BE8A2}"/>
              </a:ext>
            </a:extLst>
          </p:cNvPr>
          <p:cNvSpPr txBox="1"/>
          <p:nvPr/>
        </p:nvSpPr>
        <p:spPr>
          <a:xfrm>
            <a:off x="594359" y="1805318"/>
            <a:ext cx="3997737" cy="4964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1600" b="0" i="0" dirty="0">
                <a:solidFill>
                  <a:srgbClr val="182028"/>
                </a:solidFill>
                <a:latin typeface="Aptos"/>
              </a:rPr>
              <a:t>The maximum safe current for a component under certain conditions.</a:t>
            </a:r>
            <a:endParaRPr sz="1600" b="0" i="0" dirty="0">
              <a:solidFill>
                <a:srgbClr val="182028"/>
              </a:solidFill>
              <a:latin typeface="Aptos"/>
            </a:endParaRPr>
          </a:p>
        </p:txBody>
      </p:sp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3EAD29C2-4654-0F39-BD5E-3FBDF989C5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9467929"/>
              </p:ext>
            </p:extLst>
          </p:nvPr>
        </p:nvGraphicFramePr>
        <p:xfrm>
          <a:off x="3798325" y="2301736"/>
          <a:ext cx="957488" cy="20097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406820" imgH="811890" progId="Visio.Drawing.11">
                  <p:embed/>
                </p:oleObj>
              </mc:Choice>
              <mc:Fallback>
                <p:oleObj name="Visio" r:id="rId5" imgW="406820" imgH="811890" progId="Visio.Drawing.11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8325" y="2301736"/>
                        <a:ext cx="957488" cy="200977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FDD407D4-52E5-8D95-FA95-62FA74C97F5E}"/>
              </a:ext>
            </a:extLst>
          </p:cNvPr>
          <p:cNvSpPr txBox="1"/>
          <p:nvPr/>
        </p:nvSpPr>
        <p:spPr>
          <a:xfrm>
            <a:off x="594359" y="5120091"/>
            <a:ext cx="3997737" cy="4964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600" dirty="0">
                <a:solidFill>
                  <a:srgbClr val="182028"/>
                </a:solidFill>
                <a:latin typeface="Aptos"/>
              </a:rPr>
              <a:t>stored charge, normally measured in Ah or </a:t>
            </a:r>
            <a:r>
              <a:rPr lang="en-US" sz="1600" dirty="0" err="1">
                <a:solidFill>
                  <a:srgbClr val="182028"/>
                </a:solidFill>
                <a:latin typeface="Aptos"/>
              </a:rPr>
              <a:t>mAh</a:t>
            </a:r>
            <a:r>
              <a:rPr lang="en-US" sz="1600" dirty="0">
                <a:solidFill>
                  <a:srgbClr val="182028"/>
                </a:solidFill>
                <a:latin typeface="Aptos"/>
              </a:rPr>
              <a:t>.</a:t>
            </a:r>
            <a:endParaRPr sz="1600" b="0" i="0" dirty="0">
              <a:solidFill>
                <a:srgbClr val="182028"/>
              </a:solidFill>
              <a:latin typeface="Apto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28F520D-D227-FD0A-3A42-AABFFCB311E1}"/>
              </a:ext>
            </a:extLst>
          </p:cNvPr>
          <p:cNvSpPr txBox="1"/>
          <p:nvPr/>
        </p:nvSpPr>
        <p:spPr>
          <a:xfrm>
            <a:off x="594360" y="4849015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000" b="1" i="0" dirty="0">
                <a:solidFill>
                  <a:srgbClr val="17324D"/>
                </a:solidFill>
                <a:latin typeface="Aptos Display"/>
              </a:rPr>
              <a:t>Battery Capacity</a:t>
            </a:r>
            <a:endParaRPr sz="2000" b="1" i="0" dirty="0">
              <a:solidFill>
                <a:srgbClr val="17324D"/>
              </a:solidFill>
              <a:latin typeface="Aptos Display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BDCED4C-D4A4-5658-E77C-0BC1E080AD8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 flipH="1">
            <a:off x="10245938" y="2420751"/>
            <a:ext cx="577026" cy="2098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4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83EED8-919A-0843-E6B5-AE5336C38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FEDEB7-3254-5150-5C17-3CEABDBEDC81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ACB9BA0D-0395-25A0-FC1B-4B743B58CF87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2FCA5D6C-0539-6C8A-9C59-118B496DFFF9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4A7DC54F-F6AF-035F-75B7-9C9BD1C5AB02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183C8B6E-A97A-3874-158F-301CB4AE2462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ABF3F92C-02CD-7249-4227-FE7CBE2E5295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DFC88AB-8899-4E44-E3CC-1C89E38AD99F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03 | PARALLEL + POWER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A6CF42-CFCC-D14C-4B59-7BE2A6E6D77E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A309DB-45B6-414F-5BD7-F04557E7145B}"/>
              </a:ext>
            </a:extLst>
          </p:cNvPr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OPENING CASE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C36467-48DD-E957-272E-80C959B17CBB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What happens when you add sources?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199A73B0-5221-D8E4-ACAF-982CC7ABBC89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9DB47894-527C-D899-4527-A4BB4D0E1E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067675" y="1269236"/>
            <a:ext cx="5001137" cy="359784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E7E6D04D-DCA6-FFD9-E714-150C8F15569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flipH="1">
            <a:off x="7551802" y="2018760"/>
            <a:ext cx="577026" cy="2098794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0A453DA1-1405-E92A-C331-6945B9CB001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flipH="1">
            <a:off x="9612955" y="2018760"/>
            <a:ext cx="577026" cy="2098794"/>
          </a:xfrm>
          <a:prstGeom prst="rect">
            <a:avLst/>
          </a:prstGeom>
        </p:spPr>
      </p:pic>
      <p:sp>
        <p:nvSpPr>
          <p:cNvPr id="36" name="Rounded Rectangle 12">
            <a:extLst>
              <a:ext uri="{FF2B5EF4-FFF2-40B4-BE49-F238E27FC236}">
                <a16:creationId xmlns:a16="http://schemas.microsoft.com/office/drawing/2014/main" id="{037FF649-9454-EA10-39C4-CCE4DAD77D47}"/>
              </a:ext>
            </a:extLst>
          </p:cNvPr>
          <p:cNvSpPr/>
          <p:nvPr/>
        </p:nvSpPr>
        <p:spPr>
          <a:xfrm>
            <a:off x="977342" y="4851136"/>
            <a:ext cx="4160948" cy="1374134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B9B0B25-7D64-5C10-F35B-19EA275987F1}"/>
              </a:ext>
            </a:extLst>
          </p:cNvPr>
          <p:cNvSpPr/>
          <p:nvPr/>
        </p:nvSpPr>
        <p:spPr>
          <a:xfrm>
            <a:off x="936194" y="4867078"/>
            <a:ext cx="82296" cy="1358192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2397AE6-39E3-58AB-0437-3AD18D18AD6A}"/>
              </a:ext>
            </a:extLst>
          </p:cNvPr>
          <p:cNvSpPr txBox="1"/>
          <p:nvPr/>
        </p:nvSpPr>
        <p:spPr>
          <a:xfrm>
            <a:off x="1205942" y="5032453"/>
            <a:ext cx="3328758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200" b="1" i="0" dirty="0">
                <a:solidFill>
                  <a:srgbClr val="17324D"/>
                </a:solidFill>
                <a:latin typeface="Aptos"/>
              </a:rPr>
              <a:t>SERIES</a:t>
            </a:r>
            <a:endParaRPr sz="22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DB15C89-F5F8-7297-1B88-DE987C9B68C1}"/>
              </a:ext>
            </a:extLst>
          </p:cNvPr>
          <p:cNvSpPr txBox="1"/>
          <p:nvPr/>
        </p:nvSpPr>
        <p:spPr>
          <a:xfrm>
            <a:off x="1205942" y="5433238"/>
            <a:ext cx="3932348" cy="558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1800" b="0" i="0" dirty="0">
                <a:solidFill>
                  <a:srgbClr val="182028"/>
                </a:solidFill>
                <a:latin typeface="Aptos"/>
              </a:rPr>
              <a:t>Voltages add</a:t>
            </a:r>
          </a:p>
          <a:p>
            <a:pPr algn="l">
              <a:lnSpc>
                <a:spcPct val="102000"/>
              </a:lnSpc>
            </a:pPr>
            <a:r>
              <a:rPr lang="en-US" dirty="0">
                <a:solidFill>
                  <a:srgbClr val="182028"/>
                </a:solidFill>
                <a:latin typeface="Aptos"/>
              </a:rPr>
              <a:t>Current is limited by weakest source</a:t>
            </a:r>
            <a:endParaRPr sz="1800" b="0" i="0" dirty="0">
              <a:solidFill>
                <a:srgbClr val="182028"/>
              </a:solidFill>
              <a:latin typeface="Aptos"/>
            </a:endParaRPr>
          </a:p>
        </p:txBody>
      </p:sp>
      <p:sp>
        <p:nvSpPr>
          <p:cNvPr id="44" name="Rounded Rectangle 16">
            <a:extLst>
              <a:ext uri="{FF2B5EF4-FFF2-40B4-BE49-F238E27FC236}">
                <a16:creationId xmlns:a16="http://schemas.microsoft.com/office/drawing/2014/main" id="{CBB7F7F6-D7DF-DAFF-EB76-FB9B90E996F7}"/>
              </a:ext>
            </a:extLst>
          </p:cNvPr>
          <p:cNvSpPr/>
          <p:nvPr/>
        </p:nvSpPr>
        <p:spPr>
          <a:xfrm>
            <a:off x="7108453" y="4533872"/>
            <a:ext cx="3910067" cy="1210340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9FA6827-042E-F360-EE08-18F417F192CF}"/>
              </a:ext>
            </a:extLst>
          </p:cNvPr>
          <p:cNvSpPr/>
          <p:nvPr/>
        </p:nvSpPr>
        <p:spPr>
          <a:xfrm>
            <a:off x="7108454" y="4431418"/>
            <a:ext cx="111716" cy="1475256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8B57DE6-BA01-1056-4D9C-D5E3A47E080C}"/>
              </a:ext>
            </a:extLst>
          </p:cNvPr>
          <p:cNvSpPr txBox="1"/>
          <p:nvPr/>
        </p:nvSpPr>
        <p:spPr>
          <a:xfrm>
            <a:off x="7337054" y="4776744"/>
            <a:ext cx="3351486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200" b="1" i="0" dirty="0">
                <a:solidFill>
                  <a:srgbClr val="17324D"/>
                </a:solidFill>
                <a:latin typeface="Aptos"/>
              </a:rPr>
              <a:t>PARALLEL</a:t>
            </a:r>
            <a:endParaRPr sz="22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C198B3C-D08B-3DE9-F532-8F0558603F07}"/>
              </a:ext>
            </a:extLst>
          </p:cNvPr>
          <p:cNvSpPr txBox="1"/>
          <p:nvPr/>
        </p:nvSpPr>
        <p:spPr>
          <a:xfrm>
            <a:off x="7337054" y="5169046"/>
            <a:ext cx="3351486" cy="26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1700" b="0" i="0" dirty="0">
                <a:solidFill>
                  <a:srgbClr val="182028"/>
                </a:solidFill>
                <a:latin typeface="Aptos"/>
              </a:rPr>
              <a:t>Same voltage, more current</a:t>
            </a:r>
            <a:endParaRPr sz="1700" b="0" i="0" dirty="0">
              <a:solidFill>
                <a:srgbClr val="182028"/>
              </a:solidFill>
              <a:latin typeface="Aptos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0363129E-1234-1608-499C-3D068B663D7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85902" y="910690"/>
            <a:ext cx="3492573" cy="4490451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E43118A6-B067-ED8A-2659-F6675537378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flipH="1">
            <a:off x="2770983" y="1449078"/>
            <a:ext cx="440569" cy="1602464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E1E9AE70-DCD8-A933-685C-346F890C88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flipH="1">
            <a:off x="2770982" y="3012512"/>
            <a:ext cx="440569" cy="1602464"/>
          </a:xfrm>
          <a:prstGeom prst="rect">
            <a:avLst/>
          </a:prstGeom>
        </p:spPr>
      </p:pic>
      <p:sp>
        <p:nvSpPr>
          <p:cNvPr id="14" name="Rounded Rectangle 24">
            <a:extLst>
              <a:ext uri="{FF2B5EF4-FFF2-40B4-BE49-F238E27FC236}">
                <a16:creationId xmlns:a16="http://schemas.microsoft.com/office/drawing/2014/main" id="{94FCD6BB-27E1-CA77-DCEB-61C106ED2A23}"/>
              </a:ext>
            </a:extLst>
          </p:cNvPr>
          <p:cNvSpPr/>
          <p:nvPr/>
        </p:nvSpPr>
        <p:spPr>
          <a:xfrm>
            <a:off x="2743200" y="6077189"/>
            <a:ext cx="6675120" cy="420624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7B5A66-070A-CF26-784B-D7C80237022D}"/>
              </a:ext>
            </a:extLst>
          </p:cNvPr>
          <p:cNvSpPr txBox="1"/>
          <p:nvPr/>
        </p:nvSpPr>
        <p:spPr>
          <a:xfrm>
            <a:off x="3155104" y="6180548"/>
            <a:ext cx="6263216" cy="21390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lang="en-US" sz="1150" b="1" i="0" dirty="0">
                <a:solidFill>
                  <a:srgbClr val="FFFFFF"/>
                </a:solidFill>
                <a:latin typeface="Aptos"/>
              </a:rPr>
              <a:t>NEVER PARALLEL DIFFERENT SOURCES</a:t>
            </a:r>
            <a:endParaRPr sz="1150" b="1" i="0" dirty="0">
              <a:solidFill>
                <a:srgbClr val="FFFFFF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748674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03 | PARALLEL + POWER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PARALLEL RESISTANCE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dirty="0">
                <a:solidFill>
                  <a:srgbClr val="17324D"/>
                </a:solidFill>
                <a:latin typeface="Aptos Display"/>
              </a:rPr>
              <a:t>Equivalent </a:t>
            </a:r>
            <a:r>
              <a:rPr lang="en-US" sz="2700" b="1" i="0" dirty="0">
                <a:solidFill>
                  <a:srgbClr val="17324D"/>
                </a:solidFill>
                <a:latin typeface="Aptos Display"/>
              </a:rPr>
              <a:t>resistance</a:t>
            </a:r>
            <a:endParaRPr sz="27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9808" y="4146804"/>
            <a:ext cx="5029200" cy="1645919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54982" y="4146804"/>
            <a:ext cx="82296" cy="1705356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960722" y="4454631"/>
                <a:ext cx="4223926" cy="104336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𝒆𝒒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800" b="1" i="1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800" b="1" i="1" smtClean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1" i="1" smtClean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sz="2800" b="1" i="1" smtClean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  <m:t>𝑹𝒏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sz="2800" b="1" i="0" dirty="0">
                  <a:solidFill>
                    <a:srgbClr val="17324D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722" y="4454631"/>
                <a:ext cx="4223926" cy="10433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ounded Rectangle 16"/>
          <p:cNvSpPr/>
          <p:nvPr/>
        </p:nvSpPr>
        <p:spPr>
          <a:xfrm>
            <a:off x="6254496" y="4183118"/>
            <a:ext cx="5029200" cy="1595890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6208" y="4183118"/>
            <a:ext cx="64008" cy="1609605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483096" y="4469786"/>
                <a:ext cx="4617720" cy="469616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𝒆𝒒</m:t>
                          </m:r>
                        </m:sub>
                      </m:sSub>
                      <m:r>
                        <a:rPr lang="en-US" sz="2800" b="1" i="1" dirty="0" smtClean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 &lt;</m:t>
                      </m:r>
                      <m:sSub>
                        <m:sSubPr>
                          <m:ctrlPr>
                            <a:rPr lang="en-US" sz="2800" b="1" i="1" dirty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𝒎𝒊𝒏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3096" y="4469786"/>
                <a:ext cx="4617720" cy="469616"/>
              </a:xfrm>
              <a:prstGeom prst="rect">
                <a:avLst/>
              </a:prstGeom>
              <a:blipFill>
                <a:blip r:embed="rId4"/>
                <a:stretch>
                  <a:fillRect b="-12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6483096" y="4908698"/>
            <a:ext cx="4617720" cy="2679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0" i="0" dirty="0">
                <a:solidFill>
                  <a:srgbClr val="182028"/>
                </a:solidFill>
                <a:latin typeface="Aptos"/>
              </a:rPr>
              <a:t>Every added parallel path lowers equivalent resistance.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3712F4A-472B-DA27-750E-4FBAA3838A7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67763" y="1284082"/>
            <a:ext cx="5794709" cy="2853578"/>
          </a:xfrm>
          <a:prstGeom prst="rect">
            <a:avLst/>
          </a:prstGeom>
        </p:spPr>
      </p:pic>
      <p:sp>
        <p:nvSpPr>
          <p:cNvPr id="26" name="Rounded Rectangle 20">
            <a:extLst>
              <a:ext uri="{FF2B5EF4-FFF2-40B4-BE49-F238E27FC236}">
                <a16:creationId xmlns:a16="http://schemas.microsoft.com/office/drawing/2014/main" id="{07F2C58C-BB0B-71BF-89D1-FF26EEF8B72A}"/>
              </a:ext>
            </a:extLst>
          </p:cNvPr>
          <p:cNvSpPr/>
          <p:nvPr/>
        </p:nvSpPr>
        <p:spPr>
          <a:xfrm>
            <a:off x="6236208" y="1994428"/>
            <a:ext cx="5202936" cy="1762722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63BD554-529D-DBFD-07D4-A356D87C7778}"/>
              </a:ext>
            </a:extLst>
          </p:cNvPr>
          <p:cNvSpPr/>
          <p:nvPr/>
        </p:nvSpPr>
        <p:spPr>
          <a:xfrm>
            <a:off x="6236208" y="1917717"/>
            <a:ext cx="82296" cy="1900946"/>
          </a:xfrm>
          <a:prstGeom prst="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48D9463-E30E-62BF-76BA-A4B8A39B5046}"/>
              </a:ext>
            </a:extLst>
          </p:cNvPr>
          <p:cNvSpPr txBox="1"/>
          <p:nvPr/>
        </p:nvSpPr>
        <p:spPr>
          <a:xfrm>
            <a:off x="6464808" y="2080559"/>
            <a:ext cx="4549544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800" b="1" i="0" dirty="0">
                <a:solidFill>
                  <a:srgbClr val="17324D"/>
                </a:solidFill>
                <a:latin typeface="Aptos"/>
              </a:rPr>
              <a:t>A shortcut</a:t>
            </a:r>
            <a:endParaRPr sz="2800" b="1" i="0" dirty="0">
              <a:solidFill>
                <a:srgbClr val="17324D"/>
              </a:solidFill>
              <a:latin typeface="Apto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D0B7ABB-5E2C-6C5B-3D1A-7A77575781F5}"/>
                  </a:ext>
                </a:extLst>
              </p:cNvPr>
              <p:cNvSpPr txBox="1"/>
              <p:nvPr/>
            </p:nvSpPr>
            <p:spPr>
              <a:xfrm>
                <a:off x="6483096" y="2647119"/>
                <a:ext cx="4617720" cy="1022588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>
                  <a:lnSpc>
                    <a:spcPct val="102000"/>
                  </a:lnSpc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𝑒𝑞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i="1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18202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srgbClr val="182028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srgbClr val="182028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18202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srgbClr val="182028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182028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18202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srgbClr val="182028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srgbClr val="182028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3200" b="0" i="1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18202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srgbClr val="182028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182028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sz="3200" b="0" i="0" dirty="0">
                  <a:solidFill>
                    <a:srgbClr val="182028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D0B7ABB-5E2C-6C5B-3D1A-7A77575781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3096" y="2647119"/>
                <a:ext cx="4617720" cy="10225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8" grpId="0" animBg="1"/>
      <p:bldP spid="30" grpId="0"/>
      <p:bldP spid="3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696D17-B376-927F-40A8-8E559218D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58E8C0-CAD9-362F-6E7F-E2FEC4818AD8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46591B3F-B1F5-9052-C3FC-097C892EC25A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E844FA49-0149-D60A-ECB3-C16EE04EFE57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4B6904A9-4129-FF1A-CC6F-64FAD98A391D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63BCE655-8772-5AA9-8E73-32746C213E77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22C3642B-C062-14C4-585B-74AFA89E4ECE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E2CF991-E7A2-75C5-533D-D3BB3C16CCAB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03 | PARALLEL + POWER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09E415-C110-F6C5-3A0A-D0B96DC26E3F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CE1A32-DFE7-04BD-12AE-6EA69F027BB6}"/>
              </a:ext>
            </a:extLst>
          </p:cNvPr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PARALLEL RESISTANCE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8B9D6A-BD7A-B7F0-BB60-215D3F08E3A9}"/>
              </a:ext>
            </a:extLst>
          </p:cNvPr>
          <p:cNvSpPr txBox="1"/>
          <p:nvPr/>
        </p:nvSpPr>
        <p:spPr>
          <a:xfrm>
            <a:off x="594360" y="749808"/>
            <a:ext cx="108813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700" b="1" i="0" dirty="0">
                <a:solidFill>
                  <a:srgbClr val="17324D"/>
                </a:solidFill>
                <a:latin typeface="Aptos Display"/>
              </a:rPr>
              <a:t>Conductance</a:t>
            </a:r>
            <a:endParaRPr sz="27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29D6E7AA-FBA7-610B-7CF2-69E38BA48A21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3F70B2C-5734-6FEB-F547-2AA42C49939F}"/>
              </a:ext>
            </a:extLst>
          </p:cNvPr>
          <p:cNvSpPr/>
          <p:nvPr/>
        </p:nvSpPr>
        <p:spPr>
          <a:xfrm>
            <a:off x="5943600" y="1828800"/>
            <a:ext cx="5029200" cy="3429000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DD378E-4CC0-CB9F-12A5-4B03661151AB}"/>
              </a:ext>
            </a:extLst>
          </p:cNvPr>
          <p:cNvSpPr/>
          <p:nvPr/>
        </p:nvSpPr>
        <p:spPr>
          <a:xfrm>
            <a:off x="5943600" y="1828800"/>
            <a:ext cx="82296" cy="3429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819A7E-D900-CF20-025C-F56DBD069B6B}"/>
              </a:ext>
            </a:extLst>
          </p:cNvPr>
          <p:cNvSpPr txBox="1"/>
          <p:nvPr/>
        </p:nvSpPr>
        <p:spPr>
          <a:xfrm>
            <a:off x="6172200" y="1993392"/>
            <a:ext cx="46177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800" b="1" i="0" dirty="0">
                <a:solidFill>
                  <a:srgbClr val="17324D"/>
                </a:solidFill>
                <a:latin typeface="Aptos"/>
              </a:rPr>
              <a:t>The reciprocal of resistance</a:t>
            </a:r>
            <a:endParaRPr sz="2800" b="1" i="0" dirty="0">
              <a:solidFill>
                <a:srgbClr val="17324D"/>
              </a:solidFill>
              <a:latin typeface="Apto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0B17687-3DDC-C986-E60F-55062319391C}"/>
                  </a:ext>
                </a:extLst>
              </p:cNvPr>
              <p:cNvSpPr txBox="1"/>
              <p:nvPr/>
            </p:nvSpPr>
            <p:spPr>
              <a:xfrm>
                <a:off x="6172200" y="2432304"/>
                <a:ext cx="4617720" cy="2598212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lang="en-US" sz="3600" dirty="0">
                    <a:latin typeface="Aptos" panose="020B0004020202020204" pitchFamily="34" charset="0"/>
                  </a:rPr>
                  <a:t> </a:t>
                </a:r>
              </a:p>
              <a:p>
                <a:endParaRPr lang="en-US" dirty="0">
                  <a:latin typeface="Aptos" panose="020B0004020202020204" pitchFamily="34" charset="0"/>
                </a:endParaRPr>
              </a:p>
              <a:p>
                <a:r>
                  <a:rPr lang="en-US" dirty="0">
                    <a:latin typeface="Aptos" panose="020B0004020202020204" pitchFamily="34" charset="0"/>
                  </a:rPr>
                  <a:t>Units: Siemens (S)</a:t>
                </a:r>
              </a:p>
              <a:p>
                <a:r>
                  <a:rPr lang="en-US" dirty="0">
                    <a:latin typeface="Aptos" panose="020B0004020202020204" pitchFamily="34" charset="0"/>
                  </a:rPr>
                  <a:t>1 Ω = 1 S</a:t>
                </a:r>
              </a:p>
              <a:p>
                <a:r>
                  <a:rPr lang="en-US" dirty="0">
                    <a:latin typeface="Aptos" panose="020B0004020202020204" pitchFamily="34" charset="0"/>
                  </a:rPr>
                  <a:t>1 </a:t>
                </a:r>
                <a:r>
                  <a:rPr lang="en-US" dirty="0" err="1">
                    <a:latin typeface="Aptos" panose="020B0004020202020204" pitchFamily="34" charset="0"/>
                  </a:rPr>
                  <a:t>kΩ</a:t>
                </a:r>
                <a:r>
                  <a:rPr lang="en-US" dirty="0">
                    <a:latin typeface="Aptos" panose="020B0004020202020204" pitchFamily="34" charset="0"/>
                  </a:rPr>
                  <a:t> = 1 mS</a:t>
                </a:r>
              </a:p>
              <a:p>
                <a:r>
                  <a:rPr lang="en-US" dirty="0">
                    <a:latin typeface="Aptos" panose="020B0004020202020204" pitchFamily="34" charset="0"/>
                  </a:rPr>
                  <a:t>1 MΩ = 1 µS</a:t>
                </a:r>
              </a:p>
              <a:p>
                <a:r>
                  <a:rPr lang="en-US" sz="2800" dirty="0">
                    <a:latin typeface="Aptos" panose="020B0004020202020204" pitchFamily="34" charset="0"/>
                  </a:rPr>
                  <a:t>G</a:t>
                </a:r>
                <a:r>
                  <a:rPr lang="en-US" sz="2800" baseline="-25000" dirty="0">
                    <a:latin typeface="Aptos" panose="020B0004020202020204" pitchFamily="34" charset="0"/>
                  </a:rPr>
                  <a:t>T</a:t>
                </a:r>
                <a:r>
                  <a:rPr lang="en-US" sz="2800" dirty="0">
                    <a:latin typeface="Aptos" panose="020B0004020202020204" pitchFamily="34" charset="0"/>
                  </a:rPr>
                  <a:t> = G</a:t>
                </a:r>
                <a:r>
                  <a:rPr lang="en-US" sz="2800" baseline="-25000" dirty="0">
                    <a:latin typeface="Aptos" panose="020B0004020202020204" pitchFamily="34" charset="0"/>
                  </a:rPr>
                  <a:t>1</a:t>
                </a:r>
                <a:r>
                  <a:rPr lang="en-US" sz="2800" dirty="0">
                    <a:latin typeface="Aptos" panose="020B0004020202020204" pitchFamily="34" charset="0"/>
                  </a:rPr>
                  <a:t> + G</a:t>
                </a:r>
                <a:r>
                  <a:rPr lang="en-US" sz="2800" baseline="-25000" dirty="0">
                    <a:latin typeface="Aptos" panose="020B0004020202020204" pitchFamily="34" charset="0"/>
                  </a:rPr>
                  <a:t>2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0B17687-3DDC-C986-E60F-5506231939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2432304"/>
                <a:ext cx="4617720" cy="2598212"/>
              </a:xfrm>
              <a:prstGeom prst="rect">
                <a:avLst/>
              </a:prstGeom>
              <a:blipFill>
                <a:blip r:embed="rId3"/>
                <a:stretch>
                  <a:fillRect l="-4756" b="-7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C064D0EC-9A3F-142B-6B0C-D402343BE2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1680445"/>
              </p:ext>
            </p:extLst>
          </p:nvPr>
        </p:nvGraphicFramePr>
        <p:xfrm>
          <a:off x="775023" y="2048195"/>
          <a:ext cx="4558145" cy="26650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028666" imgH="600210" progId="Visio.Drawing.11">
                  <p:embed/>
                </p:oleObj>
              </mc:Choice>
              <mc:Fallback>
                <p:oleObj name="Visio" r:id="rId4" imgW="1028666" imgH="600210" progId="Visio.Drawing.11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023" y="2048195"/>
                        <a:ext cx="4558145" cy="266504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91092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03 | PARALLEL + POWER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WORKED 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Loading Effects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696200" y="1828800"/>
            <a:ext cx="3276600" cy="3429000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696200" y="1828800"/>
            <a:ext cx="82296" cy="3429000"/>
          </a:xfrm>
          <a:prstGeom prst="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24800" y="3630307"/>
            <a:ext cx="28651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000" b="1" i="0" dirty="0">
                <a:solidFill>
                  <a:srgbClr val="17324D"/>
                </a:solidFill>
                <a:latin typeface="Aptos"/>
              </a:rPr>
              <a:t>After adding voltmeter:</a:t>
            </a:r>
            <a:endParaRPr sz="20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2743200" y="5596128"/>
            <a:ext cx="6675120" cy="420624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155104" y="5699487"/>
            <a:ext cx="6263216" cy="21390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THE INSTRUMENT BECOMES PART OF THE CIRCUIT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FAD34E-DEEA-DF2C-0C06-2C400A92271E}"/>
              </a:ext>
            </a:extLst>
          </p:cNvPr>
          <p:cNvSpPr txBox="1"/>
          <p:nvPr/>
        </p:nvSpPr>
        <p:spPr>
          <a:xfrm>
            <a:off x="7924800" y="2054834"/>
            <a:ext cx="28651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000" b="1" i="0" dirty="0">
                <a:solidFill>
                  <a:srgbClr val="17324D"/>
                </a:solidFill>
                <a:latin typeface="Aptos"/>
              </a:rPr>
              <a:t>Before adding voltmeter:</a:t>
            </a:r>
            <a:endParaRPr sz="2000" b="1" i="0" dirty="0">
              <a:solidFill>
                <a:srgbClr val="17324D"/>
              </a:solidFill>
              <a:latin typeface="Aptos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B0E18A40-7F9D-396D-B360-983CDA8C49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b="9995"/>
          <a:stretch>
            <a:fillRect/>
          </a:stretch>
        </p:blipFill>
        <p:spPr>
          <a:xfrm>
            <a:off x="310896" y="1196084"/>
            <a:ext cx="7602213" cy="38806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0114801-EE9C-FFED-226F-79A1106F81C4}"/>
                  </a:ext>
                </a:extLst>
              </p:cNvPr>
              <p:cNvSpPr txBox="1"/>
              <p:nvPr/>
            </p:nvSpPr>
            <p:spPr>
              <a:xfrm>
                <a:off x="7894320" y="2463780"/>
                <a:ext cx="2804160" cy="912879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02000"/>
                  </a:lnSpc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𝑒𝑞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US" sz="2800" b="0" i="0" dirty="0">
                  <a:solidFill>
                    <a:srgbClr val="182028"/>
                  </a:solidFill>
                  <a:latin typeface="Aptos"/>
                </a:endParaRPr>
              </a:p>
              <a:p>
                <a:pPr>
                  <a:lnSpc>
                    <a:spcPct val="102000"/>
                  </a:lnSpc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sz="2800" i="1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sz="2800" b="0" i="0" dirty="0">
                  <a:solidFill>
                    <a:srgbClr val="182028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0114801-EE9C-FFED-226F-79A1106F81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4320" y="2463780"/>
                <a:ext cx="2804160" cy="9128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2B8937B-C041-AEBD-69A2-4A3FDC86D535}"/>
                  </a:ext>
                </a:extLst>
              </p:cNvPr>
              <p:cNvSpPr txBox="1"/>
              <p:nvPr/>
            </p:nvSpPr>
            <p:spPr>
              <a:xfrm>
                <a:off x="7913109" y="4057646"/>
                <a:ext cx="2804160" cy="912879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02000"/>
                  </a:lnSpc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𝑒𝑞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US" sz="2800" b="0" i="0" dirty="0">
                  <a:solidFill>
                    <a:srgbClr val="182028"/>
                  </a:solidFill>
                  <a:latin typeface="Aptos"/>
                </a:endParaRPr>
              </a:p>
              <a:p>
                <a:pPr>
                  <a:lnSpc>
                    <a:spcPct val="102000"/>
                  </a:lnSpc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sz="2800" i="1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sz="2800" b="0" i="0" dirty="0">
                  <a:solidFill>
                    <a:srgbClr val="182028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2B8937B-C041-AEBD-69A2-4A3FDC86D5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3109" y="4057646"/>
                <a:ext cx="2804160" cy="91287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03 | PARALLEL + POWER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EVIDENCE DISCIPLINE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324D"/>
                </a:solidFill>
                <a:latin typeface="Aptos Display"/>
              </a:rPr>
              <a:t>Observation is not inference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9808" y="1783080"/>
            <a:ext cx="3520440" cy="3794760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9808" y="1783080"/>
            <a:ext cx="82296" cy="379476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8408" y="1947672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dirty="0">
                <a:solidFill>
                  <a:srgbClr val="17324D"/>
                </a:solidFill>
                <a:latin typeface="Aptos"/>
              </a:rPr>
              <a:t>Observation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386584"/>
            <a:ext cx="3108960" cy="3044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 dirty="0">
                <a:solidFill>
                  <a:srgbClr val="182028"/>
                </a:solidFill>
                <a:latin typeface="Aptos"/>
              </a:rPr>
              <a:t>A directly measured, repeatable fact.</a:t>
            </a:r>
            <a:br>
              <a:rPr dirty="0"/>
            </a:br>
            <a:br>
              <a:rPr dirty="0"/>
            </a:br>
            <a:r>
              <a:rPr sz="1650" b="0" i="0" dirty="0">
                <a:solidFill>
                  <a:srgbClr val="182028"/>
                </a:solidFill>
                <a:latin typeface="Aptos"/>
              </a:rPr>
              <a:t>Example: the rail is 5.0 V with Load A alone and 4.6 V when Load B is enabled.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256" y="1783080"/>
            <a:ext cx="3520440" cy="3794760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34256" y="1783080"/>
            <a:ext cx="82296" cy="379476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62856" y="1947672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17324D"/>
                </a:solidFill>
                <a:latin typeface="Aptos"/>
              </a:rPr>
              <a:t>Inference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2856" y="2386584"/>
            <a:ext cx="3108960" cy="3044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 dirty="0">
                <a:solidFill>
                  <a:srgbClr val="182028"/>
                </a:solidFill>
                <a:latin typeface="Aptos"/>
              </a:rPr>
              <a:t>A limited conclusion supported by that evidence.</a:t>
            </a:r>
            <a:br>
              <a:rPr dirty="0"/>
            </a:br>
            <a:br>
              <a:rPr dirty="0"/>
            </a:br>
            <a:r>
              <a:rPr sz="1650" b="0" i="0" dirty="0">
                <a:solidFill>
                  <a:srgbClr val="182028"/>
                </a:solidFill>
                <a:latin typeface="Aptos"/>
              </a:rPr>
              <a:t>Example: the source or shared path cannot maintain 5.0 V at the combined load.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18704" y="1783080"/>
            <a:ext cx="3520440" cy="3794760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918704" y="1783080"/>
            <a:ext cx="82296" cy="3794760"/>
          </a:xfrm>
          <a:prstGeom prst="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47304" y="1947672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dirty="0">
                <a:solidFill>
                  <a:srgbClr val="17324D"/>
                </a:solidFill>
                <a:latin typeface="Aptos"/>
              </a:rPr>
              <a:t>Not Yet Known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7304" y="2386584"/>
            <a:ext cx="3108960" cy="3044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 dirty="0">
                <a:solidFill>
                  <a:srgbClr val="182028"/>
                </a:solidFill>
                <a:latin typeface="Aptos"/>
              </a:rPr>
              <a:t>The exact failed component, cause, or intent.</a:t>
            </a:r>
            <a:br>
              <a:rPr dirty="0"/>
            </a:br>
            <a:br>
              <a:rPr dirty="0"/>
            </a:br>
            <a:r>
              <a:rPr sz="1650" b="0" i="0" dirty="0">
                <a:solidFill>
                  <a:srgbClr val="182028"/>
                </a:solidFill>
                <a:latin typeface="Aptos"/>
              </a:rPr>
              <a:t>Choose another controlled measurement before claiming more.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03 | PARALLEL + POWER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CLAIM - EVIDENCE - NEXT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dirty="0">
                <a:solidFill>
                  <a:srgbClr val="17324D"/>
                </a:solidFill>
                <a:latin typeface="Aptos Display"/>
              </a:rPr>
              <a:t>Case: a shared rail drops from 5.0 V to 4.6 V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9808" y="4178594"/>
            <a:ext cx="3520440" cy="1399245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9808" y="4178594"/>
            <a:ext cx="82296" cy="1399245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8408" y="4329365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17324D"/>
                </a:solidFill>
                <a:latin typeface="Aptos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4768277"/>
            <a:ext cx="3108960" cy="3044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 dirty="0">
                <a:solidFill>
                  <a:srgbClr val="182028"/>
                </a:solidFill>
                <a:latin typeface="Aptos"/>
              </a:rPr>
              <a:t>Voltage is correct with Load A alone and falls when Load B is enabled.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256" y="4178594"/>
            <a:ext cx="3520440" cy="1399245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34256" y="4178594"/>
            <a:ext cx="82296" cy="1399245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62856" y="4329365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dirty="0">
                <a:solidFill>
                  <a:srgbClr val="17324D"/>
                </a:solidFill>
                <a:latin typeface="Aptos"/>
              </a:rPr>
              <a:t>Supported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2856" y="4684705"/>
            <a:ext cx="3108960" cy="3044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 dirty="0">
                <a:solidFill>
                  <a:srgbClr val="182028"/>
                </a:solidFill>
                <a:latin typeface="Aptos"/>
              </a:rPr>
              <a:t>The source or shared path cannot maintain 5.0 V at the combined load.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18704" y="1783080"/>
            <a:ext cx="3520440" cy="3794760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918704" y="1783080"/>
            <a:ext cx="82296" cy="3794760"/>
          </a:xfrm>
          <a:prstGeom prst="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47304" y="1947672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17324D"/>
                </a:solidFill>
                <a:latin typeface="Aptos"/>
              </a:rPr>
              <a:t>Next 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0728" y="2386584"/>
            <a:ext cx="3108960" cy="3044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 dirty="0">
                <a:solidFill>
                  <a:srgbClr val="182028"/>
                </a:solidFill>
                <a:latin typeface="Aptos"/>
              </a:rPr>
              <a:t>Measure each branch current and source voltage at the terminals under controlled states.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CA77F35-8EE0-80B8-54D1-53814E5ED5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2437"/>
          <a:stretch>
            <a:fillRect/>
          </a:stretch>
        </p:blipFill>
        <p:spPr>
          <a:xfrm>
            <a:off x="310896" y="1565845"/>
            <a:ext cx="6836406" cy="233011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CE37180-1604-9CFE-E9A3-1EF0560BB1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576" t="46692"/>
          <a:stretch>
            <a:fillRect/>
          </a:stretch>
        </p:blipFill>
        <p:spPr>
          <a:xfrm>
            <a:off x="4416552" y="1718247"/>
            <a:ext cx="2196899" cy="25108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D9D925-FBB6-D1DD-A70F-F101F164C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6F3395-4E8C-2CD2-964E-D427631B5685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88196D47-8A96-D774-ABA2-9FE6369D39C5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EEFC86FC-2FA1-A854-F6E0-B0AFB00C71F6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04976BB3-525E-4887-2F9B-04818FE876E5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C3ACEF5A-3862-F457-52DA-18547E21A3F2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41D7A8DB-97CF-3E55-B4C7-308E3E3F884E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4EE0A81-84BD-A34A-A913-26B21F4E9D86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03 | PARALLEL + POWER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C23F56-B78A-2131-946C-61A1A3F7AD29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12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110D63-C907-1467-02DE-F868C5B67CB3}"/>
              </a:ext>
            </a:extLst>
          </p:cNvPr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i="0" dirty="0">
                <a:solidFill>
                  <a:srgbClr val="0F6D74"/>
                </a:solidFill>
                <a:latin typeface="Aptos"/>
              </a:rPr>
              <a:t>TAKEAWAYS</a:t>
            </a:r>
            <a:endParaRPr sz="1050" b="1" i="0" dirty="0">
              <a:solidFill>
                <a:srgbClr val="0F6D74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89C39B-E812-9297-C7FA-156BADC4EFE1}"/>
              </a:ext>
            </a:extLst>
          </p:cNvPr>
          <p:cNvSpPr txBox="1"/>
          <p:nvPr/>
        </p:nvSpPr>
        <p:spPr>
          <a:xfrm>
            <a:off x="594360" y="749808"/>
            <a:ext cx="108813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700" b="1" i="0" dirty="0">
                <a:solidFill>
                  <a:srgbClr val="17324D"/>
                </a:solidFill>
                <a:latin typeface="Aptos Display"/>
              </a:rPr>
              <a:t>Circuits Summary</a:t>
            </a:r>
            <a:endParaRPr sz="27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7A890FB2-CB16-3EC0-5A94-027BFE805F8B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B8571246-F8F3-F38E-D42C-A670BE146B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6536075"/>
              </p:ext>
            </p:extLst>
          </p:nvPr>
        </p:nvGraphicFramePr>
        <p:xfrm>
          <a:off x="1851247" y="2208555"/>
          <a:ext cx="8472966" cy="355591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824322">
                  <a:extLst>
                    <a:ext uri="{9D8B030D-6E8A-4147-A177-3AD203B41FA5}">
                      <a16:colId xmlns:a16="http://schemas.microsoft.com/office/drawing/2014/main" val="2912566074"/>
                    </a:ext>
                  </a:extLst>
                </a:gridCol>
                <a:gridCol w="2824322">
                  <a:extLst>
                    <a:ext uri="{9D8B030D-6E8A-4147-A177-3AD203B41FA5}">
                      <a16:colId xmlns:a16="http://schemas.microsoft.com/office/drawing/2014/main" val="851336858"/>
                    </a:ext>
                  </a:extLst>
                </a:gridCol>
                <a:gridCol w="2824322">
                  <a:extLst>
                    <a:ext uri="{9D8B030D-6E8A-4147-A177-3AD203B41FA5}">
                      <a16:colId xmlns:a16="http://schemas.microsoft.com/office/drawing/2014/main" val="4134312060"/>
                    </a:ext>
                  </a:extLst>
                </a:gridCol>
              </a:tblGrid>
              <a:tr h="6107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" panose="020B0004020202020204" pitchFamily="34" charset="0"/>
                        </a:rPr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" panose="020B0004020202020204" pitchFamily="34" charset="0"/>
                        </a:rPr>
                        <a:t>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" panose="020B0004020202020204" pitchFamily="34" charset="0"/>
                        </a:rPr>
                        <a:t>Parallel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2527829"/>
                  </a:ext>
                </a:extLst>
              </a:tr>
              <a:tr h="105421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" panose="020B0004020202020204" pitchFamily="34" charset="0"/>
                        </a:rPr>
                        <a:t>All elements have the same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3945261"/>
                  </a:ext>
                </a:extLst>
              </a:tr>
              <a:tr h="6107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" panose="020B0004020202020204" pitchFamily="34" charset="0"/>
                        </a:rPr>
                        <a:t>Largest R has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" panose="020B0004020202020204" pitchFamily="34" charset="0"/>
                        </a:rPr>
                        <a:t>Largest/Smallest V</a:t>
                      </a:r>
                    </a:p>
                    <a:p>
                      <a:pPr algn="ctr"/>
                      <a:r>
                        <a:rPr lang="en-US" dirty="0">
                          <a:latin typeface="Aptos" panose="020B0004020202020204" pitchFamily="34" charset="0"/>
                        </a:rPr>
                        <a:t>Largest/Smallest 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" panose="020B0004020202020204" pitchFamily="34" charset="0"/>
                        </a:rPr>
                        <a:t>Largest/Smallest I</a:t>
                      </a:r>
                    </a:p>
                    <a:p>
                      <a:pPr algn="ctr"/>
                      <a:r>
                        <a:rPr lang="en-US" dirty="0">
                          <a:latin typeface="Aptos" panose="020B0004020202020204" pitchFamily="34" charset="0"/>
                        </a:rPr>
                        <a:t>Largest/Smallest 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3627683"/>
                  </a:ext>
                </a:extLst>
              </a:tr>
              <a:tr h="610772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Aptos" panose="020B0004020202020204" pitchFamily="34" charset="0"/>
                        </a:rPr>
                        <a:t>Rtotal</a:t>
                      </a:r>
                      <a:r>
                        <a:rPr lang="en-US" dirty="0">
                          <a:latin typeface="Aptos" panose="020B0004020202020204" pitchFamily="34" charset="0"/>
                        </a:rPr>
                        <a:t> is: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" panose="020B0004020202020204" pitchFamily="34" charset="0"/>
                        </a:rPr>
                        <a:t>Greater/Less than </a:t>
                      </a:r>
                      <a:r>
                        <a:rPr lang="en-US" dirty="0" err="1">
                          <a:latin typeface="Aptos" panose="020B0004020202020204" pitchFamily="34" charset="0"/>
                        </a:rPr>
                        <a:t>Rmax</a:t>
                      </a:r>
                      <a:endParaRPr lang="en-US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Aptos" panose="020B0004020202020204" pitchFamily="34" charset="0"/>
                        </a:rPr>
                        <a:t>Greater/Less than </a:t>
                      </a:r>
                      <a:r>
                        <a:rPr lang="en-US" dirty="0" err="1">
                          <a:latin typeface="Aptos" panose="020B0004020202020204" pitchFamily="34" charset="0"/>
                        </a:rPr>
                        <a:t>Rmin</a:t>
                      </a:r>
                      <a:endParaRPr lang="en-US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5409741"/>
                  </a:ext>
                </a:extLst>
              </a:tr>
              <a:tr h="6107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" panose="020B0004020202020204" pitchFamily="34" charset="0"/>
                        </a:rPr>
                        <a:t>When there is a broken element: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11526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8275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3C179C-1F75-8804-F71E-426007B9B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93A3D3-CE9C-C79C-DA8C-D19FC9329CA8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2563ABE7-0B54-9E00-B519-6C657E4E2C38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42188139-6865-1172-11E3-FD26C45C18D9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A37BACB5-8B4B-E8BC-BD84-20ABB08F0EAD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700467F8-6C69-A8CB-9A26-65BB5EA5E386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2C9E7A42-9031-584C-2383-AF0BCAD9BB16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41434DB-8EEA-361A-0397-114538082B67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03 | PARALLEL + POWER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6E0798-8521-590D-A67D-E811D57D07DE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12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960B20-DA32-2D53-ECEB-AC3E54E98C57}"/>
              </a:ext>
            </a:extLst>
          </p:cNvPr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CLAIM - EVIDENCE - NEXT TEST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F4F03D-1614-29B4-EC26-65D1D849B6E6}"/>
              </a:ext>
            </a:extLst>
          </p:cNvPr>
          <p:cNvSpPr txBox="1"/>
          <p:nvPr/>
        </p:nvSpPr>
        <p:spPr>
          <a:xfrm>
            <a:off x="594360" y="749808"/>
            <a:ext cx="108813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700" b="1" i="0" dirty="0">
                <a:solidFill>
                  <a:srgbClr val="17324D"/>
                </a:solidFill>
                <a:latin typeface="Aptos Display"/>
              </a:rPr>
              <a:t>Circuits Summary</a:t>
            </a:r>
            <a:endParaRPr sz="27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FF94D2FB-255F-D6B4-CBFC-BAF0D6DD19C8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CF33D492-EF9C-916E-6701-B779E4E402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1667153"/>
              </p:ext>
            </p:extLst>
          </p:nvPr>
        </p:nvGraphicFramePr>
        <p:xfrm>
          <a:off x="1851247" y="2208555"/>
          <a:ext cx="8472966" cy="355591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824322">
                  <a:extLst>
                    <a:ext uri="{9D8B030D-6E8A-4147-A177-3AD203B41FA5}">
                      <a16:colId xmlns:a16="http://schemas.microsoft.com/office/drawing/2014/main" val="2912566074"/>
                    </a:ext>
                  </a:extLst>
                </a:gridCol>
                <a:gridCol w="2824322">
                  <a:extLst>
                    <a:ext uri="{9D8B030D-6E8A-4147-A177-3AD203B41FA5}">
                      <a16:colId xmlns:a16="http://schemas.microsoft.com/office/drawing/2014/main" val="851336858"/>
                    </a:ext>
                  </a:extLst>
                </a:gridCol>
                <a:gridCol w="2824322">
                  <a:extLst>
                    <a:ext uri="{9D8B030D-6E8A-4147-A177-3AD203B41FA5}">
                      <a16:colId xmlns:a16="http://schemas.microsoft.com/office/drawing/2014/main" val="4134312060"/>
                    </a:ext>
                  </a:extLst>
                </a:gridCol>
              </a:tblGrid>
              <a:tr h="6107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" panose="020B0004020202020204" pitchFamily="34" charset="0"/>
                        </a:rPr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" panose="020B0004020202020204" pitchFamily="34" charset="0"/>
                        </a:rPr>
                        <a:t>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" panose="020B0004020202020204" pitchFamily="34" charset="0"/>
                        </a:rPr>
                        <a:t>Parallel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2527829"/>
                  </a:ext>
                </a:extLst>
              </a:tr>
              <a:tr h="105421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" panose="020B0004020202020204" pitchFamily="34" charset="0"/>
                        </a:rPr>
                        <a:t>All elements have the same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" panose="020B0004020202020204" pitchFamily="34" charset="0"/>
                        </a:rPr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" panose="020B0004020202020204" pitchFamily="34" charset="0"/>
                        </a:rPr>
                        <a:t>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3945261"/>
                  </a:ext>
                </a:extLst>
              </a:tr>
              <a:tr h="6107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" panose="020B0004020202020204" pitchFamily="34" charset="0"/>
                        </a:rPr>
                        <a:t>Largest R has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" panose="020B0004020202020204" pitchFamily="34" charset="0"/>
                        </a:rPr>
                        <a:t>Largest</a:t>
                      </a:r>
                      <a:r>
                        <a:rPr lang="en-US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latin typeface="Aptos" panose="020B0004020202020204" pitchFamily="34" charset="0"/>
                        </a:rPr>
                        <a:t>/Smallest </a:t>
                      </a:r>
                      <a:r>
                        <a:rPr lang="en-US" dirty="0">
                          <a:latin typeface="Aptos" panose="020B0004020202020204" pitchFamily="34" charset="0"/>
                        </a:rPr>
                        <a:t>V</a:t>
                      </a:r>
                    </a:p>
                    <a:p>
                      <a:pPr algn="ctr"/>
                      <a:r>
                        <a:rPr lang="en-US" dirty="0">
                          <a:latin typeface="Aptos" panose="020B0004020202020204" pitchFamily="34" charset="0"/>
                        </a:rPr>
                        <a:t>Largest</a:t>
                      </a:r>
                      <a:r>
                        <a:rPr lang="en-US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latin typeface="Aptos" panose="020B0004020202020204" pitchFamily="34" charset="0"/>
                        </a:rPr>
                        <a:t>/Smallest </a:t>
                      </a:r>
                      <a:r>
                        <a:rPr lang="en-US" dirty="0">
                          <a:latin typeface="Aptos" panose="020B0004020202020204" pitchFamily="34" charset="0"/>
                        </a:rPr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latin typeface="Aptos" panose="020B0004020202020204" pitchFamily="34" charset="0"/>
                        </a:rPr>
                        <a:t>Largest/</a:t>
                      </a:r>
                      <a:r>
                        <a:rPr lang="en-US" dirty="0">
                          <a:latin typeface="Aptos" panose="020B0004020202020204" pitchFamily="34" charset="0"/>
                        </a:rPr>
                        <a:t>Smallest I</a:t>
                      </a:r>
                    </a:p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latin typeface="Aptos" panose="020B0004020202020204" pitchFamily="34" charset="0"/>
                        </a:rPr>
                        <a:t>Largest/</a:t>
                      </a:r>
                      <a:r>
                        <a:rPr lang="en-US" dirty="0">
                          <a:latin typeface="Aptos" panose="020B0004020202020204" pitchFamily="34" charset="0"/>
                        </a:rPr>
                        <a:t>Smallest 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3627683"/>
                  </a:ext>
                </a:extLst>
              </a:tr>
              <a:tr h="610772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Aptos" panose="020B0004020202020204" pitchFamily="34" charset="0"/>
                        </a:rPr>
                        <a:t>Rtotal</a:t>
                      </a:r>
                      <a:r>
                        <a:rPr lang="en-US" dirty="0">
                          <a:latin typeface="Aptos" panose="020B0004020202020204" pitchFamily="34" charset="0"/>
                        </a:rPr>
                        <a:t> is: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" panose="020B0004020202020204" pitchFamily="34" charset="0"/>
                        </a:rPr>
                        <a:t>Greater</a:t>
                      </a:r>
                      <a:r>
                        <a:rPr lang="en-US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latin typeface="Aptos" panose="020B0004020202020204" pitchFamily="34" charset="0"/>
                        </a:rPr>
                        <a:t>/Less than </a:t>
                      </a:r>
                      <a:r>
                        <a:rPr lang="en-US" dirty="0" err="1">
                          <a:latin typeface="Aptos" panose="020B0004020202020204" pitchFamily="34" charset="0"/>
                        </a:rPr>
                        <a:t>Rmax</a:t>
                      </a:r>
                      <a:endParaRPr lang="en-US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latin typeface="Aptos" panose="020B0004020202020204" pitchFamily="34" charset="0"/>
                        </a:rPr>
                        <a:t>Greater/</a:t>
                      </a:r>
                      <a:r>
                        <a:rPr lang="en-US" dirty="0">
                          <a:latin typeface="Aptos" panose="020B0004020202020204" pitchFamily="34" charset="0"/>
                        </a:rPr>
                        <a:t>Less than </a:t>
                      </a:r>
                      <a:r>
                        <a:rPr lang="en-US" dirty="0" err="1">
                          <a:latin typeface="Aptos" panose="020B0004020202020204" pitchFamily="34" charset="0"/>
                        </a:rPr>
                        <a:t>Rmin</a:t>
                      </a:r>
                      <a:endParaRPr lang="en-US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5409741"/>
                  </a:ext>
                </a:extLst>
              </a:tr>
              <a:tr h="6107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" panose="020B0004020202020204" pitchFamily="34" charset="0"/>
                        </a:rPr>
                        <a:t>When there is a broken element: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" panose="020B0004020202020204" pitchFamily="34" charset="0"/>
                        </a:rPr>
                        <a:t>Open circuit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" panose="020B0004020202020204" pitchFamily="34" charset="0"/>
                        </a:rPr>
                        <a:t>No effect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11526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7682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03 | PARALLEL + POWER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BEFORE FRIDAY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324D"/>
                </a:solidFill>
                <a:latin typeface="Aptos Display"/>
              </a:rPr>
              <a:t>Exit check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657600" y="5495543"/>
            <a:ext cx="4846320" cy="420624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0" y="5495543"/>
            <a:ext cx="484632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50" b="1" i="0" dirty="0">
                <a:solidFill>
                  <a:srgbClr val="FFFFFF"/>
                </a:solidFill>
                <a:latin typeface="Aptos"/>
              </a:rPr>
              <a:t>NEXT: INSTRUMENTS + AC WAVEFORMS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1BA6E44-C677-AC09-FB37-9738EC8EEF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7103" y="676656"/>
            <a:ext cx="3669475" cy="46387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656</Words>
  <Application>Microsoft Office PowerPoint</Application>
  <PresentationFormat>Widescreen</PresentationFormat>
  <Paragraphs>148</Paragraphs>
  <Slides>14</Slides>
  <Notes>14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Cambria Math</vt:lpstr>
      <vt:lpstr>Office Theme</vt:lpstr>
      <vt:lpstr>Visio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Jerson Francia</cp:lastModifiedBy>
  <cp:revision>5</cp:revision>
  <dcterms:created xsi:type="dcterms:W3CDTF">2013-01-27T09:14:16Z</dcterms:created>
  <dcterms:modified xsi:type="dcterms:W3CDTF">2026-09-11T07:42:47Z</dcterms:modified>
  <cp:category/>
</cp:coreProperties>
</file>