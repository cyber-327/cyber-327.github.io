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59" r:id="rId11"/>
    <p:sldId id="263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1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5806" autoAdjust="0"/>
  </p:normalViewPr>
  <p:slideViewPr>
    <p:cSldViewPr snapToGrid="0" snapToObjects="1">
      <p:cViewPr>
        <p:scale>
          <a:sx n="66" d="100"/>
          <a:sy n="66" d="100"/>
        </p:scale>
        <p:origin x="504" y="-41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9872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3E472-3C58-CE32-C0FD-57F383CE8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F928FA-A9E5-4063-A06E-AB5C33F0B5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C0D584-EFD0-93FC-AF5C-1935E9A469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DACA1-96FD-C0A1-DDE7-FB41993332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532779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12E97-14BA-7FFB-960A-9C16C8930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2EF9EB-834D-7270-6AFA-734A91373F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093F7-27B4-867F-0E7A-F33BF041CB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B0694-5818-E9F9-5E79-BD76F5AD8E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9521783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6C3BE-5518-5626-6777-B92732679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55DD2D-52D5-2172-073D-558CB51FCB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F77382-34DC-2FC0-ED64-EFAB65DA39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385EC-91BC-ADE6-3E65-19352B8F49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839968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13641-B0F9-C150-875D-FA359AF73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9B59E9-9453-45F6-4B7D-0C6ED77A85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EF5EF5-4D70-6A5F-69AA-D47B74654B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049949-2F04-5D09-D960-5FD6AA2BE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693058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134AF-0FE1-96C9-477E-46973DCBE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D7917F-C5BB-08FC-DAA1-E0CAF3A568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588906-3C08-1BB5-48C1-897B5116A7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More overlap, More C, F0 decreases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03EF3C-FB64-4512-5875-ADBBA7A5FC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796484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16BB1-F647-0358-B07B-210B76543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E979C6-2762-0DE9-26E2-6E54187C1A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CBF145-24D7-47A9-AE3A-8C9748DBEB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More overlap, More C, F0 decreases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4921C-939B-98AD-8930-3260F372D4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971260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57D4E-29FD-4782-6A37-2FB851168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AB5A14-64C7-7EBB-D9DD-A36ADC9475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F93A8BB3-C038-747E-BE74-98A602CE28F3}"/>
                  </a:ext>
                </a:extLst>
              </p:cNvPr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r>
                  <a:rPr lang="en-US" dirty="0"/>
                  <a:t>if sensitivity is </a:t>
                </a:r>
                <a:r>
                  <a:rPr lang="en-US" b="1" dirty="0"/>
                  <a:t>−100 dBm</a:t>
                </a:r>
                <a:r>
                  <a:rPr lang="en-US" dirty="0"/>
                  <a:t> and the received signal is </a:t>
                </a:r>
                <a:r>
                  <a:rPr lang="en-US" b="1" dirty="0"/>
                  <a:t>−80 dBm,</a:t>
                </a:r>
                <a:r>
                  <a:rPr lang="en-US" b="0" dirty="0"/>
                  <a:t> Margin is </a:t>
                </a:r>
                <a:r>
                  <a:rPr lang="en-US" b="1" dirty="0"/>
                  <a:t>20 dB</a:t>
                </a:r>
              </a:p>
              <a:p>
                <a:endParaRPr lang="en-US" dirty="0"/>
              </a:p>
              <a:p>
                <a:r>
                  <a:rPr lang="en-US" dirty="0"/>
                  <a:t>SINR is linear, convert to dB if SINR dB</a:t>
                </a:r>
                <a:endParaRPr lang="en-US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0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0" dirty="0">
                              <a:latin typeface="Cambria Math" panose="02040503050406030204" pitchFamily="18" charset="0"/>
                            </a:rPr>
                            <m:t>SINR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i="0" dirty="0">
                              <a:latin typeface="Cambria Math" panose="02040503050406030204" pitchFamily="18" charset="0"/>
                            </a:rPr>
                            <m:t>dB</m:t>
                          </m:r>
                        </m:sub>
                      </m:sSub>
                      <m:r>
                        <a:rPr lang="en-US" i="0" dirty="0">
                          <a:latin typeface="Cambria Math" panose="02040503050406030204" pitchFamily="18" charset="0"/>
                        </a:rPr>
                        <m:t>=10</m:t>
                      </m:r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0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 dirty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i="0" dirty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num>
                                <m:den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  <m:r>
                                    <a:rPr lang="en-US" i="0" dirty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F93A8BB3-C038-747E-BE74-98A602CE28F3}"/>
                  </a:ext>
                </a:extLst>
              </p:cNvPr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r>
                  <a:rPr lang="en-US" dirty="0"/>
                  <a:t>if sensitivity is </a:t>
                </a:r>
                <a:r>
                  <a:rPr lang="en-US" b="1" dirty="0"/>
                  <a:t>−100 dBm</a:t>
                </a:r>
                <a:r>
                  <a:rPr lang="en-US" dirty="0"/>
                  <a:t> and the received signal is </a:t>
                </a:r>
                <a:r>
                  <a:rPr lang="en-US" b="1" dirty="0"/>
                  <a:t>−80 dBm,</a:t>
                </a:r>
                <a:r>
                  <a:rPr lang="en-US" b="0" dirty="0"/>
                  <a:t> Margin is </a:t>
                </a:r>
                <a:r>
                  <a:rPr lang="en-US" b="1" dirty="0"/>
                  <a:t>20 dB</a:t>
                </a:r>
              </a:p>
              <a:p>
                <a:endParaRPr lang="en-US" dirty="0"/>
              </a:p>
              <a:p>
                <a:r>
                  <a:rPr lang="en-US" dirty="0"/>
                  <a:t>SINR is linear, convert to dB if SINR dB</a:t>
                </a:r>
                <a:endParaRPr lang="en-US" dirty="0">
                  <a:latin typeface="Cambria Math" panose="02040503050406030204" pitchFamily="18" charset="0"/>
                </a:endParaRPr>
              </a:p>
              <a:p>
                <a:r>
                  <a:rPr lang="en-US" i="0" dirty="0">
                    <a:latin typeface="Cambria Math" panose="02040503050406030204" pitchFamily="18" charset="0"/>
                  </a:rPr>
                  <a:t>〖"SINR" 〗_"dB" =10 log_10⁡(𝑆/(𝐼+𝑁))</a:t>
                </a:r>
                <a:endParaRPr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A77836-E7D6-2331-2F0C-FEF54F20D5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616564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smtClean="0"/>
                        <m:t>If the smallest usable input is </m:t>
                      </m:r>
                      <m:r>
                        <m:rPr>
                          <m:nor/>
                        </m:rPr>
                        <a:rPr lang="en-US" b="1" smtClean="0"/>
                        <m:t>−100 dBm</m:t>
                      </m:r>
                      <m:r>
                        <m:rPr>
                          <m:nor/>
                        </m:rPr>
                        <a:rPr lang="en-US" smtClean="0"/>
                        <m:t> and the largest is </m:t>
                      </m:r>
                      <m:r>
                        <m:rPr>
                          <m:nor/>
                        </m:rPr>
                        <a:rPr lang="en-US" b="1" smtClean="0"/>
                        <m:t>−20 dBm</m:t>
                      </m:r>
                      <m:r>
                        <m:rPr>
                          <m:nor/>
                        </m:rPr>
                        <a:rPr lang="en-US" smtClean="0"/>
                        <m:t>, the dynamic range is</m:t>
                      </m:r>
                      <m:r>
                        <m:rPr>
                          <m:nor/>
                        </m:rPr>
                        <a:rPr lang="en-US" b="0" i="0" smtClean="0"/>
                        <m:t> </m:t>
                      </m:r>
                      <m:r>
                        <m:rPr>
                          <m:nor/>
                        </m:rPr>
                        <a:rPr lang="en-US" b="1" i="0" smtClean="0"/>
                        <m:t>80dB</m:t>
                      </m:r>
                    </m:oMath>
                  </m:oMathPara>
                </a14:m>
                <a:endParaRPr lang="en-US" dirty="0"/>
              </a:p>
              <a:p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Unwanted signal is inside the receiver bandwidth (selectivity/interference problem)</a:t>
                </a:r>
              </a:p>
              <a:p>
                <a:r>
                  <a:rPr lang="en-US" dirty="0"/>
                  <a:t>Suppose the receiver accepts 99–101 MHz, and an unwanted signal appears at 100.2 </a:t>
                </a:r>
                <a:r>
                  <a:rPr lang="en-US" dirty="0" err="1"/>
                  <a:t>MHz.</a:t>
                </a:r>
                <a:endParaRPr lang="en-US" dirty="0"/>
              </a:p>
              <a:p>
                <a:r>
                  <a:rPr lang="en-US" dirty="0"/>
                  <a:t>Both signals pass through the filter. Their energies overlap, potentially making the desired message difficult to recover.</a:t>
                </a:r>
              </a:p>
              <a:p>
                <a:pPr algn="l"/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Unwanted signal is outside the receiver bandwidth (front-end overload problem)</a:t>
                </a:r>
              </a:p>
              <a:p>
                <a:r>
                  <a:rPr lang="en-US" dirty="0"/>
                  <a:t>Suppose an extremely strong signal appears at 110 </a:t>
                </a:r>
                <a:r>
                  <a:rPr lang="en-US" dirty="0" err="1"/>
                  <a:t>MHz.</a:t>
                </a:r>
                <a:endParaRPr lang="en-US" dirty="0"/>
              </a:p>
              <a:p>
                <a:r>
                  <a:rPr lang="en-US" dirty="0"/>
                  <a:t>Even though the receiver is tuned to 100 MHz, that unwanted signal may still reach the receiver's front-end amplifier before being sufficiently filtered.</a:t>
                </a:r>
              </a:p>
              <a:p>
                <a:r>
                  <a:rPr lang="en-US" dirty="0"/>
                  <a:t>If it's strong enough, it can cause amplifier compression, saturation, or other nonlinear effects.</a:t>
                </a:r>
              </a:p>
              <a:p>
                <a:r>
                  <a:rPr lang="en-US" dirty="0"/>
                  <a:t>The receiver may then struggle to recover the 100 MHz signal—even though the unwanted signal is outside the desired bandwidth.</a:t>
                </a:r>
              </a:p>
              <a:p>
                <a:pPr algn="l"/>
                <a:endParaRPr lang="en-US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 algn="l"/>
                <a:r>
                  <a:rPr lang="en-US" i="0">
                    <a:latin typeface="Cambria Math" panose="02040503050406030204" pitchFamily="18" charset="0"/>
                  </a:rPr>
                  <a:t>"If the smallest usable input is </a:t>
                </a:r>
                <a:r>
                  <a:rPr lang="en-US" b="1" i="0">
                    <a:latin typeface="Cambria Math" panose="02040503050406030204" pitchFamily="18" charset="0"/>
                  </a:rPr>
                  <a:t>−100 dBm</a:t>
                </a:r>
                <a:r>
                  <a:rPr lang="en-US" i="0">
                    <a:latin typeface="Cambria Math" panose="02040503050406030204" pitchFamily="18" charset="0"/>
                  </a:rPr>
                  <a:t> and the largest is </a:t>
                </a:r>
                <a:r>
                  <a:rPr lang="en-US" b="1" i="0">
                    <a:latin typeface="Cambria Math" panose="02040503050406030204" pitchFamily="18" charset="0"/>
                  </a:rPr>
                  <a:t>−20 dBm</a:t>
                </a:r>
                <a:r>
                  <a:rPr lang="en-US" i="0">
                    <a:latin typeface="Cambria Math" panose="02040503050406030204" pitchFamily="18" charset="0"/>
                  </a:rPr>
                  <a:t>, the dynamic range is</a:t>
                </a:r>
                <a:r>
                  <a:rPr lang="en-US" b="0" i="0">
                    <a:latin typeface="Cambria Math" panose="02040503050406030204" pitchFamily="18" charset="0"/>
                  </a:rPr>
                  <a:t> </a:t>
                </a:r>
                <a:r>
                  <a:rPr lang="en-US" b="1" i="0">
                    <a:latin typeface="Cambria Math" panose="02040503050406030204" pitchFamily="18" charset="0"/>
                  </a:rPr>
                  <a:t>80dB</a:t>
                </a:r>
                <a:r>
                  <a:rPr lang="en-US" b="1" i="0"/>
                  <a:t>"</a:t>
                </a:r>
                <a:endParaRPr lang="en-US" dirty="0"/>
              </a:p>
              <a:p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Unwanted signal is inside the receiver bandwidth (selectivity/interference problem)</a:t>
                </a:r>
              </a:p>
              <a:p>
                <a:r>
                  <a:rPr lang="en-US" dirty="0"/>
                  <a:t>Suppose the receiver accepts 99–101 MHz, and an unwanted signal appears at 100.2 </a:t>
                </a:r>
                <a:r>
                  <a:rPr lang="en-US" dirty="0" err="1"/>
                  <a:t>MHz.</a:t>
                </a:r>
                <a:endParaRPr lang="en-US" dirty="0"/>
              </a:p>
              <a:p>
                <a:r>
                  <a:rPr lang="en-US" dirty="0"/>
                  <a:t>Both signals pass through the filter. Their energies overlap, potentially making the desired message difficult to recover.</a:t>
                </a:r>
              </a:p>
              <a:p>
                <a:pPr algn="l"/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Unwanted signal is outside the receiver bandwidth (front-end overload problem)</a:t>
                </a:r>
              </a:p>
              <a:p>
                <a:r>
                  <a:rPr lang="en-US" dirty="0"/>
                  <a:t>Suppose an extremely strong signal appears at 110 </a:t>
                </a:r>
                <a:r>
                  <a:rPr lang="en-US" dirty="0" err="1"/>
                  <a:t>MHz.</a:t>
                </a:r>
                <a:endParaRPr lang="en-US" dirty="0"/>
              </a:p>
              <a:p>
                <a:r>
                  <a:rPr lang="en-US" dirty="0"/>
                  <a:t>Even though the receiver is tuned to 100 MHz, that unwanted signal may still reach the receiver's front-end amplifier before being sufficiently filtered.</a:t>
                </a:r>
              </a:p>
              <a:p>
                <a:r>
                  <a:rPr lang="en-US" dirty="0"/>
                  <a:t>If it's strong enough, it can cause amplifier compression, saturation, or other nonlinear effects.</a:t>
                </a:r>
              </a:p>
              <a:p>
                <a:r>
                  <a:rPr lang="en-US" dirty="0"/>
                  <a:t>The receiver may then struggle to recover the 100 MHz signal—even though the unwanted signal is outside the desired bandwidth.</a:t>
                </a:r>
              </a:p>
              <a:p>
                <a:pPr algn="l"/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Weak desired signal buried in noise - Sensitivity</a:t>
            </a:r>
          </a:p>
          <a:p>
            <a:r>
              <a:rPr lang="en-US" dirty="0"/>
              <a:t>Unwanted signal inside the passband - Interference / selectivity</a:t>
            </a:r>
          </a:p>
          <a:p>
            <a:r>
              <a:rPr lang="en-US" dirty="0"/>
              <a:t>Strong unwanted signal outside the passband overloads an amplifier - Front-end overload / blocking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9.png"/><Relationship Id="rId5" Type="http://schemas.openxmlformats.org/officeDocument/2006/relationships/image" Target="../media/image8.png"/><Relationship Id="rId10" Type="http://schemas.openxmlformats.org/officeDocument/2006/relationships/image" Target="../media/image18.png"/><Relationship Id="rId4" Type="http://schemas.openxmlformats.org/officeDocument/2006/relationships/image" Target="../media/image5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9EB0BC"/>
                </a:solidFill>
                <a:latin typeface="Aptos"/>
              </a:rPr>
              <a:t>LECTURE 17 | RECEIVER ARCHITECTURE SENSIT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9EB0BC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5836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2C6C8"/>
                </a:solidFill>
                <a:latin typeface="Aptos"/>
              </a:rPr>
              <a:t>CYBER 327  /  LECTURE 17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152144"/>
            <a:ext cx="1371600" cy="0"/>
          </a:xfrm>
          <a:prstGeom prst="line">
            <a:avLst/>
          </a:prstGeom>
          <a:ln w="508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481328"/>
            <a:ext cx="996696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ptos Display"/>
              </a:rPr>
              <a:t>Receiver Architecture, Sensitivity, and Selectivity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182112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D6E1E7"/>
                </a:solidFill>
                <a:latin typeface="Aptos"/>
              </a:rPr>
              <a:t>Sensitivity, selectivity, and dynamic range fail in different ways.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5230368"/>
            <a:ext cx="1965960" cy="420624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5230368"/>
            <a:ext cx="196596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MONDAY, OCTOBER 12,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71216" y="5230368"/>
            <a:ext cx="2377440" cy="420624"/>
          </a:xfrm>
          <a:prstGeom prst="round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7086600" y="4574286"/>
            <a:ext cx="346710" cy="220827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433310" y="4679899"/>
            <a:ext cx="346710" cy="115214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80020" y="4679899"/>
            <a:ext cx="346710" cy="566471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126730" y="4929530"/>
            <a:ext cx="346710" cy="31684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473440" y="4929530"/>
            <a:ext cx="346710" cy="48006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820150" y="4766310"/>
            <a:ext cx="346710" cy="64328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66860" y="4766310"/>
            <a:ext cx="346710" cy="316839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513570" y="4641494"/>
            <a:ext cx="346710" cy="441655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60280" y="4641494"/>
            <a:ext cx="346710" cy="518465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206990" y="4871923"/>
            <a:ext cx="346710" cy="288036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553700" y="4871923"/>
            <a:ext cx="346710" cy="460857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900410" y="4699101"/>
            <a:ext cx="346710" cy="633679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 dirty="0">
                <a:solidFill>
                  <a:srgbClr val="0F6D74"/>
                </a:solidFill>
                <a:latin typeface="Aptos"/>
              </a:rPr>
              <a:t>RECALL</a:t>
            </a:r>
            <a:endParaRPr sz="1050" b="1" i="0" dirty="0">
              <a:solidFill>
                <a:srgbClr val="0F6D74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700" b="1" i="0" dirty="0">
                <a:solidFill>
                  <a:srgbClr val="17324D"/>
                </a:solidFill>
                <a:latin typeface="Aptos Display"/>
              </a:rPr>
              <a:t>The Communication System</a:t>
            </a:r>
            <a:endParaRPr sz="27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1892" y="1969173"/>
            <a:ext cx="1865376" cy="566926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1892" y="2128756"/>
            <a:ext cx="1865376" cy="247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50" b="1" i="0" dirty="0">
                <a:solidFill>
                  <a:srgbClr val="FFFFFF"/>
                </a:solidFill>
                <a:latin typeface="Aptos"/>
              </a:rPr>
              <a:t>Message</a:t>
            </a:r>
          </a:p>
        </p:txBody>
      </p:sp>
      <p:sp>
        <p:nvSpPr>
          <p:cNvPr id="15" name="Chevron 14"/>
          <p:cNvSpPr/>
          <p:nvPr/>
        </p:nvSpPr>
        <p:spPr>
          <a:xfrm>
            <a:off x="2261036" y="2171036"/>
            <a:ext cx="90792" cy="154056"/>
          </a:xfrm>
          <a:prstGeom prst="chevron">
            <a:avLst/>
          </a:prstGeom>
          <a:solidFill>
            <a:srgbClr val="5F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962656" y="2194561"/>
            <a:ext cx="1865376" cy="566926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62656" y="2354144"/>
            <a:ext cx="1865376" cy="247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50" b="1" i="0" dirty="0">
                <a:solidFill>
                  <a:srgbClr val="FFFFFF"/>
                </a:solidFill>
                <a:latin typeface="Aptos"/>
              </a:rPr>
              <a:t>Transmitter</a:t>
            </a:r>
          </a:p>
        </p:txBody>
      </p:sp>
      <p:sp>
        <p:nvSpPr>
          <p:cNvPr id="18" name="Chevron 17"/>
          <p:cNvSpPr/>
          <p:nvPr/>
        </p:nvSpPr>
        <p:spPr>
          <a:xfrm>
            <a:off x="4951800" y="2396424"/>
            <a:ext cx="90792" cy="154056"/>
          </a:xfrm>
          <a:prstGeom prst="chevron">
            <a:avLst/>
          </a:prstGeom>
          <a:solidFill>
            <a:srgbClr val="5F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128840" y="3020084"/>
            <a:ext cx="1865376" cy="566926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36140" y="3179667"/>
            <a:ext cx="1650776" cy="247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Medium</a:t>
            </a:r>
          </a:p>
        </p:txBody>
      </p:sp>
      <p:sp>
        <p:nvSpPr>
          <p:cNvPr id="21" name="Chevron 20"/>
          <p:cNvSpPr/>
          <p:nvPr/>
        </p:nvSpPr>
        <p:spPr>
          <a:xfrm>
            <a:off x="7155504" y="3273371"/>
            <a:ext cx="90792" cy="154056"/>
          </a:xfrm>
          <a:prstGeom prst="chevron">
            <a:avLst/>
          </a:prstGeom>
          <a:solidFill>
            <a:srgbClr val="5F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370064" y="2194561"/>
            <a:ext cx="1865376" cy="566926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77364" y="2354144"/>
            <a:ext cx="1650776" cy="247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Receiver</a:t>
            </a:r>
          </a:p>
        </p:txBody>
      </p:sp>
      <p:sp>
        <p:nvSpPr>
          <p:cNvPr id="24" name="Chevron 23"/>
          <p:cNvSpPr/>
          <p:nvPr/>
        </p:nvSpPr>
        <p:spPr>
          <a:xfrm>
            <a:off x="9359208" y="2396424"/>
            <a:ext cx="90792" cy="154056"/>
          </a:xfrm>
          <a:prstGeom prst="chevron">
            <a:avLst/>
          </a:prstGeom>
          <a:solidFill>
            <a:srgbClr val="5F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573768" y="2194561"/>
            <a:ext cx="1865376" cy="566926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73768" y="2354144"/>
            <a:ext cx="1865376" cy="247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Recovered message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F6DE57B6-709F-0B76-7379-0C6EC8EED2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55706" y="2731944"/>
            <a:ext cx="3999300" cy="26662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87F4398-806A-E781-F7F8-7911BFE6ED6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flipH="1">
            <a:off x="7489755" y="2791206"/>
            <a:ext cx="3686175" cy="24574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E2512E-5AB2-721D-8281-210657BBD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74DEA2-1A3C-8BB2-5E50-1E82F08C45EA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564591F2-15C9-16F1-6E75-9AC826C1ED01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F4AFBF42-9143-4DC5-95E4-A15A52FDD2FF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2F0EA89D-B03D-4310-8574-492D82271488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D69E4DB4-15F3-7148-CC00-C6D5F5CBA013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CF3C5CC9-993E-537D-8B0D-07BB87B1FFAF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6CDE5B8-E069-973A-2529-8F2A1B47CFDF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17 | RECEIVER ARCHITECTURE SENSIT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C7CDE7-C8A5-99DF-FC01-820418AA6AF3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68FDCA-FE1E-440C-A898-73C8A808AA45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COMMUNICATIONS FOUNDATION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606F16-9586-DAEB-BDE9-0908E069DBBE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The AM Receiver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1C98723D-6C3D-0480-91FB-C01C7D96AAF5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89984FD3-E600-2EC9-7A0A-33ED1F023B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66801" y="1770785"/>
            <a:ext cx="10058398" cy="41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222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946152-E26C-8670-1674-6D381623B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DD14E3-FA9C-F435-B60F-8E4B385A8B9F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7F2D548E-DAE3-3AC7-CB77-44BAF52A5F4C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44BF6FBB-E5CE-8814-B9A4-28F4FCFAC0D3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2002F992-783B-E9A4-9EDB-465A056372B9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E7D28861-42BD-BAEE-8858-769CD03B6DC4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C86ABB8D-011C-30F4-0FBD-39F0D78004C8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FF7354E-138E-59DD-3EA7-EA6ECBAFE3B6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17 | RECEIVER ARCHITECTURE SENSIT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820AA4-0127-08E2-B2D2-E10DC0877478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877413-BCD6-37C0-0A34-6130D262F90C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COMMUNICATIONS FOUNDATION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E5C089-D2B2-4BFB-6452-A1DC7C0A3FFC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The Superheterodyne receiver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57636326-D85B-3295-91A8-F1086F55D31F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2" descr="AAHWVVE0.jpg">
            <a:extLst>
              <a:ext uri="{FF2B5EF4-FFF2-40B4-BE49-F238E27FC236}">
                <a16:creationId xmlns:a16="http://schemas.microsoft.com/office/drawing/2014/main" id="{DC8D9C26-81BB-908A-60B9-C65D1BC267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63969" y="1344959"/>
            <a:ext cx="9436736" cy="5513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9CA1FCB-D37A-36BD-8636-F37C77EDB2F7}"/>
              </a:ext>
            </a:extLst>
          </p:cNvPr>
          <p:cNvSpPr/>
          <p:nvPr/>
        </p:nvSpPr>
        <p:spPr>
          <a:xfrm>
            <a:off x="2086708" y="1688123"/>
            <a:ext cx="949569" cy="269631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8E1EBA-1AD5-C40F-816C-DEBFB8040D9A}"/>
              </a:ext>
            </a:extLst>
          </p:cNvPr>
          <p:cNvSpPr/>
          <p:nvPr/>
        </p:nvSpPr>
        <p:spPr>
          <a:xfrm>
            <a:off x="5744308" y="2403231"/>
            <a:ext cx="949569" cy="269631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04F22EE-AB46-E223-E736-C6BB01CF8719}"/>
              </a:ext>
            </a:extLst>
          </p:cNvPr>
          <p:cNvSpPr/>
          <p:nvPr/>
        </p:nvSpPr>
        <p:spPr>
          <a:xfrm>
            <a:off x="4478216" y="4101478"/>
            <a:ext cx="316522" cy="269631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690685-8EAE-3498-A7D1-F4AB4EA60545}"/>
              </a:ext>
            </a:extLst>
          </p:cNvPr>
          <p:cNvSpPr/>
          <p:nvPr/>
        </p:nvSpPr>
        <p:spPr>
          <a:xfrm>
            <a:off x="2826146" y="6647689"/>
            <a:ext cx="1464500" cy="210312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56BA1C-624F-2996-25C5-6A9C13B7C320}"/>
              </a:ext>
            </a:extLst>
          </p:cNvPr>
          <p:cNvSpPr/>
          <p:nvPr/>
        </p:nvSpPr>
        <p:spPr>
          <a:xfrm>
            <a:off x="3540369" y="2997900"/>
            <a:ext cx="398586" cy="301027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D689BE3-29A5-F6C5-1FFB-4227A578C529}"/>
                  </a:ext>
                </a:extLst>
              </p:cNvPr>
              <p:cNvSpPr txBox="1"/>
              <p:nvPr/>
            </p:nvSpPr>
            <p:spPr>
              <a:xfrm>
                <a:off x="3620270" y="2883429"/>
                <a:ext cx="23878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D689BE3-29A5-F6C5-1FFB-4227A578C5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0270" y="2883429"/>
                <a:ext cx="238783" cy="276999"/>
              </a:xfrm>
              <a:prstGeom prst="rect">
                <a:avLst/>
              </a:prstGeom>
              <a:blipFill>
                <a:blip r:embed="rId4"/>
                <a:stretch>
                  <a:fillRect l="-25641" r="-769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1905B68-78A8-53D2-F315-BC31E018F181}"/>
                  </a:ext>
                </a:extLst>
              </p:cNvPr>
              <p:cNvSpPr txBox="1"/>
              <p:nvPr/>
            </p:nvSpPr>
            <p:spPr>
              <a:xfrm>
                <a:off x="6037201" y="2264731"/>
                <a:ext cx="6186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LO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-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1905B68-78A8-53D2-F315-BC31E018F1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7201" y="2264731"/>
                <a:ext cx="618631" cy="276999"/>
              </a:xfrm>
              <a:prstGeom prst="rect">
                <a:avLst/>
              </a:prstGeom>
              <a:blipFill>
                <a:blip r:embed="rId5"/>
                <a:stretch>
                  <a:fillRect l="-8824" r="-3922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234448F-BA8A-BA53-3FE0-4419D5E49502}"/>
                  </a:ext>
                </a:extLst>
              </p:cNvPr>
              <p:cNvSpPr txBox="1"/>
              <p:nvPr/>
            </p:nvSpPr>
            <p:spPr>
              <a:xfrm>
                <a:off x="4458575" y="4584486"/>
                <a:ext cx="3558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LO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234448F-BA8A-BA53-3FE0-4419D5E49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8575" y="4584486"/>
                <a:ext cx="355803" cy="276999"/>
              </a:xfrm>
              <a:prstGeom prst="rect">
                <a:avLst/>
              </a:prstGeom>
              <a:blipFill>
                <a:blip r:embed="rId6"/>
                <a:stretch>
                  <a:fillRect l="-15254" r="-6780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83C41A01-25AD-8BDF-0BFB-190056E9874E}"/>
              </a:ext>
            </a:extLst>
          </p:cNvPr>
          <p:cNvSpPr txBox="1"/>
          <p:nvPr/>
        </p:nvSpPr>
        <p:spPr>
          <a:xfrm>
            <a:off x="2846779" y="2031684"/>
            <a:ext cx="117230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i="0" dirty="0">
                <a:solidFill>
                  <a:srgbClr val="17324D"/>
                </a:solidFill>
                <a:latin typeface="Aptos"/>
              </a:rPr>
              <a:t>Antenna</a:t>
            </a:r>
            <a:endParaRPr sz="1600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C9645B-71BF-0AAE-12D7-40C1D77EA1D5}"/>
              </a:ext>
            </a:extLst>
          </p:cNvPr>
          <p:cNvSpPr txBox="1"/>
          <p:nvPr/>
        </p:nvSpPr>
        <p:spPr>
          <a:xfrm>
            <a:off x="2235250" y="1575484"/>
            <a:ext cx="117230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i="0" dirty="0">
                <a:solidFill>
                  <a:srgbClr val="17324D"/>
                </a:solidFill>
                <a:latin typeface="Aptos"/>
              </a:rPr>
              <a:t>Antenna</a:t>
            </a:r>
            <a:endParaRPr sz="16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30" name="Rounded Rectangle 12">
            <a:extLst>
              <a:ext uri="{FF2B5EF4-FFF2-40B4-BE49-F238E27FC236}">
                <a16:creationId xmlns:a16="http://schemas.microsoft.com/office/drawing/2014/main" id="{1F9A5528-006E-AACF-620B-ACBE65591701}"/>
              </a:ext>
            </a:extLst>
          </p:cNvPr>
          <p:cNvSpPr/>
          <p:nvPr/>
        </p:nvSpPr>
        <p:spPr>
          <a:xfrm>
            <a:off x="8157333" y="5130226"/>
            <a:ext cx="3276600" cy="1054626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D4168AF-B079-8AB8-C0D4-76CFEBB38F38}"/>
              </a:ext>
            </a:extLst>
          </p:cNvPr>
          <p:cNvSpPr/>
          <p:nvPr/>
        </p:nvSpPr>
        <p:spPr>
          <a:xfrm>
            <a:off x="8157333" y="5169313"/>
            <a:ext cx="82296" cy="1054626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FE2B9F3-15FE-0275-5400-D89568E76AC7}"/>
              </a:ext>
            </a:extLst>
          </p:cNvPr>
          <p:cNvSpPr txBox="1"/>
          <p:nvPr/>
        </p:nvSpPr>
        <p:spPr>
          <a:xfrm>
            <a:off x="8385933" y="5236203"/>
            <a:ext cx="28651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i="0" dirty="0">
                <a:solidFill>
                  <a:srgbClr val="17324D"/>
                </a:solidFill>
                <a:latin typeface="Aptos"/>
              </a:rPr>
              <a:t>GOAL</a:t>
            </a:r>
            <a:endParaRPr sz="16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0BCB79D-9164-01CF-C60E-22D268736302}"/>
              </a:ext>
            </a:extLst>
          </p:cNvPr>
          <p:cNvSpPr txBox="1"/>
          <p:nvPr/>
        </p:nvSpPr>
        <p:spPr>
          <a:xfrm>
            <a:off x="8385933" y="5513041"/>
            <a:ext cx="2865120" cy="654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400" b="0" i="0" dirty="0">
                <a:solidFill>
                  <a:srgbClr val="182028"/>
                </a:solidFill>
                <a:latin typeface="Aptos"/>
              </a:rPr>
              <a:t>Bring the signal to an intermediate frequency (IF) because your detector is super good at that IF </a:t>
            </a:r>
            <a:endParaRPr sz="1400" b="0" i="0" dirty="0">
              <a:solidFill>
                <a:srgbClr val="182028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998830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38A7EA-635A-18E3-6E4C-8516D53F7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21BD40-1449-AAB5-CF94-A0CD96E605FE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3CFE2C16-3A21-DECC-A5DC-566C78E57F2D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0D51C28C-ADB0-C430-9E93-B316E0FA71BB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4764228A-A763-E488-0501-E0AFFDEB3C06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A542B190-44C4-8F01-344B-F8CA1433BC89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7D5E2E21-672B-E60B-8CB0-39D4265BDB66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97E23B0-F923-0541-5825-AAB9A4933775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17 | RECEIVER ARCHITECTURE SENSIT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19F125-4CB3-D6CF-F009-B37A47F08A62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496A1C-6A35-937E-A120-C3C568063607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COMMUNICATIONS FOUNDATION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77569D-BF9F-717A-86C0-DC32515937EF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The Superheterodyne receiver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91EAF529-3921-E66E-891B-BEE0D0C14250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2" descr="AAHWVVE0.jpg">
            <a:extLst>
              <a:ext uri="{FF2B5EF4-FFF2-40B4-BE49-F238E27FC236}">
                <a16:creationId xmlns:a16="http://schemas.microsoft.com/office/drawing/2014/main" id="{33DBED14-22F2-B3A2-4690-856E81E3C8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63969" y="1344959"/>
            <a:ext cx="9436736" cy="5513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C5C1DA3-8AB4-E8E2-8129-AA1C8E6ABA72}"/>
              </a:ext>
            </a:extLst>
          </p:cNvPr>
          <p:cNvSpPr/>
          <p:nvPr/>
        </p:nvSpPr>
        <p:spPr>
          <a:xfrm>
            <a:off x="2086708" y="1688123"/>
            <a:ext cx="949569" cy="269631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82D88E-B08E-D0A5-315E-37D3D66CC930}"/>
              </a:ext>
            </a:extLst>
          </p:cNvPr>
          <p:cNvSpPr/>
          <p:nvPr/>
        </p:nvSpPr>
        <p:spPr>
          <a:xfrm>
            <a:off x="5744308" y="2403231"/>
            <a:ext cx="949569" cy="269631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4CF16E9-237D-60BF-F2DA-05485CC1424E}"/>
              </a:ext>
            </a:extLst>
          </p:cNvPr>
          <p:cNvSpPr/>
          <p:nvPr/>
        </p:nvSpPr>
        <p:spPr>
          <a:xfrm>
            <a:off x="4478216" y="4101478"/>
            <a:ext cx="316522" cy="269631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E3879A-0A95-CF5A-9521-A00492FEEE4C}"/>
              </a:ext>
            </a:extLst>
          </p:cNvPr>
          <p:cNvSpPr/>
          <p:nvPr/>
        </p:nvSpPr>
        <p:spPr>
          <a:xfrm>
            <a:off x="2826146" y="6647689"/>
            <a:ext cx="1464500" cy="210312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66490DD-3FD4-4ACE-80B7-7E7A71B05D93}"/>
              </a:ext>
            </a:extLst>
          </p:cNvPr>
          <p:cNvSpPr/>
          <p:nvPr/>
        </p:nvSpPr>
        <p:spPr>
          <a:xfrm>
            <a:off x="3540369" y="2997900"/>
            <a:ext cx="398586" cy="301027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E794FEF-6894-0313-BD29-E97F736F050D}"/>
                  </a:ext>
                </a:extLst>
              </p:cNvPr>
              <p:cNvSpPr txBox="1"/>
              <p:nvPr/>
            </p:nvSpPr>
            <p:spPr>
              <a:xfrm>
                <a:off x="3620270" y="2883429"/>
                <a:ext cx="23878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E794FEF-6894-0313-BD29-E97F736F0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0270" y="2883429"/>
                <a:ext cx="238783" cy="276999"/>
              </a:xfrm>
              <a:prstGeom prst="rect">
                <a:avLst/>
              </a:prstGeom>
              <a:blipFill>
                <a:blip r:embed="rId4"/>
                <a:stretch>
                  <a:fillRect l="-25641" r="-769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8262AFE-15D7-E5A4-EE0B-FBF4810FF2AA}"/>
                  </a:ext>
                </a:extLst>
              </p:cNvPr>
              <p:cNvSpPr txBox="1"/>
              <p:nvPr/>
            </p:nvSpPr>
            <p:spPr>
              <a:xfrm>
                <a:off x="6037201" y="2264731"/>
                <a:ext cx="6186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LO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8262AFE-15D7-E5A4-EE0B-FBF4810FF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7201" y="2264731"/>
                <a:ext cx="618631" cy="276999"/>
              </a:xfrm>
              <a:prstGeom prst="rect">
                <a:avLst/>
              </a:prstGeom>
              <a:blipFill>
                <a:blip r:embed="rId5"/>
                <a:stretch>
                  <a:fillRect l="-13725" r="-30392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9284C28-AB66-4559-35F7-0286D2D5981A}"/>
                  </a:ext>
                </a:extLst>
              </p:cNvPr>
              <p:cNvSpPr txBox="1"/>
              <p:nvPr/>
            </p:nvSpPr>
            <p:spPr>
              <a:xfrm>
                <a:off x="4458575" y="4584486"/>
                <a:ext cx="3558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LO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9284C28-AB66-4559-35F7-0286D2D598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8575" y="4584486"/>
                <a:ext cx="355803" cy="276999"/>
              </a:xfrm>
              <a:prstGeom prst="rect">
                <a:avLst/>
              </a:prstGeom>
              <a:blipFill>
                <a:blip r:embed="rId6"/>
                <a:stretch>
                  <a:fillRect l="-15254" r="-6780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EE1BD6BA-C792-912A-95C9-2CE07C8E955F}"/>
              </a:ext>
            </a:extLst>
          </p:cNvPr>
          <p:cNvSpPr txBox="1"/>
          <p:nvPr/>
        </p:nvSpPr>
        <p:spPr>
          <a:xfrm>
            <a:off x="2846779" y="2031684"/>
            <a:ext cx="117230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i="0" dirty="0">
                <a:solidFill>
                  <a:srgbClr val="17324D"/>
                </a:solidFill>
                <a:latin typeface="Aptos"/>
              </a:rPr>
              <a:t>Antenna</a:t>
            </a:r>
            <a:endParaRPr sz="1600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036B234-F5B9-FD40-AF9C-E3B11D0EB545}"/>
              </a:ext>
            </a:extLst>
          </p:cNvPr>
          <p:cNvSpPr txBox="1"/>
          <p:nvPr/>
        </p:nvSpPr>
        <p:spPr>
          <a:xfrm>
            <a:off x="2235250" y="1575484"/>
            <a:ext cx="117230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i="0" dirty="0">
                <a:solidFill>
                  <a:srgbClr val="17324D"/>
                </a:solidFill>
                <a:latin typeface="Aptos"/>
              </a:rPr>
              <a:t>Antenna</a:t>
            </a:r>
            <a:endParaRPr sz="16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30" name="Rounded Rectangle 12">
            <a:extLst>
              <a:ext uri="{FF2B5EF4-FFF2-40B4-BE49-F238E27FC236}">
                <a16:creationId xmlns:a16="http://schemas.microsoft.com/office/drawing/2014/main" id="{182364CC-5512-B17F-9004-628FACE80083}"/>
              </a:ext>
            </a:extLst>
          </p:cNvPr>
          <p:cNvSpPr/>
          <p:nvPr/>
        </p:nvSpPr>
        <p:spPr>
          <a:xfrm>
            <a:off x="8157333" y="5130226"/>
            <a:ext cx="3276600" cy="1054626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C2F817A-E95F-4370-3644-E107C2C63C37}"/>
              </a:ext>
            </a:extLst>
          </p:cNvPr>
          <p:cNvSpPr/>
          <p:nvPr/>
        </p:nvSpPr>
        <p:spPr>
          <a:xfrm>
            <a:off x="8157333" y="5169313"/>
            <a:ext cx="82296" cy="1054626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A5FE4C-48D5-15A6-7A4D-2A5EC6BC536E}"/>
              </a:ext>
            </a:extLst>
          </p:cNvPr>
          <p:cNvSpPr txBox="1"/>
          <p:nvPr/>
        </p:nvSpPr>
        <p:spPr>
          <a:xfrm>
            <a:off x="8385933" y="5236203"/>
            <a:ext cx="28651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i="0" dirty="0">
                <a:solidFill>
                  <a:srgbClr val="17324D"/>
                </a:solidFill>
                <a:latin typeface="Aptos"/>
              </a:rPr>
              <a:t>EXAMPLE: KSL 1160AM</a:t>
            </a:r>
            <a:endParaRPr sz="16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85DE97-BA1E-321D-1D82-E6D4864B65E7}"/>
              </a:ext>
            </a:extLst>
          </p:cNvPr>
          <p:cNvSpPr txBox="1"/>
          <p:nvPr/>
        </p:nvSpPr>
        <p:spPr>
          <a:xfrm>
            <a:off x="8385933" y="5513041"/>
            <a:ext cx="2865120" cy="654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400" b="0" i="0" dirty="0">
                <a:solidFill>
                  <a:srgbClr val="182028"/>
                </a:solidFill>
                <a:latin typeface="Aptos"/>
              </a:rPr>
              <a:t>Bring the signal to an intermediate frequency (IF) because your detector is super good at that IF </a:t>
            </a:r>
            <a:endParaRPr sz="1400" b="0" i="0" dirty="0">
              <a:solidFill>
                <a:srgbClr val="182028"/>
              </a:solidFill>
              <a:latin typeface="Apto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C906C6B-A4FB-A3A3-EF00-9009074A3D09}"/>
                  </a:ext>
                </a:extLst>
              </p:cNvPr>
              <p:cNvSpPr txBox="1"/>
              <p:nvPr/>
            </p:nvSpPr>
            <p:spPr>
              <a:xfrm>
                <a:off x="793870" y="1992360"/>
                <a:ext cx="14635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540-1610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kHz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C906C6B-A4FB-A3A3-EF00-9009074A3D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870" y="1992360"/>
                <a:ext cx="1463542" cy="276999"/>
              </a:xfrm>
              <a:prstGeom prst="rect">
                <a:avLst/>
              </a:prstGeom>
              <a:blipFill>
                <a:blip r:embed="rId7"/>
                <a:stretch>
                  <a:fillRect l="-3750" r="-4167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E1A39C8-F198-EB8A-FAF1-517A976E85B6}"/>
                  </a:ext>
                </a:extLst>
              </p:cNvPr>
              <p:cNvSpPr txBox="1"/>
              <p:nvPr/>
            </p:nvSpPr>
            <p:spPr>
              <a:xfrm>
                <a:off x="3172934" y="2543761"/>
                <a:ext cx="10018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1160 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kHz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E1A39C8-F198-EB8A-FAF1-517A976E8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2934" y="2543761"/>
                <a:ext cx="1001877" cy="276999"/>
              </a:xfrm>
              <a:prstGeom prst="rect">
                <a:avLst/>
              </a:prstGeom>
              <a:blipFill>
                <a:blip r:embed="rId8"/>
                <a:stretch>
                  <a:fillRect l="-4848" r="-5455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2EC71F9-4391-9380-C59E-F9BE37913CBF}"/>
                  </a:ext>
                </a:extLst>
              </p:cNvPr>
              <p:cNvSpPr txBox="1"/>
              <p:nvPr/>
            </p:nvSpPr>
            <p:spPr>
              <a:xfrm>
                <a:off x="5625653" y="3530586"/>
                <a:ext cx="8736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455 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kHz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2EC71F9-4391-9380-C59E-F9BE37913C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5653" y="3530586"/>
                <a:ext cx="873637" cy="276999"/>
              </a:xfrm>
              <a:prstGeom prst="rect">
                <a:avLst/>
              </a:prstGeom>
              <a:blipFill>
                <a:blip r:embed="rId9"/>
                <a:stretch>
                  <a:fillRect l="-6294" r="-6993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2642C61-0DC9-1B95-1B39-65CE45FF74F9}"/>
                  </a:ext>
                </a:extLst>
              </p:cNvPr>
              <p:cNvSpPr txBox="1"/>
              <p:nvPr/>
            </p:nvSpPr>
            <p:spPr>
              <a:xfrm>
                <a:off x="7802810" y="2820760"/>
                <a:ext cx="8736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455 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kHz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2642C61-0DC9-1B95-1B39-65CE45FF74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2810" y="2820760"/>
                <a:ext cx="873637" cy="276999"/>
              </a:xfrm>
              <a:prstGeom prst="rect">
                <a:avLst/>
              </a:prstGeom>
              <a:blipFill>
                <a:blip r:embed="rId10"/>
                <a:stretch>
                  <a:fillRect l="-6294" r="-6993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FEB38C7-435C-42D5-3A66-DAE0D4227ED5}"/>
                  </a:ext>
                </a:extLst>
              </p:cNvPr>
              <p:cNvSpPr txBox="1"/>
              <p:nvPr/>
            </p:nvSpPr>
            <p:spPr>
              <a:xfrm>
                <a:off x="5010840" y="4595704"/>
                <a:ext cx="10018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1615 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kHz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FEB38C7-435C-42D5-3A66-DAE0D4227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0840" y="4595704"/>
                <a:ext cx="1001877" cy="276999"/>
              </a:xfrm>
              <a:prstGeom prst="rect">
                <a:avLst/>
              </a:prstGeom>
              <a:blipFill>
                <a:blip r:embed="rId11"/>
                <a:stretch>
                  <a:fillRect l="-5488" r="-6098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5B53496-C3E3-AE29-8C11-FE59197A8CDA}"/>
                  </a:ext>
                </a:extLst>
              </p:cNvPr>
              <p:cNvSpPr txBox="1"/>
              <p:nvPr/>
            </p:nvSpPr>
            <p:spPr>
              <a:xfrm>
                <a:off x="9309727" y="2538046"/>
                <a:ext cx="18578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Audio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(20-20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kHz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5B53496-C3E3-AE29-8C11-FE59197A8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9727" y="2538046"/>
                <a:ext cx="1857881" cy="276999"/>
              </a:xfrm>
              <a:prstGeom prst="rect">
                <a:avLst/>
              </a:prstGeom>
              <a:blipFill>
                <a:blip r:embed="rId12"/>
                <a:stretch>
                  <a:fillRect l="-2623" t="-2174" r="-4262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5892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9E3749-6E54-756B-711D-3C2E30F98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1CB0D0-9896-A654-483B-16615C257D68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98B11B24-A6C4-8DF6-D31F-77A872A9494A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3058C4B0-E80E-42CC-D3F2-DD24C06C976F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5BCB4878-B3BC-7F3C-A6AB-E5809F5781B5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750AE301-C181-3EAD-7C6A-6426792A6589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EE6FFC3E-443F-1794-8804-E4B4E951A40D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AF888CF-589F-B306-5B00-47144B24D689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17 | RECEIVER ARCHITECTURE SENSIT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114CCE-C125-E5BF-BA4B-7738722393E4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F8CB6C-2DCD-E216-9171-12F450DB3C49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COMMUNICATIONS FOUNDATION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A0F2FD-234C-299C-74C8-C02C3778F660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The Superheterodyne receiver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1DA5EEE8-F569-E446-C52A-6D279FBE880F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2" descr="AAHWVVE0.jpg">
            <a:extLst>
              <a:ext uri="{FF2B5EF4-FFF2-40B4-BE49-F238E27FC236}">
                <a16:creationId xmlns:a16="http://schemas.microsoft.com/office/drawing/2014/main" id="{4F9C63BB-6CCE-0DDB-A73B-8180043D3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63969" y="1344959"/>
            <a:ext cx="9436736" cy="5513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38D2E58-FE9D-018E-B53F-A9165B046F7D}"/>
              </a:ext>
            </a:extLst>
          </p:cNvPr>
          <p:cNvSpPr/>
          <p:nvPr/>
        </p:nvSpPr>
        <p:spPr>
          <a:xfrm>
            <a:off x="2086708" y="1688123"/>
            <a:ext cx="949569" cy="269631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590D431-34D5-A4A4-EAE6-1A4D40E9C324}"/>
              </a:ext>
            </a:extLst>
          </p:cNvPr>
          <p:cNvSpPr/>
          <p:nvPr/>
        </p:nvSpPr>
        <p:spPr>
          <a:xfrm>
            <a:off x="5744308" y="2403231"/>
            <a:ext cx="949569" cy="269631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049033-B72C-C831-4B0C-DFC2577EDF5F}"/>
              </a:ext>
            </a:extLst>
          </p:cNvPr>
          <p:cNvSpPr/>
          <p:nvPr/>
        </p:nvSpPr>
        <p:spPr>
          <a:xfrm>
            <a:off x="4478216" y="4101478"/>
            <a:ext cx="316522" cy="269631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7165FE-7427-1767-51E5-8DC4C9049450}"/>
              </a:ext>
            </a:extLst>
          </p:cNvPr>
          <p:cNvSpPr/>
          <p:nvPr/>
        </p:nvSpPr>
        <p:spPr>
          <a:xfrm>
            <a:off x="2826146" y="6647689"/>
            <a:ext cx="1464500" cy="210312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D553AA3-6CCA-982E-34E6-914D5DF74428}"/>
              </a:ext>
            </a:extLst>
          </p:cNvPr>
          <p:cNvSpPr/>
          <p:nvPr/>
        </p:nvSpPr>
        <p:spPr>
          <a:xfrm>
            <a:off x="3540369" y="2997900"/>
            <a:ext cx="398586" cy="301027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BD88D8C-19C8-46AC-A78F-A67116A98342}"/>
                  </a:ext>
                </a:extLst>
              </p:cNvPr>
              <p:cNvSpPr txBox="1"/>
              <p:nvPr/>
            </p:nvSpPr>
            <p:spPr>
              <a:xfrm>
                <a:off x="3620270" y="2883429"/>
                <a:ext cx="23878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BD88D8C-19C8-46AC-A78F-A67116A983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0270" y="2883429"/>
                <a:ext cx="238783" cy="276999"/>
              </a:xfrm>
              <a:prstGeom prst="rect">
                <a:avLst/>
              </a:prstGeom>
              <a:blipFill>
                <a:blip r:embed="rId4"/>
                <a:stretch>
                  <a:fillRect l="-25641" r="-769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5EEFFBA-D3C6-2DA8-48CE-DE6A9FEC14A4}"/>
                  </a:ext>
                </a:extLst>
              </p:cNvPr>
              <p:cNvSpPr txBox="1"/>
              <p:nvPr/>
            </p:nvSpPr>
            <p:spPr>
              <a:xfrm>
                <a:off x="6037201" y="2264731"/>
                <a:ext cx="6186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LO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5EEFFBA-D3C6-2DA8-48CE-DE6A9FEC14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7201" y="2264731"/>
                <a:ext cx="618631" cy="276999"/>
              </a:xfrm>
              <a:prstGeom prst="rect">
                <a:avLst/>
              </a:prstGeom>
              <a:blipFill>
                <a:blip r:embed="rId5"/>
                <a:stretch>
                  <a:fillRect l="-13725" r="-30392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4380D54-9475-46AF-A286-B461AFBA0829}"/>
                  </a:ext>
                </a:extLst>
              </p:cNvPr>
              <p:cNvSpPr txBox="1"/>
              <p:nvPr/>
            </p:nvSpPr>
            <p:spPr>
              <a:xfrm>
                <a:off x="4458575" y="4584486"/>
                <a:ext cx="3558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LO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4380D54-9475-46AF-A286-B461AFBA08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8575" y="4584486"/>
                <a:ext cx="355803" cy="276999"/>
              </a:xfrm>
              <a:prstGeom prst="rect">
                <a:avLst/>
              </a:prstGeom>
              <a:blipFill>
                <a:blip r:embed="rId6"/>
                <a:stretch>
                  <a:fillRect l="-15254" r="-6780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4F345EFE-25A1-3006-981B-E75C4A18EF6B}"/>
              </a:ext>
            </a:extLst>
          </p:cNvPr>
          <p:cNvSpPr txBox="1"/>
          <p:nvPr/>
        </p:nvSpPr>
        <p:spPr>
          <a:xfrm>
            <a:off x="2846779" y="2031684"/>
            <a:ext cx="117230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i="0" dirty="0">
                <a:solidFill>
                  <a:srgbClr val="17324D"/>
                </a:solidFill>
                <a:latin typeface="Aptos"/>
              </a:rPr>
              <a:t>Antenna</a:t>
            </a:r>
            <a:endParaRPr sz="1600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56C94A-312D-3F80-F7EA-D2E487609758}"/>
              </a:ext>
            </a:extLst>
          </p:cNvPr>
          <p:cNvSpPr txBox="1"/>
          <p:nvPr/>
        </p:nvSpPr>
        <p:spPr>
          <a:xfrm>
            <a:off x="2235250" y="1575484"/>
            <a:ext cx="117230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i="0" dirty="0">
                <a:solidFill>
                  <a:srgbClr val="17324D"/>
                </a:solidFill>
                <a:latin typeface="Aptos"/>
              </a:rPr>
              <a:t>Antenna</a:t>
            </a:r>
            <a:endParaRPr sz="16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30" name="Rounded Rectangle 12">
            <a:extLst>
              <a:ext uri="{FF2B5EF4-FFF2-40B4-BE49-F238E27FC236}">
                <a16:creationId xmlns:a16="http://schemas.microsoft.com/office/drawing/2014/main" id="{4F77ABB6-C29A-D0BB-3BF7-3B01067E8F4F}"/>
              </a:ext>
            </a:extLst>
          </p:cNvPr>
          <p:cNvSpPr/>
          <p:nvPr/>
        </p:nvSpPr>
        <p:spPr>
          <a:xfrm>
            <a:off x="8157333" y="5130226"/>
            <a:ext cx="3276600" cy="1054626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E1F6ECE-1448-BC6F-67BE-E5E62AC28ED2}"/>
              </a:ext>
            </a:extLst>
          </p:cNvPr>
          <p:cNvSpPr/>
          <p:nvPr/>
        </p:nvSpPr>
        <p:spPr>
          <a:xfrm>
            <a:off x="8157333" y="5169313"/>
            <a:ext cx="82296" cy="1054626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BBF981C-6942-612D-3149-E7330E2E38F1}"/>
              </a:ext>
            </a:extLst>
          </p:cNvPr>
          <p:cNvSpPr txBox="1"/>
          <p:nvPr/>
        </p:nvSpPr>
        <p:spPr>
          <a:xfrm>
            <a:off x="8385933" y="5236203"/>
            <a:ext cx="28651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i="0" dirty="0">
                <a:solidFill>
                  <a:srgbClr val="17324D"/>
                </a:solidFill>
                <a:latin typeface="Aptos"/>
              </a:rPr>
              <a:t>EXAMPLE: KBYU 89.1 FM</a:t>
            </a:r>
            <a:endParaRPr sz="16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9FED5D-62F1-4913-9072-8E5E3011D815}"/>
              </a:ext>
            </a:extLst>
          </p:cNvPr>
          <p:cNvSpPr txBox="1"/>
          <p:nvPr/>
        </p:nvSpPr>
        <p:spPr>
          <a:xfrm>
            <a:off x="8385933" y="5513041"/>
            <a:ext cx="2865120" cy="654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400" b="0" i="0" dirty="0">
                <a:solidFill>
                  <a:srgbClr val="182028"/>
                </a:solidFill>
                <a:latin typeface="Aptos"/>
              </a:rPr>
              <a:t>Bring the signal to an intermediate frequency (IF) because your detector is super good at that IF </a:t>
            </a:r>
            <a:endParaRPr sz="1400" b="0" i="0" dirty="0">
              <a:solidFill>
                <a:srgbClr val="182028"/>
              </a:solidFill>
              <a:latin typeface="Apto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3D32E33-95E8-8278-6D23-18FDE23715B8}"/>
                  </a:ext>
                </a:extLst>
              </p:cNvPr>
              <p:cNvSpPr txBox="1"/>
              <p:nvPr/>
            </p:nvSpPr>
            <p:spPr>
              <a:xfrm>
                <a:off x="793870" y="1992360"/>
                <a:ext cx="16254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87.9-108.1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MHz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3D32E33-95E8-8278-6D23-18FDE23715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870" y="1992360"/>
                <a:ext cx="1625445" cy="276999"/>
              </a:xfrm>
              <a:prstGeom prst="rect">
                <a:avLst/>
              </a:prstGeom>
              <a:blipFill>
                <a:blip r:embed="rId7"/>
                <a:stretch>
                  <a:fillRect l="-2996" r="-3371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6AA8D2C-04DB-8A22-81C6-69B9DA349BC6}"/>
                  </a:ext>
                </a:extLst>
              </p:cNvPr>
              <p:cNvSpPr txBox="1"/>
              <p:nvPr/>
            </p:nvSpPr>
            <p:spPr>
              <a:xfrm>
                <a:off x="3172934" y="2543761"/>
                <a:ext cx="9874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89.1 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MHz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6AA8D2C-04DB-8A22-81C6-69B9DA349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2934" y="2543761"/>
                <a:ext cx="987450" cy="276999"/>
              </a:xfrm>
              <a:prstGeom prst="rect">
                <a:avLst/>
              </a:prstGeom>
              <a:blipFill>
                <a:blip r:embed="rId8"/>
                <a:stretch>
                  <a:fillRect l="-4938" r="-6173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4688B63-394C-50F6-D8EC-447536D2E678}"/>
                  </a:ext>
                </a:extLst>
              </p:cNvPr>
              <p:cNvSpPr txBox="1"/>
              <p:nvPr/>
            </p:nvSpPr>
            <p:spPr>
              <a:xfrm>
                <a:off x="5625653" y="3530586"/>
                <a:ext cx="9874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10.7 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MHz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4688B63-394C-50F6-D8EC-447536D2E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5653" y="3530586"/>
                <a:ext cx="987450" cy="276999"/>
              </a:xfrm>
              <a:prstGeom prst="rect">
                <a:avLst/>
              </a:prstGeom>
              <a:blipFill>
                <a:blip r:embed="rId9"/>
                <a:stretch>
                  <a:fillRect l="-5556" r="-5556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73A5A9E-E4E8-57C1-92FE-169EAC10AD79}"/>
                  </a:ext>
                </a:extLst>
              </p:cNvPr>
              <p:cNvSpPr txBox="1"/>
              <p:nvPr/>
            </p:nvSpPr>
            <p:spPr>
              <a:xfrm>
                <a:off x="7802810" y="2820760"/>
                <a:ext cx="9874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10.7 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MHz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73A5A9E-E4E8-57C1-92FE-169EAC10AD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2810" y="2820760"/>
                <a:ext cx="987450" cy="276999"/>
              </a:xfrm>
              <a:prstGeom prst="rect">
                <a:avLst/>
              </a:prstGeom>
              <a:blipFill>
                <a:blip r:embed="rId10"/>
                <a:stretch>
                  <a:fillRect l="-5556" r="-5556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D764A8-A241-8AC6-C2F0-41A3B5BE472C}"/>
                  </a:ext>
                </a:extLst>
              </p:cNvPr>
              <p:cNvSpPr txBox="1"/>
              <p:nvPr/>
            </p:nvSpPr>
            <p:spPr>
              <a:xfrm>
                <a:off x="5010840" y="4595704"/>
                <a:ext cx="9874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99.8 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MHz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D764A8-A241-8AC6-C2F0-41A3B5BE47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0840" y="4595704"/>
                <a:ext cx="987450" cy="276999"/>
              </a:xfrm>
              <a:prstGeom prst="rect">
                <a:avLst/>
              </a:prstGeom>
              <a:blipFill>
                <a:blip r:embed="rId11"/>
                <a:stretch>
                  <a:fillRect l="-5556" r="-5556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6ED0877-46F9-1F4B-C38E-5D24466F9C8D}"/>
                  </a:ext>
                </a:extLst>
              </p:cNvPr>
              <p:cNvSpPr txBox="1"/>
              <p:nvPr/>
            </p:nvSpPr>
            <p:spPr>
              <a:xfrm>
                <a:off x="9309727" y="2538046"/>
                <a:ext cx="18578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Audio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(20−20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kHz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6ED0877-46F9-1F4B-C38E-5D24466F9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9727" y="2538046"/>
                <a:ext cx="1857881" cy="276999"/>
              </a:xfrm>
              <a:prstGeom prst="rect">
                <a:avLst/>
              </a:prstGeom>
              <a:blipFill>
                <a:blip r:embed="rId12"/>
                <a:stretch>
                  <a:fillRect l="-4590" t="-2174" r="-13115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8641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CE55D1-64DC-571D-A788-F9A12CD58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083621-4D06-3BB8-B735-CAF20A381E64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A8C92A72-27B1-6EEE-E13F-30B536F979B2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86938674-E7DF-F310-53FD-7EB67A39730D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7CCA9E38-5365-36CB-BCF2-D9E716F0451A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16E61595-4C46-F168-D658-0C61CB2A4450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1DAFED87-4F0A-B305-4AB0-9FC1C413A9D5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DCD540D-2D99-AD86-727D-2640A536F38B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17 | RECEIVER ARCHITECTURE SENSIT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94AC09-E947-8E4E-9089-E243DF33BBC3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75C3C0-BBB5-E41E-F326-AB7084A219C1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COMMUNICATIONS FOUNDATION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9AAAF7-D293-775B-7B49-F4F266C3E2DD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dirty="0">
                <a:solidFill>
                  <a:srgbClr val="17324D"/>
                </a:solidFill>
                <a:latin typeface="Aptos Display"/>
              </a:rPr>
              <a:t>Variable Ganged Capacitor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B1515D5B-5F44-BCE3-D515-4FEAF35F42D1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4A90F9DC-C06B-D727-3D9B-85F1A5081F17}"/>
              </a:ext>
            </a:extLst>
          </p:cNvPr>
          <p:cNvSpPr/>
          <p:nvPr/>
        </p:nvSpPr>
        <p:spPr>
          <a:xfrm>
            <a:off x="2086708" y="1688123"/>
            <a:ext cx="949569" cy="269631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774FA9-9CFB-C73A-F4BF-1EE93BF8A0F0}"/>
              </a:ext>
            </a:extLst>
          </p:cNvPr>
          <p:cNvSpPr/>
          <p:nvPr/>
        </p:nvSpPr>
        <p:spPr>
          <a:xfrm>
            <a:off x="5744308" y="2403231"/>
            <a:ext cx="949569" cy="269631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0A0DB9-655F-F6CF-6786-1141F41BF667}"/>
              </a:ext>
            </a:extLst>
          </p:cNvPr>
          <p:cNvSpPr/>
          <p:nvPr/>
        </p:nvSpPr>
        <p:spPr>
          <a:xfrm>
            <a:off x="4478216" y="4101478"/>
            <a:ext cx="316522" cy="269631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E3F480-25B6-0069-5DCD-6529C7D15DDC}"/>
              </a:ext>
            </a:extLst>
          </p:cNvPr>
          <p:cNvSpPr/>
          <p:nvPr/>
        </p:nvSpPr>
        <p:spPr>
          <a:xfrm>
            <a:off x="2826146" y="6647689"/>
            <a:ext cx="1464500" cy="210312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88DB20-64CE-64CC-AD52-F2C245D10886}"/>
              </a:ext>
            </a:extLst>
          </p:cNvPr>
          <p:cNvSpPr/>
          <p:nvPr/>
        </p:nvSpPr>
        <p:spPr>
          <a:xfrm>
            <a:off x="3540369" y="2997900"/>
            <a:ext cx="398586" cy="301027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12">
            <a:extLst>
              <a:ext uri="{FF2B5EF4-FFF2-40B4-BE49-F238E27FC236}">
                <a16:creationId xmlns:a16="http://schemas.microsoft.com/office/drawing/2014/main" id="{2F58DAA8-1C6F-C953-4ABC-3D1BF75B20B6}"/>
              </a:ext>
            </a:extLst>
          </p:cNvPr>
          <p:cNvSpPr/>
          <p:nvPr/>
        </p:nvSpPr>
        <p:spPr>
          <a:xfrm>
            <a:off x="8157333" y="5130226"/>
            <a:ext cx="3276600" cy="1054626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781A76B-A58B-123A-7DB5-ACE622DDEEEC}"/>
              </a:ext>
            </a:extLst>
          </p:cNvPr>
          <p:cNvSpPr/>
          <p:nvPr/>
        </p:nvSpPr>
        <p:spPr>
          <a:xfrm>
            <a:off x="8157333" y="5169313"/>
            <a:ext cx="82296" cy="1054626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6D072F-088B-B36F-DF60-39B1C92FE358}"/>
              </a:ext>
            </a:extLst>
          </p:cNvPr>
          <p:cNvSpPr txBox="1"/>
          <p:nvPr/>
        </p:nvSpPr>
        <p:spPr>
          <a:xfrm>
            <a:off x="8385933" y="5370054"/>
            <a:ext cx="2865120" cy="558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b="0" i="0" dirty="0">
                <a:solidFill>
                  <a:srgbClr val="182028"/>
                </a:solidFill>
                <a:latin typeface="Aptos"/>
              </a:rPr>
              <a:t>How does the two set of plates affect tuning? </a:t>
            </a:r>
            <a:endParaRPr b="0" i="0" dirty="0">
              <a:solidFill>
                <a:srgbClr val="182028"/>
              </a:solidFill>
              <a:latin typeface="Aptos"/>
            </a:endParaRPr>
          </a:p>
        </p:txBody>
      </p:sp>
      <p:pic>
        <p:nvPicPr>
          <p:cNvPr id="23" name="Picture 2" descr="fg06_00500.jpg">
            <a:extLst>
              <a:ext uri="{FF2B5EF4-FFF2-40B4-BE49-F238E27FC236}">
                <a16:creationId xmlns:a16="http://schemas.microsoft.com/office/drawing/2014/main" id="{1EF82B4E-9D55-C847-EAC8-6C090766FE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06149" y="853973"/>
            <a:ext cx="5161795" cy="60040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7535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A6FA9E-8965-ED73-157B-4C279B693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504777-492D-2DC0-A0AC-2B3DB4BF6D4A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1BC3BF23-659E-E49B-6A92-284D0ADDECCD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736CF676-C5C2-E1D9-3111-1EC277854709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7C4B9F3E-CA2C-7267-0C66-9C375B069C30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4DE8536A-A4B4-FF64-78D3-E07B47DA796A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FA7567F1-9689-33BF-FD10-E3F256A01F93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F38F8F3-2284-0DF7-B30A-BAF220998D73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17 | RECEIVER ARCHITECTURE SENSIT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635F25-7A26-3A6F-D48E-980F212D61FE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08C2D3-894A-1163-911C-63D05A145EA3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COMMUNICATIONS FOUNDATION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E0F342-9C5F-24EC-5A96-8D8F63F6501B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dirty="0">
                <a:solidFill>
                  <a:srgbClr val="17324D"/>
                </a:solidFill>
                <a:latin typeface="Aptos Display"/>
              </a:rPr>
              <a:t>AM Superheterodyne Receiver Schematic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5FDD4047-488A-BF63-8522-725C9453B1EE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F4031F20-C0B6-6E4C-4269-1C2CD6BAC987}"/>
              </a:ext>
            </a:extLst>
          </p:cNvPr>
          <p:cNvSpPr/>
          <p:nvPr/>
        </p:nvSpPr>
        <p:spPr>
          <a:xfrm>
            <a:off x="2086708" y="1688123"/>
            <a:ext cx="949569" cy="269631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4AA785-4252-12C1-2003-F8D7613F6345}"/>
              </a:ext>
            </a:extLst>
          </p:cNvPr>
          <p:cNvSpPr/>
          <p:nvPr/>
        </p:nvSpPr>
        <p:spPr>
          <a:xfrm>
            <a:off x="5744308" y="2403231"/>
            <a:ext cx="949569" cy="269631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1FF673-EB58-E286-8280-AFF0D88BD098}"/>
              </a:ext>
            </a:extLst>
          </p:cNvPr>
          <p:cNvSpPr/>
          <p:nvPr/>
        </p:nvSpPr>
        <p:spPr>
          <a:xfrm>
            <a:off x="4478216" y="4101478"/>
            <a:ext cx="316522" cy="269631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BAA5E2D-C0A8-3F53-D537-6B82AC81AA49}"/>
              </a:ext>
            </a:extLst>
          </p:cNvPr>
          <p:cNvSpPr/>
          <p:nvPr/>
        </p:nvSpPr>
        <p:spPr>
          <a:xfrm>
            <a:off x="2826146" y="6647689"/>
            <a:ext cx="1464500" cy="210312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5F72FAC-FB45-AA55-48C9-4C6DAB24D800}"/>
              </a:ext>
            </a:extLst>
          </p:cNvPr>
          <p:cNvSpPr/>
          <p:nvPr/>
        </p:nvSpPr>
        <p:spPr>
          <a:xfrm>
            <a:off x="3540369" y="2997900"/>
            <a:ext cx="398586" cy="301027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3" descr="6-12.jpg">
            <a:extLst>
              <a:ext uri="{FF2B5EF4-FFF2-40B4-BE49-F238E27FC236}">
                <a16:creationId xmlns:a16="http://schemas.microsoft.com/office/drawing/2014/main" id="{45709CC4-90B6-4F1F-97E2-DC008D2E0C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2826" y="1444752"/>
            <a:ext cx="8806258" cy="4863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9967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12BF48-658E-4A28-4405-239617567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B8E2E0D-C09C-D03D-2FC2-232242975172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EE4918CB-026A-060F-A469-EC478411F164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B700DB95-D25D-8DE2-4C2D-0F9D04769CA8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C4A60610-F1C6-0A10-3BB1-8EDD2E8B79CC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25674BE0-CBD1-D355-5EFE-43EF788C569F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5C775D57-9D7C-C51F-40FF-CA7D57D38B00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433FEE1-7A1A-A645-78FF-27ACE17861D7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17 | RECEIVER ARCHITECTURE SENSIT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D8F7C5-75E7-4C74-7E8A-F98FF83D54FB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177D1-E12A-63D1-3DE2-BC4F449B1E40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WORKING VOCABULARY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3D0CEB-799C-B308-F5B5-7FFF1E3AC639}"/>
              </a:ext>
            </a:extLst>
          </p:cNvPr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Terms must be tied to observations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E7C20551-D062-5EFC-81EB-AA8C38399D61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2BB3883-029F-0DC3-F544-377BDC9B63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363899"/>
              </p:ext>
            </p:extLst>
          </p:nvPr>
        </p:nvGraphicFramePr>
        <p:xfrm>
          <a:off x="658369" y="1737360"/>
          <a:ext cx="5601754" cy="29295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84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3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84748">
                <a:tc>
                  <a:txBody>
                    <a:bodyPr/>
                    <a:lstStyle/>
                    <a:p>
                      <a:r>
                        <a:rPr sz="1250" b="1" dirty="0">
                          <a:solidFill>
                            <a:srgbClr val="FFFFFF"/>
                          </a:solidFill>
                          <a:latin typeface="Aptos"/>
                        </a:rPr>
                        <a:t>Term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Operational meaning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474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028"/>
                          </a:solidFill>
                          <a:latin typeface="Aptos"/>
                        </a:rPr>
                        <a:t>sensitivity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dirty="0">
                          <a:solidFill>
                            <a:srgbClr val="182028"/>
                          </a:solidFill>
                          <a:latin typeface="Aptos"/>
                        </a:rPr>
                        <a:t>Minimum input level for stated receiver performance.</a:t>
                      </a:r>
                      <a:endParaRPr lang="en-US" sz="1250" dirty="0">
                        <a:solidFill>
                          <a:srgbClr val="182028"/>
                        </a:solidFill>
                        <a:latin typeface="Aptos"/>
                      </a:endParaRPr>
                    </a:p>
                    <a:p>
                      <a:r>
                        <a:rPr lang="en-US" sz="1100" i="1" dirty="0">
                          <a:solidFill>
                            <a:srgbClr val="182028"/>
                          </a:solidFill>
                          <a:latin typeface="Aptos"/>
                        </a:rPr>
                        <a:t>A distant transmitter might become unreadable because its signal is too weak.</a:t>
                      </a:r>
                      <a:endParaRPr sz="1100" i="1" dirty="0">
                        <a:solidFill>
                          <a:srgbClr val="182028"/>
                        </a:solidFill>
                        <a:latin typeface="Aptos"/>
                      </a:endParaRP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0027">
                <a:tc>
                  <a:txBody>
                    <a:bodyPr/>
                    <a:lstStyle/>
                    <a:p>
                      <a:r>
                        <a:rPr sz="1250" dirty="0">
                          <a:solidFill>
                            <a:srgbClr val="182028"/>
                          </a:solidFill>
                          <a:latin typeface="Aptos"/>
                        </a:rPr>
                        <a:t>selectivity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dirty="0">
                          <a:solidFill>
                            <a:srgbClr val="182028"/>
                          </a:solidFill>
                          <a:latin typeface="Aptos"/>
                        </a:rPr>
                        <a:t>Ability to accept a desired channel while attenuating nearby energy.</a:t>
                      </a:r>
                      <a:endParaRPr lang="en-US" sz="1250" dirty="0">
                        <a:solidFill>
                          <a:srgbClr val="182028"/>
                        </a:solidFill>
                        <a:latin typeface="Aptos"/>
                      </a:endParaRPr>
                    </a:p>
                    <a:p>
                      <a:r>
                        <a:rPr lang="en-US" sz="1100" i="1" dirty="0">
                          <a:solidFill>
                            <a:srgbClr val="182028"/>
                          </a:solidFill>
                          <a:latin typeface="Aptos"/>
                        </a:rPr>
                        <a:t>A desired signal might be strong enough, but another signal nearby in frequency can interfere.</a:t>
                      </a:r>
                      <a:endParaRPr sz="1100" i="1" dirty="0">
                        <a:solidFill>
                          <a:srgbClr val="182028"/>
                        </a:solidFill>
                        <a:latin typeface="Aptos"/>
                      </a:endParaRP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Rounded Rectangle 12">
            <a:extLst>
              <a:ext uri="{FF2B5EF4-FFF2-40B4-BE49-F238E27FC236}">
                <a16:creationId xmlns:a16="http://schemas.microsoft.com/office/drawing/2014/main" id="{C8E647FF-020D-408F-D16B-C009067B3056}"/>
              </a:ext>
            </a:extLst>
          </p:cNvPr>
          <p:cNvSpPr/>
          <p:nvPr/>
        </p:nvSpPr>
        <p:spPr>
          <a:xfrm>
            <a:off x="685800" y="4839285"/>
            <a:ext cx="3276600" cy="1332915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1D80-F607-B41B-2701-8040ED66F756}"/>
              </a:ext>
            </a:extLst>
          </p:cNvPr>
          <p:cNvSpPr/>
          <p:nvPr/>
        </p:nvSpPr>
        <p:spPr>
          <a:xfrm>
            <a:off x="685800" y="4839285"/>
            <a:ext cx="82296" cy="1332915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4B33B16-2755-3921-FCBD-D4E9AD216658}"/>
                  </a:ext>
                </a:extLst>
              </p:cNvPr>
              <p:cNvSpPr txBox="1"/>
              <p:nvPr/>
            </p:nvSpPr>
            <p:spPr>
              <a:xfrm>
                <a:off x="914400" y="5143274"/>
                <a:ext cx="2865120" cy="246221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600" b="0" i="0" dirty="0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margi</m:t>
                      </m:r>
                      <m:sSub>
                        <m:sSubPr>
                          <m:ctrlPr>
                            <a:rPr lang="en-US" sz="1600" b="0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en-US" sz="1600" b="0" i="0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sz="1600" b="0" i="0" dirty="0" err="1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a:rPr lang="en-US" sz="1600" b="0" i="0" dirty="0" err="1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600" b="0" i="0" dirty="0" err="1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sensitivity</m:t>
                      </m:r>
                    </m:oMath>
                  </m:oMathPara>
                </a14:m>
                <a:endParaRPr sz="1600" i="0" dirty="0">
                  <a:solidFill>
                    <a:srgbClr val="17324D"/>
                  </a:solidFill>
                  <a:latin typeface="Aptos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4B33B16-2755-3921-FCBD-D4E9AD216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143274"/>
                <a:ext cx="2865120" cy="246221"/>
              </a:xfrm>
              <a:prstGeom prst="rect">
                <a:avLst/>
              </a:prstGeom>
              <a:blipFill>
                <a:blip r:embed="rId3"/>
                <a:stretch>
                  <a:fillRect b="-3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99C9E530-F4E9-B6FE-882C-6514A1C8D19E}"/>
              </a:ext>
            </a:extLst>
          </p:cNvPr>
          <p:cNvSpPr txBox="1"/>
          <p:nvPr/>
        </p:nvSpPr>
        <p:spPr>
          <a:xfrm>
            <a:off x="914400" y="5726488"/>
            <a:ext cx="2865120" cy="2679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0" i="0" dirty="0">
                <a:solidFill>
                  <a:srgbClr val="182028"/>
                </a:solidFill>
                <a:latin typeface="Aptos"/>
              </a:rPr>
              <a:t>Sensitivity margin</a:t>
            </a:r>
          </a:p>
        </p:txBody>
      </p:sp>
      <p:sp>
        <p:nvSpPr>
          <p:cNvPr id="23" name="Rounded Rectangle 16">
            <a:extLst>
              <a:ext uri="{FF2B5EF4-FFF2-40B4-BE49-F238E27FC236}">
                <a16:creationId xmlns:a16="http://schemas.microsoft.com/office/drawing/2014/main" id="{574082AB-F5F4-563E-4432-DFF7F3617154}"/>
              </a:ext>
            </a:extLst>
          </p:cNvPr>
          <p:cNvSpPr/>
          <p:nvPr/>
        </p:nvSpPr>
        <p:spPr>
          <a:xfrm>
            <a:off x="4191000" y="4839285"/>
            <a:ext cx="3276600" cy="1332915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A281A5-9322-D5DC-F711-A89F5C7EF8DD}"/>
              </a:ext>
            </a:extLst>
          </p:cNvPr>
          <p:cNvSpPr/>
          <p:nvPr/>
        </p:nvSpPr>
        <p:spPr>
          <a:xfrm>
            <a:off x="4191000" y="4839285"/>
            <a:ext cx="82296" cy="1332915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24161C4-A58B-963F-C51B-BFC4A00759BC}"/>
                  </a:ext>
                </a:extLst>
              </p:cNvPr>
              <p:cNvSpPr txBox="1"/>
              <p:nvPr/>
            </p:nvSpPr>
            <p:spPr>
              <a:xfrm>
                <a:off x="4419600" y="5003877"/>
                <a:ext cx="2555631" cy="52501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800" b="0" i="0" dirty="0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SINR</m:t>
                      </m:r>
                      <m:r>
                        <a:rPr lang="en-US" sz="1800" b="0" i="0" dirty="0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b="0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b="0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den>
                      </m:f>
                    </m:oMath>
                  </m:oMathPara>
                </a14:m>
                <a:endParaRPr sz="1800" i="0" dirty="0">
                  <a:solidFill>
                    <a:srgbClr val="17324D"/>
                  </a:solidFill>
                  <a:latin typeface="Aptos"/>
                </a:endParaRP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24161C4-A58B-963F-C51B-BFC4A0075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0" y="5003877"/>
                <a:ext cx="2555631" cy="5250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A79E5CB0-0DEA-8DEB-8197-47EE60598DDF}"/>
              </a:ext>
            </a:extLst>
          </p:cNvPr>
          <p:cNvSpPr txBox="1"/>
          <p:nvPr/>
        </p:nvSpPr>
        <p:spPr>
          <a:xfrm>
            <a:off x="4419600" y="5685043"/>
            <a:ext cx="2865120" cy="4964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600" b="0" i="0" dirty="0">
                <a:solidFill>
                  <a:srgbClr val="182028"/>
                </a:solidFill>
                <a:latin typeface="Aptos"/>
              </a:rPr>
              <a:t>Signal to </a:t>
            </a:r>
            <a:r>
              <a:rPr lang="en-US" sz="1600" dirty="0">
                <a:solidFill>
                  <a:srgbClr val="182028"/>
                </a:solidFill>
                <a:latin typeface="Aptos"/>
              </a:rPr>
              <a:t>Interference plus Noise Ratio</a:t>
            </a:r>
            <a:endParaRPr sz="1600" b="0" i="0" dirty="0">
              <a:solidFill>
                <a:srgbClr val="182028"/>
              </a:solidFill>
              <a:latin typeface="Apto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3E8898-80E5-CBBA-A5F3-C8822079B17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9535"/>
          <a:stretch>
            <a:fillRect/>
          </a:stretch>
        </p:blipFill>
        <p:spPr>
          <a:xfrm>
            <a:off x="6753900" y="-133311"/>
            <a:ext cx="3595468" cy="356231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5841D18-8AF8-2775-18E3-1AF3EF4CC8F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0225" t="668" r="-690" b="-668"/>
          <a:stretch>
            <a:fillRect/>
          </a:stretch>
        </p:blipFill>
        <p:spPr>
          <a:xfrm>
            <a:off x="8107680" y="3202121"/>
            <a:ext cx="3595468" cy="3562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958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17 | RECEIVER ARCHITECTURE SENSIT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WORKING VOCABULARY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dirty="0">
                <a:solidFill>
                  <a:srgbClr val="17324D"/>
                </a:solidFill>
                <a:latin typeface="Aptos Display"/>
              </a:rPr>
              <a:t>Terms and relationships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096616"/>
              </p:ext>
            </p:extLst>
          </p:nvPr>
        </p:nvGraphicFramePr>
        <p:xfrm>
          <a:off x="658369" y="1737360"/>
          <a:ext cx="6152740" cy="2241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99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209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Term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Operational meaning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097">
                <a:tc>
                  <a:txBody>
                    <a:bodyPr/>
                    <a:lstStyle/>
                    <a:p>
                      <a:r>
                        <a:rPr sz="1250" dirty="0">
                          <a:solidFill>
                            <a:srgbClr val="182028"/>
                          </a:solidFill>
                          <a:latin typeface="Aptos"/>
                        </a:rPr>
                        <a:t>dynamic range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dirty="0">
                          <a:solidFill>
                            <a:srgbClr val="182028"/>
                          </a:solidFill>
                          <a:latin typeface="Aptos"/>
                        </a:rPr>
                        <a:t>Span between the smallest usable and largest tolerable inputs.</a:t>
                      </a:r>
                      <a:endParaRPr lang="en-US" sz="1250" dirty="0">
                        <a:solidFill>
                          <a:srgbClr val="182028"/>
                        </a:solidFill>
                        <a:latin typeface="Aptos"/>
                      </a:endParaRPr>
                    </a:p>
                    <a:p>
                      <a:r>
                        <a:rPr lang="en-US" sz="1200" i="1" dirty="0">
                          <a:solidFill>
                            <a:srgbClr val="182028"/>
                          </a:solidFill>
                          <a:latin typeface="Aptos"/>
                        </a:rPr>
                        <a:t>A sufficiently strong unwanted signal can push a receiver stage into distortion or reduce its ability to recover a weaker signal</a:t>
                      </a:r>
                      <a:endParaRPr sz="1200" i="1" dirty="0">
                        <a:solidFill>
                          <a:srgbClr val="182028"/>
                        </a:solidFill>
                        <a:latin typeface="Aptos"/>
                      </a:endParaRP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2097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028"/>
                          </a:solidFill>
                          <a:latin typeface="Aptos"/>
                        </a:rPr>
                        <a:t>front-end overload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dirty="0">
                          <a:solidFill>
                            <a:srgbClr val="182028"/>
                          </a:solidFill>
                          <a:latin typeface="Aptos"/>
                        </a:rPr>
                        <a:t>Nonlinear behavior caused by excessive input before successful selection.</a:t>
                      </a:r>
                      <a:endParaRPr lang="en-US" sz="1250" dirty="0">
                        <a:solidFill>
                          <a:srgbClr val="182028"/>
                        </a:solidFill>
                        <a:latin typeface="Aptos"/>
                      </a:endParaRPr>
                    </a:p>
                    <a:p>
                      <a:r>
                        <a:rPr lang="en-US" sz="1200" i="1" dirty="0">
                          <a:solidFill>
                            <a:srgbClr val="182028"/>
                          </a:solidFill>
                          <a:latin typeface="Aptos"/>
                        </a:rPr>
                        <a:t>Filtering after a stage has overloaded cannot necessarily undo that distortion.</a:t>
                      </a:r>
                      <a:endParaRPr sz="1200" i="1" dirty="0">
                        <a:solidFill>
                          <a:srgbClr val="182028"/>
                        </a:solidFill>
                        <a:latin typeface="Aptos"/>
                      </a:endParaRP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" name="Rounded Rectangle 20">
            <a:extLst>
              <a:ext uri="{FF2B5EF4-FFF2-40B4-BE49-F238E27FC236}">
                <a16:creationId xmlns:a16="http://schemas.microsoft.com/office/drawing/2014/main" id="{F3696981-257B-4CAB-6E9B-129B223BB8A0}"/>
              </a:ext>
            </a:extLst>
          </p:cNvPr>
          <p:cNvSpPr/>
          <p:nvPr/>
        </p:nvSpPr>
        <p:spPr>
          <a:xfrm>
            <a:off x="906477" y="4510050"/>
            <a:ext cx="5904632" cy="1332915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EBE9C5B-948C-DFAE-C696-E6058DC9E1DB}"/>
              </a:ext>
            </a:extLst>
          </p:cNvPr>
          <p:cNvSpPr/>
          <p:nvPr/>
        </p:nvSpPr>
        <p:spPr>
          <a:xfrm>
            <a:off x="906477" y="4510050"/>
            <a:ext cx="45719" cy="1332915"/>
          </a:xfrm>
          <a:prstGeom prst="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235B2C2-A619-313C-F974-CB15CB17D30D}"/>
                  </a:ext>
                </a:extLst>
              </p:cNvPr>
              <p:cNvSpPr txBox="1"/>
              <p:nvPr/>
            </p:nvSpPr>
            <p:spPr>
              <a:xfrm>
                <a:off x="-342046" y="4674642"/>
                <a:ext cx="7824985" cy="50911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600" b="0" i="0" dirty="0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dynamic</m:t>
                      </m:r>
                      <m:r>
                        <a:rPr lang="en-US" sz="1600" b="0" i="0" dirty="0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dirty="0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range</m:t>
                      </m:r>
                      <m:r>
                        <a:rPr lang="en-US" sz="1600" b="0" i="0" dirty="0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0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600" b="0" i="0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largest</m:t>
                          </m:r>
                          <m:r>
                            <a:rPr lang="en-US" sz="1600" b="0" i="0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usable</m:t>
                          </m:r>
                          <m:r>
                            <a:rPr lang="en-US" sz="1600" b="0" i="0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input</m:t>
                          </m:r>
                          <m:r>
                            <a:rPr lang="en-US" sz="1600" b="0" i="0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power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1600" b="0" i="0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smallest</m:t>
                          </m:r>
                          <m:r>
                            <a:rPr lang="en-US" sz="1600" b="0" i="0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usable</m:t>
                          </m:r>
                          <m:r>
                            <a:rPr lang="en-US" sz="1600" b="0" i="0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input</m:t>
                          </m:r>
                          <m:r>
                            <a:rPr lang="en-US" sz="1600" b="0" i="0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power</m:t>
                          </m:r>
                        </m:den>
                      </m:f>
                    </m:oMath>
                  </m:oMathPara>
                </a14:m>
                <a:endParaRPr sz="1600" dirty="0">
                  <a:solidFill>
                    <a:srgbClr val="17324D"/>
                  </a:solidFill>
                  <a:latin typeface="Aptos"/>
                </a:endParaRP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235B2C2-A619-313C-F974-CB15CB17D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42046" y="4674642"/>
                <a:ext cx="7824985" cy="5091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1E47B2E1-05DB-1D3A-98AA-264EE5C4CBA3}"/>
              </a:ext>
            </a:extLst>
          </p:cNvPr>
          <p:cNvSpPr txBox="1"/>
          <p:nvPr/>
        </p:nvSpPr>
        <p:spPr>
          <a:xfrm>
            <a:off x="1251579" y="5313240"/>
            <a:ext cx="5163120" cy="26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1" i="0" dirty="0">
                <a:solidFill>
                  <a:srgbClr val="182028"/>
                </a:solidFill>
                <a:latin typeface="Aptos"/>
              </a:rPr>
              <a:t>Receiver span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C5EC6842-FC81-C5A0-CECA-84DE760DFF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0000"/>
          <a:stretch>
            <a:fillRect/>
          </a:stretch>
        </p:blipFill>
        <p:spPr>
          <a:xfrm>
            <a:off x="7511724" y="0"/>
            <a:ext cx="3537698" cy="3537698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195BF44-B8C4-6591-C40C-F482B4CEF9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947" t="-685" r="53" b="685"/>
          <a:stretch>
            <a:fillRect/>
          </a:stretch>
        </p:blipFill>
        <p:spPr>
          <a:xfrm>
            <a:off x="7304886" y="3320299"/>
            <a:ext cx="3537701" cy="353770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124568B3-1C26-7574-BCF8-BF30BEDC62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00329" y="1829025"/>
            <a:ext cx="9088054" cy="454402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17 | RECEIVER ARCHITECTURE SENSIT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0F6D74"/>
                </a:solidFill>
                <a:latin typeface="Aptos"/>
              </a:rPr>
              <a:t>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 dirty="0">
                <a:solidFill>
                  <a:srgbClr val="17324D"/>
                </a:solidFill>
                <a:latin typeface="Aptos Display"/>
              </a:rPr>
              <a:t>Cybersecurity follows the physical behavior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571231" y="978181"/>
            <a:ext cx="3703320" cy="2578157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571231" y="978181"/>
            <a:ext cx="82296" cy="2578157"/>
          </a:xfrm>
          <a:prstGeom prst="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99831" y="1142773"/>
            <a:ext cx="329184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200" b="1" i="0" dirty="0">
                <a:solidFill>
                  <a:srgbClr val="17324D"/>
                </a:solidFill>
                <a:latin typeface="Aptos"/>
              </a:rPr>
              <a:t>A receiver can fail because:</a:t>
            </a:r>
            <a:endParaRPr sz="22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99831" y="1907473"/>
            <a:ext cx="329184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desired signal is too weak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competing signals are insufficiently rejected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its input stages are overloaded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FCC23F-A2E1-0658-FBF9-7111377E9755}"/>
              </a:ext>
            </a:extLst>
          </p:cNvPr>
          <p:cNvSpPr txBox="1"/>
          <p:nvPr/>
        </p:nvSpPr>
        <p:spPr>
          <a:xfrm>
            <a:off x="7886700" y="4826195"/>
            <a:ext cx="32918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b="1" dirty="0"/>
              <a:t>Receiver blocking/ desensitization</a:t>
            </a:r>
            <a:endParaRPr lang="en-US" b="1" i="0" dirty="0">
              <a:solidFill>
                <a:srgbClr val="17324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17 | RECEIVER ARCHITECTURE SENSIT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BRIDGE FORWARD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Exit check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2075795"/>
            <a:ext cx="10469880" cy="9233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0" b="1" i="0" dirty="0">
                <a:solidFill>
                  <a:srgbClr val="17324D"/>
                </a:solidFill>
                <a:latin typeface="Aptos Display"/>
              </a:rPr>
              <a:t> What happens between the physical measurement and the encoded data?</a:t>
            </a:r>
            <a:endParaRPr sz="3000" b="1" i="0" dirty="0">
              <a:solidFill>
                <a:srgbClr val="17324D"/>
              </a:solidFill>
              <a:latin typeface="Aptos Display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657600" y="4892040"/>
            <a:ext cx="4846320" cy="420624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0" y="4892040"/>
            <a:ext cx="484632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NEXT: PULSE MODULATION, PCM, ADCS, AND DACS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</TotalTime>
  <Words>728</Words>
  <Application>Microsoft Office PowerPoint</Application>
  <PresentationFormat>Widescreen</PresentationFormat>
  <Paragraphs>136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Jerson Francia</cp:lastModifiedBy>
  <cp:revision>2</cp:revision>
  <dcterms:created xsi:type="dcterms:W3CDTF">2013-01-27T09:14:16Z</dcterms:created>
  <dcterms:modified xsi:type="dcterms:W3CDTF">2026-10-14T16:05:49Z</dcterms:modified>
  <cp:category/>
</cp:coreProperties>
</file>