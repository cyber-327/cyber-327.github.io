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plain language first, then name the technical term. Keep the lesson tied to measurements students can make in Lab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technical terms after the plain model: source, coupling path, and victim. Use a function-generator wire as the source, nearby loop as the path, and scope input as the affected circuit.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formal names conducted, capacitive, and inductive after describing each path. More than one path can be active at the same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do not need to calculate the region boundaries today. The purpose is to explain why bench loops behave differently from distant radio links. Wavelength and antennas return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formal idea is magnetic flux linkage. Ask students to predict each result before moving the loop, and keep the scope scale fixed for fair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smaller trace is meaningful only when the measurement scale and source amplitude have not changed.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to Lecture 6. Draw the intended paired return path first, then show an unintended path through chassis or ground. Shields and ferrites behave differently depending on which current is present.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breadboard method to the broader idea of comparative near-field probing. Use only lab-owned circuits; do not probe personal or production devices.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source-path-victim mitigation hierarchy in plain language. A ferrite is not a universal solution; first identify the likely path, then verify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effectiveness depends on frequency, current path, placement, and termination. Require before-and-after measurements rather than absolute claims.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cybersecurity connection plainly: energy getting in can disrupt communication, while energy leaking out can reveal activity. Do not imply that observing leakage proves payload recovery, identity, or intent.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can report the neighbor-to-source amplitude ratio. Introduce dB only if it has already been taught. If several variables change, the cause of the improvement is unclear.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source line and neighbor line in student-facing language; introduce aggressor and victim only as optional industry vocabulary. If crosstalk is too weak or unstable, use instructor captures and keep the controlled-comparison analysis.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Supported: the 90-degree placement reduced measured crosstalk in this setup. Control source, resistance, and scope settings; repeat across frequency, spacing, or wire length before generalizing.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24D"/>
        </a:solidFill>
        <a:effectLst/>
      </p:bgPr>
    </p:bg>
    <p:spTree>
      <p:nvGrpSpPr>
        <p:cNvPr id="1" name=""/>
        <p:cNvGrpSpPr/>
        <p:nvPr/>
      </p:nvGrpSpPr>
      <p:grpSpPr/>
      <p:sp>
        <p:nvSpPr>
          <p:cNvPr id="2" name="TextBox 1"/>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9EB0BC"/>
                </a:solidFill>
                <a:latin typeface="Aptos"/>
              </a:rPr>
              <a:t>LECTURE 07 | EMI + CONTAINMENT</a:t>
            </a:r>
          </a:p>
        </p:txBody>
      </p:sp>
      <p:sp>
        <p:nvSpPr>
          <p:cNvPr id="3" name="TextBox 2"/>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9EB0BC"/>
                </a:solidFill>
                <a:latin typeface="Aptos"/>
              </a:rPr>
              <a:t>01</a:t>
            </a:r>
          </a:p>
        </p:txBody>
      </p:sp>
      <p:sp>
        <p:nvSpPr>
          <p:cNvPr id="4" name="TextBox 3"/>
          <p:cNvSpPr txBox="1"/>
          <p:nvPr/>
        </p:nvSpPr>
        <p:spPr>
          <a:xfrm>
            <a:off x="713232" y="658368"/>
            <a:ext cx="2743200" cy="365760"/>
          </a:xfrm>
          <a:prstGeom prst="rect">
            <a:avLst/>
          </a:prstGeom>
          <a:noFill/>
        </p:spPr>
        <p:txBody>
          <a:bodyPr wrap="square" lIns="0" rIns="0" tIns="0" bIns="0" anchor="t">
            <a:spAutoFit/>
          </a:bodyPr>
          <a:lstStyle/>
          <a:p>
            <a:pPr algn="l"/>
            <a:r>
              <a:rPr sz="1200" b="1" i="0">
                <a:solidFill>
                  <a:srgbClr val="62C6C8"/>
                </a:solidFill>
                <a:latin typeface="Aptos"/>
              </a:rPr>
              <a:t>CYBER 327  /  LECTURE 07</a:t>
            </a:r>
          </a:p>
        </p:txBody>
      </p:sp>
      <p:cxnSp>
        <p:nvCxnSpPr>
          <p:cNvPr id="5" name="Connector 4"/>
          <p:cNvCxnSpPr/>
          <p:nvPr/>
        </p:nvCxnSpPr>
        <p:spPr>
          <a:xfrm>
            <a:off x="731520" y="1152144"/>
            <a:ext cx="1371600" cy="0"/>
          </a:xfrm>
          <a:prstGeom prst="line">
            <a:avLst/>
          </a:prstGeom>
          <a:ln w="50800">
            <a:solidFill>
              <a:srgbClr val="D96F3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13232" y="1481328"/>
            <a:ext cx="9966960" cy="1508760"/>
          </a:xfrm>
          <a:prstGeom prst="rect">
            <a:avLst/>
          </a:prstGeom>
          <a:noFill/>
        </p:spPr>
        <p:txBody>
          <a:bodyPr wrap="square" lIns="0" rIns="0" tIns="0" bIns="0" anchor="t">
            <a:spAutoFit/>
          </a:bodyPr>
          <a:lstStyle/>
          <a:p>
            <a:pPr algn="l"/>
            <a:r>
              <a:rPr sz="4000" b="1" i="0">
                <a:solidFill>
                  <a:srgbClr val="FFFFFF"/>
                </a:solidFill>
                <a:latin typeface="Aptos Display"/>
              </a:rPr>
              <a:t>EMI, Near-Field Leakage, and Signal Containment</a:t>
            </a:r>
          </a:p>
        </p:txBody>
      </p:sp>
      <p:sp>
        <p:nvSpPr>
          <p:cNvPr id="7" name="TextBox 6"/>
          <p:cNvSpPr txBox="1"/>
          <p:nvPr/>
        </p:nvSpPr>
        <p:spPr>
          <a:xfrm>
            <a:off x="749808" y="3182112"/>
            <a:ext cx="8961120" cy="777240"/>
          </a:xfrm>
          <a:prstGeom prst="rect">
            <a:avLst/>
          </a:prstGeom>
          <a:noFill/>
        </p:spPr>
        <p:txBody>
          <a:bodyPr wrap="square" lIns="0" rIns="0" tIns="0" bIns="0" anchor="t">
            <a:spAutoFit/>
          </a:bodyPr>
          <a:lstStyle/>
          <a:p>
            <a:pPr algn="l"/>
            <a:r>
              <a:rPr sz="1900" b="0" i="0">
                <a:solidFill>
                  <a:srgbClr val="D6E1E7"/>
                </a:solidFill>
                <a:latin typeface="Aptos"/>
              </a:rPr>
              <a:t>Find where unwanted energy starts, how it travels, and whether the fix works.</a:t>
            </a:r>
          </a:p>
        </p:txBody>
      </p:sp>
      <p:sp>
        <p:nvSpPr>
          <p:cNvPr id="8" name="Rounded Rectangle 7"/>
          <p:cNvSpPr/>
          <p:nvPr/>
        </p:nvSpPr>
        <p:spPr>
          <a:xfrm>
            <a:off x="749808" y="5230368"/>
            <a:ext cx="1965960" cy="420624"/>
          </a:xfrm>
          <a:prstGeom prst="round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230368"/>
            <a:ext cx="1965960" cy="420624"/>
          </a:xfrm>
          <a:prstGeom prst="rect">
            <a:avLst/>
          </a:prstGeom>
          <a:noFill/>
        </p:spPr>
        <p:txBody>
          <a:bodyPr wrap="square" lIns="18288" rIns="18288" tIns="18288" bIns="18288" anchor="ctr">
            <a:spAutoFit/>
          </a:bodyPr>
          <a:lstStyle/>
          <a:p>
            <a:pPr algn="ctr"/>
            <a:r>
              <a:rPr sz="1150" b="1" i="0">
                <a:solidFill>
                  <a:srgbClr val="FFFFFF"/>
                </a:solidFill>
                <a:latin typeface="Aptos"/>
              </a:rPr>
              <a:t>SEP 18, 2026</a:t>
            </a:r>
          </a:p>
        </p:txBody>
      </p:sp>
      <p:sp>
        <p:nvSpPr>
          <p:cNvPr id="10" name="Rounded Rectangle 9"/>
          <p:cNvSpPr/>
          <p:nvPr/>
        </p:nvSpPr>
        <p:spPr>
          <a:xfrm>
            <a:off x="2871216" y="5230368"/>
            <a:ext cx="2377440" cy="420624"/>
          </a:xfrm>
          <a:prstGeom prst="round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1216" y="5230368"/>
            <a:ext cx="2377440" cy="420624"/>
          </a:xfrm>
          <a:prstGeom prst="rect">
            <a:avLst/>
          </a:prstGeom>
          <a:noFill/>
        </p:spPr>
        <p:txBody>
          <a:bodyPr wrap="square" lIns="18288" rIns="18288" tIns="18288" bIns="18288" anchor="ctr">
            <a:spAutoFit/>
          </a:bodyPr>
          <a:lstStyle/>
          <a:p>
            <a:pPr algn="ctr"/>
            <a:r>
              <a:rPr sz="1150" b="1" i="0">
                <a:solidFill>
                  <a:srgbClr val="FFFFFF"/>
                </a:solidFill>
                <a:latin typeface="Aptos"/>
              </a:rPr>
              <a:t>50-MINUTE SESSION</a:t>
            </a:r>
          </a:p>
        </p:txBody>
      </p:sp>
      <p:cxnSp>
        <p:nvCxnSpPr>
          <p:cNvPr id="12" name="Connector 11"/>
          <p:cNvCxnSpPr/>
          <p:nvPr/>
        </p:nvCxnSpPr>
        <p:spPr>
          <a:xfrm>
            <a:off x="7086600" y="4574286"/>
            <a:ext cx="346710" cy="220827"/>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433310" y="4679899"/>
            <a:ext cx="346710" cy="115214"/>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780020" y="4679899"/>
            <a:ext cx="346710" cy="566471"/>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126730" y="4929530"/>
            <a:ext cx="346710" cy="316840"/>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73440" y="4929530"/>
            <a:ext cx="346710" cy="480060"/>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820150" y="4766310"/>
            <a:ext cx="346710" cy="643280"/>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166860" y="4766310"/>
            <a:ext cx="346710" cy="316839"/>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513570" y="4641494"/>
            <a:ext cx="346710" cy="441655"/>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60280" y="4641494"/>
            <a:ext cx="346710" cy="518465"/>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0206990" y="4871923"/>
            <a:ext cx="346710" cy="288036"/>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553700" y="4871923"/>
            <a:ext cx="346710" cy="460857"/>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0900410" y="4699101"/>
            <a:ext cx="346710" cy="633679"/>
          </a:xfrm>
          <a:prstGeom prst="line">
            <a:avLst/>
          </a:prstGeom>
          <a:ln w="27940">
            <a:solidFill>
              <a:srgbClr val="62C6C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02</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A SIMPLE MODEL</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900" b="1" i="0">
                <a:solidFill>
                  <a:srgbClr val="17324D"/>
                </a:solidFill>
                <a:latin typeface="Aptos Display"/>
              </a:rPr>
              <a:t>Every EMI problem has three parts</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58368" y="2057400"/>
            <a:ext cx="2617470" cy="841248"/>
          </a:xfrm>
          <a:prstGeom prst="round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2057400"/>
            <a:ext cx="2617470" cy="841248"/>
          </a:xfrm>
          <a:prstGeom prst="rect">
            <a:avLst/>
          </a:prstGeom>
          <a:noFill/>
        </p:spPr>
        <p:txBody>
          <a:bodyPr wrap="square" lIns="27432" rIns="27432" tIns="27432" bIns="27432" anchor="ctr">
            <a:spAutoFit/>
          </a:bodyPr>
          <a:lstStyle/>
          <a:p>
            <a:pPr algn="ctr"/>
            <a:r>
              <a:rPr sz="1250" b="1" i="0">
                <a:solidFill>
                  <a:srgbClr val="FFFFFF"/>
                </a:solidFill>
                <a:latin typeface="Aptos"/>
              </a:rPr>
              <a:t>SOURCE</a:t>
            </a:r>
          </a:p>
        </p:txBody>
      </p:sp>
      <p:sp>
        <p:nvSpPr>
          <p:cNvPr id="15" name="Chevron 14"/>
          <p:cNvSpPr/>
          <p:nvPr/>
        </p:nvSpPr>
        <p:spPr>
          <a:xfrm>
            <a:off x="3294126" y="2359152"/>
            <a:ext cx="100584" cy="228600"/>
          </a:xfrm>
          <a:prstGeom prst="chevron">
            <a:avLst/>
          </a:prstGeom>
          <a:solidFill>
            <a:srgbClr val="5F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412998" y="2057400"/>
            <a:ext cx="2617470" cy="841248"/>
          </a:xfrm>
          <a:prstGeom prst="round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12998" y="2057400"/>
            <a:ext cx="2617470" cy="841248"/>
          </a:xfrm>
          <a:prstGeom prst="rect">
            <a:avLst/>
          </a:prstGeom>
          <a:noFill/>
        </p:spPr>
        <p:txBody>
          <a:bodyPr wrap="square" lIns="27432" rIns="27432" tIns="27432" bIns="27432" anchor="ctr">
            <a:spAutoFit/>
          </a:bodyPr>
          <a:lstStyle/>
          <a:p>
            <a:pPr algn="ctr"/>
            <a:r>
              <a:rPr sz="1250" b="1" i="0">
                <a:solidFill>
                  <a:srgbClr val="FFFFFF"/>
                </a:solidFill>
                <a:latin typeface="Aptos"/>
              </a:rPr>
              <a:t>PATH</a:t>
            </a:r>
          </a:p>
        </p:txBody>
      </p:sp>
      <p:sp>
        <p:nvSpPr>
          <p:cNvPr id="18" name="Chevron 17"/>
          <p:cNvSpPr/>
          <p:nvPr/>
        </p:nvSpPr>
        <p:spPr>
          <a:xfrm>
            <a:off x="6048756" y="2359152"/>
            <a:ext cx="100584" cy="228600"/>
          </a:xfrm>
          <a:prstGeom prst="chevron">
            <a:avLst/>
          </a:prstGeom>
          <a:solidFill>
            <a:srgbClr val="5F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167628" y="2057400"/>
            <a:ext cx="2617470" cy="841248"/>
          </a:xfrm>
          <a:prstGeom prst="round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67628" y="2057400"/>
            <a:ext cx="2617470" cy="841248"/>
          </a:xfrm>
          <a:prstGeom prst="rect">
            <a:avLst/>
          </a:prstGeom>
          <a:noFill/>
        </p:spPr>
        <p:txBody>
          <a:bodyPr wrap="square" lIns="27432" rIns="27432" tIns="27432" bIns="27432" anchor="ctr">
            <a:spAutoFit/>
          </a:bodyPr>
          <a:lstStyle/>
          <a:p>
            <a:pPr algn="ctr"/>
            <a:r>
              <a:rPr sz="1250" b="1" i="0">
                <a:solidFill>
                  <a:srgbClr val="FFFFFF"/>
                </a:solidFill>
                <a:latin typeface="Aptos"/>
              </a:rPr>
              <a:t>AFFECTED CIRCUIT</a:t>
            </a:r>
          </a:p>
        </p:txBody>
      </p:sp>
      <p:sp>
        <p:nvSpPr>
          <p:cNvPr id="21" name="Chevron 20"/>
          <p:cNvSpPr/>
          <p:nvPr/>
        </p:nvSpPr>
        <p:spPr>
          <a:xfrm>
            <a:off x="8803386" y="2359152"/>
            <a:ext cx="100584" cy="228600"/>
          </a:xfrm>
          <a:prstGeom prst="chevron">
            <a:avLst/>
          </a:prstGeom>
          <a:solidFill>
            <a:srgbClr val="5F6B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922258" y="2057400"/>
            <a:ext cx="2617470" cy="841248"/>
          </a:xfrm>
          <a:prstGeom prst="round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22258" y="2057400"/>
            <a:ext cx="2617470" cy="841248"/>
          </a:xfrm>
          <a:prstGeom prst="rect">
            <a:avLst/>
          </a:prstGeom>
          <a:noFill/>
        </p:spPr>
        <p:txBody>
          <a:bodyPr wrap="square" lIns="27432" rIns="27432" tIns="27432" bIns="27432" anchor="ctr">
            <a:spAutoFit/>
          </a:bodyPr>
          <a:lstStyle/>
          <a:p>
            <a:pPr algn="ctr"/>
            <a:r>
              <a:rPr sz="1250" b="1" i="0">
                <a:solidFill>
                  <a:srgbClr val="FFFFFF"/>
                </a:solidFill>
                <a:latin typeface="Aptos"/>
              </a:rPr>
              <a:t>VISIBLE RESULT</a:t>
            </a:r>
          </a:p>
        </p:txBody>
      </p:sp>
      <p:sp>
        <p:nvSpPr>
          <p:cNvPr id="24" name="Oval 23"/>
          <p:cNvSpPr/>
          <p:nvPr/>
        </p:nvSpPr>
        <p:spPr>
          <a:xfrm>
            <a:off x="1051560" y="3888760"/>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71016" y="3703320"/>
            <a:ext cx="9747504" cy="772668"/>
          </a:xfrm>
          <a:prstGeom prst="rect">
            <a:avLst/>
          </a:prstGeom>
          <a:noFill/>
        </p:spPr>
        <p:txBody>
          <a:bodyPr wrap="square" lIns="0" rIns="0" tIns="0" bIns="0" anchor="ctr">
            <a:spAutoFit/>
          </a:bodyPr>
          <a:lstStyle/>
          <a:p>
            <a:pPr algn="l"/>
            <a:r>
              <a:rPr sz="1700" b="0" i="0">
                <a:solidFill>
                  <a:srgbClr val="182028"/>
                </a:solidFill>
                <a:latin typeface="Aptos"/>
              </a:rPr>
              <a:t>The source creates unwanted electrical energy.</a:t>
            </a:r>
          </a:p>
        </p:txBody>
      </p:sp>
      <p:sp>
        <p:nvSpPr>
          <p:cNvPr id="26" name="Oval 25"/>
          <p:cNvSpPr/>
          <p:nvPr/>
        </p:nvSpPr>
        <p:spPr>
          <a:xfrm>
            <a:off x="1051560" y="4807732"/>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71016" y="4622292"/>
            <a:ext cx="9747504" cy="772668"/>
          </a:xfrm>
          <a:prstGeom prst="rect">
            <a:avLst/>
          </a:prstGeom>
          <a:noFill/>
        </p:spPr>
        <p:txBody>
          <a:bodyPr wrap="square" lIns="0" rIns="0" tIns="0" bIns="0" anchor="ctr">
            <a:spAutoFit/>
          </a:bodyPr>
          <a:lstStyle/>
          <a:p>
            <a:pPr algn="l"/>
            <a:r>
              <a:rPr sz="1700" b="0" i="0">
                <a:solidFill>
                  <a:srgbClr val="182028"/>
                </a:solidFill>
                <a:latin typeface="Aptos"/>
              </a:rPr>
              <a:t>The path carries that energy into another circuit, where it causes a measurable effect.</a:t>
            </a:r>
          </a:p>
        </p:txBody>
      </p:sp>
      <p:sp>
        <p:nvSpPr>
          <p:cNvPr id="28" name="Rounded Rectangle 27"/>
          <p:cNvSpPr/>
          <p:nvPr/>
        </p:nvSpPr>
        <p:spPr>
          <a:xfrm>
            <a:off x="3200400" y="5650992"/>
            <a:ext cx="5760720" cy="420624"/>
          </a:xfrm>
          <a:prstGeom prst="round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0" y="5650992"/>
            <a:ext cx="5760720" cy="420624"/>
          </a:xfrm>
          <a:prstGeom prst="rect">
            <a:avLst/>
          </a:prstGeom>
          <a:noFill/>
        </p:spPr>
        <p:txBody>
          <a:bodyPr wrap="square" lIns="18288" rIns="18288" tIns="18288" bIns="18288" anchor="ctr">
            <a:spAutoFit/>
          </a:bodyPr>
          <a:lstStyle/>
          <a:p>
            <a:pPr algn="ctr"/>
            <a:r>
              <a:rPr sz="1150" b="1" i="0">
                <a:solidFill>
                  <a:srgbClr val="FFFFFF"/>
                </a:solidFill>
                <a:latin typeface="Aptos"/>
              </a:rPr>
              <a:t>FIND THE PATH BEFORE CHOOSING A FIX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03</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COUPLING PATHS</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700" b="1" i="0">
                <a:solidFill>
                  <a:srgbClr val="17324D"/>
                </a:solidFill>
                <a:latin typeface="Aptos Display"/>
              </a:rPr>
              <a:t>Unwanted energy can travel in three main ways</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9808" y="1783080"/>
            <a:ext cx="3520440" cy="3794760"/>
          </a:xfrm>
          <a:prstGeom prst="roundRect">
            <a:avLst/>
          </a:prstGeom>
          <a:solidFill>
            <a:srgbClr val="E3EBF1"/>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1783080"/>
            <a:ext cx="82296" cy="3794760"/>
          </a:xfrm>
          <a:prstGeom prst="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Through wires</a:t>
            </a:r>
          </a:p>
        </p:txBody>
      </p:sp>
      <p:sp>
        <p:nvSpPr>
          <p:cNvPr id="16" name="TextBox 15"/>
          <p:cNvSpPr txBox="1"/>
          <p:nvPr/>
        </p:nvSpPr>
        <p:spPr>
          <a:xfrm>
            <a:off x="978408"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Conducted coupling uses shared wires, grounds, or power supplies.</a:t>
            </a:r>
          </a:p>
        </p:txBody>
      </p:sp>
      <p:sp>
        <p:nvSpPr>
          <p:cNvPr id="17" name="Rounded Rectangle 16"/>
          <p:cNvSpPr/>
          <p:nvPr/>
        </p:nvSpPr>
        <p:spPr>
          <a:xfrm>
            <a:off x="4334256" y="1783080"/>
            <a:ext cx="3520440" cy="3794760"/>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34256" y="1783080"/>
            <a:ext cx="82296" cy="379476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2856"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Across an electric field</a:t>
            </a:r>
          </a:p>
        </p:txBody>
      </p:sp>
      <p:sp>
        <p:nvSpPr>
          <p:cNvPr id="20" name="TextBox 19"/>
          <p:cNvSpPr txBox="1"/>
          <p:nvPr/>
        </p:nvSpPr>
        <p:spPr>
          <a:xfrm>
            <a:off x="4562856"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Capacitive coupling occurs when a changing voltage affects a nearby conductor.</a:t>
            </a:r>
          </a:p>
        </p:txBody>
      </p:sp>
      <p:sp>
        <p:nvSpPr>
          <p:cNvPr id="21" name="Rounded Rectangle 20"/>
          <p:cNvSpPr/>
          <p:nvPr/>
        </p:nvSpPr>
        <p:spPr>
          <a:xfrm>
            <a:off x="7918704" y="1783080"/>
            <a:ext cx="3520440" cy="379476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18704" y="1783080"/>
            <a:ext cx="82296" cy="379476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47304"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Across a magnetic field</a:t>
            </a:r>
          </a:p>
        </p:txBody>
      </p:sp>
      <p:sp>
        <p:nvSpPr>
          <p:cNvPr id="24" name="TextBox 23"/>
          <p:cNvSpPr txBox="1"/>
          <p:nvPr/>
        </p:nvSpPr>
        <p:spPr>
          <a:xfrm>
            <a:off x="8147304"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Inductive coupling occurs when a changing current produces voltage in a nearby loop.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04</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NEAR FIELD AND FAR FIELD</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900" b="1" i="0">
                <a:solidFill>
                  <a:srgbClr val="17324D"/>
                </a:solidFill>
                <a:latin typeface="Aptos Display"/>
              </a:rPr>
              <a:t>Distance changes how we describe the field</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graphicFrame>
        <p:nvGraphicFramePr>
          <p:cNvPr id="13" name="Table 12"/>
          <p:cNvGraphicFramePr>
            <a:graphicFrameLocks noGrp="1"/>
          </p:cNvGraphicFramePr>
          <p:nvPr/>
        </p:nvGraphicFramePr>
        <p:xfrm>
          <a:off x="658368" y="1737360"/>
          <a:ext cx="10881359" cy="4160520"/>
        </p:xfrm>
        <a:graphic>
          <a:graphicData uri="http://schemas.openxmlformats.org/drawingml/2006/table">
            <a:tbl>
              <a:tblPr firstRow="1" bandRow="1">
                <a:tableStyleId>{5C22544A-7EE6-4342-B048-85BDC9FD1C3A}</a:tableStyleId>
              </a:tblPr>
              <a:tblGrid>
                <a:gridCol w="2937967"/>
                <a:gridCol w="4352544"/>
                <a:gridCol w="3590848"/>
              </a:tblGrid>
              <a:tr h="832104">
                <a:tc>
                  <a:txBody>
                    <a:bodyPr/>
                    <a:lstStyle/>
                    <a:p>
                      <a:r>
                        <a:rPr sz="1300" b="1">
                          <a:solidFill>
                            <a:srgbClr val="FFFFFF"/>
                          </a:solidFill>
                          <a:latin typeface="Aptos"/>
                        </a:rPr>
                        <a:t>Region</a:t>
                      </a:r>
                    </a:p>
                  </a:txBody>
                  <a:tcPr marL="82296" marR="82296" marT="54864" marB="36576">
                    <a:solidFill>
                      <a:srgbClr val="17324D"/>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b="1">
                          <a:solidFill>
                            <a:srgbClr val="FFFFFF"/>
                          </a:solidFill>
                          <a:latin typeface="Aptos"/>
                        </a:rPr>
                        <a:t>Plain-language model</a:t>
                      </a:r>
                    </a:p>
                  </a:txBody>
                  <a:tcPr marL="82296" marR="82296" marT="54864" marB="36576">
                    <a:solidFill>
                      <a:srgbClr val="17324D"/>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b="1">
                          <a:solidFill>
                            <a:srgbClr val="FFFFFF"/>
                          </a:solidFill>
                          <a:latin typeface="Aptos"/>
                        </a:rPr>
                        <a:t>What we may observe</a:t>
                      </a:r>
                    </a:p>
                  </a:txBody>
                  <a:tcPr marL="82296" marR="82296" marT="54864" marB="36576">
                    <a:solidFill>
                      <a:srgbClr val="17324D"/>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r>
              <a:tr h="832104">
                <a:tc>
                  <a:txBody>
                    <a:bodyPr/>
                    <a:lstStyle/>
                    <a:p>
                      <a:r>
                        <a:rPr sz="1300">
                          <a:solidFill>
                            <a:srgbClr val="182028"/>
                          </a:solidFill>
                          <a:latin typeface="Aptos"/>
                        </a:rPr>
                        <a:t>Very close: reactive near field</a:t>
                      </a:r>
                    </a:p>
                  </a:txBody>
                  <a:tcPr marL="82296" marR="82296" marT="45720" marB="27432">
                    <a:solidFill>
                      <a:srgbClr val="FBF9F4"/>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Electric or magnetic effects may dominate</a:t>
                      </a:r>
                    </a:p>
                  </a:txBody>
                  <a:tcPr marL="82296" marR="82296" marT="45720" marB="27432">
                    <a:solidFill>
                      <a:srgbClr val="FBF9F4"/>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Rotation and small distance changes matter greatly</a:t>
                      </a:r>
                    </a:p>
                  </a:txBody>
                  <a:tcPr marL="82296" marR="82296" marT="45720" marB="27432">
                    <a:solidFill>
                      <a:srgbClr val="FBF9F4"/>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r>
              <a:tr h="832104">
                <a:tc>
                  <a:txBody>
                    <a:bodyPr/>
                    <a:lstStyle/>
                    <a:p>
                      <a:r>
                        <a:rPr sz="1300">
                          <a:solidFill>
                            <a:srgbClr val="182028"/>
                          </a:solidFill>
                          <a:latin typeface="Aptos"/>
                        </a:rPr>
                        <a:t>Nearby: radiating near field</a:t>
                      </a:r>
                    </a:p>
                  </a:txBody>
                  <a:tcPr marL="82296" marR="82296" marT="45720" marB="27432">
                    <a:solidFill>
                      <a:srgbClr val="E3EBF1"/>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The electromagnetic wave is still taking shape</a:t>
                      </a:r>
                    </a:p>
                  </a:txBody>
                  <a:tcPr marL="82296" marR="82296" marT="45720" marB="27432">
                    <a:solidFill>
                      <a:srgbClr val="E3EBF1"/>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Object size and geometry both matter</a:t>
                      </a:r>
                    </a:p>
                  </a:txBody>
                  <a:tcPr marL="82296" marR="82296" marT="45720" marB="27432">
                    <a:solidFill>
                      <a:srgbClr val="E3EBF1"/>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r>
              <a:tr h="832104">
                <a:tc>
                  <a:txBody>
                    <a:bodyPr/>
                    <a:lstStyle/>
                    <a:p>
                      <a:r>
                        <a:rPr sz="1300">
                          <a:solidFill>
                            <a:srgbClr val="182028"/>
                          </a:solidFill>
                          <a:latin typeface="Aptos"/>
                        </a:rPr>
                        <a:t>Far away: far field</a:t>
                      </a:r>
                    </a:p>
                  </a:txBody>
                  <a:tcPr marL="82296" marR="82296" marT="45720" marB="27432">
                    <a:solidFill>
                      <a:srgbClr val="FBF9F4"/>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The signal behaves more like a traveling radio wave</a:t>
                      </a:r>
                    </a:p>
                  </a:txBody>
                  <a:tcPr marL="82296" marR="82296" marT="45720" marB="27432">
                    <a:solidFill>
                      <a:srgbClr val="FBF9F4"/>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Antennas, polarization, and path loss matter</a:t>
                      </a:r>
                    </a:p>
                  </a:txBody>
                  <a:tcPr marL="82296" marR="82296" marT="45720" marB="27432">
                    <a:solidFill>
                      <a:srgbClr val="FBF9F4"/>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r>
              <a:tr h="832104">
                <a:tc>
                  <a:txBody>
                    <a:bodyPr/>
                    <a:lstStyle/>
                    <a:p>
                      <a:r>
                        <a:rPr sz="1300">
                          <a:solidFill>
                            <a:srgbClr val="182028"/>
                          </a:solidFill>
                          <a:latin typeface="Aptos"/>
                        </a:rPr>
                        <a:t>Lab 3</a:t>
                      </a:r>
                    </a:p>
                  </a:txBody>
                  <a:tcPr marL="82296" marR="82296" marT="45720" marB="27432">
                    <a:solidFill>
                      <a:srgbClr val="E3EBF1"/>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A small, controlled near-field experiment</a:t>
                      </a:r>
                    </a:p>
                  </a:txBody>
                  <a:tcPr marL="82296" marR="82296" marT="45720" marB="27432">
                    <a:solidFill>
                      <a:srgbClr val="E3EBF1"/>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Loops, wires, distance, and orientation</a:t>
                      </a:r>
                    </a:p>
                  </a:txBody>
                  <a:tcPr marL="82296" marR="82296" marT="45720" marB="27432">
                    <a:solidFill>
                      <a:srgbClr val="E3EBF1"/>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05</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INDUCTIVE COUPLING</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700" b="1" i="0">
                <a:solidFill>
                  <a:srgbClr val="17324D"/>
                </a:solidFill>
                <a:latin typeface="Aptos Display"/>
              </a:rPr>
              <a:t>Loop size, direction, and distance change pickup</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9808" y="1783080"/>
            <a:ext cx="3520440" cy="3794760"/>
          </a:xfrm>
          <a:prstGeom prst="roundRect">
            <a:avLst/>
          </a:prstGeom>
          <a:solidFill>
            <a:srgbClr val="E3EBF1"/>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1783080"/>
            <a:ext cx="82296" cy="3794760"/>
          </a:xfrm>
          <a:prstGeom prst="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Use a larger loop</a:t>
            </a:r>
          </a:p>
        </p:txBody>
      </p:sp>
      <p:sp>
        <p:nvSpPr>
          <p:cNvPr id="16" name="TextBox 15"/>
          <p:cNvSpPr txBox="1"/>
          <p:nvPr/>
        </p:nvSpPr>
        <p:spPr>
          <a:xfrm>
            <a:off x="978408"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More magnetic field passes through the loop, so the measured pickup often increases.</a:t>
            </a:r>
          </a:p>
        </p:txBody>
      </p:sp>
      <p:sp>
        <p:nvSpPr>
          <p:cNvPr id="17" name="Rounded Rectangle 16"/>
          <p:cNvSpPr/>
          <p:nvPr/>
        </p:nvSpPr>
        <p:spPr>
          <a:xfrm>
            <a:off x="4334256" y="1783080"/>
            <a:ext cx="3520440" cy="3794760"/>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34256" y="1783080"/>
            <a:ext cx="82296" cy="379476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2856"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Turn the loop</a:t>
            </a:r>
          </a:p>
        </p:txBody>
      </p:sp>
      <p:sp>
        <p:nvSpPr>
          <p:cNvPr id="20" name="TextBox 19"/>
          <p:cNvSpPr txBox="1"/>
          <p:nvPr/>
        </p:nvSpPr>
        <p:spPr>
          <a:xfrm>
            <a:off x="4562856"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A 90-degree rotation can reduce how much magnetic field passes through it.</a:t>
            </a:r>
          </a:p>
        </p:txBody>
      </p:sp>
      <p:sp>
        <p:nvSpPr>
          <p:cNvPr id="21" name="Rounded Rectangle 20"/>
          <p:cNvSpPr/>
          <p:nvPr/>
        </p:nvSpPr>
        <p:spPr>
          <a:xfrm>
            <a:off x="7918704" y="1783080"/>
            <a:ext cx="3520440" cy="379476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18704" y="1783080"/>
            <a:ext cx="82296" cy="379476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47304"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Move it away</a:t>
            </a:r>
          </a:p>
        </p:txBody>
      </p:sp>
      <p:sp>
        <p:nvSpPr>
          <p:cNvPr id="24" name="TextBox 23"/>
          <p:cNvSpPr txBox="1"/>
          <p:nvPr/>
        </p:nvSpPr>
        <p:spPr>
          <a:xfrm>
            <a:off x="8147304"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Increasing distance usually reduces nearby magnetic pickup.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06</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WIRE ROUTING</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900" b="1" i="0">
                <a:solidFill>
                  <a:srgbClr val="17324D"/>
                </a:solidFill>
                <a:latin typeface="Aptos Display"/>
              </a:rPr>
              <a:t>Twisting a pair helps its fields cancel</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22960" y="1987722"/>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6" y="1755648"/>
            <a:ext cx="6181344" cy="966978"/>
          </a:xfrm>
          <a:prstGeom prst="rect">
            <a:avLst/>
          </a:prstGeom>
          <a:noFill/>
        </p:spPr>
        <p:txBody>
          <a:bodyPr wrap="square" lIns="0" rIns="0" tIns="0" bIns="0" anchor="ctr">
            <a:spAutoFit/>
          </a:bodyPr>
          <a:lstStyle/>
          <a:p>
            <a:pPr algn="l"/>
            <a:r>
              <a:rPr sz="1650" b="0" i="0">
                <a:solidFill>
                  <a:srgbClr val="182028"/>
                </a:solidFill>
                <a:latin typeface="Aptos"/>
              </a:rPr>
              <a:t>Keep the outgoing and returning current paths close together.</a:t>
            </a:r>
          </a:p>
        </p:txBody>
      </p:sp>
      <p:sp>
        <p:nvSpPr>
          <p:cNvPr id="15" name="Oval 14"/>
          <p:cNvSpPr/>
          <p:nvPr/>
        </p:nvSpPr>
        <p:spPr>
          <a:xfrm>
            <a:off x="822960" y="3082716"/>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 y="2850642"/>
            <a:ext cx="6181344" cy="966978"/>
          </a:xfrm>
          <a:prstGeom prst="rect">
            <a:avLst/>
          </a:prstGeom>
          <a:noFill/>
        </p:spPr>
        <p:txBody>
          <a:bodyPr wrap="square" lIns="0" rIns="0" tIns="0" bIns="0" anchor="ctr">
            <a:spAutoFit/>
          </a:bodyPr>
          <a:lstStyle/>
          <a:p>
            <a:pPr algn="l"/>
            <a:r>
              <a:rPr sz="1650" b="0" i="0">
                <a:solidFill>
                  <a:srgbClr val="182028"/>
                </a:solidFill>
                <a:latin typeface="Aptos"/>
              </a:rPr>
              <a:t>Each twist reverses the small loop direction, so nearby magnetic effects partly cancel.</a:t>
            </a:r>
          </a:p>
        </p:txBody>
      </p:sp>
      <p:sp>
        <p:nvSpPr>
          <p:cNvPr id="17" name="Oval 16"/>
          <p:cNvSpPr/>
          <p:nvPr/>
        </p:nvSpPr>
        <p:spPr>
          <a:xfrm>
            <a:off x="822960" y="4177710"/>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3945636"/>
            <a:ext cx="6181344" cy="966978"/>
          </a:xfrm>
          <a:prstGeom prst="rect">
            <a:avLst/>
          </a:prstGeom>
          <a:noFill/>
        </p:spPr>
        <p:txBody>
          <a:bodyPr wrap="square" lIns="0" rIns="0" tIns="0" bIns="0" anchor="ctr">
            <a:spAutoFit/>
          </a:bodyPr>
          <a:lstStyle/>
          <a:p>
            <a:pPr algn="l"/>
            <a:r>
              <a:rPr sz="1650" b="0" i="0">
                <a:solidFill>
                  <a:srgbClr val="182028"/>
                </a:solidFill>
                <a:latin typeface="Aptos"/>
              </a:rPr>
              <a:t>Keep noisy wires away from sensitive signal wires.</a:t>
            </a:r>
          </a:p>
        </p:txBody>
      </p:sp>
      <p:sp>
        <p:nvSpPr>
          <p:cNvPr id="19" name="Oval 18"/>
          <p:cNvSpPr/>
          <p:nvPr/>
        </p:nvSpPr>
        <p:spPr>
          <a:xfrm>
            <a:off x="822960" y="5272704"/>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 y="5040630"/>
            <a:ext cx="6181344" cy="966978"/>
          </a:xfrm>
          <a:prstGeom prst="rect">
            <a:avLst/>
          </a:prstGeom>
          <a:noFill/>
        </p:spPr>
        <p:txBody>
          <a:bodyPr wrap="square" lIns="0" rIns="0" tIns="0" bIns="0" anchor="ctr">
            <a:spAutoFit/>
          </a:bodyPr>
          <a:lstStyle/>
          <a:p>
            <a:pPr algn="l"/>
            <a:r>
              <a:rPr sz="1650" b="0" i="0">
                <a:solidFill>
                  <a:srgbClr val="182028"/>
                </a:solidFill>
                <a:latin typeface="Aptos"/>
              </a:rPr>
              <a:t>Avoid long, separated return paths that create large loops.</a:t>
            </a:r>
          </a:p>
        </p:txBody>
      </p:sp>
      <p:sp>
        <p:nvSpPr>
          <p:cNvPr id="21" name="Rounded Rectangle 20"/>
          <p:cNvSpPr/>
          <p:nvPr/>
        </p:nvSpPr>
        <p:spPr>
          <a:xfrm>
            <a:off x="7571231" y="1828800"/>
            <a:ext cx="3703320" cy="3611880"/>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71231" y="1828800"/>
            <a:ext cx="82296" cy="361188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99831" y="1993392"/>
            <a:ext cx="3291840" cy="329184"/>
          </a:xfrm>
          <a:prstGeom prst="rect">
            <a:avLst/>
          </a:prstGeom>
          <a:noFill/>
        </p:spPr>
        <p:txBody>
          <a:bodyPr wrap="square" lIns="0" rIns="0" tIns="0" bIns="0" anchor="t">
            <a:spAutoFit/>
          </a:bodyPr>
          <a:lstStyle/>
          <a:p>
            <a:pPr algn="l"/>
            <a:r>
              <a:rPr sz="2200" b="1" i="0">
                <a:solidFill>
                  <a:srgbClr val="17324D"/>
                </a:solidFill>
                <a:latin typeface="Aptos"/>
              </a:rPr>
              <a:t>How to test it</a:t>
            </a:r>
          </a:p>
        </p:txBody>
      </p:sp>
      <p:sp>
        <p:nvSpPr>
          <p:cNvPr id="24" name="TextBox 23"/>
          <p:cNvSpPr txBox="1"/>
          <p:nvPr/>
        </p:nvSpPr>
        <p:spPr>
          <a:xfrm>
            <a:off x="7799831" y="2432304"/>
            <a:ext cx="3291840" cy="2862072"/>
          </a:xfrm>
          <a:prstGeom prst="rect">
            <a:avLst/>
          </a:prstGeom>
          <a:noFill/>
        </p:spPr>
        <p:txBody>
          <a:bodyPr wrap="square" lIns="0" rIns="0" tIns="0" bIns="0" anchor="t">
            <a:spAutoFit/>
          </a:bodyPr>
          <a:lstStyle/>
          <a:p>
            <a:pPr algn="l">
              <a:lnSpc>
                <a:spcPct val="102000"/>
              </a:lnSpc>
            </a:pPr>
            <a:r>
              <a:rPr sz="1700" b="0" i="0">
                <a:solidFill>
                  <a:srgbClr val="182028"/>
                </a:solidFill>
                <a:latin typeface="Aptos"/>
              </a:rPr>
              <a:t>Measure pickup before and after twisting while keeping the source, distance, load, probes, and scope settings the same.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07</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DIFFERENTIAL AND COMMON MODE</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900" b="1" i="0">
                <a:solidFill>
                  <a:srgbClr val="17324D"/>
                </a:solidFill>
                <a:latin typeface="Aptos Display"/>
              </a:rPr>
              <a:t>Current must return to its source</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9808" y="1783080"/>
            <a:ext cx="3520440" cy="3794760"/>
          </a:xfrm>
          <a:prstGeom prst="roundRect">
            <a:avLst/>
          </a:prstGeom>
          <a:solidFill>
            <a:srgbClr val="E3EBF1"/>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1783080"/>
            <a:ext cx="82296" cy="3794760"/>
          </a:xfrm>
          <a:prstGeom prst="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Differential current</a:t>
            </a:r>
          </a:p>
        </p:txBody>
      </p:sp>
      <p:sp>
        <p:nvSpPr>
          <p:cNvPr id="16" name="TextBox 15"/>
          <p:cNvSpPr txBox="1"/>
          <p:nvPr/>
        </p:nvSpPr>
        <p:spPr>
          <a:xfrm>
            <a:off x="978408"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Current travels out on one conductor and returns on the paired conductor. Nearby fields can cancel.</a:t>
            </a:r>
          </a:p>
        </p:txBody>
      </p:sp>
      <p:sp>
        <p:nvSpPr>
          <p:cNvPr id="17" name="Rounded Rectangle 16"/>
          <p:cNvSpPr/>
          <p:nvPr/>
        </p:nvSpPr>
        <p:spPr>
          <a:xfrm>
            <a:off x="4334256" y="1783080"/>
            <a:ext cx="3520440" cy="3794760"/>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34256" y="1783080"/>
            <a:ext cx="82296" cy="379476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2856"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Common-mode current</a:t>
            </a:r>
          </a:p>
        </p:txBody>
      </p:sp>
      <p:sp>
        <p:nvSpPr>
          <p:cNvPr id="20" name="TextBox 19"/>
          <p:cNvSpPr txBox="1"/>
          <p:nvPr/>
        </p:nvSpPr>
        <p:spPr>
          <a:xfrm>
            <a:off x="4562856"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Some current returns through ground, a shield, chassis, or another unintended path.</a:t>
            </a:r>
          </a:p>
        </p:txBody>
      </p:sp>
      <p:sp>
        <p:nvSpPr>
          <p:cNvPr id="21" name="Rounded Rectangle 20"/>
          <p:cNvSpPr/>
          <p:nvPr/>
        </p:nvSpPr>
        <p:spPr>
          <a:xfrm>
            <a:off x="7918704" y="1783080"/>
            <a:ext cx="3520440" cy="379476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18704" y="1783080"/>
            <a:ext cx="82296" cy="379476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47304"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Why it matters</a:t>
            </a:r>
          </a:p>
        </p:txBody>
      </p:sp>
      <p:sp>
        <p:nvSpPr>
          <p:cNvPr id="24" name="TextBox 23"/>
          <p:cNvSpPr txBox="1"/>
          <p:nvPr/>
        </p:nvSpPr>
        <p:spPr>
          <a:xfrm>
            <a:off x="8147304"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A large return loop can make a cable radiate more or pick up more interference.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08</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COMPARATIVE MEASUREMENT</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700" b="1" i="0">
                <a:solidFill>
                  <a:srgbClr val="17324D"/>
                </a:solidFill>
                <a:latin typeface="Aptos Display"/>
              </a:rPr>
              <a:t>A quiet neighboring line can reveal crosstalk</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22960" y="1987722"/>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6" y="1755648"/>
            <a:ext cx="6181344" cy="966978"/>
          </a:xfrm>
          <a:prstGeom prst="rect">
            <a:avLst/>
          </a:prstGeom>
          <a:noFill/>
        </p:spPr>
        <p:txBody>
          <a:bodyPr wrap="square" lIns="0" rIns="0" tIns="0" bIns="0" anchor="ctr">
            <a:spAutoFit/>
          </a:bodyPr>
          <a:lstStyle/>
          <a:p>
            <a:pPr algn="l"/>
            <a:r>
              <a:rPr sz="1650" b="0" i="0">
                <a:solidFill>
                  <a:srgbClr val="182028"/>
                </a:solidFill>
                <a:latin typeface="Aptos"/>
              </a:rPr>
              <a:t>Drive a known signal on the source line and monitor the neighboring line on Channel 2.</a:t>
            </a:r>
          </a:p>
        </p:txBody>
      </p:sp>
      <p:sp>
        <p:nvSpPr>
          <p:cNvPr id="15" name="Oval 14"/>
          <p:cNvSpPr/>
          <p:nvPr/>
        </p:nvSpPr>
        <p:spPr>
          <a:xfrm>
            <a:off x="822960" y="3082716"/>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 y="2850642"/>
            <a:ext cx="6181344" cy="966978"/>
          </a:xfrm>
          <a:prstGeom prst="rect">
            <a:avLst/>
          </a:prstGeom>
          <a:noFill/>
        </p:spPr>
        <p:txBody>
          <a:bodyPr wrap="square" lIns="0" rIns="0" tIns="0" bIns="0" anchor="ctr">
            <a:spAutoFit/>
          </a:bodyPr>
          <a:lstStyle/>
          <a:p>
            <a:pPr algn="l"/>
            <a:r>
              <a:rPr sz="1650" b="0" i="0">
                <a:solidFill>
                  <a:srgbClr val="182028"/>
                </a:solidFill>
                <a:latin typeface="Aptos"/>
              </a:rPr>
              <a:t>Record wire placement, resistance, bandwidth, and oscilloscope settings.</a:t>
            </a:r>
          </a:p>
        </p:txBody>
      </p:sp>
      <p:sp>
        <p:nvSpPr>
          <p:cNvPr id="17" name="Oval 16"/>
          <p:cNvSpPr/>
          <p:nvPr/>
        </p:nvSpPr>
        <p:spPr>
          <a:xfrm>
            <a:off x="822960" y="4177710"/>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3945636"/>
            <a:ext cx="6181344" cy="966978"/>
          </a:xfrm>
          <a:prstGeom prst="rect">
            <a:avLst/>
          </a:prstGeom>
          <a:noFill/>
        </p:spPr>
        <p:txBody>
          <a:bodyPr wrap="square" lIns="0" rIns="0" tIns="0" bIns="0" anchor="ctr">
            <a:spAutoFit/>
          </a:bodyPr>
          <a:lstStyle/>
          <a:p>
            <a:pPr algn="l"/>
            <a:r>
              <a:rPr sz="1650" b="0" i="0">
                <a:solidFill>
                  <a:srgbClr val="182028"/>
                </a:solidFill>
                <a:latin typeface="Aptos"/>
              </a:rPr>
              <a:t>Treat the neighboring-line voltage as a relative comparison, not a universal leakage value.</a:t>
            </a:r>
          </a:p>
        </p:txBody>
      </p:sp>
      <p:sp>
        <p:nvSpPr>
          <p:cNvPr id="19" name="Oval 18"/>
          <p:cNvSpPr/>
          <p:nvPr/>
        </p:nvSpPr>
        <p:spPr>
          <a:xfrm>
            <a:off x="822960" y="5272704"/>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 y="5040630"/>
            <a:ext cx="6181344" cy="966978"/>
          </a:xfrm>
          <a:prstGeom prst="rect">
            <a:avLst/>
          </a:prstGeom>
          <a:noFill/>
        </p:spPr>
        <p:txBody>
          <a:bodyPr wrap="square" lIns="0" rIns="0" tIns="0" bIns="0" anchor="ctr">
            <a:spAutoFit/>
          </a:bodyPr>
          <a:lstStyle/>
          <a:p>
            <a:pPr algn="l"/>
            <a:r>
              <a:rPr sz="1650" b="0" i="0">
                <a:solidFill>
                  <a:srgbClr val="182028"/>
                </a:solidFill>
                <a:latin typeface="Aptos"/>
              </a:rPr>
              <a:t>Check that the unwanted waveform has the same frequency or timing as the source line.</a:t>
            </a:r>
          </a:p>
        </p:txBody>
      </p:sp>
      <p:sp>
        <p:nvSpPr>
          <p:cNvPr id="21" name="Rounded Rectangle 20"/>
          <p:cNvSpPr/>
          <p:nvPr/>
        </p:nvSpPr>
        <p:spPr>
          <a:xfrm>
            <a:off x="7571231" y="1828800"/>
            <a:ext cx="3703320" cy="361188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71231" y="1828800"/>
            <a:ext cx="82296" cy="361188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99831" y="1993392"/>
            <a:ext cx="3291840" cy="329184"/>
          </a:xfrm>
          <a:prstGeom prst="rect">
            <a:avLst/>
          </a:prstGeom>
          <a:noFill/>
        </p:spPr>
        <p:txBody>
          <a:bodyPr wrap="square" lIns="0" rIns="0" tIns="0" bIns="0" anchor="t">
            <a:spAutoFit/>
          </a:bodyPr>
          <a:lstStyle/>
          <a:p>
            <a:pPr algn="l"/>
            <a:r>
              <a:rPr sz="2200" b="1" i="0">
                <a:solidFill>
                  <a:srgbClr val="17324D"/>
                </a:solidFill>
                <a:latin typeface="Aptos"/>
              </a:rPr>
              <a:t>Check for false pickup</a:t>
            </a:r>
          </a:p>
        </p:txBody>
      </p:sp>
      <p:sp>
        <p:nvSpPr>
          <p:cNvPr id="24" name="TextBox 23"/>
          <p:cNvSpPr txBox="1"/>
          <p:nvPr/>
        </p:nvSpPr>
        <p:spPr>
          <a:xfrm>
            <a:off x="7799831" y="2432304"/>
            <a:ext cx="3291840" cy="2862072"/>
          </a:xfrm>
          <a:prstGeom prst="rect">
            <a:avLst/>
          </a:prstGeom>
          <a:noFill/>
        </p:spPr>
        <p:txBody>
          <a:bodyPr wrap="square" lIns="0" rIns="0" tIns="0" bIns="0" anchor="t">
            <a:spAutoFit/>
          </a:bodyPr>
          <a:lstStyle/>
          <a:p>
            <a:pPr algn="l">
              <a:lnSpc>
                <a:spcPct val="102000"/>
              </a:lnSpc>
            </a:pPr>
            <a:r>
              <a:rPr sz="1700" b="0" i="0">
                <a:solidFill>
                  <a:srgbClr val="182028"/>
                </a:solidFill>
                <a:latin typeface="Aptos"/>
              </a:rPr>
              <a:t>Turn off the source. If the waveform remains, Channel 2 may be detecting a cable, scope ground, or another room source.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09</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CHOOSING A FIX</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700" b="1" i="0">
                <a:solidFill>
                  <a:srgbClr val="17324D"/>
                </a:solidFill>
                <a:latin typeface="Aptos Display"/>
              </a:rPr>
              <a:t>Reduce EMI at the source, path, or receiving circuit</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graphicFrame>
        <p:nvGraphicFramePr>
          <p:cNvPr id="13" name="Table 12"/>
          <p:cNvGraphicFramePr>
            <a:graphicFrameLocks noGrp="1"/>
          </p:cNvGraphicFramePr>
          <p:nvPr/>
        </p:nvGraphicFramePr>
        <p:xfrm>
          <a:off x="658368" y="1737360"/>
          <a:ext cx="10881358" cy="4160520"/>
        </p:xfrm>
        <a:graphic>
          <a:graphicData uri="http://schemas.openxmlformats.org/drawingml/2006/table">
            <a:tbl>
              <a:tblPr firstRow="1" bandRow="1">
                <a:tableStyleId>{5C22544A-7EE6-4342-B048-85BDC9FD1C3A}</a:tableStyleId>
              </a:tblPr>
              <a:tblGrid>
                <a:gridCol w="2285085"/>
                <a:gridCol w="4678984"/>
                <a:gridCol w="3917289"/>
              </a:tblGrid>
              <a:tr h="832104">
                <a:tc>
                  <a:txBody>
                    <a:bodyPr/>
                    <a:lstStyle/>
                    <a:p>
                      <a:r>
                        <a:rPr sz="1300" b="1">
                          <a:solidFill>
                            <a:srgbClr val="FFFFFF"/>
                          </a:solidFill>
                          <a:latin typeface="Aptos"/>
                        </a:rPr>
                        <a:t>Where to act</a:t>
                      </a:r>
                    </a:p>
                  </a:txBody>
                  <a:tcPr marL="82296" marR="82296" marT="54864" marB="36576">
                    <a:solidFill>
                      <a:srgbClr val="17324D"/>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b="1">
                          <a:solidFill>
                            <a:srgbClr val="FFFFFF"/>
                          </a:solidFill>
                          <a:latin typeface="Aptos"/>
                        </a:rPr>
                        <a:t>Example changes</a:t>
                      </a:r>
                    </a:p>
                  </a:txBody>
                  <a:tcPr marL="82296" marR="82296" marT="54864" marB="36576">
                    <a:solidFill>
                      <a:srgbClr val="17324D"/>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b="1">
                          <a:solidFill>
                            <a:srgbClr val="FFFFFF"/>
                          </a:solidFill>
                          <a:latin typeface="Aptos"/>
                        </a:rPr>
                        <a:t>Evidence the change helped</a:t>
                      </a:r>
                    </a:p>
                  </a:txBody>
                  <a:tcPr marL="82296" marR="82296" marT="54864" marB="36576">
                    <a:solidFill>
                      <a:srgbClr val="17324D"/>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r>
              <a:tr h="832104">
                <a:tc>
                  <a:txBody>
                    <a:bodyPr/>
                    <a:lstStyle/>
                    <a:p>
                      <a:r>
                        <a:rPr sz="1300">
                          <a:solidFill>
                            <a:srgbClr val="182028"/>
                          </a:solidFill>
                          <a:latin typeface="Aptos"/>
                        </a:rPr>
                        <a:t>Source</a:t>
                      </a:r>
                    </a:p>
                  </a:txBody>
                  <a:tcPr marL="82296" marR="82296" marT="45720" marB="27432">
                    <a:solidFill>
                      <a:srgbClr val="FBF9F4"/>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Reduce current or edge speed; add filtering</a:t>
                      </a:r>
                    </a:p>
                  </a:txBody>
                  <a:tcPr marL="82296" marR="82296" marT="45720" marB="27432">
                    <a:solidFill>
                      <a:srgbClr val="FBF9F4"/>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The unwanted source signal becomes smaller</a:t>
                      </a:r>
                    </a:p>
                  </a:txBody>
                  <a:tcPr marL="82296" marR="82296" marT="45720" marB="27432">
                    <a:solidFill>
                      <a:srgbClr val="FBF9F4"/>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r>
              <a:tr h="832104">
                <a:tc>
                  <a:txBody>
                    <a:bodyPr/>
                    <a:lstStyle/>
                    <a:p>
                      <a:r>
                        <a:rPr sz="1300">
                          <a:solidFill>
                            <a:srgbClr val="182028"/>
                          </a:solidFill>
                          <a:latin typeface="Aptos"/>
                        </a:rPr>
                        <a:t>Path</a:t>
                      </a:r>
                    </a:p>
                  </a:txBody>
                  <a:tcPr marL="82296" marR="82296" marT="45720" marB="27432">
                    <a:solidFill>
                      <a:srgbClr val="E3EBF1"/>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Add distance, twist wires, improve routing or shielding</a:t>
                      </a:r>
                    </a:p>
                  </a:txBody>
                  <a:tcPr marL="82296" marR="82296" marT="45720" marB="27432">
                    <a:solidFill>
                      <a:srgbClr val="E3EBF1"/>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Less unwanted signal reaches the pickup</a:t>
                      </a:r>
                    </a:p>
                  </a:txBody>
                  <a:tcPr marL="82296" marR="82296" marT="45720" marB="27432">
                    <a:solidFill>
                      <a:srgbClr val="E3EBF1"/>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r>
              <a:tr h="832104">
                <a:tc>
                  <a:txBody>
                    <a:bodyPr/>
                    <a:lstStyle/>
                    <a:p>
                      <a:r>
                        <a:rPr sz="1300">
                          <a:solidFill>
                            <a:srgbClr val="182028"/>
                          </a:solidFill>
                          <a:latin typeface="Aptos"/>
                        </a:rPr>
                        <a:t>Receiving circuit</a:t>
                      </a:r>
                    </a:p>
                  </a:txBody>
                  <a:tcPr marL="82296" marR="82296" marT="45720" marB="27432">
                    <a:solidFill>
                      <a:srgbClr val="FBF9F4"/>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Add filtering or use a differential receiver</a:t>
                      </a:r>
                    </a:p>
                  </a:txBody>
                  <a:tcPr marL="82296" marR="82296" marT="45720" marB="27432">
                    <a:solidFill>
                      <a:srgbClr val="FBF9F4"/>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The output becomes cleaner or more reliable</a:t>
                      </a:r>
                    </a:p>
                  </a:txBody>
                  <a:tcPr marL="82296" marR="82296" marT="45720" marB="27432">
                    <a:solidFill>
                      <a:srgbClr val="FBF9F4"/>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r>
              <a:tr h="832104">
                <a:tc>
                  <a:txBody>
                    <a:bodyPr/>
                    <a:lstStyle/>
                    <a:p>
                      <a:r>
                        <a:rPr sz="1300">
                          <a:solidFill>
                            <a:srgbClr val="182028"/>
                          </a:solidFill>
                          <a:latin typeface="Aptos"/>
                        </a:rPr>
                        <a:t>Whole system</a:t>
                      </a:r>
                    </a:p>
                  </a:txBody>
                  <a:tcPr marL="82296" marR="82296" marT="45720" marB="27432">
                    <a:solidFill>
                      <a:srgbClr val="E3EBF1"/>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Improve layout, enclosure, and grounding</a:t>
                      </a:r>
                    </a:p>
                  </a:txBody>
                  <a:tcPr marL="82296" marR="82296" marT="45720" marB="27432">
                    <a:solidFill>
                      <a:srgbClr val="E3EBF1"/>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c>
                  <a:txBody>
                    <a:bodyPr/>
                    <a:lstStyle/>
                    <a:p>
                      <a:r>
                        <a:rPr sz="1300">
                          <a:solidFill>
                            <a:srgbClr val="182028"/>
                          </a:solidFill>
                          <a:latin typeface="Aptos"/>
                        </a:rPr>
                        <a:t>Improvement repeats under several conditions</a:t>
                      </a:r>
                    </a:p>
                  </a:txBody>
                  <a:tcPr marL="82296" marR="82296" marT="45720" marB="27432">
                    <a:solidFill>
                      <a:srgbClr val="E3EBF1"/>
                    </a:solidFill>
                    <a:lnL w="9000">
                      <a:solidFill>
                        <a:srgbClr val="CCD1D0"/>
                      </a:solidFill>
                      <a:prstDash val="solid"/>
                    </a:lnL>
                    <a:lnR w="9000">
                      <a:solidFill>
                        <a:srgbClr val="CCD1D0"/>
                      </a:solidFill>
                      <a:prstDash val="solid"/>
                    </a:lnR>
                    <a:lnT w="9000">
                      <a:solidFill>
                        <a:srgbClr val="CCD1D0"/>
                      </a:solidFill>
                      <a:prstDash val="solid"/>
                    </a:lnT>
                    <a:lnB w="9000">
                      <a:solidFill>
                        <a:srgbClr val="CCD1D0"/>
                      </a:solidFill>
                      <a:prstDash val="solid"/>
                    </a:lnB>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10</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USE THE RIGHT TOOL</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700" b="1" i="0">
                <a:solidFill>
                  <a:srgbClr val="17324D"/>
                </a:solidFill>
                <a:latin typeface="Aptos Display"/>
              </a:rPr>
              <a:t>Shields and ferrites solve different problems</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9808" y="1783080"/>
            <a:ext cx="3520440" cy="3794760"/>
          </a:xfrm>
          <a:prstGeom prst="roundRect">
            <a:avLst/>
          </a:prstGeom>
          <a:solidFill>
            <a:srgbClr val="E3EBF1"/>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1783080"/>
            <a:ext cx="82296" cy="3794760"/>
          </a:xfrm>
          <a:prstGeom prst="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Shield</a:t>
            </a:r>
          </a:p>
        </p:txBody>
      </p:sp>
      <p:sp>
        <p:nvSpPr>
          <p:cNvPr id="16" name="TextBox 15"/>
          <p:cNvSpPr txBox="1"/>
          <p:nvPr/>
        </p:nvSpPr>
        <p:spPr>
          <a:xfrm>
            <a:off x="978408"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Provides a controlled path for unwanted electric-field energy when connected correctly.</a:t>
            </a:r>
          </a:p>
        </p:txBody>
      </p:sp>
      <p:sp>
        <p:nvSpPr>
          <p:cNvPr id="17" name="Rounded Rectangle 16"/>
          <p:cNvSpPr/>
          <p:nvPr/>
        </p:nvSpPr>
        <p:spPr>
          <a:xfrm>
            <a:off x="4334256" y="1783080"/>
            <a:ext cx="3520440" cy="3794760"/>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34256" y="1783080"/>
            <a:ext cx="82296" cy="379476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2856"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Ferrite</a:t>
            </a:r>
          </a:p>
        </p:txBody>
      </p:sp>
      <p:sp>
        <p:nvSpPr>
          <p:cNvPr id="20" name="TextBox 19"/>
          <p:cNvSpPr txBox="1"/>
          <p:nvPr/>
        </p:nvSpPr>
        <p:spPr>
          <a:xfrm>
            <a:off x="4562856"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Makes some high-frequency currents harder to sustain on a wire or cable.</a:t>
            </a:r>
          </a:p>
        </p:txBody>
      </p:sp>
      <p:sp>
        <p:nvSpPr>
          <p:cNvPr id="21" name="Rounded Rectangle 20"/>
          <p:cNvSpPr/>
          <p:nvPr/>
        </p:nvSpPr>
        <p:spPr>
          <a:xfrm>
            <a:off x="7918704" y="1783080"/>
            <a:ext cx="3520440" cy="379476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18704" y="1783080"/>
            <a:ext cx="82296" cy="379476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47304"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Poor installation</a:t>
            </a:r>
          </a:p>
        </p:txBody>
      </p:sp>
      <p:sp>
        <p:nvSpPr>
          <p:cNvPr id="24" name="TextBox 23"/>
          <p:cNvSpPr txBox="1"/>
          <p:nvPr/>
        </p:nvSpPr>
        <p:spPr>
          <a:xfrm>
            <a:off x="8147304"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The wrong location or grounding can leave the problem unchanged or move it elsewhere.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11</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CYBERSECURITY CONNECTION</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700" b="1" i="0">
                <a:solidFill>
                  <a:srgbClr val="17324D"/>
                </a:solidFill>
                <a:latin typeface="Aptos Display"/>
              </a:rPr>
              <a:t>Coupling can interfere with signals or reveal activity</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22960" y="1987722"/>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6" y="1755648"/>
            <a:ext cx="6181344" cy="966978"/>
          </a:xfrm>
          <a:prstGeom prst="rect">
            <a:avLst/>
          </a:prstGeom>
          <a:noFill/>
        </p:spPr>
        <p:txBody>
          <a:bodyPr wrap="square" lIns="0" rIns="0" tIns="0" bIns="0" anchor="ctr">
            <a:spAutoFit/>
          </a:bodyPr>
          <a:lstStyle/>
          <a:p>
            <a:pPr algn="l"/>
            <a:r>
              <a:rPr sz="1650" b="0" i="0">
                <a:solidFill>
                  <a:srgbClr val="182028"/>
                </a:solidFill>
                <a:latin typeface="Aptos"/>
              </a:rPr>
              <a:t>Unwanted energy entering a signal path can distort the signal and make receiver errors more likely.</a:t>
            </a:r>
          </a:p>
        </p:txBody>
      </p:sp>
      <p:sp>
        <p:nvSpPr>
          <p:cNvPr id="15" name="Oval 14"/>
          <p:cNvSpPr/>
          <p:nvPr/>
        </p:nvSpPr>
        <p:spPr>
          <a:xfrm>
            <a:off x="822960" y="3082716"/>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 y="2850642"/>
            <a:ext cx="6181344" cy="966978"/>
          </a:xfrm>
          <a:prstGeom prst="rect">
            <a:avLst/>
          </a:prstGeom>
          <a:noFill/>
        </p:spPr>
        <p:txBody>
          <a:bodyPr wrap="square" lIns="0" rIns="0" tIns="0" bIns="0" anchor="ctr">
            <a:spAutoFit/>
          </a:bodyPr>
          <a:lstStyle/>
          <a:p>
            <a:pPr algn="l"/>
            <a:r>
              <a:rPr sz="1650" b="0" i="0">
                <a:solidFill>
                  <a:srgbClr val="182028"/>
                </a:solidFill>
                <a:latin typeface="Aptos"/>
              </a:rPr>
              <a:t>Energy leaking out can reveal that a device is active, when it operates, and the frequency or pattern it uses.</a:t>
            </a:r>
          </a:p>
        </p:txBody>
      </p:sp>
      <p:sp>
        <p:nvSpPr>
          <p:cNvPr id="17" name="Oval 16"/>
          <p:cNvSpPr/>
          <p:nvPr/>
        </p:nvSpPr>
        <p:spPr>
          <a:xfrm>
            <a:off x="822960" y="4177710"/>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3945636"/>
            <a:ext cx="6181344" cy="966978"/>
          </a:xfrm>
          <a:prstGeom prst="rect">
            <a:avLst/>
          </a:prstGeom>
          <a:noFill/>
        </p:spPr>
        <p:txBody>
          <a:bodyPr wrap="square" lIns="0" rIns="0" tIns="0" bIns="0" anchor="ctr">
            <a:spAutoFit/>
          </a:bodyPr>
          <a:lstStyle/>
          <a:p>
            <a:pPr algn="l"/>
            <a:r>
              <a:rPr sz="1650" b="0" i="0">
                <a:solidFill>
                  <a:srgbClr val="182028"/>
                </a:solidFill>
                <a:latin typeface="Aptos"/>
              </a:rPr>
              <a:t>Detecting leaked energy does not automatically reveal the message, sender, or intent.</a:t>
            </a:r>
          </a:p>
        </p:txBody>
      </p:sp>
      <p:sp>
        <p:nvSpPr>
          <p:cNvPr id="19" name="Oval 18"/>
          <p:cNvSpPr/>
          <p:nvPr/>
        </p:nvSpPr>
        <p:spPr>
          <a:xfrm>
            <a:off x="822960" y="5272704"/>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 y="5040630"/>
            <a:ext cx="6181344" cy="966978"/>
          </a:xfrm>
          <a:prstGeom prst="rect">
            <a:avLst/>
          </a:prstGeom>
          <a:noFill/>
        </p:spPr>
        <p:txBody>
          <a:bodyPr wrap="square" lIns="0" rIns="0" tIns="0" bIns="0" anchor="ctr">
            <a:spAutoFit/>
          </a:bodyPr>
          <a:lstStyle/>
          <a:p>
            <a:pPr algn="l"/>
            <a:r>
              <a:rPr sz="1650" b="0" i="0">
                <a:solidFill>
                  <a:srgbClr val="182028"/>
                </a:solidFill>
                <a:latin typeface="Aptos"/>
              </a:rPr>
              <a:t>Test containment by comparing measurements before and after one controlled change.</a:t>
            </a:r>
          </a:p>
        </p:txBody>
      </p:sp>
      <p:sp>
        <p:nvSpPr>
          <p:cNvPr id="21" name="Rounded Rectangle 20"/>
          <p:cNvSpPr/>
          <p:nvPr/>
        </p:nvSpPr>
        <p:spPr>
          <a:xfrm>
            <a:off x="7571231" y="1828800"/>
            <a:ext cx="3703320" cy="361188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571231" y="1828800"/>
            <a:ext cx="82296" cy="361188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99831" y="1993392"/>
            <a:ext cx="3291840" cy="329184"/>
          </a:xfrm>
          <a:prstGeom prst="rect">
            <a:avLst/>
          </a:prstGeom>
          <a:noFill/>
        </p:spPr>
        <p:txBody>
          <a:bodyPr wrap="square" lIns="0" rIns="0" tIns="0" bIns="0" anchor="t">
            <a:spAutoFit/>
          </a:bodyPr>
          <a:lstStyle/>
          <a:p>
            <a:pPr algn="l"/>
            <a:r>
              <a:rPr sz="2200" b="1" i="0">
                <a:solidFill>
                  <a:srgbClr val="17324D"/>
                </a:solidFill>
                <a:latin typeface="Aptos"/>
              </a:rPr>
              <a:t>Course boundary</a:t>
            </a:r>
          </a:p>
        </p:txBody>
      </p:sp>
      <p:sp>
        <p:nvSpPr>
          <p:cNvPr id="24" name="TextBox 23"/>
          <p:cNvSpPr txBox="1"/>
          <p:nvPr/>
        </p:nvSpPr>
        <p:spPr>
          <a:xfrm>
            <a:off x="7799831" y="2432304"/>
            <a:ext cx="3291840" cy="2862072"/>
          </a:xfrm>
          <a:prstGeom prst="rect">
            <a:avLst/>
          </a:prstGeom>
          <a:noFill/>
        </p:spPr>
        <p:txBody>
          <a:bodyPr wrap="square" lIns="0" rIns="0" tIns="0" bIns="0" anchor="t">
            <a:spAutoFit/>
          </a:bodyPr>
          <a:lstStyle/>
          <a:p>
            <a:pPr algn="l">
              <a:lnSpc>
                <a:spcPct val="102000"/>
              </a:lnSpc>
            </a:pPr>
            <a:r>
              <a:rPr sz="1700" b="0" i="0">
                <a:solidFill>
                  <a:srgbClr val="182028"/>
                </a:solidFill>
                <a:latin typeface="Aptos"/>
              </a:rPr>
              <a:t>Observe only instructor-approved, lab-owned sources. Keep all experiments low voltage and bench scale.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12</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A FAIR A/B COMPARISON</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700" b="1" i="0">
                <a:solidFill>
                  <a:srgbClr val="17324D"/>
                </a:solidFill>
                <a:latin typeface="Aptos Display"/>
              </a:rPr>
              <a:t>Change one thing to test whether a fix worked</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9808" y="1783080"/>
            <a:ext cx="3520440" cy="3794760"/>
          </a:xfrm>
          <a:prstGeom prst="roundRect">
            <a:avLst/>
          </a:prstGeom>
          <a:solidFill>
            <a:srgbClr val="E3EBF1"/>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9808" y="1783080"/>
            <a:ext cx="82296" cy="3794760"/>
          </a:xfrm>
          <a:prstGeom prst="rect">
            <a:avLst/>
          </a:prstGeom>
          <a:solidFill>
            <a:srgbClr val="173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Baseline</a:t>
            </a:r>
          </a:p>
        </p:txBody>
      </p:sp>
      <p:sp>
        <p:nvSpPr>
          <p:cNvPr id="16" name="TextBox 15"/>
          <p:cNvSpPr txBox="1"/>
          <p:nvPr/>
        </p:nvSpPr>
        <p:spPr>
          <a:xfrm>
            <a:off x="978408"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Measure the source and neighboring line before making a change.</a:t>
            </a:r>
          </a:p>
        </p:txBody>
      </p:sp>
      <p:sp>
        <p:nvSpPr>
          <p:cNvPr id="17" name="Rounded Rectangle 16"/>
          <p:cNvSpPr/>
          <p:nvPr/>
        </p:nvSpPr>
        <p:spPr>
          <a:xfrm>
            <a:off x="4334256" y="1783080"/>
            <a:ext cx="3520440" cy="3794760"/>
          </a:xfrm>
          <a:prstGeom prst="roundRect">
            <a:avLst/>
          </a:prstGeom>
          <a:solidFill>
            <a:srgbClr val="DDECEA"/>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34256" y="1783080"/>
            <a:ext cx="82296" cy="379476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2856"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One change</a:t>
            </a:r>
          </a:p>
        </p:txBody>
      </p:sp>
      <p:sp>
        <p:nvSpPr>
          <p:cNvPr id="20" name="TextBox 19"/>
          <p:cNvSpPr txBox="1"/>
          <p:nvPr/>
        </p:nvSpPr>
        <p:spPr>
          <a:xfrm>
            <a:off x="4562856"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Change only conductor orientation or receiver resistance.</a:t>
            </a:r>
          </a:p>
        </p:txBody>
      </p:sp>
      <p:sp>
        <p:nvSpPr>
          <p:cNvPr id="21" name="Rounded Rectangle 20"/>
          <p:cNvSpPr/>
          <p:nvPr/>
        </p:nvSpPr>
        <p:spPr>
          <a:xfrm>
            <a:off x="7918704" y="1783080"/>
            <a:ext cx="3520440" cy="379476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18704" y="1783080"/>
            <a:ext cx="82296" cy="379476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47304" y="1947672"/>
            <a:ext cx="3108960" cy="329184"/>
          </a:xfrm>
          <a:prstGeom prst="rect">
            <a:avLst/>
          </a:prstGeom>
          <a:noFill/>
        </p:spPr>
        <p:txBody>
          <a:bodyPr wrap="square" lIns="0" rIns="0" tIns="0" bIns="0" anchor="t">
            <a:spAutoFit/>
          </a:bodyPr>
          <a:lstStyle/>
          <a:p>
            <a:pPr algn="l"/>
            <a:r>
              <a:rPr sz="2100" b="1" i="0">
                <a:solidFill>
                  <a:srgbClr val="17324D"/>
                </a:solidFill>
                <a:latin typeface="Aptos"/>
              </a:rPr>
              <a:t>Compare</a:t>
            </a:r>
          </a:p>
        </p:txBody>
      </p:sp>
      <p:sp>
        <p:nvSpPr>
          <p:cNvPr id="24" name="TextBox 23"/>
          <p:cNvSpPr txBox="1"/>
          <p:nvPr/>
        </p:nvSpPr>
        <p:spPr>
          <a:xfrm>
            <a:off x="8147304" y="2386584"/>
            <a:ext cx="3108960" cy="3044952"/>
          </a:xfrm>
          <a:prstGeom prst="rect">
            <a:avLst/>
          </a:prstGeom>
          <a:noFill/>
        </p:spPr>
        <p:txBody>
          <a:bodyPr wrap="square" lIns="0" rIns="0" tIns="0" bIns="0" anchor="t">
            <a:spAutoFit/>
          </a:bodyPr>
          <a:lstStyle/>
          <a:p>
            <a:pPr algn="l">
              <a:lnSpc>
                <a:spcPct val="102000"/>
              </a:lnSpc>
            </a:pPr>
            <a:r>
              <a:rPr sz="1650" b="0" i="0">
                <a:solidFill>
                  <a:srgbClr val="182028"/>
                </a:solidFill>
                <a:latin typeface="Aptos"/>
              </a:rPr>
              <a:t>Report how much the neighboring-line voltage changed and whether the result repeats.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13</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FRIDAY LABORATORY</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700" b="1" i="0">
                <a:solidFill>
                  <a:srgbClr val="17324D"/>
                </a:solidFill>
                <a:latin typeface="Aptos Display"/>
              </a:rPr>
              <a:t>Lab 3: compare useful coupling with crosstalk</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22960" y="1935163"/>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6" y="1755648"/>
            <a:ext cx="6181344" cy="747979"/>
          </a:xfrm>
          <a:prstGeom prst="rect">
            <a:avLst/>
          </a:prstGeom>
          <a:noFill/>
        </p:spPr>
        <p:txBody>
          <a:bodyPr wrap="square" lIns="0" rIns="0" tIns="0" bIns="0" anchor="ctr">
            <a:spAutoFit/>
          </a:bodyPr>
          <a:lstStyle/>
          <a:p>
            <a:pPr algn="l"/>
            <a:r>
              <a:rPr sz="1650" b="0" i="0">
                <a:solidFill>
                  <a:srgbClr val="182028"/>
                </a:solidFill>
                <a:latin typeface="Aptos"/>
              </a:rPr>
              <a:t>Characterize an approved transformer with resistance and AC-voltage measurements.</a:t>
            </a:r>
          </a:p>
        </p:txBody>
      </p:sp>
      <p:sp>
        <p:nvSpPr>
          <p:cNvPr id="15" name="Oval 14"/>
          <p:cNvSpPr/>
          <p:nvPr/>
        </p:nvSpPr>
        <p:spPr>
          <a:xfrm>
            <a:off x="822960" y="2811158"/>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 y="2631643"/>
            <a:ext cx="6181344" cy="747979"/>
          </a:xfrm>
          <a:prstGeom prst="rect">
            <a:avLst/>
          </a:prstGeom>
          <a:noFill/>
        </p:spPr>
        <p:txBody>
          <a:bodyPr wrap="square" lIns="0" rIns="0" tIns="0" bIns="0" anchor="ctr">
            <a:spAutoFit/>
          </a:bodyPr>
          <a:lstStyle/>
          <a:p>
            <a:pPr algn="l"/>
            <a:r>
              <a:rPr sz="1650" b="0" i="0">
                <a:solidFill>
                  <a:srgbClr val="182028"/>
                </a:solidFill>
                <a:latin typeface="Aptos"/>
              </a:rPr>
              <a:t>Drive a source line and observe interference on a quiet neighboring line.</a:t>
            </a:r>
          </a:p>
        </p:txBody>
      </p:sp>
      <p:sp>
        <p:nvSpPr>
          <p:cNvPr id="17" name="Oval 16"/>
          <p:cNvSpPr/>
          <p:nvPr/>
        </p:nvSpPr>
        <p:spPr>
          <a:xfrm>
            <a:off x="822960" y="3687153"/>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6" y="3507638"/>
            <a:ext cx="6181344" cy="747979"/>
          </a:xfrm>
          <a:prstGeom prst="rect">
            <a:avLst/>
          </a:prstGeom>
          <a:noFill/>
        </p:spPr>
        <p:txBody>
          <a:bodyPr wrap="square" lIns="0" rIns="0" tIns="0" bIns="0" anchor="ctr">
            <a:spAutoFit/>
          </a:bodyPr>
          <a:lstStyle/>
          <a:p>
            <a:pPr algn="l"/>
            <a:r>
              <a:rPr sz="1650" b="0" i="0">
                <a:solidFill>
                  <a:srgbClr val="182028"/>
                </a:solidFill>
                <a:latin typeface="Aptos"/>
              </a:rPr>
              <a:t>Use a source-off control to verify that the observed pattern follows the source.</a:t>
            </a:r>
          </a:p>
        </p:txBody>
      </p:sp>
      <p:sp>
        <p:nvSpPr>
          <p:cNvPr id="19" name="Oval 18"/>
          <p:cNvSpPr/>
          <p:nvPr/>
        </p:nvSpPr>
        <p:spPr>
          <a:xfrm>
            <a:off x="822960" y="4563148"/>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6" y="4383633"/>
            <a:ext cx="6181344" cy="747979"/>
          </a:xfrm>
          <a:prstGeom prst="rect">
            <a:avLst/>
          </a:prstGeom>
          <a:noFill/>
        </p:spPr>
        <p:txBody>
          <a:bodyPr wrap="square" lIns="0" rIns="0" tIns="0" bIns="0" anchor="ctr">
            <a:spAutoFit/>
          </a:bodyPr>
          <a:lstStyle/>
          <a:p>
            <a:pPr algn="l"/>
            <a:r>
              <a:rPr sz="1650" b="0" i="0">
                <a:solidFill>
                  <a:srgbClr val="182028"/>
                </a:solidFill>
                <a:latin typeface="Aptos"/>
              </a:rPr>
              <a:t>Compare parallel and 90-degree wire placement with fixed scope settings.</a:t>
            </a:r>
          </a:p>
        </p:txBody>
      </p:sp>
      <p:sp>
        <p:nvSpPr>
          <p:cNvPr id="21" name="Oval 20"/>
          <p:cNvSpPr/>
          <p:nvPr/>
        </p:nvSpPr>
        <p:spPr>
          <a:xfrm>
            <a:off x="822960" y="5439143"/>
            <a:ext cx="100584" cy="100584"/>
          </a:xfrm>
          <a:prstGeom prst="ellipse">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2416" y="5259628"/>
            <a:ext cx="6181344" cy="747979"/>
          </a:xfrm>
          <a:prstGeom prst="rect">
            <a:avLst/>
          </a:prstGeom>
          <a:noFill/>
        </p:spPr>
        <p:txBody>
          <a:bodyPr wrap="square" lIns="0" rIns="0" tIns="0" bIns="0" anchor="ctr">
            <a:spAutoFit/>
          </a:bodyPr>
          <a:lstStyle/>
          <a:p>
            <a:pPr algn="l"/>
            <a:r>
              <a:rPr sz="1650" b="0" i="0">
                <a:solidFill>
                  <a:srgbClr val="182028"/>
                </a:solidFill>
                <a:latin typeface="Aptos"/>
              </a:rPr>
              <a:t>Change only receiver resistance and measure the crosstalk reduction.</a:t>
            </a:r>
          </a:p>
        </p:txBody>
      </p:sp>
      <p:sp>
        <p:nvSpPr>
          <p:cNvPr id="23" name="Rounded Rectangle 22"/>
          <p:cNvSpPr/>
          <p:nvPr/>
        </p:nvSpPr>
        <p:spPr>
          <a:xfrm>
            <a:off x="7571231" y="1828800"/>
            <a:ext cx="3703320" cy="3611880"/>
          </a:xfrm>
          <a:prstGeom prst="roundRect">
            <a:avLst/>
          </a:prstGeom>
          <a:solidFill>
            <a:srgbClr val="F4E3D8"/>
          </a:solidFill>
          <a:ln w="10160">
            <a:solidFill>
              <a:srgbClr val="CCD1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571231" y="1828800"/>
            <a:ext cx="82296" cy="3611880"/>
          </a:xfrm>
          <a:prstGeom prst="rect">
            <a:avLst/>
          </a:prstGeom>
          <a:solidFill>
            <a:srgbClr val="D96F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99831" y="1993392"/>
            <a:ext cx="3291840" cy="329184"/>
          </a:xfrm>
          <a:prstGeom prst="rect">
            <a:avLst/>
          </a:prstGeom>
          <a:noFill/>
        </p:spPr>
        <p:txBody>
          <a:bodyPr wrap="square" lIns="0" rIns="0" tIns="0" bIns="0" anchor="t">
            <a:spAutoFit/>
          </a:bodyPr>
          <a:lstStyle/>
          <a:p>
            <a:pPr algn="l"/>
            <a:r>
              <a:rPr sz="2200" b="1" i="0">
                <a:solidFill>
                  <a:srgbClr val="17324D"/>
                </a:solidFill>
                <a:latin typeface="Aptos"/>
              </a:rPr>
              <a:t>Before release</a:t>
            </a:r>
          </a:p>
        </p:txBody>
      </p:sp>
      <p:sp>
        <p:nvSpPr>
          <p:cNvPr id="26" name="TextBox 25"/>
          <p:cNvSpPr txBox="1"/>
          <p:nvPr/>
        </p:nvSpPr>
        <p:spPr>
          <a:xfrm>
            <a:off x="7799831" y="2432304"/>
            <a:ext cx="3291840" cy="2862072"/>
          </a:xfrm>
          <a:prstGeom prst="rect">
            <a:avLst/>
          </a:prstGeom>
          <a:noFill/>
        </p:spPr>
        <p:txBody>
          <a:bodyPr wrap="square" lIns="0" rIns="0" tIns="0" bIns="0" anchor="t">
            <a:spAutoFit/>
          </a:bodyPr>
          <a:lstStyle/>
          <a:p>
            <a:pPr algn="l">
              <a:lnSpc>
                <a:spcPct val="102000"/>
              </a:lnSpc>
            </a:pPr>
            <a:r>
              <a:rPr sz="1700" b="0" i="0">
                <a:solidFill>
                  <a:srgbClr val="182028"/>
                </a:solidFill>
                <a:latin typeface="Aptos"/>
              </a:rPr>
              <a:t>Bench-test the transformer, DMM response, wire layout, resistor values, and signal levels at every station.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698480" y="384048"/>
            <a:ext cx="960120"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698480" y="521207"/>
            <a:ext cx="850392"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698480" y="658368"/>
            <a:ext cx="740664"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698480" y="795527"/>
            <a:ext cx="630936"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698480" y="932688"/>
            <a:ext cx="521208" cy="0"/>
          </a:xfrm>
          <a:prstGeom prst="line">
            <a:avLst/>
          </a:prstGeom>
          <a:ln w="8890">
            <a:solidFill>
              <a:srgbClr val="CCD1D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473952"/>
            <a:ext cx="5029200" cy="182880"/>
          </a:xfrm>
          <a:prstGeom prst="rect">
            <a:avLst/>
          </a:prstGeom>
          <a:noFill/>
        </p:spPr>
        <p:txBody>
          <a:bodyPr wrap="square" lIns="0" rIns="0" tIns="0" bIns="0" anchor="t">
            <a:spAutoFit/>
          </a:bodyPr>
          <a:lstStyle/>
          <a:p>
            <a:pPr algn="l"/>
            <a:r>
              <a:rPr sz="850" b="1" i="0">
                <a:solidFill>
                  <a:srgbClr val="5F6B73"/>
                </a:solidFill>
                <a:latin typeface="Aptos"/>
              </a:rPr>
              <a:t>LECTURE 07 | EMI + CONTAINMENT</a:t>
            </a:r>
          </a:p>
        </p:txBody>
      </p:sp>
      <p:sp>
        <p:nvSpPr>
          <p:cNvPr id="9" name="TextBox 8"/>
          <p:cNvSpPr txBox="1"/>
          <p:nvPr/>
        </p:nvSpPr>
        <p:spPr>
          <a:xfrm>
            <a:off x="11018520" y="6419088"/>
            <a:ext cx="594360" cy="228600"/>
          </a:xfrm>
          <a:prstGeom prst="rect">
            <a:avLst/>
          </a:prstGeom>
          <a:noFill/>
        </p:spPr>
        <p:txBody>
          <a:bodyPr wrap="square" lIns="0" rIns="0" tIns="0" bIns="0" anchor="t">
            <a:spAutoFit/>
          </a:bodyPr>
          <a:lstStyle/>
          <a:p>
            <a:pPr algn="r"/>
            <a:r>
              <a:rPr sz="1000" b="1" i="0">
                <a:solidFill>
                  <a:srgbClr val="5F6B73"/>
                </a:solidFill>
                <a:latin typeface="Aptos"/>
              </a:rPr>
              <a:t>14</a:t>
            </a:r>
          </a:p>
        </p:txBody>
      </p:sp>
      <p:sp>
        <p:nvSpPr>
          <p:cNvPr id="10" name="TextBox 9"/>
          <p:cNvSpPr txBox="1"/>
          <p:nvPr/>
        </p:nvSpPr>
        <p:spPr>
          <a:xfrm>
            <a:off x="621792" y="384048"/>
            <a:ext cx="10881360" cy="292608"/>
          </a:xfrm>
          <a:prstGeom prst="rect">
            <a:avLst/>
          </a:prstGeom>
          <a:noFill/>
        </p:spPr>
        <p:txBody>
          <a:bodyPr wrap="square" lIns="0" rIns="0" tIns="0" bIns="0" anchor="t">
            <a:spAutoFit/>
          </a:bodyPr>
          <a:lstStyle/>
          <a:p>
            <a:pPr algn="l"/>
            <a:r>
              <a:rPr sz="1050" b="1" i="0">
                <a:solidFill>
                  <a:srgbClr val="0F6D74"/>
                </a:solidFill>
                <a:latin typeface="Aptos"/>
              </a:rPr>
              <a:t>WEEK 3 SYNTHESIS</a:t>
            </a:r>
          </a:p>
        </p:txBody>
      </p:sp>
      <p:sp>
        <p:nvSpPr>
          <p:cNvPr id="11" name="TextBox 10"/>
          <p:cNvSpPr txBox="1"/>
          <p:nvPr/>
        </p:nvSpPr>
        <p:spPr>
          <a:xfrm>
            <a:off x="594360" y="749808"/>
            <a:ext cx="10881360" cy="685800"/>
          </a:xfrm>
          <a:prstGeom prst="rect">
            <a:avLst/>
          </a:prstGeom>
          <a:noFill/>
        </p:spPr>
        <p:txBody>
          <a:bodyPr wrap="square" lIns="0" rIns="0" tIns="0" bIns="0" anchor="t">
            <a:spAutoFit/>
          </a:bodyPr>
          <a:lstStyle/>
          <a:p>
            <a:pPr algn="l"/>
            <a:r>
              <a:rPr sz="2900" b="1" i="0">
                <a:solidFill>
                  <a:srgbClr val="17324D"/>
                </a:solidFill>
                <a:latin typeface="Aptos Display"/>
              </a:rPr>
              <a:t>Exit check</a:t>
            </a:r>
          </a:p>
        </p:txBody>
      </p:sp>
      <p:cxnSp>
        <p:nvCxnSpPr>
          <p:cNvPr id="12" name="Connector 11"/>
          <p:cNvCxnSpPr/>
          <p:nvPr/>
        </p:nvCxnSpPr>
        <p:spPr>
          <a:xfrm>
            <a:off x="612648" y="1444752"/>
            <a:ext cx="1143000" cy="0"/>
          </a:xfrm>
          <a:prstGeom prst="line">
            <a:avLst/>
          </a:prstGeom>
          <a:ln w="38100">
            <a:solidFill>
              <a:srgbClr val="D96F3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8680" y="1828800"/>
            <a:ext cx="10469880" cy="1417320"/>
          </a:xfrm>
          <a:prstGeom prst="rect">
            <a:avLst/>
          </a:prstGeom>
          <a:noFill/>
        </p:spPr>
        <p:txBody>
          <a:bodyPr wrap="square" lIns="0" rIns="0" tIns="0" bIns="0" anchor="ctr">
            <a:spAutoFit/>
          </a:bodyPr>
          <a:lstStyle/>
          <a:p>
            <a:pPr algn="ctr"/>
            <a:r>
              <a:rPr sz="3000" b="1" i="0">
                <a:solidFill>
                  <a:srgbClr val="17324D"/>
                </a:solidFill>
                <a:latin typeface="Aptos Display"/>
              </a:rPr>
              <a:t>A quiet neighboring line shows a smaller unwanted signal after it is turned 90 degrees. What claim is supported?</a:t>
            </a:r>
          </a:p>
        </p:txBody>
      </p:sp>
      <p:sp>
        <p:nvSpPr>
          <p:cNvPr id="14" name="TextBox 13"/>
          <p:cNvSpPr txBox="1"/>
          <p:nvPr/>
        </p:nvSpPr>
        <p:spPr>
          <a:xfrm>
            <a:off x="1828800" y="3520440"/>
            <a:ext cx="8503920" cy="822960"/>
          </a:xfrm>
          <a:prstGeom prst="rect">
            <a:avLst/>
          </a:prstGeom>
          <a:noFill/>
        </p:spPr>
        <p:txBody>
          <a:bodyPr wrap="square" lIns="0" rIns="0" tIns="0" bIns="0" anchor="ctr">
            <a:spAutoFit/>
          </a:bodyPr>
          <a:lstStyle/>
          <a:p>
            <a:pPr algn="ctr"/>
            <a:r>
              <a:rPr sz="1800" b="0" i="0">
                <a:solidFill>
                  <a:srgbClr val="5F6B73"/>
                </a:solidFill>
                <a:latin typeface="Aptos"/>
              </a:rPr>
              <a:t>Name one controlled variable and one additional test needed before generalizing.</a:t>
            </a:r>
          </a:p>
        </p:txBody>
      </p:sp>
      <p:sp>
        <p:nvSpPr>
          <p:cNvPr id="15" name="Rounded Rectangle 14"/>
          <p:cNvSpPr/>
          <p:nvPr/>
        </p:nvSpPr>
        <p:spPr>
          <a:xfrm>
            <a:off x="3657600" y="4892040"/>
            <a:ext cx="4846320" cy="420624"/>
          </a:xfrm>
          <a:prstGeom prst="roundRect">
            <a:avLst/>
          </a:prstGeom>
          <a:solidFill>
            <a:srgbClr val="0F6D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0" y="4892040"/>
            <a:ext cx="4846320" cy="420624"/>
          </a:xfrm>
          <a:prstGeom prst="rect">
            <a:avLst/>
          </a:prstGeom>
          <a:noFill/>
        </p:spPr>
        <p:txBody>
          <a:bodyPr wrap="square" lIns="18288" rIns="18288" tIns="18288" bIns="18288" anchor="ctr">
            <a:spAutoFit/>
          </a:bodyPr>
          <a:lstStyle/>
          <a:p>
            <a:pPr algn="ctr"/>
            <a:r>
              <a:rPr sz="1150" b="1" i="0">
                <a:solidFill>
                  <a:srgbClr val="FFFFFF"/>
                </a:solidFill>
                <a:latin typeface="Aptos"/>
              </a:rPr>
              <a:t>NEXT: CAPACITANCE + IMPEDANCE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