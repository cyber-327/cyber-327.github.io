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6" r:id="rId5"/>
    <p:sldId id="259" r:id="rId6"/>
    <p:sldId id="260" r:id="rId7"/>
    <p:sldId id="264" r:id="rId8"/>
    <p:sldId id="269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8452" autoAdjust="0"/>
  </p:normalViewPr>
  <p:slideViewPr>
    <p:cSldViewPr snapToGrid="0" snapToObjects="1">
      <p:cViewPr varScale="1">
        <p:scale>
          <a:sx n="62" d="100"/>
          <a:sy n="62" d="100"/>
        </p:scale>
        <p:origin x="1382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3263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plain language first, then name the technical term. Keep the lesson tied to measurements students can make in Lab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Image: https://www.solomotorcontrollers.com/blog/electromagnetic-interference-emi/</a:t>
            </a: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Images:</a:t>
            </a:r>
          </a:p>
          <a:p>
            <a:r>
              <a:rPr lang="en-US" dirty="0"/>
              <a:t>https://www.history.navy.mil/content/history/nhhc/our-collections/photography/numerical-list-of-images/nhhc-series/nh-series/USN-1126000/USN-1126644.html</a:t>
            </a:r>
          </a:p>
          <a:p>
            <a:r>
              <a:rPr lang="en-US" dirty="0"/>
              <a:t>https://texashistory.unt.edu/ark:/67531/metapth769466/m1/1/</a:t>
            </a:r>
          </a:p>
          <a:p>
            <a:r>
              <a:rPr lang="en-US" dirty="0"/>
              <a:t>https://www.mdpi.com/1996-1073/11/9/2255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Images:</a:t>
            </a:r>
          </a:p>
          <a:p>
            <a:endParaRPr lang="en-US" dirty="0"/>
          </a:p>
          <a:p>
            <a:r>
              <a:rPr lang="en-US" dirty="0"/>
              <a:t>https://www.spatialintelligence.ai/p/your-wifi-can-see-you-heres-how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Near field: adjusting TV antenna, coming near a radio</a:t>
            </a:r>
          </a:p>
          <a:p>
            <a:r>
              <a:rPr lang="en-US" dirty="0"/>
              <a:t>Far Field: Jamming</a:t>
            </a:r>
          </a:p>
          <a:p>
            <a:endParaRPr lang="en-US" dirty="0"/>
          </a:p>
          <a:p>
            <a:r>
              <a:rPr lang="en-US" dirty="0"/>
              <a:t>Image</a:t>
            </a:r>
          </a:p>
          <a:p>
            <a:r>
              <a:rPr lang="en-US" dirty="0"/>
              <a:t>https://en.wikipedia.org/wiki/Near_and_far_field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Images</a:t>
            </a:r>
          </a:p>
          <a:p>
            <a:endParaRPr lang="en-US" dirty="0"/>
          </a:p>
          <a:p>
            <a:r>
              <a:rPr lang="en-US" dirty="0"/>
              <a:t>https://www.wirecablemakingmachine.com/news/shielded-vs-unshielded-network-cable-which-should-you-use.html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Images</a:t>
            </a:r>
          </a:p>
          <a:p>
            <a:r>
              <a:rPr lang="en-US" dirty="0"/>
              <a:t>https://en.wikipedia.org/wiki/Ferrite_bead</a:t>
            </a:r>
          </a:p>
          <a:p>
            <a:r>
              <a:rPr lang="en-US" dirty="0"/>
              <a:t>https://www.harwin.com/blog/emc-emi-shielding-explained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Supported: the 90-degree placement reduced measured crosstalk in this setup. Control source, resistance, and scope settings; repeat across frequency, spacing, or wire length before generalizing.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9EB0BC"/>
                </a:solidFill>
                <a:latin typeface="Aptos"/>
              </a:rPr>
              <a:t>LECTURE 07 | EMI + CONTAINMENT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9EB0BC"/>
                </a:solidFill>
                <a:latin typeface="Apto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5836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62C6C8"/>
                </a:solidFill>
                <a:latin typeface="Aptos"/>
              </a:rPr>
              <a:t>CYBER 327  /  LECTURE 07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152144"/>
            <a:ext cx="1371600" cy="0"/>
          </a:xfrm>
          <a:prstGeom prst="line">
            <a:avLst/>
          </a:prstGeom>
          <a:ln w="508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13232" y="1481328"/>
            <a:ext cx="996696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ptos Display"/>
              </a:rPr>
              <a:t>EMI, Near-Field Leakage, and Signal Containment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182112"/>
            <a:ext cx="89611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>
                <a:solidFill>
                  <a:srgbClr val="D6E1E7"/>
                </a:solidFill>
                <a:latin typeface="Aptos"/>
              </a:rPr>
              <a:t>Find where unwanted energy starts, how it travels, and whether the fix works.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5230368"/>
            <a:ext cx="1965960" cy="420624"/>
          </a:xfrm>
          <a:prstGeom prst="round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5230368"/>
            <a:ext cx="1965960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ptos"/>
              </a:rPr>
              <a:t>SEP 18,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71216" y="5230368"/>
            <a:ext cx="2377440" cy="420624"/>
          </a:xfrm>
          <a:prstGeom prst="roundRect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7086600" y="4574286"/>
            <a:ext cx="346710" cy="220827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433310" y="4679899"/>
            <a:ext cx="346710" cy="115214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80020" y="4679899"/>
            <a:ext cx="346710" cy="566471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8126730" y="4929530"/>
            <a:ext cx="346710" cy="316840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473440" y="4929530"/>
            <a:ext cx="346710" cy="480060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8820150" y="4766310"/>
            <a:ext cx="346710" cy="643280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166860" y="4766310"/>
            <a:ext cx="346710" cy="316839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9513570" y="4641494"/>
            <a:ext cx="346710" cy="441655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860280" y="4641494"/>
            <a:ext cx="346710" cy="518465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0206990" y="4871923"/>
            <a:ext cx="346710" cy="288036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553700" y="4871923"/>
            <a:ext cx="346710" cy="460857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0900410" y="4699101"/>
            <a:ext cx="346710" cy="633679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ounded Rectangle 20">
            <a:extLst>
              <a:ext uri="{FF2B5EF4-FFF2-40B4-BE49-F238E27FC236}">
                <a16:creationId xmlns:a16="http://schemas.microsoft.com/office/drawing/2014/main" id="{8C715CFA-43A1-1DD6-F75F-44E5DC846F5A}"/>
              </a:ext>
            </a:extLst>
          </p:cNvPr>
          <p:cNvSpPr/>
          <p:nvPr/>
        </p:nvSpPr>
        <p:spPr>
          <a:xfrm>
            <a:off x="4114207" y="3285487"/>
            <a:ext cx="3542157" cy="2971801"/>
          </a:xfrm>
          <a:prstGeom prst="roundRect">
            <a:avLst/>
          </a:prstGeom>
          <a:solidFill>
            <a:srgbClr val="F4E3D8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07 | EMI + CONTAINMENT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A SIMPLE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7324D"/>
                </a:solidFill>
                <a:latin typeface="Aptos Display"/>
              </a:rPr>
              <a:t>Electromagnetic Interference (EMI)</a:t>
            </a:r>
            <a:endParaRPr sz="29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085975" y="2057400"/>
            <a:ext cx="2617470" cy="841248"/>
          </a:xfrm>
          <a:prstGeom prst="round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085975" y="2057400"/>
            <a:ext cx="2617470" cy="8412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250" b="1" i="0" dirty="0">
                <a:solidFill>
                  <a:srgbClr val="FFFFFF"/>
                </a:solidFill>
                <a:latin typeface="Aptos"/>
              </a:rPr>
              <a:t>SOURCE</a:t>
            </a:r>
          </a:p>
        </p:txBody>
      </p:sp>
      <p:sp>
        <p:nvSpPr>
          <p:cNvPr id="15" name="Chevron 14"/>
          <p:cNvSpPr/>
          <p:nvPr/>
        </p:nvSpPr>
        <p:spPr>
          <a:xfrm>
            <a:off x="4721733" y="2359152"/>
            <a:ext cx="100584" cy="228600"/>
          </a:xfrm>
          <a:prstGeom prst="chevron">
            <a:avLst/>
          </a:prstGeom>
          <a:solidFill>
            <a:srgbClr val="5F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840605" y="2057400"/>
            <a:ext cx="2617470" cy="841248"/>
          </a:xfrm>
          <a:prstGeom prst="roundRect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40605" y="2057400"/>
            <a:ext cx="2617470" cy="8412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Aptos"/>
              </a:rPr>
              <a:t>PATH</a:t>
            </a:r>
          </a:p>
        </p:txBody>
      </p:sp>
      <p:sp>
        <p:nvSpPr>
          <p:cNvPr id="18" name="Chevron 17"/>
          <p:cNvSpPr/>
          <p:nvPr/>
        </p:nvSpPr>
        <p:spPr>
          <a:xfrm>
            <a:off x="7476363" y="2359152"/>
            <a:ext cx="100584" cy="228600"/>
          </a:xfrm>
          <a:prstGeom prst="chevron">
            <a:avLst/>
          </a:prstGeom>
          <a:solidFill>
            <a:srgbClr val="5F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595235" y="2057400"/>
            <a:ext cx="2617470" cy="841248"/>
          </a:xfrm>
          <a:prstGeom prst="round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95235" y="2057400"/>
            <a:ext cx="2617470" cy="8412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Aptos"/>
              </a:rPr>
              <a:t>AFFECTED CIRCUIT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3681221"/>
            <a:ext cx="3230120" cy="15388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2000" b="0" i="0" dirty="0">
                <a:solidFill>
                  <a:srgbClr val="182028"/>
                </a:solidFill>
                <a:latin typeface="Aptos"/>
              </a:rPr>
              <a:t>The source creates unwanted electrical energy.</a:t>
            </a:r>
            <a:endParaRPr lang="en-US" sz="2000" b="0" i="0" dirty="0">
              <a:solidFill>
                <a:srgbClr val="182028"/>
              </a:solidFill>
              <a:latin typeface="Apto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82028"/>
                </a:solidFill>
                <a:latin typeface="Aptos"/>
              </a:rPr>
              <a:t>The path carries that energy into another circuit.</a:t>
            </a:r>
            <a:endParaRPr sz="2000" b="0" i="0" dirty="0">
              <a:solidFill>
                <a:srgbClr val="182028"/>
              </a:solidFill>
              <a:latin typeface="Apto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0EAB32F-8600-EA62-CD14-8D9941BFF113}"/>
              </a:ext>
            </a:extLst>
          </p:cNvPr>
          <p:cNvSpPr txBox="1"/>
          <p:nvPr/>
        </p:nvSpPr>
        <p:spPr>
          <a:xfrm>
            <a:off x="4455415" y="4150356"/>
            <a:ext cx="3423285" cy="13406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82028"/>
                </a:solidFill>
                <a:latin typeface="Aptos"/>
              </a:rPr>
              <a:t>Confidentiality</a:t>
            </a:r>
            <a:r>
              <a:rPr lang="en-US" sz="2000" dirty="0">
                <a:solidFill>
                  <a:srgbClr val="182028"/>
                </a:solidFill>
                <a:latin typeface="Aptos"/>
              </a:rPr>
              <a:t> - Leaks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182028"/>
                </a:solidFill>
                <a:latin typeface="Aptos"/>
              </a:rPr>
              <a:t>Integrity</a:t>
            </a:r>
            <a:r>
              <a:rPr lang="en-US" sz="2000" b="0" i="0" dirty="0">
                <a:solidFill>
                  <a:srgbClr val="182028"/>
                </a:solidFill>
                <a:latin typeface="Aptos"/>
              </a:rPr>
              <a:t> - Corruption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82028"/>
                </a:solidFill>
                <a:latin typeface="Aptos"/>
              </a:rPr>
              <a:t>Availability</a:t>
            </a:r>
            <a:r>
              <a:rPr lang="en-US" sz="2000" dirty="0">
                <a:solidFill>
                  <a:srgbClr val="182028"/>
                </a:solidFill>
                <a:latin typeface="Aptos"/>
              </a:rPr>
              <a:t> - Disruption </a:t>
            </a:r>
            <a:endParaRPr sz="2000" b="0" i="0" dirty="0">
              <a:solidFill>
                <a:srgbClr val="182028"/>
              </a:solidFill>
              <a:latin typeface="Apto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B719319-927E-EEED-C9BB-6F812EA89BBA}"/>
              </a:ext>
            </a:extLst>
          </p:cNvPr>
          <p:cNvSpPr txBox="1"/>
          <p:nvPr/>
        </p:nvSpPr>
        <p:spPr>
          <a:xfrm>
            <a:off x="5193832" y="3704080"/>
            <a:ext cx="1770468" cy="44627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7324D"/>
                </a:solidFill>
                <a:latin typeface="Aptos Display"/>
              </a:rPr>
              <a:t>CIA Triad</a:t>
            </a:r>
            <a:endParaRPr sz="2900" b="1" i="0" dirty="0">
              <a:solidFill>
                <a:srgbClr val="17324D"/>
              </a:solidFill>
              <a:latin typeface="Aptos Display"/>
            </a:endParaRPr>
          </a:p>
        </p:txBody>
      </p:sp>
      <p:pic>
        <p:nvPicPr>
          <p:cNvPr id="34" name="Picture 33" descr="Diagram of electromagnetic interference showing radiative, inductive, capacitive, and conductive coupling between a source and a victim device.">
            <a:extLst>
              <a:ext uri="{FF2B5EF4-FFF2-40B4-BE49-F238E27FC236}">
                <a16:creationId xmlns:a16="http://schemas.microsoft.com/office/drawing/2014/main" id="{CC88E87F-06A9-2990-97D9-AADB1A80D7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4095" y="3163225"/>
            <a:ext cx="4307927" cy="31004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07 | EMI + CONTAINMENT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COUPLING PATHS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dirty="0">
                <a:solidFill>
                  <a:srgbClr val="17324D"/>
                </a:solidFill>
                <a:latin typeface="Aptos Display"/>
              </a:rPr>
              <a:t>Unwanted energy can travel in </a:t>
            </a:r>
            <a:r>
              <a:rPr lang="en-US" sz="2700" b="1" dirty="0">
                <a:solidFill>
                  <a:srgbClr val="17324D"/>
                </a:solidFill>
                <a:latin typeface="Aptos Display"/>
              </a:rPr>
              <a:t>four</a:t>
            </a:r>
            <a:r>
              <a:rPr sz="2700" b="1" i="0" dirty="0">
                <a:solidFill>
                  <a:srgbClr val="17324D"/>
                </a:solidFill>
                <a:latin typeface="Aptos Display"/>
              </a:rPr>
              <a:t> main ways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9808" y="4525543"/>
            <a:ext cx="3520440" cy="1510337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 flipH="1">
            <a:off x="729524" y="4525543"/>
            <a:ext cx="66003" cy="1510337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78408" y="4686300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100" b="1" i="0" dirty="0">
                <a:solidFill>
                  <a:srgbClr val="17324D"/>
                </a:solidFill>
                <a:latin typeface="Aptos"/>
              </a:rPr>
              <a:t>Through wires</a:t>
            </a:r>
            <a:endParaRPr sz="2100" b="1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78408" y="5125212"/>
            <a:ext cx="3108960" cy="3044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650" b="0" i="0" dirty="0">
                <a:solidFill>
                  <a:srgbClr val="182028"/>
                </a:solidFill>
                <a:latin typeface="Aptos"/>
              </a:rPr>
              <a:t>Conducted coupling uses shared wires, grounds, or power supplies.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256" y="4525543"/>
            <a:ext cx="3520440" cy="1510337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 flipH="1">
            <a:off x="4313972" y="4525543"/>
            <a:ext cx="66003" cy="1510337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62856" y="4686300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100" b="1" i="0" dirty="0">
                <a:solidFill>
                  <a:srgbClr val="17324D"/>
                </a:solidFill>
                <a:latin typeface="Aptos"/>
              </a:rPr>
              <a:t>Across an electric field</a:t>
            </a:r>
            <a:endParaRPr sz="2100" b="1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62856" y="5125212"/>
            <a:ext cx="3108960" cy="3044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650" b="0" i="0">
                <a:solidFill>
                  <a:srgbClr val="182028"/>
                </a:solidFill>
                <a:latin typeface="Aptos"/>
              </a:rPr>
              <a:t>Capacitive coupling occurs when a changing voltage affects a nearby conductor.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18704" y="4525543"/>
            <a:ext cx="3520440" cy="1510337"/>
          </a:xfrm>
          <a:prstGeom prst="roundRect">
            <a:avLst/>
          </a:prstGeom>
          <a:solidFill>
            <a:srgbClr val="F4E3D8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 flipH="1">
            <a:off x="7898420" y="4525543"/>
            <a:ext cx="66003" cy="1510337"/>
          </a:xfrm>
          <a:prstGeom prst="rect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47304" y="4686300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dirty="0">
                <a:solidFill>
                  <a:srgbClr val="17324D"/>
                </a:solidFill>
                <a:latin typeface="Aptos"/>
              </a:rPr>
              <a:t>Across a magnetic field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47304" y="5125212"/>
            <a:ext cx="3108960" cy="3044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650" b="0" i="0">
                <a:solidFill>
                  <a:srgbClr val="182028"/>
                </a:solidFill>
                <a:latin typeface="Aptos"/>
              </a:rPr>
              <a:t>Inductive coupling occurs when a changing current produces voltage in a nearby loop.</a:t>
            </a:r>
          </a:p>
        </p:txBody>
      </p:sp>
      <p:pic>
        <p:nvPicPr>
          <p:cNvPr id="25" name="Picture 24" descr="USN 1126644 USS FORRESTAL (CVA-59) fire, 1967">
            <a:extLst>
              <a:ext uri="{FF2B5EF4-FFF2-40B4-BE49-F238E27FC236}">
                <a16:creationId xmlns:a16="http://schemas.microsoft.com/office/drawing/2014/main" id="{D44453F1-C553-6B1C-4CBB-994CFE1577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" y="1627021"/>
            <a:ext cx="3108960" cy="2460450"/>
          </a:xfrm>
          <a:prstGeom prst="rect">
            <a:avLst/>
          </a:prstGeom>
        </p:spPr>
      </p:pic>
      <p:pic>
        <p:nvPicPr>
          <p:cNvPr id="29" name="Picture 28" descr="https://texashistory.unt.edu/ark:/67531/metapth769466/m1/1/med_res/">
            <a:extLst>
              <a:ext uri="{FF2B5EF4-FFF2-40B4-BE49-F238E27FC236}">
                <a16:creationId xmlns:a16="http://schemas.microsoft.com/office/drawing/2014/main" id="{C525F118-0C88-6CD2-BC03-03BEC06489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1050" y="1273961"/>
            <a:ext cx="2313117" cy="3251582"/>
          </a:xfrm>
          <a:prstGeom prst="rect">
            <a:avLst/>
          </a:prstGeom>
        </p:spPr>
      </p:pic>
      <p:pic>
        <p:nvPicPr>
          <p:cNvPr id="30" name="Picture 29" descr="Effects and Characteristics of AC Interference on Parallel Underground  Pipelines Caused by an AC Electrified Railway">
            <a:extLst>
              <a:ext uri="{FF2B5EF4-FFF2-40B4-BE49-F238E27FC236}">
                <a16:creationId xmlns:a16="http://schemas.microsoft.com/office/drawing/2014/main" id="{84A167D7-7C90-06F6-45E0-4B25E86B07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3960" y="2141170"/>
            <a:ext cx="3729927" cy="1553006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4CF99C3-7808-10EE-F176-13FE15AA7A44}"/>
              </a:ext>
            </a:extLst>
          </p:cNvPr>
          <p:cNvSpPr txBox="1"/>
          <p:nvPr/>
        </p:nvSpPr>
        <p:spPr>
          <a:xfrm>
            <a:off x="621792" y="4192524"/>
            <a:ext cx="1779764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1" i="0" dirty="0">
                <a:solidFill>
                  <a:srgbClr val="0F6D74"/>
                </a:solidFill>
                <a:latin typeface="Aptos"/>
              </a:rPr>
              <a:t>USS FORRESTAL FIRE (1967)</a:t>
            </a:r>
            <a:endParaRPr sz="1050" b="1" i="0" dirty="0">
              <a:solidFill>
                <a:srgbClr val="0F6D7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07 | EMI + CONTAINMENT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CYBERSECURITY CONNECTION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dirty="0">
                <a:solidFill>
                  <a:srgbClr val="17324D"/>
                </a:solidFill>
                <a:latin typeface="Aptos Display"/>
              </a:rPr>
              <a:t>Coupling can interfere with signals or reveal activity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42416" y="1796355"/>
            <a:ext cx="4486986" cy="17774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 i="0" dirty="0">
                <a:solidFill>
                  <a:srgbClr val="182028"/>
                </a:solidFill>
                <a:latin typeface="Aptos"/>
              </a:rPr>
              <a:t>Unwanted energy entering a signal path can distort the signal and make receiver errors more likely.</a:t>
            </a:r>
            <a:endParaRPr lang="en-US" sz="1650" b="0" i="0" dirty="0">
              <a:solidFill>
                <a:srgbClr val="182028"/>
              </a:solidFill>
              <a:latin typeface="Aptos"/>
            </a:endParaRPr>
          </a:p>
          <a:p>
            <a:r>
              <a:rPr lang="en-US" sz="1650" dirty="0">
                <a:solidFill>
                  <a:srgbClr val="182028"/>
                </a:solidFill>
                <a:latin typeface="Aptos"/>
              </a:rPr>
              <a:t>Energy leaking out can reveal that a device is active, when it operates, and the frequency or pattern it uses.</a:t>
            </a:r>
          </a:p>
          <a:p>
            <a:pPr algn="l"/>
            <a:endParaRPr sz="1650" b="0" i="0" dirty="0">
              <a:solidFill>
                <a:srgbClr val="182028"/>
              </a:solidFill>
              <a:latin typeface="Aptos"/>
            </a:endParaRPr>
          </a:p>
        </p:txBody>
      </p:sp>
      <p:sp>
        <p:nvSpPr>
          <p:cNvPr id="27" name="Rounded Rectangle 12">
            <a:extLst>
              <a:ext uri="{FF2B5EF4-FFF2-40B4-BE49-F238E27FC236}">
                <a16:creationId xmlns:a16="http://schemas.microsoft.com/office/drawing/2014/main" id="{56F49A1B-413C-F28C-0826-88F37714BFC2}"/>
              </a:ext>
            </a:extLst>
          </p:cNvPr>
          <p:cNvSpPr/>
          <p:nvPr/>
        </p:nvSpPr>
        <p:spPr>
          <a:xfrm>
            <a:off x="2099043" y="3934512"/>
            <a:ext cx="3520440" cy="1510337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1696395-D2D5-E7B2-6450-769E2878FA58}"/>
              </a:ext>
            </a:extLst>
          </p:cNvPr>
          <p:cNvSpPr/>
          <p:nvPr/>
        </p:nvSpPr>
        <p:spPr>
          <a:xfrm flipH="1">
            <a:off x="5601238" y="3921744"/>
            <a:ext cx="66003" cy="1510337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56CC595-03ED-2AD0-DD7F-8C0D47B27A1C}"/>
              </a:ext>
            </a:extLst>
          </p:cNvPr>
          <p:cNvSpPr txBox="1"/>
          <p:nvPr/>
        </p:nvSpPr>
        <p:spPr>
          <a:xfrm>
            <a:off x="2327643" y="4095269"/>
            <a:ext cx="310896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2100" b="1" i="0" dirty="0">
                <a:solidFill>
                  <a:srgbClr val="17324D"/>
                </a:solidFill>
                <a:latin typeface="Aptos"/>
              </a:rPr>
              <a:t>Through EM radiation</a:t>
            </a:r>
            <a:endParaRPr sz="2100" b="1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098793A-9973-011D-66CB-5218C84E23FE}"/>
              </a:ext>
            </a:extLst>
          </p:cNvPr>
          <p:cNvSpPr txBox="1"/>
          <p:nvPr/>
        </p:nvSpPr>
        <p:spPr>
          <a:xfrm>
            <a:off x="2327643" y="4461131"/>
            <a:ext cx="3108960" cy="7708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2000"/>
              </a:lnSpc>
            </a:pPr>
            <a:r>
              <a:rPr lang="en-US" sz="1650" b="0" i="0" dirty="0">
                <a:solidFill>
                  <a:srgbClr val="182028"/>
                </a:solidFill>
                <a:latin typeface="Aptos"/>
              </a:rPr>
              <a:t>Radiated coupling is when energy propagates away from a circuit and is received by an antenna. </a:t>
            </a:r>
            <a:r>
              <a:rPr sz="1650" b="0" i="0" dirty="0">
                <a:solidFill>
                  <a:srgbClr val="182028"/>
                </a:solidFill>
                <a:latin typeface="Aptos"/>
              </a:rPr>
              <a:t>.</a:t>
            </a:r>
          </a:p>
        </p:txBody>
      </p:sp>
      <p:pic>
        <p:nvPicPr>
          <p:cNvPr id="34" name="Picture 33" descr="CMU's DensePose From WiFi: An Affordable, Accessible and Secure Approach to  Human Sensing | Synced">
            <a:extLst>
              <a:ext uri="{FF2B5EF4-FFF2-40B4-BE49-F238E27FC236}">
                <a16:creationId xmlns:a16="http://schemas.microsoft.com/office/drawing/2014/main" id="{04B7DDC0-DFEE-6539-08D6-99D250D0EC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6576" y="1231173"/>
            <a:ext cx="5185719" cy="2907774"/>
          </a:xfrm>
          <a:prstGeom prst="rect">
            <a:avLst/>
          </a:prstGeom>
        </p:spPr>
      </p:pic>
      <p:pic>
        <p:nvPicPr>
          <p:cNvPr id="25" name="Picture 24" descr="https://hackaday.com/wp-content/uploads/2015/10/tempestshielding.jpg?w=800">
            <a:extLst>
              <a:ext uri="{FF2B5EF4-FFF2-40B4-BE49-F238E27FC236}">
                <a16:creationId xmlns:a16="http://schemas.microsoft.com/office/drawing/2014/main" id="{A870F58E-8CE7-5AA5-7794-A30E1B623D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7241" y="3573765"/>
            <a:ext cx="4290222" cy="25955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07 | EMI + CONTAINMENT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NEAR FIELD AND FAR FIELD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 dirty="0">
                <a:solidFill>
                  <a:srgbClr val="17324D"/>
                </a:solidFill>
                <a:latin typeface="Aptos Display"/>
              </a:rPr>
              <a:t>Distance changes how we describe the field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959744"/>
              </p:ext>
            </p:extLst>
          </p:nvPr>
        </p:nvGraphicFramePr>
        <p:xfrm>
          <a:off x="658368" y="1737359"/>
          <a:ext cx="6125492" cy="32437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3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01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14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6857">
                <a:tc>
                  <a:txBody>
                    <a:bodyPr/>
                    <a:lstStyle/>
                    <a:p>
                      <a:r>
                        <a:rPr sz="1300" b="1" dirty="0">
                          <a:solidFill>
                            <a:srgbClr val="FFFFFF"/>
                          </a:solidFill>
                          <a:latin typeface="Aptos"/>
                        </a:rPr>
                        <a:t>Region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/>
                        </a:rPr>
                        <a:t>M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Aptos"/>
                        </a:rPr>
                        <a:t>odel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What we may observe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8971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Very close: reactive near field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Electric or magnetic effects may dominate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Rotation and small distance changes matter greatly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8971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Nearby: radiating near field</a:t>
                      </a: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The electromagnetic wave is still taking shape</a:t>
                      </a: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Object size and geometry both matter</a:t>
                      </a: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8971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Far away: far field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The signal behaves more like a traveling radio wave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dirty="0">
                          <a:solidFill>
                            <a:srgbClr val="182028"/>
                          </a:solidFill>
                          <a:latin typeface="Aptos"/>
                        </a:rPr>
                        <a:t>Antennas, polarization, and path loss matter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D00A4003-C015-B627-638D-20D8A4AFAF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3860" y="1853577"/>
            <a:ext cx="5547793" cy="295882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07 | EMI + CONTAINMENT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INDUCTIVE COUPLING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700" b="1" i="0" dirty="0">
                <a:solidFill>
                  <a:srgbClr val="17324D"/>
                </a:solidFill>
                <a:latin typeface="Aptos Display"/>
              </a:rPr>
              <a:t>What affects coupling</a:t>
            </a:r>
            <a:endParaRPr sz="27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9808" y="1783080"/>
            <a:ext cx="3520440" cy="1645920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49808" y="1783080"/>
            <a:ext cx="82296" cy="164592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78408" y="1947672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dirty="0">
                <a:solidFill>
                  <a:srgbClr val="17324D"/>
                </a:solidFill>
                <a:latin typeface="Aptos"/>
              </a:rPr>
              <a:t>Use a larger loop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2386584"/>
            <a:ext cx="3108960" cy="3044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650" b="0" i="0" dirty="0">
                <a:solidFill>
                  <a:srgbClr val="182028"/>
                </a:solidFill>
                <a:latin typeface="Aptos"/>
              </a:rPr>
              <a:t>More magnetic field passes through the loop, so the measured pickup often increases.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256" y="1783080"/>
            <a:ext cx="3520440" cy="1645920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34256" y="1783080"/>
            <a:ext cx="82296" cy="1755648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62856" y="1947672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>
                <a:solidFill>
                  <a:srgbClr val="17324D"/>
                </a:solidFill>
                <a:latin typeface="Aptos"/>
              </a:rPr>
              <a:t>Turn the loop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2856" y="2386584"/>
            <a:ext cx="3108960" cy="3044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650" b="0" i="0">
                <a:solidFill>
                  <a:srgbClr val="182028"/>
                </a:solidFill>
                <a:latin typeface="Aptos"/>
              </a:rPr>
              <a:t>A 90-degree rotation can reduce how much magnetic field passes through it.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18704" y="1783080"/>
            <a:ext cx="3520440" cy="1645920"/>
          </a:xfrm>
          <a:prstGeom prst="roundRect">
            <a:avLst/>
          </a:prstGeom>
          <a:solidFill>
            <a:srgbClr val="F4E3D8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918704" y="1783080"/>
            <a:ext cx="82296" cy="1755648"/>
          </a:xfrm>
          <a:prstGeom prst="rect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47304" y="1947672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>
                <a:solidFill>
                  <a:srgbClr val="17324D"/>
                </a:solidFill>
                <a:latin typeface="Aptos"/>
              </a:rPr>
              <a:t>Move it away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47304" y="2386584"/>
            <a:ext cx="3108960" cy="3044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650" b="0" i="0">
                <a:solidFill>
                  <a:srgbClr val="182028"/>
                </a:solidFill>
                <a:latin typeface="Aptos"/>
              </a:rPr>
              <a:t>Increasing distance usually reduces nearby magnetic pickup.</a:t>
            </a:r>
          </a:p>
        </p:txBody>
      </p:sp>
      <p:sp>
        <p:nvSpPr>
          <p:cNvPr id="25" name="Rounded Rectangle 12">
            <a:extLst>
              <a:ext uri="{FF2B5EF4-FFF2-40B4-BE49-F238E27FC236}">
                <a16:creationId xmlns:a16="http://schemas.microsoft.com/office/drawing/2014/main" id="{0FD24F05-488A-B805-62A5-8724F7035AAC}"/>
              </a:ext>
            </a:extLst>
          </p:cNvPr>
          <p:cNvSpPr/>
          <p:nvPr/>
        </p:nvSpPr>
        <p:spPr>
          <a:xfrm>
            <a:off x="2072164" y="4328572"/>
            <a:ext cx="3520440" cy="1645920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52874B2-EE82-A539-2E79-B5C910062A1E}"/>
              </a:ext>
            </a:extLst>
          </p:cNvPr>
          <p:cNvSpPr txBox="1"/>
          <p:nvPr/>
        </p:nvSpPr>
        <p:spPr>
          <a:xfrm>
            <a:off x="2300764" y="4493164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100" b="1" i="0" dirty="0">
                <a:solidFill>
                  <a:srgbClr val="17324D"/>
                </a:solidFill>
                <a:latin typeface="Aptos"/>
              </a:rPr>
              <a:t>Twisted Pair</a:t>
            </a:r>
            <a:endParaRPr sz="2100" b="1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D0DC40F-A4DF-51AC-CA21-B5B4AEA29640}"/>
              </a:ext>
            </a:extLst>
          </p:cNvPr>
          <p:cNvSpPr txBox="1"/>
          <p:nvPr/>
        </p:nvSpPr>
        <p:spPr>
          <a:xfrm>
            <a:off x="2300764" y="4932076"/>
            <a:ext cx="3108960" cy="7617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650" dirty="0">
                <a:solidFill>
                  <a:srgbClr val="182028"/>
                </a:solidFill>
                <a:latin typeface="Aptos"/>
              </a:rPr>
              <a:t>Each twist reverses the small loop direction, so nearby magnetic effects partly cancel.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7F7EA6D-6331-468B-38B3-6E3A416998CE}"/>
              </a:ext>
            </a:extLst>
          </p:cNvPr>
          <p:cNvSpPr/>
          <p:nvPr/>
        </p:nvSpPr>
        <p:spPr>
          <a:xfrm>
            <a:off x="2072164" y="4339382"/>
            <a:ext cx="82296" cy="164592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Cable paralelo de doble conductor transparente rojo/negro con funda blanca de CCA eléctrico - China Cable de altavoz de 2 x 1, 0 mm2">
            <a:extLst>
              <a:ext uri="{FF2B5EF4-FFF2-40B4-BE49-F238E27FC236}">
                <a16:creationId xmlns:a16="http://schemas.microsoft.com/office/drawing/2014/main" id="{8BEB03A7-74FE-306F-0B33-817F20B596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009988" y="4153912"/>
            <a:ext cx="3044952" cy="304495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E82EB9F-0DE0-E121-F08B-751AAE68C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 flipV="1">
            <a:off x="7626265" y="5622574"/>
            <a:ext cx="3289530" cy="9712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EMC/EMI Shielding Explained">
            <a:extLst>
              <a:ext uri="{FF2B5EF4-FFF2-40B4-BE49-F238E27FC236}">
                <a16:creationId xmlns:a16="http://schemas.microsoft.com/office/drawing/2014/main" id="{CA456728-F9E0-A0F6-5018-A5CA646190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7829" y="1497237"/>
            <a:ext cx="5185719" cy="291696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37AC544-8B17-A542-918F-ABD225B2A6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1" y="3305192"/>
            <a:ext cx="3469131" cy="2178614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07 | EMI + CONTAINMENT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CHOOSING A FIX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17324D"/>
                </a:solidFill>
                <a:latin typeface="Aptos Display"/>
              </a:rPr>
              <a:t>Reduce EMI at the source, path, or receiving circuit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2032935"/>
              </p:ext>
            </p:extLst>
          </p:nvPr>
        </p:nvGraphicFramePr>
        <p:xfrm>
          <a:off x="658369" y="1737360"/>
          <a:ext cx="48737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4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2104">
                <a:tc>
                  <a:txBody>
                    <a:bodyPr/>
                    <a:lstStyle/>
                    <a:p>
                      <a:r>
                        <a:rPr sz="1300" b="1" dirty="0">
                          <a:solidFill>
                            <a:srgbClr val="FFFFFF"/>
                          </a:solidFill>
                          <a:latin typeface="Aptos"/>
                        </a:rPr>
                        <a:t>Where to act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Example changes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210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Source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Reduce current or edge speed; add filtering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210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Path</a:t>
                      </a: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dirty="0">
                          <a:solidFill>
                            <a:srgbClr val="182028"/>
                          </a:solidFill>
                          <a:latin typeface="Aptos"/>
                        </a:rPr>
                        <a:t>Add distance, twist wires, improve routing or shielding</a:t>
                      </a: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210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Receiving circuit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Add filtering or use a differential receiver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210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Whole system</a:t>
                      </a: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dirty="0">
                          <a:solidFill>
                            <a:srgbClr val="182028"/>
                          </a:solidFill>
                          <a:latin typeface="Aptos"/>
                        </a:rPr>
                        <a:t>Improve layout, enclosure, and grounding</a:t>
                      </a: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Rounded Rectangle 12">
            <a:extLst>
              <a:ext uri="{FF2B5EF4-FFF2-40B4-BE49-F238E27FC236}">
                <a16:creationId xmlns:a16="http://schemas.microsoft.com/office/drawing/2014/main" id="{196CA6E3-337A-FA48-2834-F9FD16BF8587}"/>
              </a:ext>
            </a:extLst>
          </p:cNvPr>
          <p:cNvSpPr/>
          <p:nvPr/>
        </p:nvSpPr>
        <p:spPr>
          <a:xfrm>
            <a:off x="5665327" y="1342313"/>
            <a:ext cx="3520440" cy="1495414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6FC0CC-0404-0089-3CE6-5D765DD47A6E}"/>
              </a:ext>
            </a:extLst>
          </p:cNvPr>
          <p:cNvSpPr txBox="1"/>
          <p:nvPr/>
        </p:nvSpPr>
        <p:spPr>
          <a:xfrm>
            <a:off x="5893927" y="1506905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dirty="0">
                <a:solidFill>
                  <a:srgbClr val="17324D"/>
                </a:solidFill>
                <a:latin typeface="Aptos"/>
              </a:rPr>
              <a:t>Shield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B2116B-4E55-42F2-BD58-68085F173905}"/>
              </a:ext>
            </a:extLst>
          </p:cNvPr>
          <p:cNvSpPr txBox="1"/>
          <p:nvPr/>
        </p:nvSpPr>
        <p:spPr>
          <a:xfrm>
            <a:off x="5893927" y="1945817"/>
            <a:ext cx="3108960" cy="3044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650" b="0" i="0">
                <a:solidFill>
                  <a:srgbClr val="182028"/>
                </a:solidFill>
                <a:latin typeface="Aptos"/>
              </a:rPr>
              <a:t>Provides a controlled path for unwanted electric-field energy when connected correctly.</a:t>
            </a:r>
          </a:p>
        </p:txBody>
      </p:sp>
      <p:sp>
        <p:nvSpPr>
          <p:cNvPr id="21" name="Rounded Rectangle 16">
            <a:extLst>
              <a:ext uri="{FF2B5EF4-FFF2-40B4-BE49-F238E27FC236}">
                <a16:creationId xmlns:a16="http://schemas.microsoft.com/office/drawing/2014/main" id="{6EBF225A-2CF1-518D-7E91-FFF54679FEE3}"/>
              </a:ext>
            </a:extLst>
          </p:cNvPr>
          <p:cNvSpPr/>
          <p:nvPr/>
        </p:nvSpPr>
        <p:spPr>
          <a:xfrm>
            <a:off x="8091451" y="4767980"/>
            <a:ext cx="3520440" cy="1431652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5BA5073-6942-D965-6D96-19208760090C}"/>
              </a:ext>
            </a:extLst>
          </p:cNvPr>
          <p:cNvSpPr txBox="1"/>
          <p:nvPr/>
        </p:nvSpPr>
        <p:spPr>
          <a:xfrm>
            <a:off x="8320051" y="4932572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>
                <a:solidFill>
                  <a:srgbClr val="17324D"/>
                </a:solidFill>
                <a:latin typeface="Aptos"/>
              </a:rPr>
              <a:t>Ferrite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BDFC261-C61B-CD84-116B-7892B887ADF1}"/>
              </a:ext>
            </a:extLst>
          </p:cNvPr>
          <p:cNvSpPr txBox="1"/>
          <p:nvPr/>
        </p:nvSpPr>
        <p:spPr>
          <a:xfrm>
            <a:off x="8320051" y="5371484"/>
            <a:ext cx="3108960" cy="3044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650" b="0" i="0" dirty="0">
                <a:solidFill>
                  <a:srgbClr val="182028"/>
                </a:solidFill>
                <a:latin typeface="Aptos"/>
              </a:rPr>
              <a:t>Makes some high-frequency currents harder to sustain on a wire or cable.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07 | EMI + CONTAINMENT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WEEK 3 SYNTHESIS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7324D"/>
                </a:solidFill>
                <a:latin typeface="Aptos Display"/>
              </a:rPr>
              <a:t>Exit check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8680" y="2075795"/>
            <a:ext cx="10469880" cy="9233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0" b="1" i="0" dirty="0">
                <a:solidFill>
                  <a:srgbClr val="17324D"/>
                </a:solidFill>
                <a:latin typeface="Aptos Display"/>
              </a:rPr>
              <a:t>Two nearby wires are not electrically connected, yet a changing voltage on one produces a signal on the other.</a:t>
            </a:r>
            <a:endParaRPr sz="3000" b="1" i="0" dirty="0">
              <a:solidFill>
                <a:srgbClr val="17324D"/>
              </a:solidFill>
              <a:latin typeface="Aptos Display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657600" y="4892040"/>
            <a:ext cx="4846320" cy="420624"/>
          </a:xfrm>
          <a:prstGeom prst="round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0" y="4892040"/>
            <a:ext cx="4846320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ptos"/>
              </a:rPr>
              <a:t>NEXT: CAPACITANCE + IMPEDANCE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740</Words>
  <Application>Microsoft Office PowerPoint</Application>
  <PresentationFormat>Widescreen</PresentationFormat>
  <Paragraphs>112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Jerson Francia</cp:lastModifiedBy>
  <cp:revision>3</cp:revision>
  <dcterms:created xsi:type="dcterms:W3CDTF">2013-01-27T09:14:16Z</dcterms:created>
  <dcterms:modified xsi:type="dcterms:W3CDTF">2026-09-18T15:57:47Z</dcterms:modified>
  <cp:category/>
</cp:coreProperties>
</file>