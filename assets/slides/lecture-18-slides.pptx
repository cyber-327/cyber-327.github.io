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7" r:id="rId4"/>
    <p:sldId id="277" r:id="rId5"/>
    <p:sldId id="260" r:id="rId6"/>
    <p:sldId id="271" r:id="rId7"/>
    <p:sldId id="272" r:id="rId8"/>
    <p:sldId id="274" r:id="rId9"/>
    <p:sldId id="276" r:id="rId10"/>
    <p:sldId id="273" r:id="rId11"/>
    <p:sldId id="275" r:id="rId12"/>
    <p:sldId id="278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1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1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6827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distinction or case in Slide 2. Preserve the communications model before adding the cybersecurity application. One ideal step is about 19.5 mV; values within a step map to the same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three cards as an advance organizer. Ask students what prior-week idea each card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E792-5AEE-5C67-50DF-68F7C0FCC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1B5DC6-973F-8BFE-FF94-6A151847F4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33B0C-959D-081B-625E-C7FBECC13E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three cards as an advance organizer. Ask students what prior-week idea each card depends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1FAF8-20EC-1605-9BAA-A218982372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365414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8080A-99BE-46D8-668A-A61BF8DD4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784A6-AF50-8B55-EA9B-123E9D3C7F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4633FF-9C65-8DAB-3DAF-5675AE7DB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5ECD5-D360-3696-7374-03459CF10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287558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56482-38D2-2C23-4396-5D8299ADB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B2B4CE-2438-AE6B-A63C-3A16BB3157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819803-5D10-77EA-F2EE-1C93C1A109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7FB76-7C55-08A4-1900-7EB4D788B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3772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1C487-8BA5-83C7-AC0B-7F8BCE522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0F070B-CE36-1FAF-3D34-1F735AE81A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E13567-2C55-FB86-B50C-52400A5E3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FB9CD-EED5-A97E-A8E1-7D5A5BD3A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412105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CA19C-A4EE-1A0E-88F5-386F2D0E1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B3A5D0-AF35-2CFE-E38C-B7CBB2F247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E922A-4E10-80DE-3CDB-CD0A0F4129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B5FE4-3B9B-F6EC-D6C5-ABA76DCC36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459317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291A6-532C-B33D-1BB0-11BAC5726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D331D-671C-7B1B-A683-04D0701AEA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31337-0E9D-D600-214B-FF305D2122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numerical or proportional example. Emphasize what changes, what remains fixed, and where the model stops being reliable.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BDE74-B63D-BF79-2927-29A4EDEE3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11047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658E-9BC1-E573-B409-170F5ADBB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FB7B66-2839-4AAD-C701-5922A0C910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78AF15-5330-229D-9B6C-1497D62FD5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Binary codes → DAC output levels → reconstruction filter → recovered analog signal</a:t>
            </a:r>
          </a:p>
          <a:p>
            <a:endParaRPr lang="en-US" dirty="0"/>
          </a:p>
          <a:p>
            <a:r>
              <a:rPr lang="en-US" dirty="0"/>
              <a:t>A conventional DAC holds each output level until the next update, producing a staircase-like waveform. </a:t>
            </a:r>
          </a:p>
          <a:p>
            <a:r>
              <a:rPr lang="en-US" dirty="0"/>
              <a:t>How to a make it smooth? Low pass filter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8BA2C-9006-1458-E805-66870E894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954945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088C-DF1A-7682-627A-B9225441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83551-0607-B021-B762-65C96CA476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EE0EA-72CC-AF25-89F1-F9864F1E95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Binary codes → DAC output levels → reconstruction filter → recovered analog signal</a:t>
            </a:r>
          </a:p>
          <a:p>
            <a:endParaRPr lang="en-US" dirty="0"/>
          </a:p>
          <a:p>
            <a:r>
              <a:rPr lang="en-US" dirty="0"/>
              <a:t>A conventional DAC holds each output level until the next update, producing a staircase-like waveform. </a:t>
            </a:r>
          </a:p>
          <a:p>
            <a:r>
              <a:rPr lang="en-US" dirty="0"/>
              <a:t>How to a make it smooth? Low pass filter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1DB155-ED03-2AB8-2513-C66D11B58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82504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response to open the next meeting. Practice-case resolution: One ideal step is about 19.5 mV; values within a step map to the same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18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ptos Display"/>
              </a:rPr>
              <a:t>Pulse Modulation, PCM, ADCs, and DACs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Sampling and quantization turn analog evidence into finite digital codes.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WEDNESDAY, OCTOBER 14,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i="0" dirty="0">
                <a:solidFill>
                  <a:srgbClr val="0F6D74"/>
                </a:solidFill>
                <a:latin typeface="Aptos"/>
              </a:rPr>
              <a:t>RECALL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700" b="1" i="0" dirty="0">
                <a:solidFill>
                  <a:srgbClr val="17324D"/>
                </a:solidFill>
                <a:latin typeface="Aptos Display"/>
              </a:rPr>
              <a:t>The Communication System</a:t>
            </a:r>
            <a:endParaRPr sz="27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1892" y="1969173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1892" y="2128756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Message</a:t>
            </a:r>
          </a:p>
        </p:txBody>
      </p:sp>
      <p:sp>
        <p:nvSpPr>
          <p:cNvPr id="15" name="Chevron 14"/>
          <p:cNvSpPr/>
          <p:nvPr/>
        </p:nvSpPr>
        <p:spPr>
          <a:xfrm>
            <a:off x="2261036" y="2171036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62656" y="2194561"/>
            <a:ext cx="1865376" cy="566926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62656" y="2354144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 dirty="0">
                <a:solidFill>
                  <a:srgbClr val="FFFFFF"/>
                </a:solidFill>
                <a:latin typeface="Aptos"/>
              </a:rPr>
              <a:t>Transmitter</a:t>
            </a:r>
          </a:p>
        </p:txBody>
      </p:sp>
      <p:sp>
        <p:nvSpPr>
          <p:cNvPr id="18" name="Chevron 17"/>
          <p:cNvSpPr/>
          <p:nvPr/>
        </p:nvSpPr>
        <p:spPr>
          <a:xfrm>
            <a:off x="4951800" y="2396424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128840" y="3020084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36140" y="3179667"/>
            <a:ext cx="16507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Medium</a:t>
            </a:r>
          </a:p>
        </p:txBody>
      </p:sp>
      <p:sp>
        <p:nvSpPr>
          <p:cNvPr id="21" name="Chevron 20"/>
          <p:cNvSpPr/>
          <p:nvPr/>
        </p:nvSpPr>
        <p:spPr>
          <a:xfrm>
            <a:off x="7155504" y="3273371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370064" y="2194561"/>
            <a:ext cx="1865376" cy="566926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477364" y="2354144"/>
            <a:ext cx="16507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Receiver</a:t>
            </a:r>
          </a:p>
        </p:txBody>
      </p:sp>
      <p:sp>
        <p:nvSpPr>
          <p:cNvPr id="24" name="Chevron 23"/>
          <p:cNvSpPr/>
          <p:nvPr/>
        </p:nvSpPr>
        <p:spPr>
          <a:xfrm>
            <a:off x="9359208" y="2396424"/>
            <a:ext cx="90792" cy="154056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573768" y="2194561"/>
            <a:ext cx="1865376" cy="566926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573768" y="2354144"/>
            <a:ext cx="1865376" cy="247760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Recovered message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6DE57B6-709F-0B76-7379-0C6EC8EED2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55706" y="2731944"/>
            <a:ext cx="3999300" cy="26662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87F4398-806A-E781-F7F8-7911BFE6ED6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flipH="1">
            <a:off x="7489755" y="2791206"/>
            <a:ext cx="3686175" cy="2457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FROM CONCEPT TO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Pulse Modulation – Represent a message using pulses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">
            <a:extLst>
              <a:ext uri="{FF2B5EF4-FFF2-40B4-BE49-F238E27FC236}">
                <a16:creationId xmlns:a16="http://schemas.microsoft.com/office/drawing/2014/main" id="{57E7256B-86FA-30F2-BE24-691004EF8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42427" y="1196084"/>
            <a:ext cx="5336458" cy="5199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B46F69-684B-EF20-7416-F8BABB28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B8580CC-82AE-AA23-E60D-07A9CE9802B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BE3F127-1E03-2A16-F578-C801838134F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41684C1-B762-2373-3EDE-2E5F8F7A74F8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1404BF7-E789-817E-2062-8B6719E0D5A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A59519A-A4CF-9598-7A8B-F9F4C588CA62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E2C8CF0-BA0C-1CF3-44DB-C977D2BE752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B87318F-D5CD-78EF-0BA1-DEC62860B725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C81A1B-DFD3-0665-170E-A234BAF596E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6B6C3-F4BA-9499-1BE7-873ACD12610D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FROM CONCEPT TO EVIDENCE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38D1AE-315B-0BBC-BE21-EFBF9AF7628A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How does a physical signal become digital data?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7088C1AC-56BF-7E67-BB73-20912BCF3B4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Picture 25">
            <a:extLst>
              <a:ext uri="{FF2B5EF4-FFF2-40B4-BE49-F238E27FC236}">
                <a16:creationId xmlns:a16="http://schemas.microsoft.com/office/drawing/2014/main" id="{E7FFF402-86AA-332E-F3DC-1BD4929DA1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93510" y="2532404"/>
            <a:ext cx="10004980" cy="400098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EB5B7EE-8D6C-ED41-3EC7-EE80B7146D35}"/>
              </a:ext>
            </a:extLst>
          </p:cNvPr>
          <p:cNvSpPr txBox="1"/>
          <p:nvPr/>
        </p:nvSpPr>
        <p:spPr>
          <a:xfrm>
            <a:off x="1517715" y="2650781"/>
            <a:ext cx="2139885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“Sensor” voltage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92A2A-2F7B-FB0C-B851-C97DA1013DA7}"/>
              </a:ext>
            </a:extLst>
          </p:cNvPr>
          <p:cNvSpPr txBox="1"/>
          <p:nvPr/>
        </p:nvSpPr>
        <p:spPr>
          <a:xfrm>
            <a:off x="4864232" y="2650781"/>
            <a:ext cx="2630076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Analog-to-Digital Converter (ADC)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8B736A-9CA8-79CB-3BCC-646A9D8EDFD4}"/>
              </a:ext>
            </a:extLst>
          </p:cNvPr>
          <p:cNvSpPr txBox="1"/>
          <p:nvPr/>
        </p:nvSpPr>
        <p:spPr>
          <a:xfrm>
            <a:off x="8210748" y="2650781"/>
            <a:ext cx="2630076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Digital Measurement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502221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Pulse Code Modulation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6A2DC43-4F50-34F4-0A7E-7C452E1AA8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80160" y="621566"/>
            <a:ext cx="9631680" cy="481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32EA0-A6D9-9E35-6A41-28AC0D3B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469680BD-459A-9778-3DE3-89FE571345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2476" y="553141"/>
            <a:ext cx="9796272" cy="4898136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520F097-D42D-4167-0DEC-9E447BD6AA4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FE14B5A4-B938-2F91-8A18-2EBBAE1253DD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F95E57E-6D19-2BC9-0394-C82E3A2EC6A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583668D4-22DE-2A30-D5C3-0AFF8F1063F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444CD1F-2A3E-C95C-EED1-B86BB226D379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05FD6EC-DD00-CB27-0F43-3C6349F377F7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C5A9667-C25D-4427-E56C-F5502901489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E59363-A687-39B3-E74D-C2289313715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A92F8B-9063-2627-4AEA-9FB155657373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3E16-DA36-AFD2-5D25-E4F37345FFC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Pulse Code Modulation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0EF7CE0E-34F1-4436-3494-012D3C7765BD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E34F01D-A286-1535-B5C5-D94E1A171A39}"/>
              </a:ext>
            </a:extLst>
          </p:cNvPr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BBB3C0-6F33-7473-2C98-08A7965919C2}"/>
              </a:ext>
            </a:extLst>
          </p:cNvPr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49DB98-7B52-F71D-7A51-1449CC8ADFB8}"/>
              </a:ext>
            </a:extLst>
          </p:cNvPr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F47E4-AE51-AD00-FF49-D8C5C8041920}"/>
              </a:ext>
            </a:extLst>
          </p:cNvPr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D2020DD-FBF7-8BF1-130B-C4DBEEE63597}"/>
              </a:ext>
            </a:extLst>
          </p:cNvPr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6E6E0D-5CF0-570D-2D39-F7F00F450794}"/>
              </a:ext>
            </a:extLst>
          </p:cNvPr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708A16-F22F-3BAE-2E66-2B75CEF62D28}"/>
              </a:ext>
            </a:extLst>
          </p:cNvPr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E08084-B08D-8F31-E33F-48F5E3126B63}"/>
              </a:ext>
            </a:extLst>
          </p:cNvPr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D899C08-6C19-7B1B-02C7-F2F56699F650}"/>
              </a:ext>
            </a:extLst>
          </p:cNvPr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8F51CD0-52B6-7A68-DEA2-210F69FCD474}"/>
              </a:ext>
            </a:extLst>
          </p:cNvPr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8AA80F-843E-3C46-8151-3F07782E667E}"/>
              </a:ext>
            </a:extLst>
          </p:cNvPr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98F6F3-BE32-ADB1-A57F-D3B733E0E69E}"/>
              </a:ext>
            </a:extLst>
          </p:cNvPr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B1DD4FB-48B0-CA4C-8FD2-A477AC04FA29}"/>
                  </a:ext>
                </a:extLst>
              </p:cNvPr>
              <p:cNvSpPr txBox="1"/>
              <p:nvPr/>
            </p:nvSpPr>
            <p:spPr>
              <a:xfrm>
                <a:off x="8018188" y="940345"/>
                <a:ext cx="2092750" cy="7877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ar-AE" sz="2200" b="1" i="0" dirty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ar-AE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ar-AE" sz="22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22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ar-AE" sz="2200" b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ar-AE"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2B1DD4FB-48B0-CA4C-8FD2-A477AC04F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188" y="940345"/>
                <a:ext cx="2092750" cy="7877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623A13A0-662D-1D3A-A17C-346B3F809416}"/>
              </a:ext>
            </a:extLst>
          </p:cNvPr>
          <p:cNvSpPr txBox="1"/>
          <p:nvPr/>
        </p:nvSpPr>
        <p:spPr>
          <a:xfrm>
            <a:off x="6880946" y="1201520"/>
            <a:ext cx="1630507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Sample interval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F0F520-9120-CAF5-5594-7658C6354E70}"/>
              </a:ext>
            </a:extLst>
          </p:cNvPr>
          <p:cNvSpPr txBox="1"/>
          <p:nvPr/>
        </p:nvSpPr>
        <p:spPr>
          <a:xfrm>
            <a:off x="9643274" y="1419405"/>
            <a:ext cx="2092749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Sampling freq</a:t>
            </a:r>
            <a:r>
              <a:rPr lang="en-US" sz="1700" i="1" dirty="0">
                <a:solidFill>
                  <a:srgbClr val="182028"/>
                </a:solidFill>
                <a:latin typeface="Aptos"/>
              </a:rPr>
              <a:t>uency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16408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F21C04-7E35-D6D5-DE07-E2867D693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7BE3CF7E-1222-3F37-DB99-07657E4AAF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2129" y="845187"/>
            <a:ext cx="9400685" cy="47003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BC4D29E-77EE-6ADA-77AA-0A50866ED1AD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6E7F432-0349-7C96-3489-F751F5B35432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1C091C1-3BBD-51F2-DAEE-7B76C9B6C71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9D52B656-9670-8B19-794D-5FAFC96CF3B1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554A1620-CD49-BBFC-0A75-84AFEEC7846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14935AE-1A87-D5FF-8009-0F9859628AA6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0F55A0B-E648-4D7E-5535-2661D0F248A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EBD0EC-8FC0-01E4-FA0A-C962D0F193A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5B8810-5B01-D487-A8E8-8A48757CA228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AAA4DF-7DCD-C730-DC95-80974E2DA27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Pulse Code Modulation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007299BE-5A8C-9240-84B6-67355E63920B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FCE070E-03AE-AF8C-4EEC-3AE6E9B2CCDD}"/>
              </a:ext>
            </a:extLst>
          </p:cNvPr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6871096-153B-AF99-9088-E84C5C0977B3}"/>
              </a:ext>
            </a:extLst>
          </p:cNvPr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B180E8-F560-A1DD-6FBA-E1E4FE049654}"/>
              </a:ext>
            </a:extLst>
          </p:cNvPr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90EF7C-A898-7FAB-0B40-E9E769FC1243}"/>
              </a:ext>
            </a:extLst>
          </p:cNvPr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008406E-471E-0A5E-5FEE-ADB0CE94C8B6}"/>
              </a:ext>
            </a:extLst>
          </p:cNvPr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20C882-F1B0-B90D-407F-57DBDF817399}"/>
              </a:ext>
            </a:extLst>
          </p:cNvPr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D57BC0-D428-8EE3-408E-DD7B8334967D}"/>
              </a:ext>
            </a:extLst>
          </p:cNvPr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B03CA-32AB-A153-9CC6-1A0119D21CB1}"/>
              </a:ext>
            </a:extLst>
          </p:cNvPr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493F7CC-C6F1-F8CC-1130-AF38E5A5BD9C}"/>
              </a:ext>
            </a:extLst>
          </p:cNvPr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6E7C49E-905F-DA56-33AA-9FF182E02D27}"/>
              </a:ext>
            </a:extLst>
          </p:cNvPr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715814-CD31-ED1E-B12E-AE2AF3A34E35}"/>
              </a:ext>
            </a:extLst>
          </p:cNvPr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53D147-A7F8-B7A2-7246-85C38433B358}"/>
              </a:ext>
            </a:extLst>
          </p:cNvPr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59A18DC-BBC3-D2DF-4C25-4D544670B0B0}"/>
                  </a:ext>
                </a:extLst>
              </p:cNvPr>
              <p:cNvSpPr txBox="1"/>
              <p:nvPr/>
            </p:nvSpPr>
            <p:spPr>
              <a:xfrm>
                <a:off x="8018188" y="631168"/>
                <a:ext cx="2092750" cy="436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2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Levels</m:t>
                      </m:r>
                      <m:r>
                        <a:rPr lang="ar-AE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</m:oMath>
                  </m:oMathPara>
                </a14:m>
                <a:endParaRPr lang="ar-AE"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59A18DC-BBC3-D2DF-4C25-4D544670B0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188" y="631168"/>
                <a:ext cx="2092750" cy="43697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1926557-E47D-97FB-F39C-9F617C77A068}"/>
              </a:ext>
            </a:extLst>
          </p:cNvPr>
          <p:cNvSpPr txBox="1"/>
          <p:nvPr/>
        </p:nvSpPr>
        <p:spPr>
          <a:xfrm>
            <a:off x="6408106" y="628617"/>
            <a:ext cx="1630507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Quantization</a:t>
            </a:r>
          </a:p>
          <a:p>
            <a:pPr algn="r">
              <a:lnSpc>
                <a:spcPct val="102000"/>
              </a:lnSpc>
            </a:pPr>
            <a:r>
              <a:rPr lang="en-US" sz="1700" i="1" dirty="0">
                <a:solidFill>
                  <a:srgbClr val="182028"/>
                </a:solidFill>
                <a:latin typeface="Aptos"/>
              </a:rPr>
              <a:t>Levels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BE0EA5-B2E8-6577-5603-581688281AB0}"/>
              </a:ext>
            </a:extLst>
          </p:cNvPr>
          <p:cNvSpPr txBox="1"/>
          <p:nvPr/>
        </p:nvSpPr>
        <p:spPr>
          <a:xfrm>
            <a:off x="10047983" y="588643"/>
            <a:ext cx="510684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bits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CD4E5F3-F525-39B7-535C-BD0DA9F2DD3D}"/>
                  </a:ext>
                </a:extLst>
              </p:cNvPr>
              <p:cNvSpPr txBox="1"/>
              <p:nvPr/>
            </p:nvSpPr>
            <p:spPr>
              <a:xfrm>
                <a:off x="8018188" y="1360676"/>
                <a:ext cx="2092750" cy="6699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2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ar-AE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range</m:t>
                          </m:r>
                        </m:num>
                        <m:den>
                          <m:sSup>
                            <m:sSupPr>
                              <m:ctrlPr>
                                <a:rPr lang="ar-AE" sz="2200" b="1" i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2200" b="1" i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ar-AE" sz="2200" b="1" i="1" dirty="0">
                                  <a:solidFill>
                                    <a:srgbClr val="17324D"/>
                                  </a:solidFill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ar-AE"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CD4E5F3-F525-39B7-535C-BD0DA9F2DD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188" y="1360676"/>
                <a:ext cx="2092750" cy="66992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6FDBB23F-92BB-A09D-1979-3DA0130213AE}"/>
              </a:ext>
            </a:extLst>
          </p:cNvPr>
          <p:cNvSpPr txBox="1"/>
          <p:nvPr/>
        </p:nvSpPr>
        <p:spPr>
          <a:xfrm>
            <a:off x="6408106" y="1358125"/>
            <a:ext cx="1630507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ADC Step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9C1A8EE-1E06-A00F-6D39-30A03A6CD8EE}"/>
              </a:ext>
            </a:extLst>
          </p:cNvPr>
          <p:cNvSpPr txBox="1"/>
          <p:nvPr/>
        </p:nvSpPr>
        <p:spPr>
          <a:xfrm>
            <a:off x="9600254" y="1863796"/>
            <a:ext cx="510684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bits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799240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5A409-E5C1-779D-DD95-DC10E8766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F3561BE-3A72-BEF2-643F-ACF41FCE513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2129" y="845187"/>
            <a:ext cx="9400685" cy="47003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285A686-5B94-BC12-36D2-04A2FC37973D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4AFB0CF1-E998-9192-8240-CC7C5BB5091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A8615D0-60CC-1DE4-C5FF-8B4223556E5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98CF5AB-F606-95B8-38F2-54EF19C7BE5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8396C6C-7E82-BD89-C712-820A4B1A7DD3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A3DEF970-A6BD-28C8-BCEB-AD712DAC7F6B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C43846E-9965-250A-BA29-79828B1025C4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D990C9-2288-916E-5087-4D67B2E9929B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24D9F1-0AE7-6164-6493-5BE6F756CAE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A913B-4A5B-0D4C-41D4-8D997AB0D17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Pulse Code Modulation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62B0E9BD-CAA6-395E-221A-2DED24B7150B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6EA69F-63EA-7229-E3AF-4EFD611ECAB5}"/>
              </a:ext>
            </a:extLst>
          </p:cNvPr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094DF6-494D-5D23-044A-3DF5E74B337A}"/>
              </a:ext>
            </a:extLst>
          </p:cNvPr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3D9616-4011-D964-2AF1-A97F040CD7DF}"/>
              </a:ext>
            </a:extLst>
          </p:cNvPr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C6C4840-813E-3F37-0A3C-C8195AEAF569}"/>
              </a:ext>
            </a:extLst>
          </p:cNvPr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3CFE71E-2949-BC2D-9434-147CC1D17E4F}"/>
              </a:ext>
            </a:extLst>
          </p:cNvPr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5E81B18-3483-A8DB-7C01-46479CDD616E}"/>
              </a:ext>
            </a:extLst>
          </p:cNvPr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A84A0-3FC8-C44B-3853-BD86BDF8841F}"/>
              </a:ext>
            </a:extLst>
          </p:cNvPr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F85290-9C21-1B1F-A4A4-1E04A315D2A9}"/>
              </a:ext>
            </a:extLst>
          </p:cNvPr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3A93601-CC08-E053-5C8F-D2BA9926A943}"/>
              </a:ext>
            </a:extLst>
          </p:cNvPr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FA4CE5-6113-78A9-EED6-36D6F55FDF91}"/>
              </a:ext>
            </a:extLst>
          </p:cNvPr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1B5CEC-6508-DAAC-FDBA-9DF48914596B}"/>
              </a:ext>
            </a:extLst>
          </p:cNvPr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A1946A-90D6-D4E4-0E3A-24346AB22B5D}"/>
              </a:ext>
            </a:extLst>
          </p:cNvPr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DF3D13-D74C-C21E-6C19-5A73F78058EE}"/>
                  </a:ext>
                </a:extLst>
              </p:cNvPr>
              <p:cNvSpPr txBox="1"/>
              <p:nvPr/>
            </p:nvSpPr>
            <p:spPr>
              <a:xfrm>
                <a:off x="8018188" y="631168"/>
                <a:ext cx="300033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2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Levels</m:t>
                      </m:r>
                      <m:r>
                        <a:rPr lang="ar-AE" sz="2200" b="1" i="0" dirty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200" b="1" i="1" dirty="0" smtClean="0">
                              <a:solidFill>
                                <a:srgbClr val="17324D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p>
                      <m:r>
                        <a:rPr lang="en-US" sz="22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=1024</m:t>
                      </m:r>
                    </m:oMath>
                  </m:oMathPara>
                </a14:m>
                <a:endParaRPr lang="ar-AE"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2DF3D13-D74C-C21E-6C19-5A73F7805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188" y="631168"/>
                <a:ext cx="3000332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108ACD2A-F7D0-7FE2-C3EC-4C279B40FC1A}"/>
              </a:ext>
            </a:extLst>
          </p:cNvPr>
          <p:cNvSpPr txBox="1"/>
          <p:nvPr/>
        </p:nvSpPr>
        <p:spPr>
          <a:xfrm>
            <a:off x="6408106" y="628617"/>
            <a:ext cx="1630507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Quantization</a:t>
            </a:r>
          </a:p>
          <a:p>
            <a:pPr algn="r">
              <a:lnSpc>
                <a:spcPct val="102000"/>
              </a:lnSpc>
            </a:pPr>
            <a:r>
              <a:rPr lang="en-US" sz="1700" i="1" dirty="0">
                <a:solidFill>
                  <a:srgbClr val="182028"/>
                </a:solidFill>
                <a:latin typeface="Aptos"/>
              </a:rPr>
              <a:t>Levels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C55D3AD-BEB3-7139-C881-9CBB34A59CE9}"/>
                  </a:ext>
                </a:extLst>
              </p:cNvPr>
              <p:cNvSpPr txBox="1"/>
              <p:nvPr/>
            </p:nvSpPr>
            <p:spPr>
              <a:xfrm>
                <a:off x="8018188" y="1360676"/>
                <a:ext cx="2771732" cy="885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17324D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ar-AE" sz="2200" b="1" i="0" dirty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range</m:t>
                        </m:r>
                      </m:num>
                      <m:den>
                        <m:sSup>
                          <m:sSupPr>
                            <m:ctrlPr>
                              <a:rPr lang="ar-AE" sz="2200" b="1" i="1" dirty="0">
                                <a:solidFill>
                                  <a:srgbClr val="17324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2200" b="1" i="1" dirty="0">
                                <a:solidFill>
                                  <a:srgbClr val="17324D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ar-AE" sz="2200" b="1" i="1" dirty="0">
                                <a:solidFill>
                                  <a:srgbClr val="17324D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sup>
                        </m:sSup>
                      </m:den>
                    </m:f>
                    <m:r>
                      <a:rPr lang="en-US" sz="2200" b="1" i="1" dirty="0" smtClean="0">
                        <a:solidFill>
                          <a:srgbClr val="17324D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b="1" dirty="0">
                    <a:solidFill>
                      <a:srgbClr val="17324D"/>
                    </a:solidFill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en-US" sz="2200" b="1" i="1" dirty="0" smtClean="0">
                            <a:solidFill>
                              <a:srgbClr val="17324D"/>
                            </a:solidFill>
                            <a:latin typeface="Cambria Math" panose="02040503050406030204" pitchFamily="18" charset="0"/>
                          </a:rPr>
                          <m:t>1024</m:t>
                        </m:r>
                      </m:den>
                    </m:f>
                  </m:oMath>
                </a14:m>
                <a:endParaRPr lang="en-US" sz="2200" b="1" i="1" dirty="0">
                  <a:solidFill>
                    <a:srgbClr val="17324D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             =4.88</m:t>
                      </m:r>
                      <m:r>
                        <m:rPr>
                          <m:sty m:val="p"/>
                        </m:rPr>
                        <a:rPr lang="en-US" sz="2000" b="1" i="1" dirty="0" smtClean="0">
                          <a:solidFill>
                            <a:srgbClr val="17324D"/>
                          </a:solidFill>
                          <a:latin typeface="Cambria Math" panose="02040503050406030204" pitchFamily="18" charset="0"/>
                        </a:rPr>
                        <m:t>mV</m:t>
                      </m:r>
                    </m:oMath>
                  </m:oMathPara>
                </a14:m>
                <a:endParaRPr lang="ar-AE" sz="2200" b="1" i="0" dirty="0">
                  <a:solidFill>
                    <a:srgbClr val="17324D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C55D3AD-BEB3-7139-C881-9CBB34A59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188" y="1360676"/>
                <a:ext cx="2771732" cy="8858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18221637-6DA2-FF6D-922E-5D41A0A22D5E}"/>
              </a:ext>
            </a:extLst>
          </p:cNvPr>
          <p:cNvSpPr txBox="1"/>
          <p:nvPr/>
        </p:nvSpPr>
        <p:spPr>
          <a:xfrm>
            <a:off x="6408106" y="1358125"/>
            <a:ext cx="1630507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700" b="0" i="1" dirty="0">
                <a:solidFill>
                  <a:srgbClr val="182028"/>
                </a:solidFill>
                <a:latin typeface="Aptos"/>
              </a:rPr>
              <a:t>ADC Step</a:t>
            </a:r>
            <a:endParaRPr sz="1700" b="0" i="1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1863323-7866-308B-3AB4-B06EE4B52D9D}"/>
              </a:ext>
            </a:extLst>
          </p:cNvPr>
          <p:cNvSpPr txBox="1"/>
          <p:nvPr/>
        </p:nvSpPr>
        <p:spPr>
          <a:xfrm>
            <a:off x="7778496" y="269389"/>
            <a:ext cx="2151432" cy="2146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2000"/>
              </a:lnSpc>
            </a:pPr>
            <a:r>
              <a:rPr lang="en-US" sz="1400" b="1" dirty="0">
                <a:solidFill>
                  <a:srgbClr val="182028"/>
                </a:solidFill>
                <a:latin typeface="Aptos"/>
              </a:rPr>
              <a:t>For a 10-bit 0-5V Arduino</a:t>
            </a:r>
            <a:endParaRPr sz="1400" b="1" dirty="0">
              <a:solidFill>
                <a:srgbClr val="182028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051364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56DEC-CF3E-C12E-269C-7F021012A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F1C1E69-967E-D281-A56C-2C16B35D68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2129" y="845187"/>
            <a:ext cx="9400685" cy="47003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522F4248-AC75-1D61-C2E7-6DF3287132A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1CEFBEA8-D7D2-64FB-C94B-EE097127B27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042F6BD2-1015-389B-7D95-4885EBC93A78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74E2B06-1105-32E6-489E-06410C1C49A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DDC421B-B042-64D6-8A72-C1CFC52EEC46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E87374A-1433-CFD2-E6CF-1D2FEA0368F5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F78E582-2382-35B4-6677-AF16E194139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74E557-7E8E-C227-361B-27B7A30113A4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F1BC87-89A9-5FBC-0AAD-A4B56BE22F05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8AAE21-0FB5-CD9A-BD03-A63A967B3EC4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Pulse Code Modulation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E9AEC4C-DDA2-3AE3-9467-73A220A76974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CCE9739-DC80-3A96-2BAC-874B1E2EB5E1}"/>
              </a:ext>
            </a:extLst>
          </p:cNvPr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73A055-91D1-A4A9-BAAD-3FA3CF21D4E1}"/>
              </a:ext>
            </a:extLst>
          </p:cNvPr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D00AAA-958B-9AAF-12E7-79246F92038C}"/>
              </a:ext>
            </a:extLst>
          </p:cNvPr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938BF4-12DC-1569-71DE-604D921C94A9}"/>
              </a:ext>
            </a:extLst>
          </p:cNvPr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08D3BF6-4AEB-1DFD-2CEF-4DEBA1867934}"/>
              </a:ext>
            </a:extLst>
          </p:cNvPr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9966FB-3356-4D53-B3D4-1C11150E130A}"/>
              </a:ext>
            </a:extLst>
          </p:cNvPr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FD5E485-1FB1-4385-ACAF-B601D75EBB1F}"/>
              </a:ext>
            </a:extLst>
          </p:cNvPr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5B0BCA4-207C-65E1-9334-0D9831AE195D}"/>
              </a:ext>
            </a:extLst>
          </p:cNvPr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AA10350-CE31-7974-CE36-8D486EF2A928}"/>
              </a:ext>
            </a:extLst>
          </p:cNvPr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88461B-D7AF-4418-1BF5-8A2FEBD1723B}"/>
              </a:ext>
            </a:extLst>
          </p:cNvPr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74B8F7-C5BA-FAF8-71C9-11DC433D8B7E}"/>
              </a:ext>
            </a:extLst>
          </p:cNvPr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087EAC-9302-C1AA-AD2E-C77785A64AF6}"/>
              </a:ext>
            </a:extLst>
          </p:cNvPr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92F2FEAC-04E5-F973-2EA1-0262A10AA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5560892"/>
              </p:ext>
            </p:extLst>
          </p:nvPr>
        </p:nvGraphicFramePr>
        <p:xfrm>
          <a:off x="6986932" y="161832"/>
          <a:ext cx="4004319" cy="29948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7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47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4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14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Bits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Quantization Levels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ptos"/>
                        </a:rPr>
                        <a:t>Approximate Ideal SNR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149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16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25.8 dB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149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dirty="0">
                          <a:solidFill>
                            <a:srgbClr val="182028"/>
                          </a:solidFill>
                          <a:latin typeface="Aptos"/>
                        </a:rPr>
                        <a:t>256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49.9 dB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149">
                <a:tc>
                  <a:txBody>
                    <a:bodyPr/>
                    <a:lstStyle/>
                    <a:p>
                      <a:r>
                        <a:rPr sz="1150" dirty="0">
                          <a:solidFill>
                            <a:srgbClr val="182028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1,024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62.0 dB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149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4,096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74.0 dB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149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16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82028"/>
                          </a:solidFill>
                          <a:latin typeface="Aptos"/>
                        </a:rPr>
                        <a:t>65,536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dirty="0">
                          <a:solidFill>
                            <a:srgbClr val="182028"/>
                          </a:solidFill>
                          <a:latin typeface="Aptos"/>
                        </a:rPr>
                        <a:t>98.1 dB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5232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4624D-B19B-B73A-EA5E-729CE3F69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D1F3B1-68F8-A47F-71CF-CA6ADB7A7424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76C9A6F-4A9E-4959-4584-3AD0375F3C45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A57A4D7-15A9-46A8-3277-9FBF35D59414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A846A2B-F298-E246-CE6D-9079DDF9B6F4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C8975DBF-E042-FEFB-325D-138EFCB14F1C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7F42F58-6716-9983-7F2D-8CF030D42171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B976BB3-8A87-CCD1-9FE3-0A94587A2AA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D0A355-D0F3-351C-A83A-F0FC7DD89A8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ED6CD1-D82B-6DD4-6728-46B7CC3300F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595D30-5FA6-3FBD-2DD0-D02A7C386D34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Pulse Code Modulation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6FCAC1D-0627-B63A-4ABA-4DBB75AF4FA1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F604924-EA19-67AA-1D38-D20C1154B714}"/>
              </a:ext>
            </a:extLst>
          </p:cNvPr>
          <p:cNvSpPr/>
          <p:nvPr/>
        </p:nvSpPr>
        <p:spPr>
          <a:xfrm>
            <a:off x="685800" y="4701524"/>
            <a:ext cx="3276600" cy="142344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95CF5E-57AB-01AC-8352-18181DF76985}"/>
              </a:ext>
            </a:extLst>
          </p:cNvPr>
          <p:cNvSpPr/>
          <p:nvPr/>
        </p:nvSpPr>
        <p:spPr>
          <a:xfrm>
            <a:off x="685800" y="4701524"/>
            <a:ext cx="82296" cy="1423447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101517-B4E3-7953-80A3-52831A3EAE7E}"/>
              </a:ext>
            </a:extLst>
          </p:cNvPr>
          <p:cNvSpPr txBox="1"/>
          <p:nvPr/>
        </p:nvSpPr>
        <p:spPr>
          <a:xfrm>
            <a:off x="9144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Sampling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18A860-78BB-7EC8-8577-BF687EB49143}"/>
              </a:ext>
            </a:extLst>
          </p:cNvPr>
          <p:cNvSpPr txBox="1"/>
          <p:nvPr/>
        </p:nvSpPr>
        <p:spPr>
          <a:xfrm>
            <a:off x="9144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Measure the voltage at particular times.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558FF37-AF54-5D6F-B84B-15003984CEE1}"/>
              </a:ext>
            </a:extLst>
          </p:cNvPr>
          <p:cNvSpPr/>
          <p:nvPr/>
        </p:nvSpPr>
        <p:spPr>
          <a:xfrm>
            <a:off x="4191000" y="4701524"/>
            <a:ext cx="3276600" cy="142344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A008AF-4A78-A52A-8681-AC6652964DCC}"/>
              </a:ext>
            </a:extLst>
          </p:cNvPr>
          <p:cNvSpPr/>
          <p:nvPr/>
        </p:nvSpPr>
        <p:spPr>
          <a:xfrm>
            <a:off x="4191000" y="4701524"/>
            <a:ext cx="82296" cy="142344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C139ED-EEED-C6FC-9B52-592EB74FB63C}"/>
              </a:ext>
            </a:extLst>
          </p:cNvPr>
          <p:cNvSpPr txBox="1"/>
          <p:nvPr/>
        </p:nvSpPr>
        <p:spPr>
          <a:xfrm>
            <a:off x="44196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Quantization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A12969-B465-161B-1050-11D508146B94}"/>
              </a:ext>
            </a:extLst>
          </p:cNvPr>
          <p:cNvSpPr txBox="1"/>
          <p:nvPr/>
        </p:nvSpPr>
        <p:spPr>
          <a:xfrm>
            <a:off x="44196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Round each measurement to an available voltage level.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FE9C57C-3CE5-06DA-9599-6454C935598B}"/>
              </a:ext>
            </a:extLst>
          </p:cNvPr>
          <p:cNvSpPr/>
          <p:nvPr/>
        </p:nvSpPr>
        <p:spPr>
          <a:xfrm>
            <a:off x="7696200" y="4701524"/>
            <a:ext cx="3276600" cy="142344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DB8CCBC-2ABC-BD6F-014E-72BA130024D9}"/>
              </a:ext>
            </a:extLst>
          </p:cNvPr>
          <p:cNvSpPr/>
          <p:nvPr/>
        </p:nvSpPr>
        <p:spPr>
          <a:xfrm>
            <a:off x="7696200" y="4701524"/>
            <a:ext cx="82296" cy="1423447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FDD452-A410-3811-C760-1D599351AE11}"/>
              </a:ext>
            </a:extLst>
          </p:cNvPr>
          <p:cNvSpPr txBox="1"/>
          <p:nvPr/>
        </p:nvSpPr>
        <p:spPr>
          <a:xfrm>
            <a:off x="7924800" y="4866116"/>
            <a:ext cx="286512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200" b="1" i="0" dirty="0">
                <a:solidFill>
                  <a:srgbClr val="17324D"/>
                </a:solidFill>
                <a:latin typeface="Aptos"/>
              </a:rPr>
              <a:t>Encoding</a:t>
            </a:r>
            <a:endParaRPr sz="2200" b="1" i="0" dirty="0">
              <a:solidFill>
                <a:srgbClr val="17324D"/>
              </a:solidFill>
              <a:latin typeface="Apto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759EA7-66F2-4803-A9C4-2E6AF27BB5AD}"/>
              </a:ext>
            </a:extLst>
          </p:cNvPr>
          <p:cNvSpPr txBox="1"/>
          <p:nvPr/>
        </p:nvSpPr>
        <p:spPr>
          <a:xfrm>
            <a:off x="7924800" y="5305028"/>
            <a:ext cx="286512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Represent the selected level as a binary number.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72F28B9C-6EE4-5D2A-5FBF-C597525560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984248" y="853125"/>
            <a:ext cx="8025981" cy="4012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483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50246-5B26-4EA4-F329-AA5E1E3DB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889B52ED-7DEC-06D5-D914-DA4FCA9290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68096" y="765048"/>
            <a:ext cx="10655808" cy="532790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D0326A1-4786-225F-FB20-6B972C20D1D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0FF0E0E8-2D23-D087-8A21-7E20A5F33F24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3A56FD0-7822-75D9-1C16-449BF3B5884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24E6897E-D6D1-495E-CEDD-DEDD1F8BECF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C939DBE8-1A55-7D26-4E08-CF38DE15F13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D12F41E-53FE-159C-2DE1-D3DCF198FA8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4024D28-4509-7F1B-FC8E-B7AEAB8F0F99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5F3C37-509F-E8E9-4271-27174ADB31A5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8EE345-24B6-D303-B607-C37A38D13CD5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BB8C7B-CC39-77BF-CECD-1C6F7AF32B7D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Run it back: Digital-to-Analog Conversion (DAC)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F15CAE7-FC84-E33B-2CBA-7B45AE9B3262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678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28B2F6-7F7C-5B84-A700-B14555EB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837F87-B92A-C70D-9394-47B2F09D6E0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826591A-FA3E-738D-8FF8-DCB127D41DF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2537D8DC-6DD1-65E3-9A64-1267BFFCD3A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2C246997-F60D-201C-4501-249E79703091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A479FF73-BC95-BDAD-2F77-18564560D95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B7DC3E50-6D46-1D6B-C7AB-F24134130DF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941CF94-D48D-2BB6-899E-9C27AAFF16A1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92D547-CE1C-8525-342F-C59D383312F8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60280C-89D9-332F-3C67-0D1B701E34C9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QUANTITATIVE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49B697-9A1C-41FB-DBD3-168D96171BCB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How do you make the digital look more like the analog?</a:t>
            </a: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06B56AC2-FEF3-03E1-D24B-EB5CA3DE58B4}"/>
              </a:ext>
            </a:extLst>
          </p:cNvPr>
          <p:cNvCxnSpPr>
            <a:cxnSpLocks/>
          </p:cNvCxnSpPr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BB3B3206-BDAD-648A-9F0A-405DA4A2ACDA}"/>
              </a:ext>
            </a:extLst>
          </p:cNvPr>
          <p:cNvSpPr txBox="1">
            <a:spLocks/>
          </p:cNvSpPr>
          <p:nvPr/>
        </p:nvSpPr>
        <p:spPr>
          <a:xfrm>
            <a:off x="158377" y="525743"/>
            <a:ext cx="2349500" cy="3508376"/>
          </a:xfrm>
          <a:prstGeom prst="rect">
            <a:avLst/>
          </a:prstGeom>
        </p:spPr>
        <p:txBody>
          <a:bodyPr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4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F716F4-4D9B-EFE9-5FAC-ED21905660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80103" y="1333244"/>
            <a:ext cx="7808977" cy="576955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E115CEF-99B2-E643-9B09-88533C94E26B}"/>
              </a:ext>
            </a:extLst>
          </p:cNvPr>
          <p:cNvSpPr txBox="1"/>
          <p:nvPr/>
        </p:nvSpPr>
        <p:spPr>
          <a:xfrm>
            <a:off x="577769" y="2786103"/>
            <a:ext cx="33944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</a:rPr>
              <a:t>Increase sampling rate 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(# samples/sec)</a:t>
            </a:r>
          </a:p>
          <a:p>
            <a:r>
              <a:rPr lang="en-US" sz="2000" dirty="0"/>
              <a:t>Increase resolution </a:t>
            </a:r>
            <a:br>
              <a:rPr lang="en-US" sz="2000" dirty="0"/>
            </a:br>
            <a:r>
              <a:rPr lang="en-US" sz="2000" dirty="0"/>
              <a:t>(# bits/sample)</a:t>
            </a:r>
          </a:p>
        </p:txBody>
      </p:sp>
    </p:spTree>
    <p:extLst>
      <p:ext uri="{BB962C8B-B14F-4D97-AF65-F5344CB8AC3E}">
        <p14:creationId xmlns:p14="http://schemas.microsoft.com/office/powerpoint/2010/main" val="182263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18 | PULSE MODULATION PCM ADCS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BRIDGE FORWARD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075795"/>
            <a:ext cx="10469880" cy="9233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Suppose the ADC measures every sampled voltage correctly. Could the computer still report the wrong frequency?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ALIASING, FALSE TELEMETRY, AND SENSOR SPOO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849</Words>
  <Application>Microsoft Office PowerPoint</Application>
  <PresentationFormat>Widescreen</PresentationFormat>
  <Paragraphs>154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2</cp:revision>
  <dcterms:created xsi:type="dcterms:W3CDTF">2013-01-27T09:14:16Z</dcterms:created>
  <dcterms:modified xsi:type="dcterms:W3CDTF">2026-10-16T09:56:02Z</dcterms:modified>
  <cp:category/>
</cp:coreProperties>
</file>