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distinction or case in Slide 2. Preserve the communications model before adding the cybersecurity application. One ideal step is about 19.5 mV; values within a step map to the same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three cards as an advance organizer. Ask students what prior-week idea each card depends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present these as isolated vocabulary. For each row, obtain a prediction, example, or measurable consequence.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 students to use each term in a sentence that names a signal, channel, instrument, or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 one numerical or proportional example. Emphasize what changes, what remains fixed, and where the model stops being 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table to compare cases and surface the tradeoff. Do not require memorization of implementation-specific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workflow is reusable: separate direct observation, model-based inference, and claims that require more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approximate 70/30 balance. Teach the communication mechanism first, then show how it changes availability, confidentiality, integrity, or authenticity.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ideal step is about 19.5 mV; values within a step map to the same code. Ask for one alternate explanation and one measurement that would distinguish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response to open the next meeting. Practice-case resolution: One ideal step is about 19.5 mV; values within a step map to the same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9EB0BC"/>
                </a:solidFill>
                <a:latin typeface="Aptos"/>
              </a:rPr>
              <a:t>LECTURE 18 | PULSE MODULATION PCM ADCS 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9EB0BC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2C6C8"/>
                </a:solidFill>
                <a:latin typeface="Aptos"/>
              </a:rPr>
              <a:t>CYBER 327  /  LECTURE 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152144"/>
            <a:ext cx="1371600" cy="0"/>
          </a:xfrm>
          <a:prstGeom prst="line">
            <a:avLst/>
          </a:prstGeom>
          <a:ln w="508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481328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ptos Display"/>
              </a:rPr>
              <a:t>Pulse Modulation, PCM, ADCs, and DACs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82112"/>
            <a:ext cx="8961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D6E1E7"/>
                </a:solidFill>
                <a:latin typeface="Aptos"/>
              </a:rPr>
              <a:t>Sampling and quantization turn analog evidence into finite digital codes.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5230368"/>
            <a:ext cx="196596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230368"/>
            <a:ext cx="19659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WEDNESDAY, OCTOBER 14,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6" y="5230368"/>
            <a:ext cx="237744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7086600" y="4574286"/>
            <a:ext cx="346710" cy="22082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33310" y="4679899"/>
            <a:ext cx="346710" cy="115214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80020" y="4679899"/>
            <a:ext cx="346710" cy="566471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126730" y="4929530"/>
            <a:ext cx="346710" cy="31684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73440" y="4929530"/>
            <a:ext cx="346710" cy="48006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820150" y="4766310"/>
            <a:ext cx="346710" cy="64328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66860" y="4766310"/>
            <a:ext cx="346710" cy="31683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513570" y="4641494"/>
            <a:ext cx="346710" cy="44165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60280" y="4641494"/>
            <a:ext cx="346710" cy="51846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206990" y="4871923"/>
            <a:ext cx="346710" cy="288036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53700" y="4871923"/>
            <a:ext cx="346710" cy="46085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900410" y="4699101"/>
            <a:ext cx="346710" cy="63367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18 | PULSE MODULATION PCM ADCS 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FROM CONCEPT TO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Today's learning route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8" y="1783080"/>
            <a:ext cx="3520440" cy="3794760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8" y="1783080"/>
            <a:ext cx="82296" cy="37947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19476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386584"/>
            <a:ext cx="3108960" cy="3044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>
                <a:solidFill>
                  <a:srgbClr val="182028"/>
                </a:solidFill>
                <a:latin typeface="Aptos"/>
              </a:rPr>
              <a:t>Pulse modulation and PCM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1783080"/>
            <a:ext cx="3520440" cy="379476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4256" y="1783080"/>
            <a:ext cx="82296" cy="379476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2856" y="19476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386584"/>
            <a:ext cx="3108960" cy="3044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>
                <a:solidFill>
                  <a:srgbClr val="182028"/>
                </a:solidFill>
                <a:latin typeface="Aptos"/>
              </a:rPr>
              <a:t>Sampling rate, quantization, resolution, step size, and reconstruction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8704" y="1783080"/>
            <a:ext cx="3520440" cy="3794760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18704" y="1783080"/>
            <a:ext cx="82296" cy="3794760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4" y="19476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2386584"/>
            <a:ext cx="3108960" cy="3044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>
                <a:solidFill>
                  <a:srgbClr val="182028"/>
                </a:solidFill>
                <a:latin typeface="Aptos"/>
              </a:rPr>
              <a:t>ADC and DAC practical behavior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18 | PULSE MODULATION PCM ADCS 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COMMUNICATIONS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Core ideas to connect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" y="1737360"/>
          <a:ext cx="1088135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508"/>
                <a:gridCol w="6746443"/>
                <a:gridCol w="3264408"/>
              </a:tblGrid>
              <a:tr h="83210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Topic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Student action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832104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Pulse modulation and PCM workflow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Explain, predict, or measure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832104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Sampling rate, quantization, resolution, step size, and reconstruction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Explain, predict, or measure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832104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ADC and DAC practical behavior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Explain, predict, or measure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832104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Quantization error and distortion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Explain, predict, or measure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18 | PULSE MODULATION PCM ADCS 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WORKING 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Terms must be tied to observations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" y="1737360"/>
          <a:ext cx="1088135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6780"/>
                <a:gridCol w="7834579"/>
              </a:tblGrid>
              <a:tr h="104013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Term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Operational meaning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104013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ADC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Device that converts an analog input into a digital code.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104013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DAC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Device that converts a digital code into an analog output.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104013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aliasing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False frequency representation caused by sampling too slowly.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18 | PULSE MODULATION PCM ADCS 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QUANTITATIVE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Relationships support testable predictions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1828800"/>
            <a:ext cx="3276600" cy="3429000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82296" cy="3429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993392"/>
            <a:ext cx="2865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ptos"/>
              </a:rPr>
              <a:t>levels = 2^N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432304"/>
            <a:ext cx="2865120" cy="2679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182028"/>
                </a:solidFill>
                <a:latin typeface="Aptos"/>
              </a:rPr>
              <a:t>Quantization levels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1000" y="1828800"/>
            <a:ext cx="3276600" cy="342900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91000" y="1828800"/>
            <a:ext cx="82296" cy="3429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9600" y="1993392"/>
            <a:ext cx="2865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7324D"/>
                </a:solidFill>
                <a:latin typeface="Aptos"/>
              </a:rPr>
              <a:t>delta = full scale / 2^N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9600" y="2432304"/>
            <a:ext cx="2865120" cy="2679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182028"/>
                </a:solidFill>
                <a:latin typeface="Aptos"/>
              </a:rPr>
              <a:t>Ideal ADC step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96200" y="1828800"/>
            <a:ext cx="3276600" cy="3429000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96200" y="1828800"/>
            <a:ext cx="82296" cy="3429000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4800" y="1993392"/>
            <a:ext cx="2865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ptos"/>
              </a:rPr>
              <a:t>T_s = 1 / f_s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4800" y="2432304"/>
            <a:ext cx="2865120" cy="2679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182028"/>
                </a:solidFill>
                <a:latin typeface="Aptos"/>
              </a:rPr>
              <a:t>Sample interval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5596128"/>
            <a:ext cx="6675120" cy="420624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5596128"/>
            <a:ext cx="667512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STATE UNITS, REFERENCE, AND ASSUMPTIONS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18 | PULSE MODULATION PCM ADCS 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COMPARE BEFORE MEMORIZING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Reference model: ADC Resolution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" y="1737360"/>
          <a:ext cx="108813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934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Bits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Quantization Levels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Approximate Ideal SNR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82028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82028"/>
                          </a:solidFill>
                          <a:latin typeface="Aptos"/>
                        </a:rPr>
                        <a:t>16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82028"/>
                          </a:solidFill>
                          <a:latin typeface="Aptos"/>
                        </a:rPr>
                        <a:t>25.8 dB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82028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82028"/>
                          </a:solidFill>
                          <a:latin typeface="Aptos"/>
                        </a:rPr>
                        <a:t>256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82028"/>
                          </a:solidFill>
                          <a:latin typeface="Aptos"/>
                        </a:rPr>
                        <a:t>49.9 dB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82028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82028"/>
                          </a:solidFill>
                          <a:latin typeface="Aptos"/>
                        </a:rPr>
                        <a:t>1,024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82028"/>
                          </a:solidFill>
                          <a:latin typeface="Aptos"/>
                        </a:rPr>
                        <a:t>62.0 dB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82028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82028"/>
                          </a:solidFill>
                          <a:latin typeface="Aptos"/>
                        </a:rPr>
                        <a:t>4,096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82028"/>
                          </a:solidFill>
                          <a:latin typeface="Aptos"/>
                        </a:rPr>
                        <a:t>74.0 dB</a:t>
                      </a:r>
                    </a:p>
                  </a:txBody>
                  <a:tcPr marL="82296" marR="82296" marT="45720" marB="27432">
                    <a:solidFill>
                      <a:srgbClr val="E3EBF1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82028"/>
                          </a:solidFill>
                          <a:latin typeface="Aptos"/>
                        </a:rPr>
                        <a:t>16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82028"/>
                          </a:solidFill>
                          <a:latin typeface="Aptos"/>
                        </a:rPr>
                        <a:t>65,536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82028"/>
                          </a:solidFill>
                          <a:latin typeface="Aptos"/>
                        </a:rPr>
                        <a:t>98.1 dB</a:t>
                      </a:r>
                    </a:p>
                  </a:txBody>
                  <a:tcPr marL="82296" marR="82296" marT="45720" marB="27432">
                    <a:solidFill>
                      <a:srgbClr val="FBF9F4"/>
                    </a:solidFill>
                    <a:lnL w="9000">
                      <a:solidFill>
                        <a:srgbClr val="CCD1D0"/>
                      </a:solidFill>
                      <a:prstDash val="solid"/>
                    </a:lnL>
                    <a:lnR w="9000">
                      <a:solidFill>
                        <a:srgbClr val="CCD1D0"/>
                      </a:solidFill>
                      <a:prstDash val="solid"/>
                    </a:lnR>
                    <a:lnT w="9000">
                      <a:solidFill>
                        <a:srgbClr val="CCD1D0"/>
                      </a:solidFill>
                      <a:prstDash val="solid"/>
                    </a:lnT>
                    <a:lnB w="9000">
                      <a:solidFill>
                        <a:srgbClr val="CCD1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18 | PULSE MODULATION PCM ADCS 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EVIDENCE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Use a repeatable reasoning workflow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8368" y="2057400"/>
            <a:ext cx="2066544" cy="841248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057400"/>
            <a:ext cx="2066544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Observe</a:t>
            </a:r>
          </a:p>
        </p:txBody>
      </p:sp>
      <p:sp>
        <p:nvSpPr>
          <p:cNvPr id="15" name="Chevron 14"/>
          <p:cNvSpPr/>
          <p:nvPr/>
        </p:nvSpPr>
        <p:spPr>
          <a:xfrm>
            <a:off x="2743200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62072" y="2057400"/>
            <a:ext cx="2066544" cy="841248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62072" y="2057400"/>
            <a:ext cx="2066544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18" name="Chevron 17"/>
          <p:cNvSpPr/>
          <p:nvPr/>
        </p:nvSpPr>
        <p:spPr>
          <a:xfrm>
            <a:off x="4946904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057400"/>
            <a:ext cx="2066544" cy="841248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65776" y="2057400"/>
            <a:ext cx="2066544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Predict</a:t>
            </a:r>
          </a:p>
        </p:txBody>
      </p:sp>
      <p:sp>
        <p:nvSpPr>
          <p:cNvPr id="21" name="Chevron 20"/>
          <p:cNvSpPr/>
          <p:nvPr/>
        </p:nvSpPr>
        <p:spPr>
          <a:xfrm>
            <a:off x="7150608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69480" y="2057400"/>
            <a:ext cx="2066544" cy="841248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2057400"/>
            <a:ext cx="2066544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sp>
        <p:nvSpPr>
          <p:cNvPr id="24" name="Chevron 23"/>
          <p:cNvSpPr/>
          <p:nvPr/>
        </p:nvSpPr>
        <p:spPr>
          <a:xfrm>
            <a:off x="9354312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73184" y="2057400"/>
            <a:ext cx="2066544" cy="841248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73184" y="2057400"/>
            <a:ext cx="2066544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Qualify</a:t>
            </a:r>
          </a:p>
        </p:txBody>
      </p:sp>
      <p:sp>
        <p:nvSpPr>
          <p:cNvPr id="27" name="Oval 26"/>
          <p:cNvSpPr/>
          <p:nvPr/>
        </p:nvSpPr>
        <p:spPr>
          <a:xfrm>
            <a:off x="1051560" y="3888760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71016" y="3703320"/>
            <a:ext cx="9747504" cy="7726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82028"/>
                </a:solidFill>
                <a:latin typeface="Aptos"/>
              </a:rPr>
              <a:t>Focus on representation accuracy and link behavior</a:t>
            </a:r>
          </a:p>
        </p:txBody>
      </p:sp>
      <p:sp>
        <p:nvSpPr>
          <p:cNvPr id="29" name="Oval 28"/>
          <p:cNvSpPr/>
          <p:nvPr/>
        </p:nvSpPr>
        <p:spPr>
          <a:xfrm>
            <a:off x="1051560" y="4807732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71016" y="4622292"/>
            <a:ext cx="9747504" cy="7726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82028"/>
                </a:solidFill>
                <a:latin typeface="Aptos"/>
              </a:rPr>
              <a:t>Avoid code-heavy microcontroller discussion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5650992"/>
            <a:ext cx="576072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5650992"/>
            <a:ext cx="576072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DO NOT SKIP FROM A MEASUREMENT TO IDENTITY OR INTENT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18 | PULSE MODULATION PCM ADCS 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APPLICATION, NOT REPLACEMENT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Cybersecurity follows the physical behavior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22960" y="2075322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1755648"/>
            <a:ext cx="6181344" cy="1331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 i="0">
                <a:solidFill>
                  <a:srgbClr val="182028"/>
                </a:solidFill>
                <a:latin typeface="Aptos"/>
              </a:rPr>
              <a:t>Digitization as a security boundary between analog truth and digital data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535314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3215640"/>
            <a:ext cx="6181344" cy="1331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 i="0">
                <a:solidFill>
                  <a:srgbClr val="182028"/>
                </a:solidFill>
                <a:latin typeface="Aptos"/>
              </a:rPr>
              <a:t>Resolution limits that hide small changes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995306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675632"/>
            <a:ext cx="6181344" cy="1331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 i="0">
                <a:solidFill>
                  <a:srgbClr val="182028"/>
                </a:solidFill>
                <a:latin typeface="Aptos"/>
              </a:rPr>
              <a:t>DAC stair steps as observable metadata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828800"/>
            <a:ext cx="3703320" cy="3611880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71231" y="1828800"/>
            <a:ext cx="82296" cy="3611880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9831" y="1993392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ptos"/>
              </a:rPr>
              <a:t>Evidence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1" y="2432304"/>
            <a:ext cx="3291840" cy="286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182028"/>
                </a:solidFill>
                <a:latin typeface="Aptos"/>
              </a:rPr>
              <a:t>State the tested condition and security consequence without claiming more than the measurement supports.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18 | PULSE MODULATION PCM ADCS 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APPLY THE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Practice case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22960" y="2250521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1755648"/>
            <a:ext cx="6181344" cy="20619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 i="0">
                <a:solidFill>
                  <a:srgbClr val="182028"/>
                </a:solidFill>
                <a:latin typeface="Aptos"/>
              </a:rPr>
              <a:t>An 8-bit ADC covers 0-5 V. What does one code step represent, and what information is lost?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40509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3945636"/>
            <a:ext cx="6181344" cy="20619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 i="0">
                <a:solidFill>
                  <a:srgbClr val="182028"/>
                </a:solidFill>
                <a:latin typeface="Aptos"/>
              </a:rPr>
              <a:t>Given a sampling rate and input frequency, predict whether the sampled data represents the original signal or an alias.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1828800"/>
            <a:ext cx="3703320" cy="361188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71231" y="1828800"/>
            <a:ext cx="82296" cy="361188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993392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ptos"/>
              </a:rPr>
              <a:t>Instructor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831" y="2432304"/>
            <a:ext cx="3291840" cy="286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182028"/>
                </a:solidFill>
                <a:latin typeface="Aptos"/>
              </a:rPr>
              <a:t>One ideal step is about 19.5 mV; values within a step map to the same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18 | PULSE MODULATION PCM ADCS 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BRIDGE FORWARD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Exit check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1828800"/>
            <a:ext cx="1046988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7324D"/>
                </a:solidFill>
                <a:latin typeface="Aptos Display"/>
              </a:rPr>
              <a:t>What information is lost during sampling and quantization?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520440"/>
            <a:ext cx="8503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5F6B73"/>
                </a:solidFill>
                <a:latin typeface="Aptos"/>
              </a:rPr>
              <a:t>Answer with one model, one observable consequence, and one limit on the conclusion.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4892040"/>
            <a:ext cx="484632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4892040"/>
            <a:ext cx="484632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NEXT: ALIASING, FALSE TELEMETRY, AND SENSOR SPOO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