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7" r:id="rId4"/>
    <p:sldId id="272" r:id="rId5"/>
    <p:sldId id="273" r:id="rId6"/>
    <p:sldId id="259" r:id="rId7"/>
    <p:sldId id="261" r:id="rId8"/>
    <p:sldId id="274" r:id="rId9"/>
    <p:sldId id="275" r:id="rId10"/>
    <p:sldId id="276" r:id="rId11"/>
    <p:sldId id="277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677" autoAdjust="0"/>
  </p:normalViewPr>
  <p:slideViewPr>
    <p:cSldViewPr snapToGrid="0" snapToObjects="1">
      <p:cViewPr varScale="1">
        <p:scale>
          <a:sx n="61" d="100"/>
          <a:sy n="61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47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\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3D42A-296A-6CFC-08F2-A475130A0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0E383-CE32-14B0-98EE-3B4EAEB32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99DFD-D957-5BBE-7D23-FBD15F621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26A62-4FE6-699F-9A72-04AA258FD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70869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First question: how does heat spread through an object?</a:t>
            </a:r>
          </a:p>
          <a:p>
            <a:r>
              <a:rPr lang="en-US" dirty="0"/>
              <a:t>Fourier Series</a:t>
            </a:r>
          </a:p>
          <a:p>
            <a:r>
              <a:rPr lang="en-US" dirty="0"/>
              <a:t>Fourier Transform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B03E1-600F-A603-E8D0-47E51F2E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B3BAC-36B5-FE8E-40A1-9CBE1D829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4BCD7-4374-FD02-43BF-714B1296C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First question: how does heat spread through an object?</a:t>
            </a:r>
          </a:p>
          <a:p>
            <a:r>
              <a:rPr lang="en-US" dirty="0"/>
              <a:t>Fourier Series</a:t>
            </a:r>
          </a:p>
          <a:p>
            <a:r>
              <a:rPr lang="en-US" dirty="0"/>
              <a:t>Fourier Transform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A963E-2F04-122E-D4E8-707E83C66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7077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A8493-26B4-FA42-FFF8-8559074BF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05C05-921A-8803-BE2B-7A89FDCD1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5FBDC-F945-1F67-ACF9-1A30B4F7B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First question: how does heat spread through an object?</a:t>
            </a:r>
          </a:p>
          <a:p>
            <a:r>
              <a:rPr lang="en-US" dirty="0"/>
              <a:t>Fourier Series</a:t>
            </a:r>
          </a:p>
          <a:p>
            <a:r>
              <a:rPr lang="en-US" dirty="0"/>
              <a:t>Fourier Transform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08C02-7513-FFFF-6297-B3C4544D8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19797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0C5C-2ABE-52C4-2D9F-86D87DDB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BFD89-8F42-2F4F-3F5F-E3CC6BE72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5D12C-241C-B8DA-7ACE-316CAC14A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3BB7-4BDD-5C35-77EA-12896403A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06091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5BFAF-5725-D4A0-0B70-87DDF12F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AD528-0B2D-D199-3D6D-0E101EC9E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D4CEE-B683-A1D5-5F8E-10F184B3E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4182D-D795-E3FD-12FC-31670DF35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45119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3052-2F52-5CD1-30D7-FA8AFC8A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1B827-029F-80D0-8259-3B2777227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AAFD0-C1E0-CACF-6BAC-775F524A1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0449-2F3D-FE67-7CEA-1B797F7D0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04723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8C8D9-2317-A694-3160-A0FC4DF7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2BED1-79B3-4D64-0344-5B838A2556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48B27-27AA-B4CA-839F-F638ED0FD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1045F-EA4B-F78A-5F57-7A3E7594D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41016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dirty="0"/>
              <a:t>The sharper and faster the waveform changes, the more high-frequency harmonics it needs → more bandwidth. A smooth sine wave needs very little BW; sharp pulses need much more.</a:t>
            </a:r>
          </a:p>
          <a:p>
            <a:r>
              <a:rPr lang="en-US" b="0" dirty="0"/>
              <a:t>They can have the same fundamental frequency (pitch) but different harmonics. Different harmonic content gives them different timbre or sound quality.</a:t>
            </a:r>
          </a:p>
          <a:p>
            <a:r>
              <a:rPr lang="en-US" b="0" dirty="0"/>
              <a:t>A sine wave. An ideal sine wave contains only one frequency.</a:t>
            </a:r>
          </a:p>
          <a:p>
            <a:r>
              <a:rPr lang="en-US" b="0" dirty="0"/>
              <a:t>A sinusoidal carrier (sine/cosine). A pure sinusoid provides a single, well-defined carrier frequency.</a:t>
            </a:r>
          </a:p>
          <a:p>
            <a:r>
              <a:rPr lang="en-US" b="0" dirty="0"/>
              <a:t>A frequency that is a whole-number multiple of the fundamental frequency. For a 1 kHz fundamental, 2 kHz is the 2nd harmonic, 3 kHz the 3rd, etc.</a:t>
            </a:r>
          </a:p>
          <a:p>
            <a:r>
              <a:rPr lang="en-US" b="0" dirty="0"/>
              <a:t>If we start changing the sine wave to carry information, additional frequency components appear around the original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yber-327.github.io/fourier-powerpoint/?demo=combo&amp;clean=1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https://cyber-327.github.io/fourier-powerpoint/?demo=combo&amp;clean=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yber-327.github.io/fourier-powerpoint/?demo=square&amp;clean=1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yber-327.github.io/fourier-powerpoint/?demo=square&amp;clean=1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yber-327.github.io/fourier-powerpoint/?demo=square&amp;clean=1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Time Domain, Frequency Domain, Fourier, and Harmonics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D6E1E7"/>
                </a:solidFill>
                <a:latin typeface="Aptos"/>
              </a:rPr>
              <a:t>The same waveform tells different stories in time and frequency.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MONDAY, SEPTEMBER 28,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71216" y="5333727"/>
            <a:ext cx="237744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\</a:t>
            </a:r>
            <a:endParaRPr sz="1150" b="1" i="0" dirty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CE303-B0E9-ED6B-6E25-9FA635B6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A41AA4-8B7D-F519-63CD-8D20B055B91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B3C874B-B6DA-9CA6-3DDE-D6BB1CA044EC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F47BB5F-BBDE-8CAC-A480-36D071855308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9DAA395-5A78-4F87-1C39-2D290DC35948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B0A9FDF-C4BC-778C-85D7-EBB3D9924911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E23139A-9CDB-29B5-BA79-38CC8F047F1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147C20-C123-DCD1-3BA4-0CCDE3C646A3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10 | SYSTEMS + THREATS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E5034-E3BB-287C-7AFF-308AF36E0D6A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BC9101-7644-1CF5-9907-A08F84C2CE71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RECALL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D5B04-2FC1-6184-F5AC-562F9A573797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The Communication System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61D6DE2C-C888-0AD4-615E-8D39E61363A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7752515-D461-F6FF-9F96-25E2368E305F}"/>
              </a:ext>
            </a:extLst>
          </p:cNvPr>
          <p:cNvSpPr/>
          <p:nvPr/>
        </p:nvSpPr>
        <p:spPr>
          <a:xfrm>
            <a:off x="271892" y="1969173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75720-BBD8-F2F5-3F1A-C337431E7ACF}"/>
              </a:ext>
            </a:extLst>
          </p:cNvPr>
          <p:cNvSpPr txBox="1"/>
          <p:nvPr/>
        </p:nvSpPr>
        <p:spPr>
          <a:xfrm>
            <a:off x="271892" y="2128756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Message</a:t>
            </a: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5903C44E-7364-BCF5-0892-388D24E50590}"/>
              </a:ext>
            </a:extLst>
          </p:cNvPr>
          <p:cNvSpPr/>
          <p:nvPr/>
        </p:nvSpPr>
        <p:spPr>
          <a:xfrm>
            <a:off x="2261036" y="2171036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2B454B8-8944-0B52-8D37-07066446C60D}"/>
              </a:ext>
            </a:extLst>
          </p:cNvPr>
          <p:cNvSpPr/>
          <p:nvPr/>
        </p:nvSpPr>
        <p:spPr>
          <a:xfrm>
            <a:off x="2962656" y="2194561"/>
            <a:ext cx="1865376" cy="566926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46F20-9F90-273C-D173-7B68964C765B}"/>
              </a:ext>
            </a:extLst>
          </p:cNvPr>
          <p:cNvSpPr txBox="1"/>
          <p:nvPr/>
        </p:nvSpPr>
        <p:spPr>
          <a:xfrm>
            <a:off x="2962656" y="2354144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Transmitter</a:t>
            </a:r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0C697AE7-6EF5-DC80-F0FE-78FA53E2E00F}"/>
              </a:ext>
            </a:extLst>
          </p:cNvPr>
          <p:cNvSpPr/>
          <p:nvPr/>
        </p:nvSpPr>
        <p:spPr>
          <a:xfrm>
            <a:off x="4951800" y="2396424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2942DA5-52BD-D3C0-E433-90AB72F8BCFF}"/>
              </a:ext>
            </a:extLst>
          </p:cNvPr>
          <p:cNvSpPr/>
          <p:nvPr/>
        </p:nvSpPr>
        <p:spPr>
          <a:xfrm>
            <a:off x="5128840" y="3020084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037DD7-B3F4-9411-6105-7354F09832B2}"/>
              </a:ext>
            </a:extLst>
          </p:cNvPr>
          <p:cNvSpPr txBox="1"/>
          <p:nvPr/>
        </p:nvSpPr>
        <p:spPr>
          <a:xfrm>
            <a:off x="5236140" y="3179667"/>
            <a:ext cx="16507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83F98F00-D73C-19EB-EE6B-E73AE3396E56}"/>
              </a:ext>
            </a:extLst>
          </p:cNvPr>
          <p:cNvSpPr/>
          <p:nvPr/>
        </p:nvSpPr>
        <p:spPr>
          <a:xfrm>
            <a:off x="7155504" y="3273371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68B85E-FFA0-199B-7C1A-220371B8820E}"/>
              </a:ext>
            </a:extLst>
          </p:cNvPr>
          <p:cNvSpPr/>
          <p:nvPr/>
        </p:nvSpPr>
        <p:spPr>
          <a:xfrm>
            <a:off x="7370064" y="2194561"/>
            <a:ext cx="1865376" cy="566926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EE6FE2-AEDB-57BF-9A82-519BC157DB22}"/>
              </a:ext>
            </a:extLst>
          </p:cNvPr>
          <p:cNvSpPr txBox="1"/>
          <p:nvPr/>
        </p:nvSpPr>
        <p:spPr>
          <a:xfrm>
            <a:off x="7477364" y="2354144"/>
            <a:ext cx="16507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Receiver</a:t>
            </a:r>
          </a:p>
        </p:txBody>
      </p:sp>
      <p:sp>
        <p:nvSpPr>
          <p:cNvPr id="24" name="Chevron 23">
            <a:extLst>
              <a:ext uri="{FF2B5EF4-FFF2-40B4-BE49-F238E27FC236}">
                <a16:creationId xmlns:a16="http://schemas.microsoft.com/office/drawing/2014/main" id="{60F6A976-8BEA-3B37-FE9E-9E8CFE9E9BF3}"/>
              </a:ext>
            </a:extLst>
          </p:cNvPr>
          <p:cNvSpPr/>
          <p:nvPr/>
        </p:nvSpPr>
        <p:spPr>
          <a:xfrm>
            <a:off x="9359208" y="2396424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4C842B3-12AA-2393-CDB4-D51B4E0D1667}"/>
              </a:ext>
            </a:extLst>
          </p:cNvPr>
          <p:cNvSpPr/>
          <p:nvPr/>
        </p:nvSpPr>
        <p:spPr>
          <a:xfrm>
            <a:off x="9573768" y="2194561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97E923-1565-770E-5E8A-6F7737943CAE}"/>
              </a:ext>
            </a:extLst>
          </p:cNvPr>
          <p:cNvSpPr txBox="1"/>
          <p:nvPr/>
        </p:nvSpPr>
        <p:spPr>
          <a:xfrm>
            <a:off x="9573768" y="2354144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Recovered message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0F73DA0-1FE7-2426-09C6-FDA1E1B2EA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5706" y="2731944"/>
            <a:ext cx="3999300" cy="26662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8F43323-1D90-AB7A-293B-A31EC3C956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7489755" y="2791206"/>
            <a:ext cx="3686175" cy="2457450"/>
          </a:xfrm>
          <a:prstGeom prst="rect">
            <a:avLst/>
          </a:prstGeom>
        </p:spPr>
      </p:pic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CF942886-88CA-3C22-4EA4-E4DC13809F89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40380" y="4274820"/>
            <a:ext cx="525780" cy="48006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1CA2F60-C8D8-63BC-AA3B-A7FBC48C8053}"/>
              </a:ext>
            </a:extLst>
          </p:cNvPr>
          <p:cNvSpPr txBox="1"/>
          <p:nvPr/>
        </p:nvSpPr>
        <p:spPr>
          <a:xfrm>
            <a:off x="3476333" y="4848176"/>
            <a:ext cx="175746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venir Book" panose="02000503020000020003" pitchFamily="2" charset="0"/>
              </a:rPr>
              <a:t>Signal</a:t>
            </a:r>
          </a:p>
          <a:p>
            <a:pPr algn="l"/>
            <a:r>
              <a:rPr lang="en-US" sz="1600" dirty="0">
                <a:solidFill>
                  <a:srgbClr val="17324D"/>
                </a:solidFill>
                <a:latin typeface="Avenir Book" panose="02000503020000020003" pitchFamily="2" charset="0"/>
              </a:rPr>
              <a:t>Encoding Method</a:t>
            </a:r>
            <a:endParaRPr sz="1600" i="0" dirty="0">
              <a:solidFill>
                <a:srgbClr val="17324D"/>
              </a:solidFill>
              <a:latin typeface="Avenir Book" panose="02000503020000020003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765AD7-E296-5108-E54B-BF156C58C4AC}"/>
              </a:ext>
            </a:extLst>
          </p:cNvPr>
          <p:cNvSpPr txBox="1"/>
          <p:nvPr/>
        </p:nvSpPr>
        <p:spPr>
          <a:xfrm>
            <a:off x="5217266" y="3713796"/>
            <a:ext cx="1757468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i="0" dirty="0">
                <a:solidFill>
                  <a:srgbClr val="17324D"/>
                </a:solidFill>
                <a:latin typeface="Avenir Book" panose="02000503020000020003" pitchFamily="2" charset="0"/>
              </a:rPr>
              <a:t>Wire (copper)</a:t>
            </a:r>
          </a:p>
          <a:p>
            <a:pPr algn="ctr"/>
            <a:r>
              <a:rPr lang="en-US" sz="1600" dirty="0">
                <a:solidFill>
                  <a:srgbClr val="17324D"/>
                </a:solidFill>
                <a:latin typeface="Avenir Book" panose="02000503020000020003" pitchFamily="2" charset="0"/>
              </a:rPr>
              <a:t>Wireless</a:t>
            </a:r>
          </a:p>
          <a:p>
            <a:pPr algn="ctr"/>
            <a:r>
              <a:rPr lang="en-US" sz="1600" i="0" dirty="0">
                <a:solidFill>
                  <a:srgbClr val="17324D"/>
                </a:solidFill>
                <a:latin typeface="Avenir Book" panose="02000503020000020003" pitchFamily="2" charset="0"/>
              </a:rPr>
              <a:t>Optical Fiber</a:t>
            </a:r>
            <a:endParaRPr sz="1600" i="0" dirty="0">
              <a:solidFill>
                <a:srgbClr val="17324D"/>
              </a:solidFill>
              <a:latin typeface="Avenir Book" panose="02000503020000020003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0BD0E0-F366-7D8D-E433-5E18FE77CE8F}"/>
              </a:ext>
            </a:extLst>
          </p:cNvPr>
          <p:cNvSpPr txBox="1"/>
          <p:nvPr/>
        </p:nvSpPr>
        <p:spPr>
          <a:xfrm>
            <a:off x="5101424" y="1620150"/>
            <a:ext cx="17574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i="0" dirty="0">
                <a:solidFill>
                  <a:srgbClr val="17324D"/>
                </a:solidFill>
                <a:latin typeface="Avenir Book" panose="02000503020000020003" pitchFamily="2" charset="0"/>
              </a:rPr>
              <a:t>Interference</a:t>
            </a:r>
          </a:p>
          <a:p>
            <a:pPr algn="ctr"/>
            <a:r>
              <a:rPr lang="en-US" sz="1400" dirty="0">
                <a:solidFill>
                  <a:srgbClr val="17324D"/>
                </a:solidFill>
                <a:latin typeface="Avenir Book" panose="02000503020000020003" pitchFamily="2" charset="0"/>
              </a:rPr>
              <a:t>Noise</a:t>
            </a:r>
            <a:endParaRPr sz="1400" i="0" dirty="0">
              <a:solidFill>
                <a:srgbClr val="17324D"/>
              </a:solidFill>
              <a:latin typeface="Avenir Book" panose="02000503020000020003" pitchFamily="2" charset="0"/>
            </a:endParaRPr>
          </a:p>
        </p:txBody>
      </p:sp>
      <p:sp>
        <p:nvSpPr>
          <p:cNvPr id="37" name="Lightning Bolt 36">
            <a:extLst>
              <a:ext uri="{FF2B5EF4-FFF2-40B4-BE49-F238E27FC236}">
                <a16:creationId xmlns:a16="http://schemas.microsoft.com/office/drawing/2014/main" id="{114BDE1A-5A0C-1E68-6DDC-DFDE167B7380}"/>
              </a:ext>
            </a:extLst>
          </p:cNvPr>
          <p:cNvSpPr/>
          <p:nvPr/>
        </p:nvSpPr>
        <p:spPr>
          <a:xfrm>
            <a:off x="5101424" y="1948421"/>
            <a:ext cx="884622" cy="1005179"/>
          </a:xfrm>
          <a:prstGeom prst="lightningBol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6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dirty="0">
                <a:solidFill>
                  <a:srgbClr val="0F6D74"/>
                </a:solidFill>
                <a:latin typeface="Aptos"/>
              </a:rPr>
              <a:t>STARTING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From Time to Frequency Domain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3796" y="1959655"/>
            <a:ext cx="3520440" cy="236287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" y="1959655"/>
            <a:ext cx="82296" cy="2362877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185" y="368554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James Fourier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7185" y="2218267"/>
            <a:ext cx="2826230" cy="1373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2200" b="0" i="0" dirty="0">
                <a:solidFill>
                  <a:srgbClr val="182028"/>
                </a:solidFill>
                <a:latin typeface="Aptos"/>
              </a:rPr>
              <a:t>What if signals can be expressed as a sum of fundamental sinusoids?</a:t>
            </a:r>
            <a:endParaRPr sz="22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3EEE2C9-1F51-7AC7-780A-757F810487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81344" y="1347567"/>
            <a:ext cx="5276850" cy="5276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2FB9D9-67E0-D0CF-C7DD-31F88CD633BC}"/>
                  </a:ext>
                </a:extLst>
              </p:cNvPr>
              <p:cNvSpPr txBox="1"/>
              <p:nvPr/>
            </p:nvSpPr>
            <p:spPr>
              <a:xfrm>
                <a:off x="246351" y="4740640"/>
                <a:ext cx="6086715" cy="94160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dirty="0" smtClean="0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200" b="0" i="0" dirty="0" smtClean="0">
                                          <a:solidFill>
                                            <a:srgbClr val="1820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0" dirty="0" smtClean="0">
                                          <a:solidFill>
                                            <a:srgbClr val="1820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en-US" sz="2200" b="0" i="0" dirty="0" smtClean="0">
                                              <a:solidFill>
                                                <a:srgbClr val="182028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0" i="0" dirty="0" smtClean="0">
                                              <a:solidFill>
                                                <a:srgbClr val="182028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200" b="0" i="0" dirty="0" smtClean="0">
                                              <a:solidFill>
                                                <a:srgbClr val="182028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200" b="0" i="0" dirty="0" smtClean="0">
                                          <a:solidFill>
                                            <a:srgbClr val="1820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200" b="0" i="0" dirty="0" smtClean="0">
                                  <a:solidFill>
                                    <a:srgbClr val="182028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200" b="0" i="0" dirty="0" smtClean="0">
                                      <a:solidFill>
                                        <a:srgbClr val="182028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200" b="0" i="0" dirty="0" smtClean="0">
                                          <a:solidFill>
                                            <a:srgbClr val="1820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0" dirty="0" smtClean="0">
                                          <a:solidFill>
                                            <a:srgbClr val="1820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en-US" sz="2200" b="0" i="0" dirty="0" smtClean="0">
                                              <a:solidFill>
                                                <a:srgbClr val="182028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0" i="0" dirty="0" smtClean="0">
                                              <a:solidFill>
                                                <a:srgbClr val="182028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200" b="0" i="0" dirty="0" smtClean="0">
                                              <a:solidFill>
                                                <a:srgbClr val="182028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200" b="0" i="0" dirty="0" smtClean="0">
                                          <a:solidFill>
                                            <a:srgbClr val="1820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sz="22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2FB9D9-67E0-D0CF-C7DD-31F88CD63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51" y="4740640"/>
                <a:ext cx="6086715" cy="941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6DD21-63E4-C878-8FEF-87CE4660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8A956B-BC3A-81B5-AC6F-FF4C132BCEA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FEA06CC-B1FA-54C1-D113-1422AB3886F4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3CEE121-1416-2C96-9281-0C8E6B5975F0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02900FD-F18D-12F0-DEDE-69818B36CCDE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E494E66-C3D3-65DC-009B-178FB1F8B77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DF49F04-01BD-531B-F9D3-FB5D72F58A7B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AB694C-33E9-9BE3-FBA1-54F40573C28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D629B-0721-A4AF-7D14-BD473DC71D33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106FB4-7E31-A363-D562-00D0766E4578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STARTING CONCEPTS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1EAD5-CBC5-96DE-7C46-1B1AD3D10721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Fourier Transform 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5E22E42-3B5D-6C40-3D5F-6681534B0130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DABD2C2-A74B-6150-F96A-42CB5803A04B}"/>
              </a:ext>
            </a:extLst>
          </p:cNvPr>
          <p:cNvSpPr/>
          <p:nvPr/>
        </p:nvSpPr>
        <p:spPr>
          <a:xfrm>
            <a:off x="653796" y="1959655"/>
            <a:ext cx="3520440" cy="107624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C431C5-7BC4-B23A-330E-2658107DD6C8}"/>
              </a:ext>
            </a:extLst>
          </p:cNvPr>
          <p:cNvSpPr/>
          <p:nvPr/>
        </p:nvSpPr>
        <p:spPr>
          <a:xfrm>
            <a:off x="612648" y="1959656"/>
            <a:ext cx="68213" cy="107624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94AA1D-5DCB-28F0-2A91-EF8E36B4CCA7}"/>
              </a:ext>
            </a:extLst>
          </p:cNvPr>
          <p:cNvSpPr txBox="1"/>
          <p:nvPr/>
        </p:nvSpPr>
        <p:spPr>
          <a:xfrm>
            <a:off x="4472178" y="230999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Time Domain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A30C59-B35F-D9CF-3586-5DFA74896194}"/>
              </a:ext>
            </a:extLst>
          </p:cNvPr>
          <p:cNvSpPr txBox="1"/>
          <p:nvPr/>
        </p:nvSpPr>
        <p:spPr>
          <a:xfrm>
            <a:off x="1184148" y="2133306"/>
            <a:ext cx="2826230" cy="682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2200" b="0" i="0" dirty="0">
                <a:solidFill>
                  <a:srgbClr val="182028"/>
                </a:solidFill>
                <a:latin typeface="Aptos"/>
              </a:rPr>
              <a:t>What is the signal doing over time?</a:t>
            </a:r>
            <a:endParaRPr sz="22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C23227-5591-E0A4-11CC-C53487227B66}"/>
                  </a:ext>
                </a:extLst>
              </p:cNvPr>
              <p:cNvSpPr txBox="1"/>
              <p:nvPr/>
            </p:nvSpPr>
            <p:spPr>
              <a:xfrm>
                <a:off x="246351" y="4740640"/>
                <a:ext cx="6086715" cy="7451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sz="22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C23227-5591-E0A4-11CC-C53487227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51" y="4740640"/>
                <a:ext cx="6086715" cy="745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A240E605-6902-7224-D525-DBB66DDBEC1A}"/>
              </a:ext>
            </a:extLst>
          </p:cNvPr>
          <p:cNvSpPr/>
          <p:nvPr/>
        </p:nvSpPr>
        <p:spPr>
          <a:xfrm>
            <a:off x="639713" y="3439724"/>
            <a:ext cx="3520440" cy="1117746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247EF4-F519-1C80-7307-E0F3244198B0}"/>
              </a:ext>
            </a:extLst>
          </p:cNvPr>
          <p:cNvSpPr/>
          <p:nvPr/>
        </p:nvSpPr>
        <p:spPr>
          <a:xfrm>
            <a:off x="639713" y="3439724"/>
            <a:ext cx="82296" cy="1117746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393821-90AE-D6A9-2D80-7C2EBE1FBA40}"/>
              </a:ext>
            </a:extLst>
          </p:cNvPr>
          <p:cNvSpPr txBox="1"/>
          <p:nvPr/>
        </p:nvSpPr>
        <p:spPr>
          <a:xfrm>
            <a:off x="4472178" y="383400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Frequency Domain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7E41DD-AA96-7CB4-82E2-678FAF7A7EA4}"/>
              </a:ext>
            </a:extLst>
          </p:cNvPr>
          <p:cNvSpPr txBox="1"/>
          <p:nvPr/>
        </p:nvSpPr>
        <p:spPr>
          <a:xfrm>
            <a:off x="1184148" y="3657317"/>
            <a:ext cx="2826230" cy="682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2200" b="0" i="0" dirty="0">
                <a:solidFill>
                  <a:srgbClr val="182028"/>
                </a:solidFill>
                <a:latin typeface="Aptos"/>
              </a:rPr>
              <a:t>What frequencies make up the signal?</a:t>
            </a:r>
            <a:endParaRPr sz="22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1436AF7-0EC3-9034-DD80-F7057FB012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30" r="51296" b="20344"/>
          <a:stretch>
            <a:fillRect/>
          </a:stretch>
        </p:blipFill>
        <p:spPr>
          <a:xfrm>
            <a:off x="7023048" y="384047"/>
            <a:ext cx="4361430" cy="29575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EDA1B74-29CE-6394-89D6-E86816BD05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06" t="3721" b="23553"/>
          <a:stretch>
            <a:fillRect/>
          </a:stretch>
        </p:blipFill>
        <p:spPr>
          <a:xfrm>
            <a:off x="7297170" y="3589255"/>
            <a:ext cx="4306805" cy="29575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B9C8A5-3BD5-BCFF-8BC5-5D27E8738FFE}"/>
              </a:ext>
            </a:extLst>
          </p:cNvPr>
          <p:cNvSpPr txBox="1"/>
          <p:nvPr/>
        </p:nvSpPr>
        <p:spPr>
          <a:xfrm>
            <a:off x="722009" y="5844384"/>
            <a:ext cx="86904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 dirty="0">
                <a:solidFill>
                  <a:srgbClr val="17324D"/>
                </a:solidFill>
                <a:latin typeface="Aptos"/>
                <a:hlinkClick r:id="rId5"/>
              </a:rPr>
              <a:t>Demo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72614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54411-2812-EC3C-0EE0-7C0306D5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29D5CB-ED62-E345-4A47-1437B5933AB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056CE9D-AA26-50E2-7199-19B31680CBE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DF6E26CA-E53F-6CED-5515-49C75E485A16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E6C5610-92A7-E1CF-A826-5D8321B3BECD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80D87581-13BB-411F-BDBD-4F69058D737E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C99B0B6-9CCF-4DA6-2FF9-F23D521D629E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F27701-2C0C-9391-46D7-6F89E05333F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F1C37-B113-6E56-8BAE-38E4E4AD8A0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4E538-DF70-A355-640B-74DD502341BB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STARTING CONCEPTS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EA478-EC47-9739-8FB8-32D88B61F4FD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The Fourier Transform 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8CE7101-A6E0-EF58-818E-7B7C77464849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3F8D41-F345-625B-2510-4E54AF6835CC}"/>
              </a:ext>
            </a:extLst>
          </p:cNvPr>
          <p:cNvSpPr/>
          <p:nvPr/>
        </p:nvSpPr>
        <p:spPr>
          <a:xfrm>
            <a:off x="653796" y="1959655"/>
            <a:ext cx="3520440" cy="1076243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FA83F9-5C7D-4FC8-9AA9-50FC333E66EF}"/>
              </a:ext>
            </a:extLst>
          </p:cNvPr>
          <p:cNvSpPr/>
          <p:nvPr/>
        </p:nvSpPr>
        <p:spPr>
          <a:xfrm>
            <a:off x="612648" y="1959656"/>
            <a:ext cx="68213" cy="107624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C50E09-CC5F-1C90-2588-539B40365E75}"/>
              </a:ext>
            </a:extLst>
          </p:cNvPr>
          <p:cNvSpPr txBox="1"/>
          <p:nvPr/>
        </p:nvSpPr>
        <p:spPr>
          <a:xfrm>
            <a:off x="4472178" y="230999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Time Domain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2C20B-B3F1-466C-2329-7A5DC6CEBD76}"/>
              </a:ext>
            </a:extLst>
          </p:cNvPr>
          <p:cNvSpPr txBox="1"/>
          <p:nvPr/>
        </p:nvSpPr>
        <p:spPr>
          <a:xfrm>
            <a:off x="1184148" y="2133306"/>
            <a:ext cx="2826230" cy="682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2200" b="0" i="0" dirty="0">
                <a:solidFill>
                  <a:srgbClr val="182028"/>
                </a:solidFill>
                <a:latin typeface="Aptos"/>
              </a:rPr>
              <a:t>What is the signal doing over time?</a:t>
            </a:r>
            <a:endParaRPr sz="22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756F95-92B1-9056-7091-7C46CD55BD3B}"/>
                  </a:ext>
                </a:extLst>
              </p:cNvPr>
              <p:cNvSpPr txBox="1"/>
              <p:nvPr/>
            </p:nvSpPr>
            <p:spPr>
              <a:xfrm>
                <a:off x="246351" y="4740640"/>
                <a:ext cx="6086715" cy="7451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200" b="0" i="0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2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sz="22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756F95-92B1-9056-7091-7C46CD55B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51" y="4740640"/>
                <a:ext cx="6086715" cy="745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A26A7F7B-98E9-A6FE-52F6-8BF005511AB9}"/>
              </a:ext>
            </a:extLst>
          </p:cNvPr>
          <p:cNvSpPr/>
          <p:nvPr/>
        </p:nvSpPr>
        <p:spPr>
          <a:xfrm>
            <a:off x="639713" y="3439724"/>
            <a:ext cx="3520440" cy="1117746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9E0552-043D-7B9E-E0D7-0DE04FF0CE71}"/>
              </a:ext>
            </a:extLst>
          </p:cNvPr>
          <p:cNvSpPr/>
          <p:nvPr/>
        </p:nvSpPr>
        <p:spPr>
          <a:xfrm>
            <a:off x="639713" y="3439724"/>
            <a:ext cx="82296" cy="1117746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BD2403-B24E-7DAA-D310-408B63B11B52}"/>
              </a:ext>
            </a:extLst>
          </p:cNvPr>
          <p:cNvSpPr txBox="1"/>
          <p:nvPr/>
        </p:nvSpPr>
        <p:spPr>
          <a:xfrm>
            <a:off x="4472178" y="383400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Frequency Domain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837179-61C7-9EB4-EED6-E26D95E20DDB}"/>
              </a:ext>
            </a:extLst>
          </p:cNvPr>
          <p:cNvSpPr txBox="1"/>
          <p:nvPr/>
        </p:nvSpPr>
        <p:spPr>
          <a:xfrm>
            <a:off x="1184148" y="3657317"/>
            <a:ext cx="2826230" cy="682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2200" b="0" i="0" dirty="0">
                <a:solidFill>
                  <a:srgbClr val="182028"/>
                </a:solidFill>
                <a:latin typeface="Aptos"/>
              </a:rPr>
              <a:t>What frequencies make up the signal?</a:t>
            </a:r>
            <a:endParaRPr sz="22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FA31B6-A9E6-8978-D20B-BC523C135CA5}"/>
              </a:ext>
            </a:extLst>
          </p:cNvPr>
          <p:cNvSpPr txBox="1"/>
          <p:nvPr/>
        </p:nvSpPr>
        <p:spPr>
          <a:xfrm>
            <a:off x="722009" y="5844384"/>
            <a:ext cx="86904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 dirty="0">
                <a:solidFill>
                  <a:srgbClr val="17324D"/>
                </a:solidFill>
                <a:latin typeface="Aptos"/>
                <a:hlinkClick r:id="rId4"/>
              </a:rPr>
              <a:t>Demo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820FDB-BD07-5F3A-5B8D-A39DBA8BC6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99" t="7468" r="50781" b="30390"/>
          <a:stretch>
            <a:fillRect/>
          </a:stretch>
        </p:blipFill>
        <p:spPr>
          <a:xfrm>
            <a:off x="6916980" y="682789"/>
            <a:ext cx="4695900" cy="25978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83167A5-592A-7A94-060B-225EE7FF6F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418" t="2688" r="362" b="24672"/>
          <a:stretch>
            <a:fillRect/>
          </a:stretch>
        </p:blipFill>
        <p:spPr>
          <a:xfrm>
            <a:off x="6916980" y="3380140"/>
            <a:ext cx="4695900" cy="303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02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dirty="0">
                <a:solidFill>
                  <a:srgbClr val="0F6D74"/>
                </a:solidFill>
                <a:latin typeface="Aptos"/>
              </a:rPr>
              <a:t>QUANTITATIVE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Core ideas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203109"/>
              </p:ext>
            </p:extLst>
          </p:nvPr>
        </p:nvGraphicFramePr>
        <p:xfrm>
          <a:off x="545592" y="1830805"/>
          <a:ext cx="4864608" cy="1899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938">
                <a:tc>
                  <a:txBody>
                    <a:bodyPr/>
                    <a:lstStyle/>
                    <a:p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  <a:endParaRPr sz="125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  <a:endParaRPr sz="125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85"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time domain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View of signal amplitude as a function of time.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2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frequency domain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View of how signal energy or amplitude is distributed across frequency.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E84E692A-EDDD-FFF9-64B9-DE28198CCE67}"/>
              </a:ext>
            </a:extLst>
          </p:cNvPr>
          <p:cNvSpPr/>
          <p:nvPr/>
        </p:nvSpPr>
        <p:spPr>
          <a:xfrm>
            <a:off x="1236687" y="4328534"/>
            <a:ext cx="3276600" cy="14497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6E23B9-120E-74F5-6CA0-3F2868E207A2}"/>
              </a:ext>
            </a:extLst>
          </p:cNvPr>
          <p:cNvSpPr/>
          <p:nvPr/>
        </p:nvSpPr>
        <p:spPr>
          <a:xfrm>
            <a:off x="1236687" y="4328534"/>
            <a:ext cx="82296" cy="14497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22B780-70E5-C484-4C9C-E31CE5690F51}"/>
                  </a:ext>
                </a:extLst>
              </p:cNvPr>
              <p:cNvSpPr txBox="1"/>
              <p:nvPr/>
            </p:nvSpPr>
            <p:spPr>
              <a:xfrm>
                <a:off x="1465287" y="4493126"/>
                <a:ext cx="2865120" cy="80663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22B780-70E5-C484-4C9C-E31CE5690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287" y="4493126"/>
                <a:ext cx="2865120" cy="806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819C3609-A1F2-75E8-C0AB-8455A777B65C}"/>
              </a:ext>
            </a:extLst>
          </p:cNvPr>
          <p:cNvSpPr txBox="1"/>
          <p:nvPr/>
        </p:nvSpPr>
        <p:spPr>
          <a:xfrm>
            <a:off x="1465287" y="5325709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Period and frequency</a:t>
            </a:r>
          </a:p>
        </p:txBody>
      </p: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2F025C9A-80D6-7990-E59C-BAB2F1193D13}"/>
              </a:ext>
            </a:extLst>
          </p:cNvPr>
          <p:cNvSpPr/>
          <p:nvPr/>
        </p:nvSpPr>
        <p:spPr>
          <a:xfrm>
            <a:off x="7055556" y="29604"/>
            <a:ext cx="1645356" cy="504712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Recall: Filters</a:t>
            </a:r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9EA179-4167-2EE5-40F1-DC3CECE63B36}"/>
              </a:ext>
            </a:extLst>
          </p:cNvPr>
          <p:cNvSpPr/>
          <p:nvPr/>
        </p:nvSpPr>
        <p:spPr>
          <a:xfrm>
            <a:off x="7055556" y="29604"/>
            <a:ext cx="82296" cy="504712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874CD48-58BC-29F4-6625-1927C5EC0A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23547" y="384048"/>
            <a:ext cx="3844544" cy="216370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CC72179-48A5-4AC5-EA5C-A30B97CF53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81802" y="2320452"/>
            <a:ext cx="4123674" cy="232080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38BC633-B34F-A877-32C1-1047F036E7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899748" y="4493126"/>
            <a:ext cx="3844544" cy="21637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COMPARE BEFORE MEMORIZING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Harmonics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5079555"/>
                  </p:ext>
                </p:extLst>
              </p:nvPr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d: </a:t>
                          </a:r>
                          <a:r>
                            <a:rPr lang="en-US" sz="1200" dirty="0"/>
                            <a:t>1, 3, 5, 7, 9 … [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skw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decay]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5079555"/>
                  </p:ext>
                </p:extLst>
              </p:nvPr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3"/>
                          <a:stretch>
                            <a:fillRect l="-43117" t="-203279" r="-72065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9D02B774-40BA-6E55-C380-A3DCA3D834D8}"/>
              </a:ext>
            </a:extLst>
          </p:cNvPr>
          <p:cNvSpPr/>
          <p:nvPr/>
        </p:nvSpPr>
        <p:spPr>
          <a:xfrm>
            <a:off x="8052816" y="1494084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27B68B-61DA-9DFF-3891-0ED5F1B51871}"/>
              </a:ext>
            </a:extLst>
          </p:cNvPr>
          <p:cNvSpPr/>
          <p:nvPr/>
        </p:nvSpPr>
        <p:spPr>
          <a:xfrm>
            <a:off x="8052816" y="1494084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73F0EB-432B-94C3-B692-DE62E1B9087E}"/>
                  </a:ext>
                </a:extLst>
              </p:cNvPr>
              <p:cNvSpPr txBox="1"/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73F0EB-432B-94C3-B692-DE62E1B90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169EAC55-0B88-8800-20B5-681909E39462}"/>
              </a:ext>
            </a:extLst>
          </p:cNvPr>
          <p:cNvSpPr txBox="1"/>
          <p:nvPr/>
        </p:nvSpPr>
        <p:spPr>
          <a:xfrm>
            <a:off x="8372856" y="2286000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Harmonic locations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117CDF45-FD96-4194-B3A4-C429C64A2A95}"/>
              </a:ext>
            </a:extLst>
          </p:cNvPr>
          <p:cNvSpPr/>
          <p:nvPr/>
        </p:nvSpPr>
        <p:spPr>
          <a:xfrm>
            <a:off x="8052816" y="3241803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CD605B-1836-F488-CEC2-0577A5FC522D}"/>
              </a:ext>
            </a:extLst>
          </p:cNvPr>
          <p:cNvSpPr/>
          <p:nvPr/>
        </p:nvSpPr>
        <p:spPr>
          <a:xfrm>
            <a:off x="8052816" y="3241803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6E42BE-EEEB-38F4-94A6-42788123CDA3}"/>
              </a:ext>
            </a:extLst>
          </p:cNvPr>
          <p:cNvSpPr txBox="1"/>
          <p:nvPr/>
        </p:nvSpPr>
        <p:spPr>
          <a:xfrm>
            <a:off x="8281416" y="3406395"/>
            <a:ext cx="286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7324D"/>
                </a:solidFill>
                <a:latin typeface="Aptos"/>
              </a:rPr>
              <a:t>fundamental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B9CD95-A25A-3260-F98A-2EEB0EFE095C}"/>
              </a:ext>
            </a:extLst>
          </p:cNvPr>
          <p:cNvSpPr txBox="1"/>
          <p:nvPr/>
        </p:nvSpPr>
        <p:spPr>
          <a:xfrm>
            <a:off x="8281416" y="3845307"/>
            <a:ext cx="28651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The lowest-frequency periodic component associated with a repeating waveform.</a:t>
            </a:r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3FEE9A44-9737-B0F3-1B61-8F1194DEA5D0}"/>
              </a:ext>
            </a:extLst>
          </p:cNvPr>
          <p:cNvSpPr/>
          <p:nvPr/>
        </p:nvSpPr>
        <p:spPr>
          <a:xfrm>
            <a:off x="8052816" y="4989522"/>
            <a:ext cx="3276600" cy="14497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0E4B5A-4B8A-831A-3E0A-A15ED8B75BDB}"/>
              </a:ext>
            </a:extLst>
          </p:cNvPr>
          <p:cNvSpPr/>
          <p:nvPr/>
        </p:nvSpPr>
        <p:spPr>
          <a:xfrm>
            <a:off x="8052816" y="4989522"/>
            <a:ext cx="82296" cy="14497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9D13CE3-BA13-BF3B-C880-5AC23F6DF9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0638" y="4094854"/>
            <a:ext cx="5949244" cy="237909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6A5CE9B-A35B-920E-D12B-2FB85DA409FA}"/>
              </a:ext>
            </a:extLst>
          </p:cNvPr>
          <p:cNvSpPr txBox="1"/>
          <p:nvPr/>
        </p:nvSpPr>
        <p:spPr>
          <a:xfrm>
            <a:off x="8281416" y="5146433"/>
            <a:ext cx="286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7324D"/>
                </a:solidFill>
                <a:latin typeface="Aptos"/>
              </a:rPr>
              <a:t>harmonic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1CC32B-A7A7-6116-8CF8-6AC00EB46498}"/>
              </a:ext>
            </a:extLst>
          </p:cNvPr>
          <p:cNvSpPr txBox="1"/>
          <p:nvPr/>
        </p:nvSpPr>
        <p:spPr>
          <a:xfrm>
            <a:off x="8281416" y="5585345"/>
            <a:ext cx="28651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the extra sine waves that combine to give a waveform its shape.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15121-5FFE-6CA0-4665-92CCCCE9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394AF4E-1AD8-6403-BE99-36188A49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2104" y="4093880"/>
            <a:ext cx="5945098" cy="2377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4A7F65-611C-547D-D8F9-D5EDC15A983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C23B57F-1175-04A0-77E1-64BD829EA2B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D59F975E-4850-2DFA-2B97-90CDEBE19470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41DD953-FBED-5CC6-B590-788983D850DA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AD5EE46-74A1-AF9B-391B-A0AB6552AD15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2D8FC47-D7B3-C9FB-F8F3-721975B067DF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B09D23-2D4A-640E-14A0-1EA4A2A8579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033D-C170-3DE8-7F5D-3A49BB213858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65512F-8EA4-063B-2EA0-9D60C315CE7D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COMPARE BEFORE MEMORIZING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D1D71-F60C-9A68-90BC-7E5888DD0D6B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Harmonics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6335FC0-73C7-4F66-4687-C4D878D8702A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EB2CFE8-7189-AB76-4F7B-D1A3D7B5411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d: </a:t>
                          </a:r>
                          <a:r>
                            <a:rPr lang="en-US" sz="1200" dirty="0"/>
                            <a:t>1, 3, 5, 7, 9 … [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skw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decay]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EB2CFE8-7189-AB76-4F7B-D1A3D7B5411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4"/>
                          <a:stretch>
                            <a:fillRect l="-43117" t="-203279" r="-72065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85B9FFEB-5142-3E8F-8A89-A068CC99D508}"/>
              </a:ext>
            </a:extLst>
          </p:cNvPr>
          <p:cNvSpPr/>
          <p:nvPr/>
        </p:nvSpPr>
        <p:spPr>
          <a:xfrm>
            <a:off x="8052816" y="1494084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A5485A-8E61-9FFD-C4F9-D0FB126C55C4}"/>
              </a:ext>
            </a:extLst>
          </p:cNvPr>
          <p:cNvSpPr/>
          <p:nvPr/>
        </p:nvSpPr>
        <p:spPr>
          <a:xfrm>
            <a:off x="8052816" y="1494084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F34ED4C-C922-D8BB-1F7E-CFBFBA143CBA}"/>
                  </a:ext>
                </a:extLst>
              </p:cNvPr>
              <p:cNvSpPr txBox="1"/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F34ED4C-C922-D8BB-1F7E-CFBFBA143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D30834A-ECBC-0717-BE00-D0DF5F38D18B}"/>
              </a:ext>
            </a:extLst>
          </p:cNvPr>
          <p:cNvSpPr txBox="1"/>
          <p:nvPr/>
        </p:nvSpPr>
        <p:spPr>
          <a:xfrm>
            <a:off x="8372856" y="2286000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Harmonic locations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233FDBB9-4A59-23A2-E3FB-920DD50DC8F9}"/>
              </a:ext>
            </a:extLst>
          </p:cNvPr>
          <p:cNvSpPr/>
          <p:nvPr/>
        </p:nvSpPr>
        <p:spPr>
          <a:xfrm>
            <a:off x="8052816" y="3241803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A5274B-6D50-9892-D606-656F80DC6144}"/>
              </a:ext>
            </a:extLst>
          </p:cNvPr>
          <p:cNvSpPr/>
          <p:nvPr/>
        </p:nvSpPr>
        <p:spPr>
          <a:xfrm>
            <a:off x="8052816" y="3241803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8594A9-3F5D-9452-30E9-BFA5E19F986E}"/>
              </a:ext>
            </a:extLst>
          </p:cNvPr>
          <p:cNvSpPr txBox="1"/>
          <p:nvPr/>
        </p:nvSpPr>
        <p:spPr>
          <a:xfrm>
            <a:off x="8281416" y="3406395"/>
            <a:ext cx="286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7324D"/>
                </a:solidFill>
                <a:latin typeface="Aptos"/>
              </a:rPr>
              <a:t>fundamental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E5A8CF-FA51-1FC8-70B3-9F4663C95244}"/>
              </a:ext>
            </a:extLst>
          </p:cNvPr>
          <p:cNvSpPr txBox="1"/>
          <p:nvPr/>
        </p:nvSpPr>
        <p:spPr>
          <a:xfrm>
            <a:off x="8281416" y="3845307"/>
            <a:ext cx="28651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The lowest-frequency periodic component associated with a repeating waveform.</a:t>
            </a:r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955F7D04-692F-4D13-42B1-1C963C507BE0}"/>
              </a:ext>
            </a:extLst>
          </p:cNvPr>
          <p:cNvSpPr/>
          <p:nvPr/>
        </p:nvSpPr>
        <p:spPr>
          <a:xfrm>
            <a:off x="8052816" y="4989522"/>
            <a:ext cx="3276600" cy="14497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706755-B0FD-19B0-EBB2-5C396A84863F}"/>
              </a:ext>
            </a:extLst>
          </p:cNvPr>
          <p:cNvSpPr/>
          <p:nvPr/>
        </p:nvSpPr>
        <p:spPr>
          <a:xfrm>
            <a:off x="8052816" y="4989522"/>
            <a:ext cx="82296" cy="14497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D48444-672D-5A54-C01E-3E063A5D78C8}"/>
              </a:ext>
            </a:extLst>
          </p:cNvPr>
          <p:cNvSpPr txBox="1"/>
          <p:nvPr/>
        </p:nvSpPr>
        <p:spPr>
          <a:xfrm>
            <a:off x="8281416" y="5146433"/>
            <a:ext cx="286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7324D"/>
                </a:solidFill>
                <a:latin typeface="Aptos"/>
              </a:rPr>
              <a:t>harmonic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5FC48-1A2E-9BC3-9AF2-5906FDB10C58}"/>
              </a:ext>
            </a:extLst>
          </p:cNvPr>
          <p:cNvSpPr txBox="1"/>
          <p:nvPr/>
        </p:nvSpPr>
        <p:spPr>
          <a:xfrm>
            <a:off x="8281416" y="5585345"/>
            <a:ext cx="28651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A frequency that is a whole-number multiple of the fundamental frequency</a:t>
            </a:r>
          </a:p>
        </p:txBody>
      </p:sp>
    </p:spTree>
    <p:extLst>
      <p:ext uri="{BB962C8B-B14F-4D97-AF65-F5344CB8AC3E}">
        <p14:creationId xmlns:p14="http://schemas.microsoft.com/office/powerpoint/2010/main" val="650984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5DB65-5625-E918-E24D-D0082E3E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6EC446-DB66-7C1E-BA29-6823010A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2104" y="4099410"/>
            <a:ext cx="5945099" cy="2377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B9C3DE-A622-7040-2C3B-58A081C4B43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0B522655-2500-B718-4A3A-3B9B01BB0E5F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DC0FCAF-DF48-4BB3-2DAE-683EBE6652C8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F8A03C1-4312-570E-1B0A-600B9B62C49E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E83117F-6104-EA08-C65F-C7CD43596A1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24AC486-8D22-78D6-03D4-ACA45EFA36AE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74546B-83B7-61AA-D857-C63A78B1ABDD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CAC55B-0D05-9645-E8A7-EA8DAFC3B6B7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A78EC2-F8A4-A8F8-82E1-4EF6EE8A1413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COMPARE BEFORE MEMORIZING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E9031-AF92-3A75-2EC9-0BED9C17736D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Harmonics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00CB0702-E3E7-5B4A-C5D5-42035BD7D343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3EA30D3-D4A7-9DD0-16FE-76132FD03E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d: </a:t>
                          </a:r>
                          <a:r>
                            <a:rPr lang="en-US" sz="1200" dirty="0"/>
                            <a:t>1, 3, 5, 7, 9 … [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skw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decay]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3EA30D3-D4A7-9DD0-16FE-76132FD03E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4"/>
                          <a:stretch>
                            <a:fillRect l="-43117" t="-203279" r="-72065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105BA693-E3ED-B0BD-E6C1-5A94E66EECF0}"/>
              </a:ext>
            </a:extLst>
          </p:cNvPr>
          <p:cNvSpPr/>
          <p:nvPr/>
        </p:nvSpPr>
        <p:spPr>
          <a:xfrm>
            <a:off x="8052816" y="1494084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A4E093-75EB-0507-0A41-8F2DC120AB74}"/>
              </a:ext>
            </a:extLst>
          </p:cNvPr>
          <p:cNvSpPr/>
          <p:nvPr/>
        </p:nvSpPr>
        <p:spPr>
          <a:xfrm>
            <a:off x="8052816" y="1494084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2AB2F5-39CB-9891-8446-BDFACAFA0448}"/>
                  </a:ext>
                </a:extLst>
              </p:cNvPr>
              <p:cNvSpPr txBox="1"/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2AB2F5-39CB-9891-8446-BDFACAFA0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D65749D1-8665-BC37-F0F7-87F06C67B20B}"/>
              </a:ext>
            </a:extLst>
          </p:cNvPr>
          <p:cNvSpPr txBox="1"/>
          <p:nvPr/>
        </p:nvSpPr>
        <p:spPr>
          <a:xfrm>
            <a:off x="8372856" y="2286000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Harmonic locations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AB285A4F-26DA-9C9D-D275-C215DAFB02C1}"/>
              </a:ext>
            </a:extLst>
          </p:cNvPr>
          <p:cNvSpPr/>
          <p:nvPr/>
        </p:nvSpPr>
        <p:spPr>
          <a:xfrm>
            <a:off x="8052816" y="3241803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41143A-341D-DA39-ADCE-718014C095CB}"/>
              </a:ext>
            </a:extLst>
          </p:cNvPr>
          <p:cNvSpPr/>
          <p:nvPr/>
        </p:nvSpPr>
        <p:spPr>
          <a:xfrm>
            <a:off x="8052816" y="3241803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326876-A7AF-B907-2563-4A59B52D9236}"/>
              </a:ext>
            </a:extLst>
          </p:cNvPr>
          <p:cNvSpPr txBox="1"/>
          <p:nvPr/>
        </p:nvSpPr>
        <p:spPr>
          <a:xfrm>
            <a:off x="8281416" y="3406395"/>
            <a:ext cx="286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7324D"/>
                </a:solidFill>
                <a:latin typeface="Aptos"/>
              </a:rPr>
              <a:t>fundamental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0807EB-1B3B-6A2A-AA20-EC675A5F3AB8}"/>
              </a:ext>
            </a:extLst>
          </p:cNvPr>
          <p:cNvSpPr txBox="1"/>
          <p:nvPr/>
        </p:nvSpPr>
        <p:spPr>
          <a:xfrm>
            <a:off x="8281416" y="3845307"/>
            <a:ext cx="28651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The lowest-frequency periodic component associated with a repeating waveform.</a:t>
            </a:r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E3827DA6-AF89-F262-4DF1-AF188A9EA773}"/>
              </a:ext>
            </a:extLst>
          </p:cNvPr>
          <p:cNvSpPr/>
          <p:nvPr/>
        </p:nvSpPr>
        <p:spPr>
          <a:xfrm>
            <a:off x="8052816" y="4989522"/>
            <a:ext cx="3276600" cy="14497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5B8628-6B7B-3982-15F9-9811F21CD7A9}"/>
              </a:ext>
            </a:extLst>
          </p:cNvPr>
          <p:cNvSpPr/>
          <p:nvPr/>
        </p:nvSpPr>
        <p:spPr>
          <a:xfrm>
            <a:off x="8052816" y="4989522"/>
            <a:ext cx="82296" cy="14497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A13C9B-E034-F910-57D2-6BBC5D109B6E}"/>
              </a:ext>
            </a:extLst>
          </p:cNvPr>
          <p:cNvSpPr txBox="1"/>
          <p:nvPr/>
        </p:nvSpPr>
        <p:spPr>
          <a:xfrm>
            <a:off x="8424672" y="5245719"/>
            <a:ext cx="26441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Rapid changes in time require </a:t>
            </a:r>
            <a:r>
              <a:rPr lang="en-US" sz="1600" b="1" dirty="0">
                <a:solidFill>
                  <a:srgbClr val="182028"/>
                </a:solidFill>
                <a:latin typeface="Aptos"/>
              </a:rPr>
              <a:t>more </a:t>
            </a:r>
            <a:r>
              <a:rPr lang="en-US" sz="1600" dirty="0">
                <a:solidFill>
                  <a:srgbClr val="182028"/>
                </a:solidFill>
                <a:latin typeface="Aptos"/>
              </a:rPr>
              <a:t>high-frequency content.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402469-4DAE-2410-BC7A-4F61814760DF}"/>
              </a:ext>
            </a:extLst>
          </p:cNvPr>
          <p:cNvSpPr txBox="1"/>
          <p:nvPr/>
        </p:nvSpPr>
        <p:spPr>
          <a:xfrm>
            <a:off x="8479536" y="5946609"/>
            <a:ext cx="86904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 dirty="0">
                <a:solidFill>
                  <a:srgbClr val="17324D"/>
                </a:solidFill>
                <a:latin typeface="Aptos"/>
                <a:hlinkClick r:id="rId6"/>
              </a:rPr>
              <a:t>Demo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4612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A9241-A230-0119-1C2D-E7DDAD5CF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1FC4567-CB83-43AD-E2B3-ABC9FDB923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2104" y="4100215"/>
            <a:ext cx="5945096" cy="23774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56CD97-D6C9-E68F-77FD-B616BFA1025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4D951E87-94CB-E93C-84E0-CAF7D3F231D8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AA4802C-2426-236D-144F-25CD71599DD3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2166563-B250-2699-915E-9F7612D6436B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195D875-8F19-3F72-D364-7DAA46D4AD03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6788BFE1-F650-828D-C4C0-929418E73552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D6E6F23-A7F2-7374-186F-888F7D7D6098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5AA7E-9135-2311-B131-39D2CFD6F243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5F48A-2439-2A41-7298-4E82ECCA6FC1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COMPARE BEFORE MEMORIZING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0DD3F5-24BB-CF0D-2ADA-098819CC8984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Harmonics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098C0344-6D04-7E8D-A42B-C21F99F2B8B7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8211A78-BBEB-25CB-26AC-C423B3581A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d: </a:t>
                          </a:r>
                          <a:r>
                            <a:rPr lang="en-US" sz="1200" dirty="0"/>
                            <a:t>1, 3, 5, 7, 9 … [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skw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decay]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8211A78-BBEB-25CB-26AC-C423B3581A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4"/>
                          <a:stretch>
                            <a:fillRect l="-43117" t="-203279" r="-72065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8357E0B8-C072-A630-E6E8-F46D9087F2CF}"/>
              </a:ext>
            </a:extLst>
          </p:cNvPr>
          <p:cNvSpPr/>
          <p:nvPr/>
        </p:nvSpPr>
        <p:spPr>
          <a:xfrm>
            <a:off x="8052816" y="1494084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902C0D-1047-5C16-7FD3-BC9FF0033928}"/>
              </a:ext>
            </a:extLst>
          </p:cNvPr>
          <p:cNvSpPr/>
          <p:nvPr/>
        </p:nvSpPr>
        <p:spPr>
          <a:xfrm>
            <a:off x="8052816" y="1494084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50E10A8-3F47-A629-E1F5-4D98BCC6A483}"/>
                  </a:ext>
                </a:extLst>
              </p:cNvPr>
              <p:cNvSpPr txBox="1"/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50E10A8-3F47-A629-E1F5-4D98BCC6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D7CB029-5705-57AE-CE5A-8C2E69EE8F8E}"/>
              </a:ext>
            </a:extLst>
          </p:cNvPr>
          <p:cNvSpPr txBox="1"/>
          <p:nvPr/>
        </p:nvSpPr>
        <p:spPr>
          <a:xfrm>
            <a:off x="8372856" y="2286000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Harmonic locations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6E488775-7058-7EC2-9CBC-D02A861F9379}"/>
              </a:ext>
            </a:extLst>
          </p:cNvPr>
          <p:cNvSpPr/>
          <p:nvPr/>
        </p:nvSpPr>
        <p:spPr>
          <a:xfrm>
            <a:off x="8052816" y="3241803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39ABD3-7754-1BF3-6089-BA7A7BBA3819}"/>
              </a:ext>
            </a:extLst>
          </p:cNvPr>
          <p:cNvSpPr/>
          <p:nvPr/>
        </p:nvSpPr>
        <p:spPr>
          <a:xfrm>
            <a:off x="8052816" y="3241803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E81582-B61A-507E-BC57-24F73AA397DD}"/>
              </a:ext>
            </a:extLst>
          </p:cNvPr>
          <p:cNvSpPr txBox="1"/>
          <p:nvPr/>
        </p:nvSpPr>
        <p:spPr>
          <a:xfrm>
            <a:off x="8281416" y="3406395"/>
            <a:ext cx="286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7324D"/>
                </a:solidFill>
                <a:latin typeface="Aptos"/>
              </a:rPr>
              <a:t>fundamental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DBCEE5-979C-D3E3-54E2-B716B61ACE8D}"/>
              </a:ext>
            </a:extLst>
          </p:cNvPr>
          <p:cNvSpPr txBox="1"/>
          <p:nvPr/>
        </p:nvSpPr>
        <p:spPr>
          <a:xfrm>
            <a:off x="8281416" y="3845307"/>
            <a:ext cx="28651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The lowest-frequency periodic component associated with a repeating waveform.</a:t>
            </a:r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22325E9F-2572-F0C9-96E5-832F54C2B76C}"/>
              </a:ext>
            </a:extLst>
          </p:cNvPr>
          <p:cNvSpPr/>
          <p:nvPr/>
        </p:nvSpPr>
        <p:spPr>
          <a:xfrm>
            <a:off x="8052816" y="4989522"/>
            <a:ext cx="3276600" cy="14497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BB5421-D423-053E-4075-0BE5BB339E3E}"/>
              </a:ext>
            </a:extLst>
          </p:cNvPr>
          <p:cNvSpPr/>
          <p:nvPr/>
        </p:nvSpPr>
        <p:spPr>
          <a:xfrm>
            <a:off x="8052816" y="4989522"/>
            <a:ext cx="82296" cy="14497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119891-A3DE-7558-3093-980B93280D3D}"/>
              </a:ext>
            </a:extLst>
          </p:cNvPr>
          <p:cNvSpPr txBox="1"/>
          <p:nvPr/>
        </p:nvSpPr>
        <p:spPr>
          <a:xfrm>
            <a:off x="8424672" y="5245719"/>
            <a:ext cx="26441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Rapid changes in time require </a:t>
            </a:r>
            <a:r>
              <a:rPr lang="en-US" sz="1600" b="1" dirty="0">
                <a:solidFill>
                  <a:srgbClr val="182028"/>
                </a:solidFill>
                <a:latin typeface="Aptos"/>
              </a:rPr>
              <a:t>more </a:t>
            </a:r>
            <a:r>
              <a:rPr lang="en-US" sz="1600" dirty="0">
                <a:solidFill>
                  <a:srgbClr val="182028"/>
                </a:solidFill>
                <a:latin typeface="Aptos"/>
              </a:rPr>
              <a:t>high-frequency content.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FAB695-ADE9-0B37-E949-C3CE04C21BBE}"/>
              </a:ext>
            </a:extLst>
          </p:cNvPr>
          <p:cNvSpPr txBox="1"/>
          <p:nvPr/>
        </p:nvSpPr>
        <p:spPr>
          <a:xfrm>
            <a:off x="8479536" y="5946609"/>
            <a:ext cx="86904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 dirty="0">
                <a:solidFill>
                  <a:srgbClr val="17324D"/>
                </a:solidFill>
                <a:latin typeface="Aptos"/>
                <a:hlinkClick r:id="rId6"/>
              </a:rPr>
              <a:t>Demo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60765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1AF09-02F0-37E2-6A80-A57C378F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C8A034F-D626-4371-D698-BF4B46FEA3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2101" y="4099503"/>
            <a:ext cx="5945099" cy="2377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E7A985-2F22-BD37-2093-77D8882EAFB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C04B36D-C99F-2D77-EEDB-8BA9347BD501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592003C-51F6-11F5-4AF2-F496EF74999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D4437194-C4E6-BBB8-EA48-9D660F08EF97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380E2A0-ADB3-B5F9-8D2A-D3CD3F6EAC67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D8208563-09F6-C222-2987-3D978927A03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03B9CE-D1FE-2589-8064-E269C5C91C87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324A95-CEEC-D76B-A6F3-0A0957FE272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56FEB-3E31-A427-0B8F-B0E1CF70E849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COMPARE BEFORE MEMORIZING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848509-466D-8E6B-1855-835A7B210420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Harmonics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440C551D-9358-B36A-BB56-03D500E71A90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3B5376CC-8B36-5078-8857-1A102AD7992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d: </a:t>
                          </a:r>
                          <a:r>
                            <a:rPr lang="en-US" sz="1200" dirty="0"/>
                            <a:t>1, 3, 5, 7, 9 … [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skw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decay]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3B5376CC-8B36-5078-8857-1A102AD7992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8368" y="1737360"/>
              <a:ext cx="6442344" cy="2226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33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1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74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097"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Waveform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Dominant spectral pattern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Relative Bandwidth</a:t>
                          </a:r>
                          <a:endParaRPr sz="11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Sine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One ideal tone</a:t>
                          </a:r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(fundamental only)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Narrowest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Triangle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4"/>
                          <a:stretch>
                            <a:fillRect l="-43117" t="-203279" r="-72065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Low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Square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n-NO" sz="11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Odd: </a:t>
                          </a:r>
                          <a:r>
                            <a:rPr lang="nn-NO" sz="1100" dirty="0"/>
                            <a:t>1, 3, 5, 7, 9 ...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Intermediate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Sawtooth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All: 1, 2, 3, 4, 5, 6 …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High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221267"/>
                      </a:ext>
                    </a:extLst>
                  </a:tr>
                  <a:tr h="371097"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Pulse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Many harmonics set by width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All</a:t>
                          </a:r>
                          <a:endParaRPr sz="11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9D7BF68B-8D6F-FA96-DB92-D213D81D2C5A}"/>
              </a:ext>
            </a:extLst>
          </p:cNvPr>
          <p:cNvSpPr/>
          <p:nvPr/>
        </p:nvSpPr>
        <p:spPr>
          <a:xfrm>
            <a:off x="8052816" y="1494084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70F89A-B037-D0C7-8B8E-491F7FD91A74}"/>
              </a:ext>
            </a:extLst>
          </p:cNvPr>
          <p:cNvSpPr/>
          <p:nvPr/>
        </p:nvSpPr>
        <p:spPr>
          <a:xfrm>
            <a:off x="8052816" y="1494084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A4EAB2-388C-E369-8556-D46E7AD3C573}"/>
                  </a:ext>
                </a:extLst>
              </p:cNvPr>
              <p:cNvSpPr txBox="1"/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AA4EAB2-388C-E369-8556-D46E7AD3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416" y="1658676"/>
                <a:ext cx="286512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5A8E4FF-1491-1EED-F09D-EF03CF9A2564}"/>
              </a:ext>
            </a:extLst>
          </p:cNvPr>
          <p:cNvSpPr txBox="1"/>
          <p:nvPr/>
        </p:nvSpPr>
        <p:spPr>
          <a:xfrm>
            <a:off x="8372856" y="2286000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Harmonic locations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E2279E2D-51E0-9363-6DCD-86E243F7B76F}"/>
              </a:ext>
            </a:extLst>
          </p:cNvPr>
          <p:cNvSpPr/>
          <p:nvPr/>
        </p:nvSpPr>
        <p:spPr>
          <a:xfrm>
            <a:off x="8052816" y="3241803"/>
            <a:ext cx="3276600" cy="14497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B20505-1D37-CADA-1680-A571A33E4A91}"/>
              </a:ext>
            </a:extLst>
          </p:cNvPr>
          <p:cNvSpPr/>
          <p:nvPr/>
        </p:nvSpPr>
        <p:spPr>
          <a:xfrm>
            <a:off x="8052816" y="3241803"/>
            <a:ext cx="82296" cy="14497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313063-7369-CED3-0296-0B4237BEEC30}"/>
              </a:ext>
            </a:extLst>
          </p:cNvPr>
          <p:cNvSpPr txBox="1"/>
          <p:nvPr/>
        </p:nvSpPr>
        <p:spPr>
          <a:xfrm>
            <a:off x="8281416" y="3406395"/>
            <a:ext cx="286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7324D"/>
                </a:solidFill>
                <a:latin typeface="Aptos"/>
              </a:rPr>
              <a:t>fundamental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90B7D0-9489-2748-39F2-9763DD15C6AC}"/>
              </a:ext>
            </a:extLst>
          </p:cNvPr>
          <p:cNvSpPr txBox="1"/>
          <p:nvPr/>
        </p:nvSpPr>
        <p:spPr>
          <a:xfrm>
            <a:off x="8281416" y="3845307"/>
            <a:ext cx="28651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The lowest-frequency periodic component associated with a repeating waveform.</a:t>
            </a:r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455182B5-713A-246D-466D-BBB19B832F2D}"/>
              </a:ext>
            </a:extLst>
          </p:cNvPr>
          <p:cNvSpPr/>
          <p:nvPr/>
        </p:nvSpPr>
        <p:spPr>
          <a:xfrm>
            <a:off x="8052816" y="4989522"/>
            <a:ext cx="3276600" cy="14497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162FCB-4D93-FEC6-A995-2730A8387B4D}"/>
              </a:ext>
            </a:extLst>
          </p:cNvPr>
          <p:cNvSpPr/>
          <p:nvPr/>
        </p:nvSpPr>
        <p:spPr>
          <a:xfrm>
            <a:off x="8052816" y="4989522"/>
            <a:ext cx="82296" cy="14497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01597A-0966-62D0-CF4A-83577F33ECA7}"/>
              </a:ext>
            </a:extLst>
          </p:cNvPr>
          <p:cNvSpPr txBox="1"/>
          <p:nvPr/>
        </p:nvSpPr>
        <p:spPr>
          <a:xfrm>
            <a:off x="8424672" y="5245719"/>
            <a:ext cx="26441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Rapid changes in time require </a:t>
            </a:r>
            <a:r>
              <a:rPr lang="en-US" sz="1600" b="1" dirty="0">
                <a:solidFill>
                  <a:srgbClr val="182028"/>
                </a:solidFill>
                <a:latin typeface="Aptos"/>
              </a:rPr>
              <a:t>more </a:t>
            </a:r>
            <a:r>
              <a:rPr lang="en-US" sz="1600" dirty="0">
                <a:solidFill>
                  <a:srgbClr val="182028"/>
                </a:solidFill>
                <a:latin typeface="Aptos"/>
              </a:rPr>
              <a:t>high-frequency content.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013BB0-D925-BFCE-09CD-ED3545D882B6}"/>
              </a:ext>
            </a:extLst>
          </p:cNvPr>
          <p:cNvSpPr txBox="1"/>
          <p:nvPr/>
        </p:nvSpPr>
        <p:spPr>
          <a:xfrm>
            <a:off x="8479536" y="5946609"/>
            <a:ext cx="86904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 dirty="0">
                <a:solidFill>
                  <a:srgbClr val="17324D"/>
                </a:solidFill>
                <a:latin typeface="Aptos"/>
                <a:hlinkClick r:id="rId6"/>
              </a:rPr>
              <a:t>Demo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83337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APPLICATION, NOT REPLACEMENT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Cybersecurity follows the physical behavior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1773033"/>
            <a:ext cx="6535364" cy="7617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dirty="0">
                <a:solidFill>
                  <a:srgbClr val="182028"/>
                </a:solidFill>
                <a:latin typeface="Aptos"/>
              </a:rPr>
              <a:t>Spectral fingerprints for signal identification</a:t>
            </a:r>
            <a:endParaRPr lang="en-US" sz="1650" b="0" i="0" dirty="0">
              <a:solidFill>
                <a:srgbClr val="182028"/>
              </a:solidFill>
              <a:latin typeface="Aptos"/>
            </a:endParaRPr>
          </a:p>
          <a:p>
            <a:r>
              <a:rPr lang="en-US" sz="1650" dirty="0">
                <a:solidFill>
                  <a:srgbClr val="182028"/>
                </a:solidFill>
                <a:latin typeface="Aptos"/>
              </a:rPr>
              <a:t>Detectability from amplitude, bandwidth, harmonics, and duty cycle</a:t>
            </a:r>
          </a:p>
          <a:p>
            <a:pPr algn="l"/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C5851360-6C93-FEE1-E62C-9851A8372803}"/>
              </a:ext>
            </a:extLst>
          </p:cNvPr>
          <p:cNvSpPr/>
          <p:nvPr/>
        </p:nvSpPr>
        <p:spPr>
          <a:xfrm>
            <a:off x="8052816" y="1343382"/>
            <a:ext cx="3276600" cy="50958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E59A3E-F19F-7457-4BEF-A0374624D8D4}"/>
              </a:ext>
            </a:extLst>
          </p:cNvPr>
          <p:cNvSpPr/>
          <p:nvPr/>
        </p:nvSpPr>
        <p:spPr>
          <a:xfrm>
            <a:off x="8052816" y="1343382"/>
            <a:ext cx="82296" cy="50958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0EB2B8-6524-CE9C-3679-F65CE14AF4A2}"/>
              </a:ext>
            </a:extLst>
          </p:cNvPr>
          <p:cNvSpPr txBox="1"/>
          <p:nvPr/>
        </p:nvSpPr>
        <p:spPr>
          <a:xfrm>
            <a:off x="8276844" y="1959911"/>
            <a:ext cx="3162300" cy="443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82028"/>
                </a:solidFill>
                <a:latin typeface="Aptos"/>
              </a:rPr>
              <a:t>What does the time-domain representation of a periodic waveform tell you about its BW requirements?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82028"/>
                </a:solidFill>
                <a:latin typeface="Aptos"/>
              </a:rPr>
              <a:t>Why do instruments and waveforms all sound different if they are at the same frequency?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82028"/>
                </a:solidFill>
                <a:latin typeface="Aptos"/>
              </a:rPr>
              <a:t>What single periodic waveform has a single frequency component?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82028"/>
                </a:solidFill>
                <a:latin typeface="Aptos"/>
              </a:rPr>
              <a:t>What periodic waveform do we always use as the carrier in electronic communication?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82028"/>
                </a:solidFill>
                <a:latin typeface="Aptos"/>
              </a:rPr>
              <a:t>What is a harmonic?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82028"/>
                </a:solidFill>
                <a:latin typeface="Aptos"/>
              </a:rPr>
              <a:t>What happens to a sine wave’s spectrum when we change its amplitude over time to carry information?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48233-2634-BE5A-937D-DE9B0C388BF8}"/>
              </a:ext>
            </a:extLst>
          </p:cNvPr>
          <p:cNvSpPr txBox="1"/>
          <p:nvPr/>
        </p:nvSpPr>
        <p:spPr>
          <a:xfrm>
            <a:off x="8425434" y="1456288"/>
            <a:ext cx="286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7324D"/>
                </a:solidFill>
                <a:latin typeface="Aptos"/>
              </a:rPr>
              <a:t>Review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D359079-B350-3F2B-B758-F07D20CE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2856" y="3036501"/>
            <a:ext cx="6827972" cy="257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11 | TIME DOMAIN FREQUENCY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BRIDGE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1828800"/>
            <a:ext cx="104698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17324D"/>
                </a:solidFill>
                <a:latin typeface="Aptos Display"/>
              </a:rPr>
              <a:t>What features distinguish a square wave from a sine wave in the spectrum?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DECIBELS, NOISE, SNR, AND SHANNON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1129</Words>
  <Application>Microsoft Office PowerPoint</Application>
  <PresentationFormat>Widescreen</PresentationFormat>
  <Paragraphs>238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Avenir Book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3</cp:revision>
  <dcterms:created xsi:type="dcterms:W3CDTF">2013-01-27T09:14:16Z</dcterms:created>
  <dcterms:modified xsi:type="dcterms:W3CDTF">2026-09-28T16:48:56Z</dcterms:modified>
  <cp:category/>
</cp:coreProperties>
</file>