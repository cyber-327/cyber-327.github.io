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2" r:id="rId4"/>
    <p:sldId id="277" r:id="rId5"/>
    <p:sldId id="271" r:id="rId6"/>
    <p:sldId id="259" r:id="rId7"/>
    <p:sldId id="273" r:id="rId8"/>
    <p:sldId id="274" r:id="rId9"/>
    <p:sldId id="275" r:id="rId10"/>
    <p:sldId id="258" r:id="rId11"/>
    <p:sldId id="264" r:id="rId12"/>
    <p:sldId id="276" r:id="rId13"/>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1E8"/>
    <a:srgbClr val="F4E3D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00" autoAdjust="0"/>
  </p:normalViewPr>
  <p:slideViewPr>
    <p:cSldViewPr snapToGrid="0" snapToObjects="1">
      <p:cViewPr varScale="1">
        <p:scale>
          <a:sx n="63" d="100"/>
          <a:sy n="63" d="100"/>
        </p:scale>
        <p:origin x="135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188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228600" indent="-228600">
              <a:buFont typeface="+mj-lt"/>
              <a:buAutoNum type="arabicPeriod"/>
            </a:pPr>
            <a:r>
              <a:rPr lang="en-US" dirty="0"/>
              <a:t>PLL</a:t>
            </a:r>
          </a:p>
          <a:p>
            <a:pPr marL="685800" lvl="1" indent="-228600">
              <a:buFont typeface="+mj-lt"/>
              <a:buAutoNum type="arabicPeriod"/>
            </a:pPr>
            <a:r>
              <a:rPr lang="en-US" dirty="0"/>
              <a:t>No</a:t>
            </a:r>
          </a:p>
          <a:p>
            <a:pPr marL="685800" lvl="1" indent="-228600">
              <a:buFont typeface="+mj-lt"/>
              <a:buAutoNum type="arabicPeriod"/>
            </a:pPr>
            <a:r>
              <a:rPr lang="en-US" dirty="0"/>
              <a:t>No</a:t>
            </a:r>
          </a:p>
          <a:p>
            <a:pPr marL="228600" lvl="0" indent="-228600">
              <a:buFont typeface="+mj-lt"/>
              <a:buAutoNum type="arabicPeriod"/>
            </a:pPr>
            <a:r>
              <a:rPr lang="en-US" dirty="0"/>
              <a:t>Sensitivity</a:t>
            </a:r>
          </a:p>
          <a:p>
            <a:pPr marL="685800" lvl="1" indent="-228600">
              <a:buFont typeface="+mj-lt"/>
              <a:buAutoNum type="arabicPeriod"/>
            </a:pPr>
            <a:r>
              <a:rPr lang="en-US" dirty="0"/>
              <a:t>17 dB</a:t>
            </a:r>
          </a:p>
          <a:p>
            <a:pPr marL="685800" lvl="1" indent="-228600">
              <a:buFont typeface="+mj-lt"/>
              <a:buAutoNum type="arabicPeriod"/>
            </a:pPr>
            <a:r>
              <a:rPr lang="en-US" dirty="0"/>
              <a:t>-98, no</a:t>
            </a:r>
          </a:p>
          <a:p>
            <a:pPr marL="228600" lvl="0" indent="-228600">
              <a:buFont typeface="+mj-lt"/>
              <a:buAutoNum type="arabicPeriod"/>
            </a:pPr>
            <a:r>
              <a:rPr lang="en-US" dirty="0"/>
              <a:t>ADC</a:t>
            </a:r>
          </a:p>
          <a:p>
            <a:pPr marL="685800" lvl="1" indent="-228600">
              <a:buFont typeface="+mj-lt"/>
              <a:buAutoNum type="arabicPeriod"/>
            </a:pPr>
            <a:r>
              <a:rPr lang="en-US" dirty="0"/>
              <a:t>256</a:t>
            </a:r>
          </a:p>
          <a:p>
            <a:pPr marL="685800" lvl="1" indent="-228600">
              <a:buFont typeface="+mj-lt"/>
              <a:buAutoNum type="arabicPeriod"/>
            </a:pPr>
            <a:r>
              <a:rPr lang="en-US" dirty="0"/>
              <a:t>39mV</a:t>
            </a:r>
          </a:p>
          <a:p>
            <a:pPr marL="685800" lvl="1" indent="-228600">
              <a:buFont typeface="+mj-lt"/>
              <a:buAutoNum type="arabicPeriod"/>
            </a:pPr>
            <a:r>
              <a:rPr lang="en-US" dirty="0"/>
              <a:t>67</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6A8C5-A478-1910-AEBC-A075C55533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43622-A6ED-2879-42F8-379436CEB1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3453797-580A-4AEC-994F-D7D69618DF80}"/>
              </a:ext>
            </a:extLst>
          </p:cNvPr>
          <p:cNvSpPr>
            <a:spLocks noGrp="1"/>
          </p:cNvSpPr>
          <p:nvPr>
            <p:ph type="body" sz="quarter" idx="3"/>
          </p:nvPr>
        </p:nvSpPr>
        <p:spPr/>
        <p:txBody>
          <a:bodyPr/>
          <a:lstStyle/>
          <a:p>
            <a:r>
              <a:rPr lang="en-US" dirty="0"/>
              <a:t>600 Hz, No</a:t>
            </a:r>
          </a:p>
          <a:p>
            <a:r>
              <a:rPr lang="en-US" dirty="0"/>
              <a:t>4600 Hz</a:t>
            </a:r>
          </a:p>
          <a:p>
            <a:endParaRPr lang="en-US" dirty="0"/>
          </a:p>
          <a:p>
            <a:endParaRPr lang="en-US" dirty="0"/>
          </a:p>
          <a:p>
            <a:r>
              <a:rPr lang="en-US" dirty="0"/>
              <a:t>64kbits/s</a:t>
            </a:r>
          </a:p>
          <a:p>
            <a:endParaRPr lang="en-US" dirty="0"/>
          </a:p>
          <a:p>
            <a:r>
              <a:rPr lang="en-US" dirty="0"/>
              <a:t>1/4000</a:t>
            </a:r>
          </a:p>
        </p:txBody>
      </p:sp>
      <p:sp>
        <p:nvSpPr>
          <p:cNvPr id="4" name="Slide Number Placeholder 3">
            <a:extLst>
              <a:ext uri="{FF2B5EF4-FFF2-40B4-BE49-F238E27FC236}">
                <a16:creationId xmlns:a16="http://schemas.microsoft.com/office/drawing/2014/main" id="{979B3EF7-EEBF-655F-2DC9-62DA3C9E2EE1}"/>
              </a:ext>
            </a:extLst>
          </p:cNvPr>
          <p:cNvSpPr>
            <a:spLocks noGrp="1"/>
          </p:cNvSpPr>
          <p:nvPr>
            <p:ph type="sldNum" sz="quarter" idx="5"/>
          </p:nvPr>
        </p:nvSpPr>
        <p:spPr/>
      </p:sp>
    </p:spTree>
    <p:extLst>
      <p:ext uri="{BB962C8B-B14F-4D97-AF65-F5344CB8AC3E}">
        <p14:creationId xmlns:p14="http://schemas.microsoft.com/office/powerpoint/2010/main" val="613881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 waveform has both a time-domain appearance and a frequency-domain structure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signals compete with noise so we consider bandwidth and SNR (Shannon)</a:t>
            </a:r>
            <a:br>
              <a:rPr lang="en-US" sz="1200" b="0" kern="1200" dirty="0">
                <a:solidFill>
                  <a:schemeClr val="tx1"/>
                </a:solidFill>
                <a:effectLst/>
                <a:latin typeface="+mn-lt"/>
                <a:ea typeface="+mn-ea"/>
                <a:cs typeface="+mn-cs"/>
              </a:rPr>
            </a:br>
            <a:r>
              <a:rPr lang="en-US" sz="1200" b="0" kern="1200" dirty="0">
                <a:solidFill>
                  <a:schemeClr val="tx1"/>
                </a:solidFill>
                <a:effectLst/>
                <a:latin typeface="+mn-lt"/>
                <a:ea typeface="+mn-ea"/>
                <a:cs typeface="+mn-cs"/>
              </a:rPr>
              <a:t>AM changes carrier amplitude; FM changes instantaneous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Receiver: Clock recovery, PLLs. Sensitivity</a:t>
            </a:r>
          </a:p>
          <a:p>
            <a:endParaRPr lang="en-US" dirty="0"/>
          </a:p>
          <a:p>
            <a:r>
              <a:rPr lang="en-US" dirty="0"/>
              <a:t>Sampling, Aliasing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CE667-61DD-2BED-8880-A1946D729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E423C-5EDD-DE9E-0FB6-111B5DB84B0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479932D-CB07-00FA-3023-38361F00CF9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69515E8-0E03-0397-EE3C-9B00C0051CC0}"/>
              </a:ext>
            </a:extLst>
          </p:cNvPr>
          <p:cNvSpPr>
            <a:spLocks noGrp="1"/>
          </p:cNvSpPr>
          <p:nvPr>
            <p:ph type="sldNum" sz="quarter" idx="5"/>
          </p:nvPr>
        </p:nvSpPr>
        <p:spPr/>
      </p:sp>
    </p:spTree>
    <p:extLst>
      <p:ext uri="{BB962C8B-B14F-4D97-AF65-F5344CB8AC3E}">
        <p14:creationId xmlns:p14="http://schemas.microsoft.com/office/powerpoint/2010/main" val="1483381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Can parity locate where the error occurred? No</a:t>
            </a:r>
          </a:p>
          <a:p>
            <a:r>
              <a:rPr lang="en-US" dirty="0"/>
              <a:t>What are the problems with this?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F282-2E8C-780C-58F9-6241097DB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B096B-6DAA-011C-161A-B1829D18D8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E0DBC5D-71F6-943C-500F-3E517135CE08}"/>
              </a:ext>
            </a:extLst>
          </p:cNvPr>
          <p:cNvSpPr>
            <a:spLocks noGrp="1"/>
          </p:cNvSpPr>
          <p:nvPr>
            <p:ph type="body" sz="quarter" idx="3"/>
          </p:nvPr>
        </p:nvSpPr>
        <p:spPr/>
        <p:txBody>
          <a:bodyPr/>
          <a:lstStyle/>
          <a:p>
            <a:r>
              <a:rPr lang="en-US" dirty="0"/>
              <a:t>Can parity locate where the error occurred? No</a:t>
            </a:r>
          </a:p>
          <a:p>
            <a:r>
              <a:rPr lang="en-US" dirty="0"/>
              <a:t>What are the problems with this?</a:t>
            </a:r>
          </a:p>
        </p:txBody>
      </p:sp>
      <p:sp>
        <p:nvSpPr>
          <p:cNvPr id="4" name="Slide Number Placeholder 3">
            <a:extLst>
              <a:ext uri="{FF2B5EF4-FFF2-40B4-BE49-F238E27FC236}">
                <a16:creationId xmlns:a16="http://schemas.microsoft.com/office/drawing/2014/main" id="{6CEDAC09-AFF6-A731-5C55-881661E8B03D}"/>
              </a:ext>
            </a:extLst>
          </p:cNvPr>
          <p:cNvSpPr>
            <a:spLocks noGrp="1"/>
          </p:cNvSpPr>
          <p:nvPr>
            <p:ph type="sldNum" sz="quarter" idx="5"/>
          </p:nvPr>
        </p:nvSpPr>
        <p:spPr/>
      </p:sp>
    </p:spTree>
    <p:extLst>
      <p:ext uri="{BB962C8B-B14F-4D97-AF65-F5344CB8AC3E}">
        <p14:creationId xmlns:p14="http://schemas.microsoft.com/office/powerpoint/2010/main" val="937604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584BC-BFEC-4517-55DC-0451D34FD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328EC-751B-E025-7702-FC512B0F7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191D545-2B95-6A88-939E-775FE910D0C1}"/>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1A90633C-CAAF-8965-C942-8AEAD1A0426D}"/>
              </a:ext>
            </a:extLst>
          </p:cNvPr>
          <p:cNvSpPr>
            <a:spLocks noGrp="1"/>
          </p:cNvSpPr>
          <p:nvPr>
            <p:ph type="sldNum" sz="quarter" idx="5"/>
          </p:nvPr>
        </p:nvSpPr>
        <p:spPr/>
      </p:sp>
    </p:spTree>
    <p:extLst>
      <p:ext uri="{BB962C8B-B14F-4D97-AF65-F5344CB8AC3E}">
        <p14:creationId xmlns:p14="http://schemas.microsoft.com/office/powerpoint/2010/main" val="4144879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5AF8-E9F0-C413-452F-5E073D865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6C62D-7E66-6105-842A-9092EC38A54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B23C11-EFA6-FA2B-60F3-9335069309AC}"/>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5CA018D9-6CC9-34F7-F7C7-D495A1627788}"/>
              </a:ext>
            </a:extLst>
          </p:cNvPr>
          <p:cNvSpPr>
            <a:spLocks noGrp="1"/>
          </p:cNvSpPr>
          <p:nvPr>
            <p:ph type="sldNum" sz="quarter" idx="5"/>
          </p:nvPr>
        </p:nvSpPr>
        <p:spPr/>
      </p:sp>
    </p:spTree>
    <p:extLst>
      <p:ext uri="{BB962C8B-B14F-4D97-AF65-F5344CB8AC3E}">
        <p14:creationId xmlns:p14="http://schemas.microsoft.com/office/powerpoint/2010/main" val="3701901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checksum/CRC is calculated before the FEC bits are added.</a:t>
            </a:r>
          </a:p>
          <a:p>
            <a:r>
              <a:rPr lang="en-US" dirty="0"/>
              <a:t>Add FEC to </a:t>
            </a:r>
            <a:r>
              <a:rPr lang="en-US" sz="1200" kern="1200" dirty="0">
                <a:solidFill>
                  <a:schemeClr val="tx1"/>
                </a:solidFill>
                <a:latin typeface="+mn-lt"/>
                <a:ea typeface="+mn-ea"/>
                <a:cs typeface="+mn-cs"/>
              </a:rPr>
              <a:t>[SAFE | CRC]</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3x the transmitted bits</a:t>
            </a:r>
          </a:p>
          <a:p>
            <a:r>
              <a:rPr lang="en-US" sz="1200" kern="1200" dirty="0">
                <a:solidFill>
                  <a:schemeClr val="tx1"/>
                </a:solidFill>
                <a:latin typeface="+mn-lt"/>
                <a:ea typeface="+mn-ea"/>
                <a:cs typeface="+mn-cs"/>
              </a:rPr>
              <a:t>If non-random errors (burst) can still give errors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C2CB9-989A-9128-9305-3D975999B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469F0-CCF5-B990-95D1-9C3F7215D7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3AE8ED-C1C1-5FC0-9F49-646904A4C566}"/>
              </a:ext>
            </a:extLst>
          </p:cNvPr>
          <p:cNvSpPr>
            <a:spLocks noGrp="1"/>
          </p:cNvSpPr>
          <p:nvPr>
            <p:ph type="body" sz="quarter" idx="3"/>
          </p:nvPr>
        </p:nvSpPr>
        <p:spPr/>
        <p:txBody>
          <a:bodyPr/>
          <a:lstStyle/>
          <a:p>
            <a:r>
              <a:rPr lang="en-US" dirty="0"/>
              <a:t>2 errors: detected but location ambiguous</a:t>
            </a:r>
            <a:endParaRPr dirty="0"/>
          </a:p>
        </p:txBody>
      </p:sp>
      <p:sp>
        <p:nvSpPr>
          <p:cNvPr id="4" name="Slide Number Placeholder 3">
            <a:extLst>
              <a:ext uri="{FF2B5EF4-FFF2-40B4-BE49-F238E27FC236}">
                <a16:creationId xmlns:a16="http://schemas.microsoft.com/office/drawing/2014/main" id="{8A37C381-63EC-30FA-F812-9D39BA728033}"/>
              </a:ext>
            </a:extLst>
          </p:cNvPr>
          <p:cNvSpPr>
            <a:spLocks noGrp="1"/>
          </p:cNvSpPr>
          <p:nvPr>
            <p:ph type="sldNum" sz="quarter" idx="5"/>
          </p:nvPr>
        </p:nvSpPr>
        <p:spPr/>
      </p:sp>
    </p:spTree>
    <p:extLst>
      <p:ext uri="{BB962C8B-B14F-4D97-AF65-F5344CB8AC3E}">
        <p14:creationId xmlns:p14="http://schemas.microsoft.com/office/powerpoint/2010/main" val="100844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After deinterleaving, a code capable of one correction per word can handle this example</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If 8 data over 12 coded bits:</a:t>
            </a:r>
          </a:p>
          <a:p>
            <a:r>
              <a:rPr lang="en-US" dirty="0"/>
              <a:t>30 kbit/s</a:t>
            </a:r>
          </a:p>
          <a:p>
            <a:endParaRPr lang="en-US" dirty="0"/>
          </a:p>
          <a:p>
            <a:r>
              <a:rPr lang="en-US" dirty="0" err="1"/>
              <a:t>Rc</a:t>
            </a:r>
            <a:r>
              <a:rPr lang="en-US" dirty="0"/>
              <a:t> = 2/3</a:t>
            </a:r>
          </a:p>
          <a:p>
            <a:r>
              <a:rPr lang="en-US" dirty="0" err="1"/>
              <a:t>Rinfo</a:t>
            </a:r>
            <a:r>
              <a:rPr lang="en-US" dirty="0"/>
              <a:t> =20 kbit/s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TextBox 1"/>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9EB0BC"/>
                </a:solidFill>
                <a:latin typeface="Aptos"/>
              </a:rPr>
              <a:t>LECTURE 20 | ERROR DETECTION AND CORRECTI</a:t>
            </a:r>
          </a:p>
        </p:txBody>
      </p:sp>
      <p:sp>
        <p:nvSpPr>
          <p:cNvPr id="3" name="TextBox 2"/>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9EB0BC"/>
                </a:solidFill>
                <a:latin typeface="Aptos"/>
              </a:rPr>
              <a:t>01</a:t>
            </a:r>
          </a:p>
        </p:txBody>
      </p:sp>
      <p:sp>
        <p:nvSpPr>
          <p:cNvPr id="4" name="TextBox 3"/>
          <p:cNvSpPr txBox="1"/>
          <p:nvPr/>
        </p:nvSpPr>
        <p:spPr>
          <a:xfrm>
            <a:off x="713232" y="658368"/>
            <a:ext cx="2743200" cy="365760"/>
          </a:xfrm>
          <a:prstGeom prst="rect">
            <a:avLst/>
          </a:prstGeom>
          <a:noFill/>
        </p:spPr>
        <p:txBody>
          <a:bodyPr wrap="square" lIns="0" tIns="0" rIns="0" bIns="0" anchor="t">
            <a:spAutoFit/>
          </a:bodyPr>
          <a:lstStyle/>
          <a:p>
            <a:pPr algn="l"/>
            <a:r>
              <a:rPr sz="1200" b="1" i="0">
                <a:solidFill>
                  <a:srgbClr val="62C6C8"/>
                </a:solidFill>
                <a:latin typeface="Aptos"/>
              </a:rPr>
              <a:t>CYBER 327  /  LECTURE 20</a:t>
            </a:r>
          </a:p>
        </p:txBody>
      </p:sp>
      <p:cxnSp>
        <p:nvCxnSpPr>
          <p:cNvPr id="5" name="Connector 4"/>
          <p:cNvCxnSpPr/>
          <p:nvPr/>
        </p:nvCxnSpPr>
        <p:spPr>
          <a:xfrm>
            <a:off x="731520" y="1152144"/>
            <a:ext cx="1371600" cy="0"/>
          </a:xfrm>
          <a:prstGeom prst="line">
            <a:avLst/>
          </a:prstGeom>
          <a:ln w="50800">
            <a:solidFill>
              <a:srgbClr val="D96F3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1481328"/>
            <a:ext cx="9966960" cy="1508760"/>
          </a:xfrm>
          <a:prstGeom prst="rect">
            <a:avLst/>
          </a:prstGeom>
          <a:noFill/>
        </p:spPr>
        <p:txBody>
          <a:bodyPr wrap="square" lIns="0" tIns="0" rIns="0" bIns="0" anchor="t">
            <a:spAutoFit/>
          </a:bodyPr>
          <a:lstStyle/>
          <a:p>
            <a:pPr algn="l"/>
            <a:r>
              <a:rPr sz="4000" b="1" i="0">
                <a:solidFill>
                  <a:srgbClr val="FFFFFF"/>
                </a:solidFill>
                <a:latin typeface="Aptos Display"/>
              </a:rPr>
              <a:t>Error Detection and Correction Fundamentals</a:t>
            </a:r>
          </a:p>
        </p:txBody>
      </p:sp>
      <p:sp>
        <p:nvSpPr>
          <p:cNvPr id="7" name="TextBox 6"/>
          <p:cNvSpPr txBox="1"/>
          <p:nvPr/>
        </p:nvSpPr>
        <p:spPr>
          <a:xfrm>
            <a:off x="749808" y="3182112"/>
            <a:ext cx="8961120" cy="777240"/>
          </a:xfrm>
          <a:prstGeom prst="rect">
            <a:avLst/>
          </a:prstGeom>
          <a:noFill/>
        </p:spPr>
        <p:txBody>
          <a:bodyPr wrap="square" lIns="0" tIns="0" rIns="0" bIns="0" anchor="t">
            <a:spAutoFit/>
          </a:bodyPr>
          <a:lstStyle/>
          <a:p>
            <a:pPr algn="l"/>
            <a:r>
              <a:rPr sz="1900" b="0" i="0">
                <a:solidFill>
                  <a:srgbClr val="D6E1E7"/>
                </a:solidFill>
                <a:latin typeface="Aptos"/>
              </a:rPr>
              <a:t>The sensor sent one message. How can we notice or repair changed bits?</a:t>
            </a:r>
          </a:p>
        </p:txBody>
      </p:sp>
      <p:sp>
        <p:nvSpPr>
          <p:cNvPr id="8" name="Rounded Rectangle 7"/>
          <p:cNvSpPr/>
          <p:nvPr/>
        </p:nvSpPr>
        <p:spPr>
          <a:xfrm>
            <a:off x="749808" y="5230368"/>
            <a:ext cx="196596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5230368"/>
            <a:ext cx="1965960" cy="420624"/>
          </a:xfrm>
          <a:prstGeom prst="rect">
            <a:avLst/>
          </a:prstGeom>
          <a:noFill/>
        </p:spPr>
        <p:txBody>
          <a:bodyPr wrap="square" lIns="18288" tIns="18288" rIns="18288" bIns="18288" anchor="ctr">
            <a:spAutoFit/>
          </a:bodyPr>
          <a:lstStyle/>
          <a:p>
            <a:pPr algn="ctr"/>
            <a:r>
              <a:rPr sz="1150" b="1" i="0">
                <a:solidFill>
                  <a:srgbClr val="FFFFFF"/>
                </a:solidFill>
                <a:latin typeface="Aptos"/>
              </a:rPr>
              <a:t>MONDAY, OCTOBER 19, 2026</a:t>
            </a:r>
          </a:p>
        </p:txBody>
      </p:sp>
      <p:cxnSp>
        <p:nvCxnSpPr>
          <p:cNvPr id="10" name="Connector 9"/>
          <p:cNvCxnSpPr/>
          <p:nvPr/>
        </p:nvCxnSpPr>
        <p:spPr>
          <a:xfrm>
            <a:off x="7086600" y="4574286"/>
            <a:ext cx="346710" cy="22082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433310" y="4679899"/>
            <a:ext cx="346710" cy="115214"/>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80020" y="4679899"/>
            <a:ext cx="346710" cy="566471"/>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126730" y="4929530"/>
            <a:ext cx="346710" cy="31684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73440" y="4929530"/>
            <a:ext cx="346710" cy="48006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820150" y="4766310"/>
            <a:ext cx="346710" cy="64328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66860" y="4766310"/>
            <a:ext cx="346710" cy="31683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513570" y="4641494"/>
            <a:ext cx="346710" cy="44165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60280" y="4641494"/>
            <a:ext cx="346710" cy="51846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06990" y="4871923"/>
            <a:ext cx="346710" cy="288036"/>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53700" y="4871923"/>
            <a:ext cx="346710" cy="46085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900410" y="4699101"/>
            <a:ext cx="346710" cy="63367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02</a:t>
            </a:r>
          </a:p>
        </p:txBody>
      </p:sp>
      <p:sp>
        <p:nvSpPr>
          <p:cNvPr id="10" name="TextBox 9"/>
          <p:cNvSpPr txBox="1"/>
          <p:nvPr/>
        </p:nvSpPr>
        <p:spPr>
          <a:xfrm>
            <a:off x="621792" y="384048"/>
            <a:ext cx="10881360" cy="161583"/>
          </a:xfrm>
          <a:prstGeom prst="rect">
            <a:avLst/>
          </a:prstGeom>
          <a:noFill/>
        </p:spPr>
        <p:txBody>
          <a:bodyPr wrap="square" lIns="0" tIns="0" rIns="0" bIns="0" anchor="t">
            <a:spAutoFit/>
          </a:bodyPr>
          <a:lstStyle/>
          <a:p>
            <a:pPr algn="l"/>
            <a:r>
              <a:rPr lang="en-US" sz="1050" b="1" i="0" dirty="0">
                <a:solidFill>
                  <a:srgbClr val="0F6D74"/>
                </a:solidFill>
                <a:latin typeface="Aptos"/>
              </a:rPr>
              <a:t>PRACTICE RECAP</a:t>
            </a:r>
            <a:endParaRPr sz="1050" b="1" i="0" dirty="0">
              <a:solidFill>
                <a:srgbClr val="0F6D74"/>
              </a:solidFill>
              <a:latin typeface="Aptos"/>
            </a:endParaRPr>
          </a:p>
        </p:txBody>
      </p:sp>
      <p:sp>
        <p:nvSpPr>
          <p:cNvPr id="11" name="TextBox 10"/>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Practice Problems</a:t>
            </a:r>
            <a:endParaRPr sz="29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02168" y="1828800"/>
            <a:ext cx="3703320" cy="3611880"/>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02168" y="1828800"/>
            <a:ext cx="82296" cy="361188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0768" y="1993392"/>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ADC code</a:t>
            </a:r>
            <a:endParaRPr sz="2200" b="1" i="0" dirty="0">
              <a:solidFill>
                <a:srgbClr val="17324D"/>
              </a:solidFill>
              <a:latin typeface="Aptos"/>
            </a:endParaRPr>
          </a:p>
        </p:txBody>
      </p:sp>
      <p:sp>
        <p:nvSpPr>
          <p:cNvPr id="22" name="TextBox 21"/>
          <p:cNvSpPr txBox="1"/>
          <p:nvPr/>
        </p:nvSpPr>
        <p:spPr>
          <a:xfrm>
            <a:off x="8430768" y="2432304"/>
            <a:ext cx="3291840" cy="2128660"/>
          </a:xfrm>
          <a:prstGeom prst="rect">
            <a:avLst/>
          </a:prstGeom>
          <a:noFill/>
        </p:spPr>
        <p:txBody>
          <a:bodyPr wrap="square" lIns="0" tIns="0" rIns="0" bIns="0" anchor="t">
            <a:spAutoFit/>
          </a:bodyPr>
          <a:lstStyle/>
          <a:p>
            <a:pPr>
              <a:lnSpc>
                <a:spcPct val="102000"/>
              </a:lnSpc>
            </a:pPr>
            <a:r>
              <a:rPr lang="en-US" sz="1700" dirty="0">
                <a:solidFill>
                  <a:srgbClr val="182028"/>
                </a:solidFill>
                <a:latin typeface="Aptos"/>
              </a:rPr>
              <a:t>An ideal 8-bit ADC measures voltages from 0 to 10.00 V.</a:t>
            </a:r>
          </a:p>
          <a:p>
            <a:pPr>
              <a:lnSpc>
                <a:spcPct val="102000"/>
              </a:lnSpc>
            </a:pPr>
            <a:endParaRPr lang="en-US" sz="1700" dirty="0">
              <a:solidFill>
                <a:srgbClr val="182028"/>
              </a:solidFill>
              <a:latin typeface="Aptos"/>
            </a:endParaRPr>
          </a:p>
          <a:p>
            <a:pPr marL="342900" indent="-342900">
              <a:lnSpc>
                <a:spcPct val="102000"/>
              </a:lnSpc>
              <a:buFont typeface="+mj-lt"/>
              <a:buAutoNum type="arabicPeriod"/>
            </a:pPr>
            <a:r>
              <a:rPr lang="en-US" sz="1700" dirty="0">
                <a:solidFill>
                  <a:srgbClr val="182028"/>
                </a:solidFill>
                <a:latin typeface="Aptos"/>
              </a:rPr>
              <a:t>How many possible codes does it have?</a:t>
            </a:r>
          </a:p>
          <a:p>
            <a:pPr marL="342900" indent="-342900">
              <a:lnSpc>
                <a:spcPct val="102000"/>
              </a:lnSpc>
              <a:buFont typeface="+mj-lt"/>
              <a:buAutoNum type="arabicPeriod"/>
            </a:pPr>
            <a:r>
              <a:rPr lang="en-US" sz="1700" dirty="0">
                <a:solidFill>
                  <a:srgbClr val="182028"/>
                </a:solidFill>
                <a:latin typeface="Aptos"/>
              </a:rPr>
              <a:t>Calculate its ideal voltage step.</a:t>
            </a:r>
          </a:p>
          <a:p>
            <a:pPr marL="342900" indent="-342900">
              <a:lnSpc>
                <a:spcPct val="102000"/>
              </a:lnSpc>
              <a:buFont typeface="+mj-lt"/>
              <a:buAutoNum type="arabicPeriod"/>
            </a:pPr>
            <a:r>
              <a:rPr lang="en-US" sz="1700" dirty="0">
                <a:solidFill>
                  <a:srgbClr val="182028"/>
                </a:solidFill>
                <a:latin typeface="Aptos"/>
              </a:rPr>
              <a:t>Approximately what code corresponds to 2.62 V?</a:t>
            </a:r>
          </a:p>
        </p:txBody>
      </p:sp>
      <p:sp>
        <p:nvSpPr>
          <p:cNvPr id="23" name="Rounded Rectangle 18">
            <a:extLst>
              <a:ext uri="{FF2B5EF4-FFF2-40B4-BE49-F238E27FC236}">
                <a16:creationId xmlns:a16="http://schemas.microsoft.com/office/drawing/2014/main" id="{8A54A762-699D-4678-452A-BF8401B8E56D}"/>
              </a:ext>
            </a:extLst>
          </p:cNvPr>
          <p:cNvSpPr/>
          <p:nvPr/>
        </p:nvSpPr>
        <p:spPr>
          <a:xfrm>
            <a:off x="502920" y="1828799"/>
            <a:ext cx="3703320" cy="389999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021E11A9-73A3-F67A-AF29-F66FA83320ED}"/>
              </a:ext>
            </a:extLst>
          </p:cNvPr>
          <p:cNvSpPr/>
          <p:nvPr/>
        </p:nvSpPr>
        <p:spPr>
          <a:xfrm>
            <a:off x="502920" y="1828799"/>
            <a:ext cx="82296" cy="389999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72B6F20-5E40-89A5-3559-1F7FD24DC8E4}"/>
              </a:ext>
            </a:extLst>
          </p:cNvPr>
          <p:cNvSpPr txBox="1"/>
          <p:nvPr/>
        </p:nvSpPr>
        <p:spPr>
          <a:xfrm>
            <a:off x="731520" y="1993392"/>
            <a:ext cx="3291840" cy="338554"/>
          </a:xfrm>
          <a:prstGeom prst="rect">
            <a:avLst/>
          </a:prstGeom>
          <a:noFill/>
        </p:spPr>
        <p:txBody>
          <a:bodyPr wrap="square" lIns="0" tIns="0" rIns="0" bIns="0" anchor="t">
            <a:spAutoFit/>
          </a:bodyPr>
          <a:lstStyle/>
          <a:p>
            <a:pPr algn="l"/>
            <a:r>
              <a:rPr lang="en-US" sz="2200" b="1" dirty="0">
                <a:solidFill>
                  <a:srgbClr val="17324D"/>
                </a:solidFill>
                <a:latin typeface="Aptos"/>
              </a:rPr>
              <a:t>PLL recovery</a:t>
            </a:r>
            <a:endParaRPr sz="2200" b="1" i="0" dirty="0">
              <a:solidFill>
                <a:srgbClr val="17324D"/>
              </a:solidFill>
              <a:latin typeface="Aptos"/>
            </a:endParaRPr>
          </a:p>
        </p:txBody>
      </p:sp>
      <p:sp>
        <p:nvSpPr>
          <p:cNvPr id="26" name="TextBox 25">
            <a:extLst>
              <a:ext uri="{FF2B5EF4-FFF2-40B4-BE49-F238E27FC236}">
                <a16:creationId xmlns:a16="http://schemas.microsoft.com/office/drawing/2014/main" id="{18C6875F-BCD5-FEA0-3ECC-7EB11D5D4B08}"/>
              </a:ext>
            </a:extLst>
          </p:cNvPr>
          <p:cNvSpPr txBox="1"/>
          <p:nvPr/>
        </p:nvSpPr>
        <p:spPr>
          <a:xfrm>
            <a:off x="731520" y="2432304"/>
            <a:ext cx="3291840" cy="3196131"/>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A PLL is centered at 10.0 kHz. Its capture range is ±200 Hz, and its lock range is ±600 Hz.</a:t>
            </a:r>
          </a:p>
          <a:p>
            <a:pPr algn="l">
              <a:lnSpc>
                <a:spcPct val="102000"/>
              </a:lnSpc>
            </a:pPr>
            <a:endParaRPr lang="en-US" sz="1700" dirty="0">
              <a:solidFill>
                <a:srgbClr val="182028"/>
              </a:solidFill>
              <a:latin typeface="Aptos"/>
            </a:endParaRPr>
          </a:p>
          <a:p>
            <a:pPr marL="342900" indent="-342900">
              <a:lnSpc>
                <a:spcPct val="102000"/>
              </a:lnSpc>
              <a:buFont typeface="+mj-lt"/>
              <a:buAutoNum type="arabicPeriod"/>
            </a:pPr>
            <a:r>
              <a:rPr lang="en-US" sz="1700" dirty="0">
                <a:solidFill>
                  <a:srgbClr val="182028"/>
                </a:solidFill>
                <a:latin typeface="Aptos"/>
              </a:rPr>
              <a:t>The PLL starts unlocked. The input is 10.4 kHz. Is that input within its capture range?</a:t>
            </a:r>
          </a:p>
          <a:p>
            <a:pPr marL="342900" indent="-342900">
              <a:lnSpc>
                <a:spcPct val="102000"/>
              </a:lnSpc>
              <a:buFont typeface="+mj-lt"/>
              <a:buAutoNum type="arabicPeriod"/>
            </a:pPr>
            <a:r>
              <a:rPr lang="en-US" sz="1700" dirty="0">
                <a:solidFill>
                  <a:srgbClr val="182028"/>
                </a:solidFill>
                <a:latin typeface="Aptos"/>
              </a:rPr>
              <a:t>The PLL is already locked at 10.2 kHz, and the input slowly drifts to 10.7 kHz. Is that input still within its stated lock range?</a:t>
            </a:r>
          </a:p>
          <a:p>
            <a:pPr algn="l">
              <a:lnSpc>
                <a:spcPct val="102000"/>
              </a:lnSpc>
            </a:pPr>
            <a:endParaRPr sz="1700" b="0" i="0" dirty="0">
              <a:solidFill>
                <a:srgbClr val="182028"/>
              </a:solidFill>
              <a:latin typeface="Aptos"/>
            </a:endParaRPr>
          </a:p>
        </p:txBody>
      </p:sp>
      <p:sp>
        <p:nvSpPr>
          <p:cNvPr id="29" name="Rounded Rectangle 18">
            <a:extLst>
              <a:ext uri="{FF2B5EF4-FFF2-40B4-BE49-F238E27FC236}">
                <a16:creationId xmlns:a16="http://schemas.microsoft.com/office/drawing/2014/main" id="{284DB2FD-9DDD-CCFC-228F-13699ED9F0A4}"/>
              </a:ext>
            </a:extLst>
          </p:cNvPr>
          <p:cNvSpPr/>
          <p:nvPr/>
        </p:nvSpPr>
        <p:spPr>
          <a:xfrm>
            <a:off x="4352544" y="1828800"/>
            <a:ext cx="3703320" cy="361188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a:extLst>
              <a:ext uri="{FF2B5EF4-FFF2-40B4-BE49-F238E27FC236}">
                <a16:creationId xmlns:a16="http://schemas.microsoft.com/office/drawing/2014/main" id="{32D36DB4-4917-251E-6A64-164BFE85E92C}"/>
              </a:ext>
            </a:extLst>
          </p:cNvPr>
          <p:cNvSpPr/>
          <p:nvPr/>
        </p:nvSpPr>
        <p:spPr>
          <a:xfrm>
            <a:off x="4352544" y="1828800"/>
            <a:ext cx="82296" cy="361188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7095A7D4-2B28-3D4A-8632-0EBA35470A76}"/>
              </a:ext>
            </a:extLst>
          </p:cNvPr>
          <p:cNvSpPr txBox="1"/>
          <p:nvPr/>
        </p:nvSpPr>
        <p:spPr>
          <a:xfrm>
            <a:off x="4581144" y="1993392"/>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Sensitivity</a:t>
            </a:r>
            <a:endParaRPr sz="2200" b="1" i="0" dirty="0">
              <a:solidFill>
                <a:srgbClr val="17324D"/>
              </a:solidFill>
              <a:latin typeface="Aptos"/>
            </a:endParaRPr>
          </a:p>
        </p:txBody>
      </p:sp>
      <p:sp>
        <p:nvSpPr>
          <p:cNvPr id="35" name="TextBox 34">
            <a:extLst>
              <a:ext uri="{FF2B5EF4-FFF2-40B4-BE49-F238E27FC236}">
                <a16:creationId xmlns:a16="http://schemas.microsoft.com/office/drawing/2014/main" id="{AE1916AD-D87C-34D8-EAFF-AAEA0E5B3706}"/>
              </a:ext>
            </a:extLst>
          </p:cNvPr>
          <p:cNvSpPr txBox="1"/>
          <p:nvPr/>
        </p:nvSpPr>
        <p:spPr>
          <a:xfrm>
            <a:off x="4581144" y="2432304"/>
            <a:ext cx="3291840" cy="2662396"/>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A receiver needs at least −95 dBm at its input to meet its stated performance target. The received signal is −78 dBm.</a:t>
            </a:r>
          </a:p>
          <a:p>
            <a:pPr marL="342900" indent="-342900">
              <a:lnSpc>
                <a:spcPct val="102000"/>
              </a:lnSpc>
              <a:buFont typeface="+mj-lt"/>
              <a:buAutoNum type="arabicPeriod"/>
            </a:pPr>
            <a:r>
              <a:rPr lang="en-US" sz="1700" dirty="0">
                <a:solidFill>
                  <a:srgbClr val="182028"/>
                </a:solidFill>
                <a:latin typeface="Aptos"/>
              </a:rPr>
              <a:t>Calculate the sensitivity margin.</a:t>
            </a:r>
          </a:p>
          <a:p>
            <a:pPr marL="342900" indent="-342900">
              <a:lnSpc>
                <a:spcPct val="102000"/>
              </a:lnSpc>
              <a:buFont typeface="+mj-lt"/>
              <a:buAutoNum type="arabicPeriod"/>
            </a:pPr>
            <a:r>
              <a:rPr lang="en-US" sz="1700" dirty="0">
                <a:solidFill>
                  <a:srgbClr val="182028"/>
                </a:solidFill>
                <a:latin typeface="Aptos"/>
              </a:rPr>
              <a:t>An attenuator reduces the received signal by 20 </a:t>
            </a:r>
            <a:r>
              <a:rPr lang="en-US" sz="1700" dirty="0" err="1">
                <a:solidFill>
                  <a:srgbClr val="182028"/>
                </a:solidFill>
                <a:latin typeface="Aptos"/>
              </a:rPr>
              <a:t>dB.</a:t>
            </a:r>
            <a:r>
              <a:rPr lang="en-US" sz="1700" dirty="0">
                <a:solidFill>
                  <a:srgbClr val="182028"/>
                </a:solidFill>
                <a:latin typeface="Aptos"/>
              </a:rPr>
              <a:t> Is the signal still above the sensitivity threshold?</a:t>
            </a:r>
            <a:endParaRPr sz="1700" b="0" i="0" dirty="0">
              <a:solidFill>
                <a:srgbClr val="182028"/>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3D205D53-123A-4D46-1C6D-067ECC4A00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78A72A-B7B1-D647-7042-BBF0B4897936}"/>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F7008D21-5C78-CE2B-24F4-CF435FF16CFA}"/>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C84B1CF1-4A5D-EBF6-0D91-C976E582EEA9}"/>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DF10398B-9CA3-8068-3DEE-102AFEBF82FB}"/>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848B7902-CA63-2170-E772-59D4B067B166}"/>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2459C060-1ADF-1EA0-00F2-1C9B0F09073D}"/>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6209EEB-5E24-15F9-6983-D0D35925E7AF}"/>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F21D5862-499E-BC22-E8F4-CF790793CDD5}"/>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02</a:t>
            </a:r>
          </a:p>
        </p:txBody>
      </p:sp>
      <p:sp>
        <p:nvSpPr>
          <p:cNvPr id="10" name="TextBox 9">
            <a:extLst>
              <a:ext uri="{FF2B5EF4-FFF2-40B4-BE49-F238E27FC236}">
                <a16:creationId xmlns:a16="http://schemas.microsoft.com/office/drawing/2014/main" id="{D683A230-2BCF-4611-9E5F-273386616C35}"/>
              </a:ext>
            </a:extLst>
          </p:cNvPr>
          <p:cNvSpPr txBox="1"/>
          <p:nvPr/>
        </p:nvSpPr>
        <p:spPr>
          <a:xfrm>
            <a:off x="621792" y="384048"/>
            <a:ext cx="10881360" cy="161583"/>
          </a:xfrm>
          <a:prstGeom prst="rect">
            <a:avLst/>
          </a:prstGeom>
          <a:noFill/>
        </p:spPr>
        <p:txBody>
          <a:bodyPr wrap="square" lIns="0" tIns="0" rIns="0" bIns="0" anchor="t">
            <a:spAutoFit/>
          </a:bodyPr>
          <a:lstStyle/>
          <a:p>
            <a:pPr algn="l"/>
            <a:r>
              <a:rPr lang="en-US" sz="1050" b="1" i="0" dirty="0">
                <a:solidFill>
                  <a:srgbClr val="0F6D74"/>
                </a:solidFill>
                <a:latin typeface="Aptos"/>
              </a:rPr>
              <a:t>PRACTICE RECAP</a:t>
            </a:r>
            <a:endParaRPr sz="1050" b="1" i="0" dirty="0">
              <a:solidFill>
                <a:srgbClr val="0F6D74"/>
              </a:solidFill>
              <a:latin typeface="Aptos"/>
            </a:endParaRPr>
          </a:p>
        </p:txBody>
      </p:sp>
      <p:sp>
        <p:nvSpPr>
          <p:cNvPr id="11" name="TextBox 10">
            <a:extLst>
              <a:ext uri="{FF2B5EF4-FFF2-40B4-BE49-F238E27FC236}">
                <a16:creationId xmlns:a16="http://schemas.microsoft.com/office/drawing/2014/main" id="{C3F87321-0DC0-6055-02A8-ED2B32279632}"/>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Practice Problems</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A92B2016-47F9-C590-D959-9CB56E7CA443}"/>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0446D3BE-83A3-8C39-F56A-38690BF16032}"/>
              </a:ext>
            </a:extLst>
          </p:cNvPr>
          <p:cNvSpPr/>
          <p:nvPr/>
        </p:nvSpPr>
        <p:spPr>
          <a:xfrm>
            <a:off x="8202168" y="1828800"/>
            <a:ext cx="3703320" cy="3611880"/>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47FA8252-9B54-3737-B49D-2933C4F2DF45}"/>
              </a:ext>
            </a:extLst>
          </p:cNvPr>
          <p:cNvSpPr/>
          <p:nvPr/>
        </p:nvSpPr>
        <p:spPr>
          <a:xfrm>
            <a:off x="8202168" y="1828800"/>
            <a:ext cx="82296" cy="361188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0540B31D-E84B-B7BE-F5FE-44BBC5AC0E79}"/>
              </a:ext>
            </a:extLst>
          </p:cNvPr>
          <p:cNvSpPr txBox="1"/>
          <p:nvPr/>
        </p:nvSpPr>
        <p:spPr>
          <a:xfrm>
            <a:off x="8430768" y="1993392"/>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Sampling Interval</a:t>
            </a:r>
            <a:endParaRPr sz="2200" b="1" i="0" dirty="0">
              <a:solidFill>
                <a:srgbClr val="17324D"/>
              </a:solidFill>
              <a:latin typeface="Aptos"/>
            </a:endParaRPr>
          </a:p>
        </p:txBody>
      </p:sp>
      <p:sp>
        <p:nvSpPr>
          <p:cNvPr id="22" name="TextBox 21">
            <a:extLst>
              <a:ext uri="{FF2B5EF4-FFF2-40B4-BE49-F238E27FC236}">
                <a16:creationId xmlns:a16="http://schemas.microsoft.com/office/drawing/2014/main" id="{2D0C5E07-15A6-A157-0F29-4B72040A2AB8}"/>
              </a:ext>
            </a:extLst>
          </p:cNvPr>
          <p:cNvSpPr txBox="1"/>
          <p:nvPr/>
        </p:nvSpPr>
        <p:spPr>
          <a:xfrm>
            <a:off x="8430768" y="2432304"/>
            <a:ext cx="3291840" cy="794320"/>
          </a:xfrm>
          <a:prstGeom prst="rect">
            <a:avLst/>
          </a:prstGeom>
          <a:noFill/>
        </p:spPr>
        <p:txBody>
          <a:bodyPr wrap="square" lIns="0" tIns="0" rIns="0" bIns="0" anchor="t">
            <a:spAutoFit/>
          </a:bodyPr>
          <a:lstStyle/>
          <a:p>
            <a:pPr>
              <a:lnSpc>
                <a:spcPct val="102000"/>
              </a:lnSpc>
            </a:pPr>
            <a:r>
              <a:rPr lang="en-US" sz="1700" dirty="0">
                <a:solidFill>
                  <a:srgbClr val="182028"/>
                </a:solidFill>
                <a:latin typeface="Aptos"/>
              </a:rPr>
              <a:t>A sampler takes 4,000 samples per second. Calculate the time between samples.</a:t>
            </a:r>
          </a:p>
        </p:txBody>
      </p:sp>
      <p:sp>
        <p:nvSpPr>
          <p:cNvPr id="23" name="Rounded Rectangle 18">
            <a:extLst>
              <a:ext uri="{FF2B5EF4-FFF2-40B4-BE49-F238E27FC236}">
                <a16:creationId xmlns:a16="http://schemas.microsoft.com/office/drawing/2014/main" id="{C53B9C26-92E9-479D-8995-E56C6F44F796}"/>
              </a:ext>
            </a:extLst>
          </p:cNvPr>
          <p:cNvSpPr/>
          <p:nvPr/>
        </p:nvSpPr>
        <p:spPr>
          <a:xfrm>
            <a:off x="502920" y="1828799"/>
            <a:ext cx="3703320" cy="389999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CCDA885A-F2AD-D38C-F337-F2C6ED16D566}"/>
              </a:ext>
            </a:extLst>
          </p:cNvPr>
          <p:cNvSpPr/>
          <p:nvPr/>
        </p:nvSpPr>
        <p:spPr>
          <a:xfrm>
            <a:off x="502920" y="1828799"/>
            <a:ext cx="82296" cy="389999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3CB0AF33-B8FE-ECD9-AEE1-D33A5726A46D}"/>
              </a:ext>
            </a:extLst>
          </p:cNvPr>
          <p:cNvSpPr txBox="1"/>
          <p:nvPr/>
        </p:nvSpPr>
        <p:spPr>
          <a:xfrm>
            <a:off x="731520" y="1993392"/>
            <a:ext cx="3291840" cy="338554"/>
          </a:xfrm>
          <a:prstGeom prst="rect">
            <a:avLst/>
          </a:prstGeom>
          <a:noFill/>
        </p:spPr>
        <p:txBody>
          <a:bodyPr wrap="square" lIns="0" tIns="0" rIns="0" bIns="0" anchor="t">
            <a:spAutoFit/>
          </a:bodyPr>
          <a:lstStyle/>
          <a:p>
            <a:pPr algn="l"/>
            <a:r>
              <a:rPr lang="en-US" sz="2200" b="1" dirty="0">
                <a:solidFill>
                  <a:srgbClr val="17324D"/>
                </a:solidFill>
                <a:latin typeface="Aptos"/>
              </a:rPr>
              <a:t>Alarm</a:t>
            </a:r>
            <a:endParaRPr sz="2200" b="1" i="0" dirty="0">
              <a:solidFill>
                <a:srgbClr val="17324D"/>
              </a:solidFill>
              <a:latin typeface="Aptos"/>
            </a:endParaRPr>
          </a:p>
        </p:txBody>
      </p:sp>
      <p:sp>
        <p:nvSpPr>
          <p:cNvPr id="26" name="TextBox 25">
            <a:extLst>
              <a:ext uri="{FF2B5EF4-FFF2-40B4-BE49-F238E27FC236}">
                <a16:creationId xmlns:a16="http://schemas.microsoft.com/office/drawing/2014/main" id="{3E63E579-B0B9-2954-6D64-9B91E2277A95}"/>
              </a:ext>
            </a:extLst>
          </p:cNvPr>
          <p:cNvSpPr txBox="1"/>
          <p:nvPr/>
        </p:nvSpPr>
        <p:spPr>
          <a:xfrm>
            <a:off x="731520" y="2432304"/>
            <a:ext cx="3291840" cy="3277179"/>
          </a:xfrm>
          <a:prstGeom prst="rect">
            <a:avLst/>
          </a:prstGeom>
          <a:noFill/>
        </p:spPr>
        <p:txBody>
          <a:bodyPr wrap="square" lIns="0" tIns="0" rIns="0" bIns="0" anchor="t">
            <a:spAutoFit/>
          </a:bodyPr>
          <a:lstStyle/>
          <a:p>
            <a:pPr algn="l">
              <a:lnSpc>
                <a:spcPct val="102000"/>
              </a:lnSpc>
            </a:pPr>
            <a:r>
              <a:rPr lang="en-US" sz="1700" dirty="0">
                <a:solidFill>
                  <a:srgbClr val="182028"/>
                </a:solidFill>
                <a:latin typeface="Aptos" panose="020B0004020202020204" pitchFamily="34" charset="0"/>
              </a:rPr>
              <a:t>A </a:t>
            </a:r>
            <a:r>
              <a:rPr lang="en-US" sz="1700" b="0" i="0" dirty="0">
                <a:solidFill>
                  <a:srgbClr val="182028"/>
                </a:solidFill>
                <a:latin typeface="Aptos" panose="020B0004020202020204" pitchFamily="34" charset="0"/>
              </a:rPr>
              <a:t>detector for an alarm samples at 2,000 samples/s. It has activated on a sinewave of 4600 Hz.</a:t>
            </a:r>
          </a:p>
          <a:p>
            <a:pPr marL="342900" indent="-342900">
              <a:buFont typeface="+mj-lt"/>
              <a:buAutoNum type="arabicPeriod"/>
            </a:pPr>
            <a:r>
              <a:rPr lang="en-US" dirty="0">
                <a:latin typeface="Aptos" panose="020B0004020202020204" pitchFamily="34" charset="0"/>
              </a:rPr>
              <a:t>Predict the apparent frequency. Should the alarm activate? </a:t>
            </a:r>
          </a:p>
          <a:p>
            <a:pPr marL="342900" indent="-342900">
              <a:buFont typeface="+mj-lt"/>
              <a:buAutoNum type="arabicPeriod"/>
            </a:pPr>
            <a:r>
              <a:rPr lang="en-US" dirty="0">
                <a:latin typeface="Aptos" panose="020B0004020202020204" pitchFamily="34" charset="0"/>
              </a:rPr>
              <a:t>Leave the input unchanged and increase sampling to 10,000 samples/s. Predict the apparent frequency and alarm state.</a:t>
            </a:r>
          </a:p>
          <a:p>
            <a:pPr algn="l">
              <a:lnSpc>
                <a:spcPct val="102000"/>
              </a:lnSpc>
            </a:pPr>
            <a:endParaRPr sz="1700" b="0" i="0" dirty="0">
              <a:solidFill>
                <a:srgbClr val="182028"/>
              </a:solidFill>
              <a:latin typeface="Aptos" panose="020B0004020202020204" pitchFamily="34" charset="0"/>
            </a:endParaRPr>
          </a:p>
        </p:txBody>
      </p:sp>
      <p:sp>
        <p:nvSpPr>
          <p:cNvPr id="29" name="Rounded Rectangle 18">
            <a:extLst>
              <a:ext uri="{FF2B5EF4-FFF2-40B4-BE49-F238E27FC236}">
                <a16:creationId xmlns:a16="http://schemas.microsoft.com/office/drawing/2014/main" id="{22A467E7-C4C3-A45B-97E7-FA3BE451B437}"/>
              </a:ext>
            </a:extLst>
          </p:cNvPr>
          <p:cNvSpPr/>
          <p:nvPr/>
        </p:nvSpPr>
        <p:spPr>
          <a:xfrm>
            <a:off x="4352544" y="1828800"/>
            <a:ext cx="3703320" cy="361188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1" name="Rectangle 30">
            <a:extLst>
              <a:ext uri="{FF2B5EF4-FFF2-40B4-BE49-F238E27FC236}">
                <a16:creationId xmlns:a16="http://schemas.microsoft.com/office/drawing/2014/main" id="{897C393A-A055-6C68-CAEE-54703F19BC6B}"/>
              </a:ext>
            </a:extLst>
          </p:cNvPr>
          <p:cNvSpPr/>
          <p:nvPr/>
        </p:nvSpPr>
        <p:spPr>
          <a:xfrm>
            <a:off x="4352544" y="1828800"/>
            <a:ext cx="82296" cy="361188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72A4FCC1-3C2A-0336-0295-0A41CD0FBAE1}"/>
              </a:ext>
            </a:extLst>
          </p:cNvPr>
          <p:cNvSpPr txBox="1"/>
          <p:nvPr/>
        </p:nvSpPr>
        <p:spPr>
          <a:xfrm>
            <a:off x="4581144" y="1993392"/>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PCM</a:t>
            </a:r>
            <a:endParaRPr sz="2200" b="1" i="0" dirty="0">
              <a:solidFill>
                <a:srgbClr val="17324D"/>
              </a:solidFill>
              <a:latin typeface="Aptos"/>
            </a:endParaRPr>
          </a:p>
        </p:txBody>
      </p:sp>
      <p:sp>
        <p:nvSpPr>
          <p:cNvPr id="35" name="TextBox 34">
            <a:extLst>
              <a:ext uri="{FF2B5EF4-FFF2-40B4-BE49-F238E27FC236}">
                <a16:creationId xmlns:a16="http://schemas.microsoft.com/office/drawing/2014/main" id="{F38C87CE-D04A-4541-C042-C8A3D79B8FDB}"/>
              </a:ext>
            </a:extLst>
          </p:cNvPr>
          <p:cNvSpPr txBox="1"/>
          <p:nvPr/>
        </p:nvSpPr>
        <p:spPr>
          <a:xfrm>
            <a:off x="4581144" y="2432304"/>
            <a:ext cx="3291840" cy="1594924"/>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A single-channel PCM system takes 8,000 samples each second and represents each sample with 8 bits.</a:t>
            </a:r>
          </a:p>
          <a:p>
            <a:pPr algn="l">
              <a:lnSpc>
                <a:spcPct val="102000"/>
              </a:lnSpc>
            </a:pPr>
            <a:endParaRPr lang="en-US" sz="1700" b="0" i="0" dirty="0">
              <a:solidFill>
                <a:srgbClr val="182028"/>
              </a:solidFill>
              <a:latin typeface="Aptos"/>
            </a:endParaRPr>
          </a:p>
          <a:p>
            <a:pPr algn="l">
              <a:lnSpc>
                <a:spcPct val="102000"/>
              </a:lnSpc>
            </a:pPr>
            <a:r>
              <a:rPr lang="en-US" sz="1700" b="0" i="0" dirty="0">
                <a:solidFill>
                  <a:srgbClr val="182028"/>
                </a:solidFill>
                <a:latin typeface="Aptos"/>
              </a:rPr>
              <a:t>Calculate the bit rate.</a:t>
            </a:r>
            <a:endParaRPr sz="1700" b="0" i="0" dirty="0">
              <a:solidFill>
                <a:srgbClr val="182028"/>
              </a:solidFill>
              <a:latin typeface="Aptos"/>
            </a:endParaRPr>
          </a:p>
        </p:txBody>
      </p:sp>
    </p:spTree>
    <p:extLst>
      <p:ext uri="{BB962C8B-B14F-4D97-AF65-F5344CB8AC3E}">
        <p14:creationId xmlns:p14="http://schemas.microsoft.com/office/powerpoint/2010/main" val="736453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02</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SYSTEM GOAL</a:t>
            </a:r>
          </a:p>
        </p:txBody>
      </p:sp>
      <p:sp>
        <p:nvSpPr>
          <p:cNvPr id="11" name="TextBox 10"/>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Components of all Communication Systems</a:t>
            </a:r>
            <a:endParaRPr sz="27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1892" y="1969173"/>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1892" y="2128756"/>
            <a:ext cx="1865376" cy="247760"/>
          </a:xfrm>
          <a:prstGeom prst="rect">
            <a:avLst/>
          </a:prstGeom>
          <a:noFill/>
        </p:spPr>
        <p:txBody>
          <a:bodyPr wrap="square" lIns="27432" tIns="27432" rIns="27432" bIns="27432" anchor="ctr">
            <a:spAutoFit/>
          </a:bodyPr>
          <a:lstStyle/>
          <a:p>
            <a:pPr algn="ctr"/>
            <a:r>
              <a:rPr sz="1250" b="1" i="0" dirty="0">
                <a:solidFill>
                  <a:srgbClr val="FFFFFF"/>
                </a:solidFill>
                <a:latin typeface="Aptos"/>
              </a:rPr>
              <a:t>Message</a:t>
            </a:r>
          </a:p>
        </p:txBody>
      </p:sp>
      <p:sp>
        <p:nvSpPr>
          <p:cNvPr id="15" name="Chevron 14"/>
          <p:cNvSpPr/>
          <p:nvPr/>
        </p:nvSpPr>
        <p:spPr>
          <a:xfrm>
            <a:off x="2261036" y="2171036"/>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962656" y="2194561"/>
            <a:ext cx="1865376" cy="566926"/>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62656" y="2354144"/>
            <a:ext cx="1865376" cy="247760"/>
          </a:xfrm>
          <a:prstGeom prst="rect">
            <a:avLst/>
          </a:prstGeom>
          <a:noFill/>
        </p:spPr>
        <p:txBody>
          <a:bodyPr wrap="square" lIns="27432" tIns="27432" rIns="27432" bIns="27432" anchor="ctr">
            <a:spAutoFit/>
          </a:bodyPr>
          <a:lstStyle/>
          <a:p>
            <a:pPr algn="ctr"/>
            <a:r>
              <a:rPr sz="1250" b="1" i="0" dirty="0">
                <a:solidFill>
                  <a:srgbClr val="FFFFFF"/>
                </a:solidFill>
                <a:latin typeface="Aptos"/>
              </a:rPr>
              <a:t>Transmitter</a:t>
            </a:r>
          </a:p>
        </p:txBody>
      </p:sp>
      <p:sp>
        <p:nvSpPr>
          <p:cNvPr id="18" name="Chevron 17"/>
          <p:cNvSpPr/>
          <p:nvPr/>
        </p:nvSpPr>
        <p:spPr>
          <a:xfrm>
            <a:off x="4951800" y="2396424"/>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128840" y="3020084"/>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36140" y="3179667"/>
            <a:ext cx="16507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Medium</a:t>
            </a:r>
          </a:p>
        </p:txBody>
      </p:sp>
      <p:sp>
        <p:nvSpPr>
          <p:cNvPr id="21" name="Chevron 20"/>
          <p:cNvSpPr/>
          <p:nvPr/>
        </p:nvSpPr>
        <p:spPr>
          <a:xfrm>
            <a:off x="7155504" y="3273371"/>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70064" y="2194561"/>
            <a:ext cx="1865376" cy="566926"/>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77364" y="2354144"/>
            <a:ext cx="16507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Receiver</a:t>
            </a:r>
          </a:p>
        </p:txBody>
      </p:sp>
      <p:sp>
        <p:nvSpPr>
          <p:cNvPr id="24" name="Chevron 23"/>
          <p:cNvSpPr/>
          <p:nvPr/>
        </p:nvSpPr>
        <p:spPr>
          <a:xfrm>
            <a:off x="9359208" y="2396424"/>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573768" y="2194561"/>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73768" y="2354144"/>
            <a:ext cx="18653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Recovered message</a:t>
            </a:r>
          </a:p>
        </p:txBody>
      </p:sp>
      <p:sp>
        <p:nvSpPr>
          <p:cNvPr id="31" name="Rounded Rectangle 30"/>
          <p:cNvSpPr/>
          <p:nvPr/>
        </p:nvSpPr>
        <p:spPr>
          <a:xfrm>
            <a:off x="3200400" y="5650992"/>
            <a:ext cx="5760720" cy="420624"/>
          </a:xfrm>
          <a:prstGeom prst="round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0" y="5754351"/>
            <a:ext cx="5760720" cy="213905"/>
          </a:xfrm>
          <a:prstGeom prst="rect">
            <a:avLst/>
          </a:prstGeom>
          <a:noFill/>
        </p:spPr>
        <p:txBody>
          <a:bodyPr wrap="square" lIns="18288" tIns="18288" rIns="18288" bIns="18288" anchor="ctr">
            <a:spAutoFit/>
          </a:bodyPr>
          <a:lstStyle/>
          <a:p>
            <a:pPr algn="ctr"/>
            <a:r>
              <a:rPr lang="en-US" sz="1150" b="1" i="0" dirty="0">
                <a:solidFill>
                  <a:srgbClr val="FFFFFF"/>
                </a:solidFill>
                <a:latin typeface="Aptos"/>
              </a:rPr>
              <a:t>EVERY BLOCK TRANSFORMS, TRANSPORTS, OR INTERPRETS A PHYSICAL SIGNAL</a:t>
            </a:r>
          </a:p>
        </p:txBody>
      </p:sp>
      <p:pic>
        <p:nvPicPr>
          <p:cNvPr id="34" name="Picture 33">
            <a:extLst>
              <a:ext uri="{FF2B5EF4-FFF2-40B4-BE49-F238E27FC236}">
                <a16:creationId xmlns:a16="http://schemas.microsoft.com/office/drawing/2014/main" id="{F6DE57B6-709F-0B76-7379-0C6EC8EED22A}"/>
              </a:ext>
            </a:extLst>
          </p:cNvPr>
          <p:cNvPicPr>
            <a:picLocks noChangeAspect="1"/>
          </p:cNvPicPr>
          <p:nvPr/>
        </p:nvPicPr>
        <p:blipFill>
          <a:blip r:embed="rId3"/>
          <a:srcRect/>
          <a:stretch>
            <a:fillRect/>
          </a:stretch>
        </p:blipFill>
        <p:spPr>
          <a:xfrm>
            <a:off x="855706" y="2731944"/>
            <a:ext cx="3999300" cy="2666200"/>
          </a:xfrm>
          <a:prstGeom prst="rect">
            <a:avLst/>
          </a:prstGeom>
        </p:spPr>
      </p:pic>
      <p:pic>
        <p:nvPicPr>
          <p:cNvPr id="36" name="Picture 35">
            <a:extLst>
              <a:ext uri="{FF2B5EF4-FFF2-40B4-BE49-F238E27FC236}">
                <a16:creationId xmlns:a16="http://schemas.microsoft.com/office/drawing/2014/main" id="{E87F4398-806A-E781-F7F8-7911BFE6ED61}"/>
              </a:ext>
            </a:extLst>
          </p:cNvPr>
          <p:cNvPicPr>
            <a:picLocks noChangeAspect="1"/>
          </p:cNvPicPr>
          <p:nvPr/>
        </p:nvPicPr>
        <p:blipFill>
          <a:blip r:embed="rId4"/>
          <a:srcRect/>
          <a:stretch>
            <a:fillRect/>
          </a:stretch>
        </p:blipFill>
        <p:spPr>
          <a:xfrm flipH="1">
            <a:off x="7489755" y="2791206"/>
            <a:ext cx="3686175" cy="2457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EF98A083-0AC7-D31C-749D-0A4239DF6C13}"/>
            </a:ext>
          </a:extLst>
        </p:cNvPr>
        <p:cNvGrpSpPr/>
        <p:nvPr/>
      </p:nvGrpSpPr>
      <p:grpSpPr>
        <a:xfrm>
          <a:off x="0" y="0"/>
          <a:ext cx="0" cy="0"/>
          <a:chOff x="0" y="0"/>
          <a:chExt cx="0" cy="0"/>
        </a:xfrm>
      </p:grpSpPr>
      <p:sp>
        <p:nvSpPr>
          <p:cNvPr id="36" name="Rounded Rectangle 18">
            <a:extLst>
              <a:ext uri="{FF2B5EF4-FFF2-40B4-BE49-F238E27FC236}">
                <a16:creationId xmlns:a16="http://schemas.microsoft.com/office/drawing/2014/main" id="{08E9B9FC-057E-CD02-37CA-081EBF4C3DB6}"/>
              </a:ext>
            </a:extLst>
          </p:cNvPr>
          <p:cNvSpPr/>
          <p:nvPr/>
        </p:nvSpPr>
        <p:spPr>
          <a:xfrm>
            <a:off x="777240" y="4817216"/>
            <a:ext cx="4672584" cy="1601869"/>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CF9BB3FF-B125-9BC3-EEFA-A9D543BDE542}"/>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F39F4F49-1F67-05F6-4F8F-EE917F992061}"/>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F3D27CFF-F2AC-C4B2-681D-CD41E19891D9}"/>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A5FE46AD-EE2E-F696-4698-145F7EF2ABD0}"/>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A73C7FDD-C820-14EC-FA32-E40E5531CCC2}"/>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6533CEA3-9D65-D20B-A471-DC8FF5A9A5E8}"/>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7E9840F-8982-A78C-9F11-353FB24A3E69}"/>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086019B2-F3A4-7331-EE84-22B2F1B69D00}"/>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02</a:t>
            </a:r>
          </a:p>
        </p:txBody>
      </p:sp>
      <p:sp>
        <p:nvSpPr>
          <p:cNvPr id="10" name="TextBox 9">
            <a:extLst>
              <a:ext uri="{FF2B5EF4-FFF2-40B4-BE49-F238E27FC236}">
                <a16:creationId xmlns:a16="http://schemas.microsoft.com/office/drawing/2014/main" id="{E29D2F57-D5FD-EBF8-B686-84683F23D11D}"/>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START WITH A PROBLEM</a:t>
            </a:r>
          </a:p>
        </p:txBody>
      </p:sp>
      <p:sp>
        <p:nvSpPr>
          <p:cNvPr id="11" name="TextBox 10">
            <a:extLst>
              <a:ext uri="{FF2B5EF4-FFF2-40B4-BE49-F238E27FC236}">
                <a16:creationId xmlns:a16="http://schemas.microsoft.com/office/drawing/2014/main" id="{F0A2D0C0-9F46-E49B-77C6-530F3AD31B1D}"/>
              </a:ext>
            </a:extLst>
          </p:cNvPr>
          <p:cNvSpPr txBox="1"/>
          <p:nvPr/>
        </p:nvSpPr>
        <p:spPr>
          <a:xfrm>
            <a:off x="594360" y="783336"/>
            <a:ext cx="10881360" cy="446276"/>
          </a:xfrm>
          <a:prstGeom prst="rect">
            <a:avLst/>
          </a:prstGeom>
          <a:noFill/>
        </p:spPr>
        <p:txBody>
          <a:bodyPr wrap="square" lIns="0" tIns="0" rIns="0" bIns="0" anchor="t">
            <a:spAutoFit/>
          </a:bodyPr>
          <a:lstStyle/>
          <a:p>
            <a:pPr algn="l"/>
            <a:r>
              <a:rPr lang="en-US" sz="2900" b="1" dirty="0">
                <a:solidFill>
                  <a:srgbClr val="17324D"/>
                </a:solidFill>
                <a:latin typeface="Aptos Display"/>
              </a:rPr>
              <a:t>How do I know that the bits changed?</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095DA58A-73F6-58A7-2AAD-A21B5ADF2743}"/>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24" name="Rounded Rectangle 18">
            <a:extLst>
              <a:ext uri="{FF2B5EF4-FFF2-40B4-BE49-F238E27FC236}">
                <a16:creationId xmlns:a16="http://schemas.microsoft.com/office/drawing/2014/main" id="{BFC69C86-F02A-4DE5-AD93-CC1A60E4C3AD}"/>
              </a:ext>
            </a:extLst>
          </p:cNvPr>
          <p:cNvSpPr/>
          <p:nvPr/>
        </p:nvSpPr>
        <p:spPr>
          <a:xfrm>
            <a:off x="8055864" y="4757929"/>
            <a:ext cx="3703320" cy="128016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Rectangle 25">
            <a:extLst>
              <a:ext uri="{FF2B5EF4-FFF2-40B4-BE49-F238E27FC236}">
                <a16:creationId xmlns:a16="http://schemas.microsoft.com/office/drawing/2014/main" id="{917E035E-BA49-3801-3936-C21BE98B1C30}"/>
              </a:ext>
            </a:extLst>
          </p:cNvPr>
          <p:cNvSpPr/>
          <p:nvPr/>
        </p:nvSpPr>
        <p:spPr>
          <a:xfrm>
            <a:off x="8055864" y="4757929"/>
            <a:ext cx="82296" cy="128016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2FEA84A5-B4A8-C8D0-C19D-0261385938E4}"/>
              </a:ext>
            </a:extLst>
          </p:cNvPr>
          <p:cNvSpPr txBox="1"/>
          <p:nvPr/>
        </p:nvSpPr>
        <p:spPr>
          <a:xfrm>
            <a:off x="8284464" y="4922521"/>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Redundancy</a:t>
            </a:r>
            <a:endParaRPr sz="2200" b="1" i="0" dirty="0">
              <a:solidFill>
                <a:srgbClr val="17324D"/>
              </a:solidFill>
              <a:latin typeface="Aptos"/>
            </a:endParaRPr>
          </a:p>
        </p:txBody>
      </p:sp>
      <p:sp>
        <p:nvSpPr>
          <p:cNvPr id="30" name="TextBox 29">
            <a:extLst>
              <a:ext uri="{FF2B5EF4-FFF2-40B4-BE49-F238E27FC236}">
                <a16:creationId xmlns:a16="http://schemas.microsoft.com/office/drawing/2014/main" id="{ADF6EE7C-1DAB-9E66-4C14-049A374EF2E0}"/>
              </a:ext>
            </a:extLst>
          </p:cNvPr>
          <p:cNvSpPr txBox="1"/>
          <p:nvPr/>
        </p:nvSpPr>
        <p:spPr>
          <a:xfrm>
            <a:off x="8284464" y="5361433"/>
            <a:ext cx="3291840"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Extra information beyond the original data</a:t>
            </a:r>
            <a:endParaRPr sz="1700" b="0" i="0" dirty="0">
              <a:solidFill>
                <a:srgbClr val="182028"/>
              </a:solidFill>
              <a:latin typeface="Aptos"/>
            </a:endParaRPr>
          </a:p>
        </p:txBody>
      </p:sp>
      <p:pic>
        <p:nvPicPr>
          <p:cNvPr id="32" name="Picture 31">
            <a:extLst>
              <a:ext uri="{FF2B5EF4-FFF2-40B4-BE49-F238E27FC236}">
                <a16:creationId xmlns:a16="http://schemas.microsoft.com/office/drawing/2014/main" id="{D46DD596-46B6-A9A1-A269-0E48FC1160BD}"/>
              </a:ext>
            </a:extLst>
          </p:cNvPr>
          <p:cNvPicPr>
            <a:picLocks noChangeAspect="1"/>
          </p:cNvPicPr>
          <p:nvPr/>
        </p:nvPicPr>
        <p:blipFill>
          <a:blip r:embed="rId3"/>
          <a:srcRect t="46533"/>
          <a:stretch>
            <a:fillRect/>
          </a:stretch>
        </p:blipFill>
        <p:spPr>
          <a:xfrm>
            <a:off x="1755648" y="1348311"/>
            <a:ext cx="9147048" cy="3260414"/>
          </a:xfrm>
          <a:prstGeom prst="rect">
            <a:avLst/>
          </a:prstGeom>
        </p:spPr>
      </p:pic>
      <p:sp>
        <p:nvSpPr>
          <p:cNvPr id="34" name="TextBox 33">
            <a:extLst>
              <a:ext uri="{FF2B5EF4-FFF2-40B4-BE49-F238E27FC236}">
                <a16:creationId xmlns:a16="http://schemas.microsoft.com/office/drawing/2014/main" id="{B27F5BE3-2542-A547-3961-827833E4BCF2}"/>
              </a:ext>
            </a:extLst>
          </p:cNvPr>
          <p:cNvSpPr txBox="1"/>
          <p:nvPr/>
        </p:nvSpPr>
        <p:spPr>
          <a:xfrm>
            <a:off x="899160" y="4870002"/>
            <a:ext cx="6120384" cy="1477328"/>
          </a:xfrm>
          <a:prstGeom prst="rect">
            <a:avLst/>
          </a:prstGeom>
          <a:noFill/>
        </p:spPr>
        <p:txBody>
          <a:bodyPr wrap="square">
            <a:spAutoFit/>
          </a:bodyPr>
          <a:lstStyle/>
          <a:p>
            <a:pPr lvl="0"/>
            <a:r>
              <a:rPr lang="en-US" b="1" dirty="0">
                <a:latin typeface="Aptos" panose="020B0004020202020204" pitchFamily="34" charset="0"/>
              </a:rPr>
              <a:t>Error control</a:t>
            </a:r>
          </a:p>
          <a:p>
            <a:pPr marL="800100" lvl="1" indent="-342900">
              <a:buFont typeface="Arial" panose="020B0604020202020204" pitchFamily="34" charset="0"/>
              <a:buChar char="•"/>
            </a:pPr>
            <a:r>
              <a:rPr lang="en-US" b="1" dirty="0">
                <a:latin typeface="Aptos" panose="020B0004020202020204" pitchFamily="34" charset="0"/>
              </a:rPr>
              <a:t>Error detection</a:t>
            </a:r>
          </a:p>
          <a:p>
            <a:pPr marL="1257300" lvl="2" indent="-342900">
              <a:buFont typeface="Arial" panose="020B0604020202020204" pitchFamily="34" charset="0"/>
              <a:buChar char="•"/>
            </a:pPr>
            <a:r>
              <a:rPr lang="en-US" dirty="0">
                <a:latin typeface="Aptos" panose="020B0004020202020204" pitchFamily="34" charset="0"/>
              </a:rPr>
              <a:t>parity, checksum, CRC</a:t>
            </a:r>
          </a:p>
          <a:p>
            <a:pPr marL="800100" lvl="1" indent="-342900">
              <a:buFont typeface="Arial" panose="020B0604020202020204" pitchFamily="34" charset="0"/>
              <a:buChar char="•"/>
            </a:pPr>
            <a:r>
              <a:rPr lang="en-US" b="1" dirty="0">
                <a:latin typeface="Aptos" panose="020B0004020202020204" pitchFamily="34" charset="0"/>
              </a:rPr>
              <a:t>Error correction</a:t>
            </a:r>
          </a:p>
          <a:p>
            <a:pPr marL="1257300" lvl="2" indent="-342900">
              <a:buFont typeface="Arial" panose="020B0604020202020204" pitchFamily="34" charset="0"/>
              <a:buChar char="•"/>
            </a:pPr>
            <a:r>
              <a:rPr lang="en-US" dirty="0">
                <a:latin typeface="Aptos" panose="020B0004020202020204" pitchFamily="34" charset="0"/>
              </a:rPr>
              <a:t>ARQ, FEC, Interleaving</a:t>
            </a:r>
          </a:p>
        </p:txBody>
      </p:sp>
    </p:spTree>
    <p:extLst>
      <p:ext uri="{BB962C8B-B14F-4D97-AF65-F5344CB8AC3E}">
        <p14:creationId xmlns:p14="http://schemas.microsoft.com/office/powerpoint/2010/main" val="409591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8"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MAKE IT VISIBLE</a:t>
            </a:r>
          </a:p>
        </p:txBody>
      </p:sp>
      <p:sp>
        <p:nvSpPr>
          <p:cNvPr id="11" name="TextBox 10"/>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Parity Bits</a:t>
            </a:r>
            <a:endParaRPr sz="27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2167128"/>
            <a:ext cx="2331720" cy="457200"/>
          </a:xfrm>
          <a:prstGeom prst="rect">
            <a:avLst/>
          </a:prstGeom>
          <a:noFill/>
        </p:spPr>
        <p:txBody>
          <a:bodyPr wrap="square" lIns="0" tIns="0" rIns="0" bIns="0" anchor="t">
            <a:spAutoFit/>
          </a:bodyPr>
          <a:lstStyle/>
          <a:p>
            <a:pPr algn="l"/>
            <a:r>
              <a:rPr sz="1800" b="1" i="0">
                <a:solidFill>
                  <a:srgbClr val="17324D"/>
                </a:solidFill>
                <a:latin typeface="Aptos"/>
              </a:rPr>
              <a:t>Sent</a:t>
            </a:r>
          </a:p>
        </p:txBody>
      </p:sp>
      <p:sp>
        <p:nvSpPr>
          <p:cNvPr id="14" name="Rounded Rectangle 13"/>
          <p:cNvSpPr/>
          <p:nvPr/>
        </p:nvSpPr>
        <p:spPr>
          <a:xfrm>
            <a:off x="3200400" y="201168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0" y="214884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16" name="Rounded Rectangle 15"/>
          <p:cNvSpPr/>
          <p:nvPr/>
        </p:nvSpPr>
        <p:spPr>
          <a:xfrm>
            <a:off x="4160520" y="201168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60520" y="2148840"/>
            <a:ext cx="731520" cy="457200"/>
          </a:xfrm>
          <a:prstGeom prst="rect">
            <a:avLst/>
          </a:prstGeom>
          <a:noFill/>
        </p:spPr>
        <p:txBody>
          <a:bodyPr wrap="square" lIns="0" tIns="0" rIns="0" bIns="0" anchor="t">
            <a:spAutoFit/>
          </a:bodyPr>
          <a:lstStyle/>
          <a:p>
            <a:pPr algn="ctr"/>
            <a:r>
              <a:rPr sz="2600" b="1" i="0">
                <a:solidFill>
                  <a:srgbClr val="17324D"/>
                </a:solidFill>
                <a:latin typeface="Aptos"/>
              </a:rPr>
              <a:t>0</a:t>
            </a:r>
          </a:p>
        </p:txBody>
      </p:sp>
      <p:sp>
        <p:nvSpPr>
          <p:cNvPr id="18" name="Rounded Rectangle 17"/>
          <p:cNvSpPr/>
          <p:nvPr/>
        </p:nvSpPr>
        <p:spPr>
          <a:xfrm>
            <a:off x="5120640" y="201168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214884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20" name="Rounded Rectangle 19"/>
          <p:cNvSpPr/>
          <p:nvPr/>
        </p:nvSpPr>
        <p:spPr>
          <a:xfrm>
            <a:off x="6080760" y="201168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80760" y="214884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22" name="Rounded Rectangle 21"/>
          <p:cNvSpPr/>
          <p:nvPr/>
        </p:nvSpPr>
        <p:spPr>
          <a:xfrm>
            <a:off x="7040880" y="201168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0" y="214884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24" name="TextBox 23"/>
          <p:cNvSpPr txBox="1"/>
          <p:nvPr/>
        </p:nvSpPr>
        <p:spPr>
          <a:xfrm>
            <a:off x="8229600" y="2167128"/>
            <a:ext cx="3108960" cy="457200"/>
          </a:xfrm>
          <a:prstGeom prst="rect">
            <a:avLst/>
          </a:prstGeom>
          <a:noFill/>
        </p:spPr>
        <p:txBody>
          <a:bodyPr wrap="square" lIns="0" tIns="0" rIns="0" bIns="0" anchor="t">
            <a:spAutoFit/>
          </a:bodyPr>
          <a:lstStyle/>
          <a:p>
            <a:pPr algn="l"/>
            <a:r>
              <a:rPr sz="1800" b="1" i="0" dirty="0">
                <a:solidFill>
                  <a:srgbClr val="17324D"/>
                </a:solidFill>
                <a:latin typeface="Aptos"/>
              </a:rPr>
              <a:t>4 ones: even</a:t>
            </a:r>
          </a:p>
        </p:txBody>
      </p:sp>
      <p:sp>
        <p:nvSpPr>
          <p:cNvPr id="25" name="TextBox 24"/>
          <p:cNvSpPr txBox="1"/>
          <p:nvPr/>
        </p:nvSpPr>
        <p:spPr>
          <a:xfrm>
            <a:off x="731520" y="3172968"/>
            <a:ext cx="2331720" cy="457200"/>
          </a:xfrm>
          <a:prstGeom prst="rect">
            <a:avLst/>
          </a:prstGeom>
          <a:noFill/>
        </p:spPr>
        <p:txBody>
          <a:bodyPr wrap="square" lIns="0" tIns="0" rIns="0" bIns="0" anchor="t">
            <a:spAutoFit/>
          </a:bodyPr>
          <a:lstStyle/>
          <a:p>
            <a:pPr algn="l"/>
            <a:r>
              <a:rPr sz="1800" b="1" i="0">
                <a:solidFill>
                  <a:srgbClr val="17324D"/>
                </a:solidFill>
                <a:latin typeface="Aptos"/>
              </a:rPr>
              <a:t>One bit changed</a:t>
            </a:r>
          </a:p>
        </p:txBody>
      </p:sp>
      <p:sp>
        <p:nvSpPr>
          <p:cNvPr id="26" name="Rounded Rectangle 25"/>
          <p:cNvSpPr/>
          <p:nvPr/>
        </p:nvSpPr>
        <p:spPr>
          <a:xfrm>
            <a:off x="3200400" y="301752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0" y="315468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28" name="Rounded Rectangle 27"/>
          <p:cNvSpPr/>
          <p:nvPr/>
        </p:nvSpPr>
        <p:spPr>
          <a:xfrm>
            <a:off x="4160520" y="301752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60520" y="3154680"/>
            <a:ext cx="731520" cy="457200"/>
          </a:xfrm>
          <a:prstGeom prst="rect">
            <a:avLst/>
          </a:prstGeom>
          <a:noFill/>
        </p:spPr>
        <p:txBody>
          <a:bodyPr wrap="square" lIns="0" tIns="0" rIns="0" bIns="0" anchor="t">
            <a:spAutoFit/>
          </a:bodyPr>
          <a:lstStyle/>
          <a:p>
            <a:pPr algn="ctr"/>
            <a:r>
              <a:rPr sz="2600" b="1" i="0">
                <a:solidFill>
                  <a:srgbClr val="17324D"/>
                </a:solidFill>
                <a:latin typeface="Aptos"/>
              </a:rPr>
              <a:t>0</a:t>
            </a:r>
          </a:p>
        </p:txBody>
      </p:sp>
      <p:sp>
        <p:nvSpPr>
          <p:cNvPr id="30" name="Rounded Rectangle 29"/>
          <p:cNvSpPr/>
          <p:nvPr/>
        </p:nvSpPr>
        <p:spPr>
          <a:xfrm>
            <a:off x="5120640" y="3017520"/>
            <a:ext cx="731520" cy="73152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20640" y="3154680"/>
            <a:ext cx="731520" cy="457200"/>
          </a:xfrm>
          <a:prstGeom prst="rect">
            <a:avLst/>
          </a:prstGeom>
          <a:noFill/>
        </p:spPr>
        <p:txBody>
          <a:bodyPr wrap="square" lIns="0" tIns="0" rIns="0" bIns="0" anchor="t">
            <a:spAutoFit/>
          </a:bodyPr>
          <a:lstStyle/>
          <a:p>
            <a:pPr algn="ctr"/>
            <a:r>
              <a:rPr sz="2600" b="1" i="0">
                <a:solidFill>
                  <a:srgbClr val="17324D"/>
                </a:solidFill>
                <a:latin typeface="Aptos"/>
              </a:rPr>
              <a:t>0</a:t>
            </a:r>
          </a:p>
        </p:txBody>
      </p:sp>
      <p:sp>
        <p:nvSpPr>
          <p:cNvPr id="32" name="Rounded Rectangle 31"/>
          <p:cNvSpPr/>
          <p:nvPr/>
        </p:nvSpPr>
        <p:spPr>
          <a:xfrm>
            <a:off x="6080760" y="301752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080760" y="315468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34" name="Rounded Rectangle 33"/>
          <p:cNvSpPr/>
          <p:nvPr/>
        </p:nvSpPr>
        <p:spPr>
          <a:xfrm>
            <a:off x="7040880" y="301752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40880" y="315468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36" name="TextBox 35"/>
          <p:cNvSpPr txBox="1"/>
          <p:nvPr/>
        </p:nvSpPr>
        <p:spPr>
          <a:xfrm>
            <a:off x="8229600" y="3172968"/>
            <a:ext cx="3108960" cy="457200"/>
          </a:xfrm>
          <a:prstGeom prst="rect">
            <a:avLst/>
          </a:prstGeom>
          <a:noFill/>
        </p:spPr>
        <p:txBody>
          <a:bodyPr wrap="square" lIns="0" tIns="0" rIns="0" bIns="0" anchor="t">
            <a:spAutoFit/>
          </a:bodyPr>
          <a:lstStyle/>
          <a:p>
            <a:pPr algn="l"/>
            <a:r>
              <a:rPr sz="1800" b="1" i="0">
                <a:solidFill>
                  <a:srgbClr val="17324D"/>
                </a:solidFill>
                <a:latin typeface="Aptos"/>
              </a:rPr>
              <a:t>3 ones: FAIL</a:t>
            </a:r>
          </a:p>
        </p:txBody>
      </p:sp>
      <p:sp>
        <p:nvSpPr>
          <p:cNvPr id="37" name="TextBox 36"/>
          <p:cNvSpPr txBox="1"/>
          <p:nvPr/>
        </p:nvSpPr>
        <p:spPr>
          <a:xfrm>
            <a:off x="731520" y="4178808"/>
            <a:ext cx="2331720" cy="457200"/>
          </a:xfrm>
          <a:prstGeom prst="rect">
            <a:avLst/>
          </a:prstGeom>
          <a:noFill/>
        </p:spPr>
        <p:txBody>
          <a:bodyPr wrap="square" lIns="0" tIns="0" rIns="0" bIns="0" anchor="t">
            <a:spAutoFit/>
          </a:bodyPr>
          <a:lstStyle/>
          <a:p>
            <a:pPr algn="l"/>
            <a:r>
              <a:rPr sz="1800" b="1" i="0">
                <a:solidFill>
                  <a:srgbClr val="17324D"/>
                </a:solidFill>
                <a:latin typeface="Aptos"/>
              </a:rPr>
              <a:t>Two bits changed</a:t>
            </a:r>
          </a:p>
        </p:txBody>
      </p:sp>
      <p:sp>
        <p:nvSpPr>
          <p:cNvPr id="38" name="Rounded Rectangle 37"/>
          <p:cNvSpPr/>
          <p:nvPr/>
        </p:nvSpPr>
        <p:spPr>
          <a:xfrm>
            <a:off x="3200400" y="402336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0" y="416052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40" name="Rounded Rectangle 39"/>
          <p:cNvSpPr/>
          <p:nvPr/>
        </p:nvSpPr>
        <p:spPr>
          <a:xfrm>
            <a:off x="4160520" y="4023360"/>
            <a:ext cx="731520" cy="73152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160520" y="416052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42" name="Rounded Rectangle 41"/>
          <p:cNvSpPr/>
          <p:nvPr/>
        </p:nvSpPr>
        <p:spPr>
          <a:xfrm>
            <a:off x="5120640" y="4023360"/>
            <a:ext cx="731520" cy="73152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20640" y="4160520"/>
            <a:ext cx="731520" cy="457200"/>
          </a:xfrm>
          <a:prstGeom prst="rect">
            <a:avLst/>
          </a:prstGeom>
          <a:noFill/>
        </p:spPr>
        <p:txBody>
          <a:bodyPr wrap="square" lIns="0" tIns="0" rIns="0" bIns="0" anchor="t">
            <a:spAutoFit/>
          </a:bodyPr>
          <a:lstStyle/>
          <a:p>
            <a:pPr algn="ctr"/>
            <a:r>
              <a:rPr sz="2600" b="1" i="0">
                <a:solidFill>
                  <a:srgbClr val="17324D"/>
                </a:solidFill>
                <a:latin typeface="Aptos"/>
              </a:rPr>
              <a:t>0</a:t>
            </a:r>
          </a:p>
        </p:txBody>
      </p:sp>
      <p:sp>
        <p:nvSpPr>
          <p:cNvPr id="44" name="Rounded Rectangle 43"/>
          <p:cNvSpPr/>
          <p:nvPr/>
        </p:nvSpPr>
        <p:spPr>
          <a:xfrm>
            <a:off x="6080760" y="402336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080760" y="416052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46" name="Rounded Rectangle 45"/>
          <p:cNvSpPr/>
          <p:nvPr/>
        </p:nvSpPr>
        <p:spPr>
          <a:xfrm>
            <a:off x="7040880" y="4023360"/>
            <a:ext cx="731520" cy="73152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040880" y="4160520"/>
            <a:ext cx="731520" cy="457200"/>
          </a:xfrm>
          <a:prstGeom prst="rect">
            <a:avLst/>
          </a:prstGeom>
          <a:noFill/>
        </p:spPr>
        <p:txBody>
          <a:bodyPr wrap="square" lIns="0" tIns="0" rIns="0" bIns="0" anchor="t">
            <a:spAutoFit/>
          </a:bodyPr>
          <a:lstStyle/>
          <a:p>
            <a:pPr algn="ctr"/>
            <a:r>
              <a:rPr sz="2600" b="1" i="0">
                <a:solidFill>
                  <a:srgbClr val="17324D"/>
                </a:solidFill>
                <a:latin typeface="Aptos"/>
              </a:rPr>
              <a:t>1</a:t>
            </a:r>
          </a:p>
        </p:txBody>
      </p:sp>
      <p:sp>
        <p:nvSpPr>
          <p:cNvPr id="48" name="TextBox 47"/>
          <p:cNvSpPr txBox="1"/>
          <p:nvPr/>
        </p:nvSpPr>
        <p:spPr>
          <a:xfrm>
            <a:off x="8229600" y="4178808"/>
            <a:ext cx="3108960" cy="457200"/>
          </a:xfrm>
          <a:prstGeom prst="rect">
            <a:avLst/>
          </a:prstGeom>
          <a:noFill/>
        </p:spPr>
        <p:txBody>
          <a:bodyPr wrap="square" lIns="0" tIns="0" rIns="0" bIns="0" anchor="t">
            <a:spAutoFit/>
          </a:bodyPr>
          <a:lstStyle/>
          <a:p>
            <a:pPr algn="l"/>
            <a:r>
              <a:rPr sz="1800" b="1" i="0">
                <a:solidFill>
                  <a:srgbClr val="17324D"/>
                </a:solidFill>
                <a:latin typeface="Aptos"/>
              </a:rPr>
              <a:t>4 ones: PASS</a:t>
            </a:r>
          </a:p>
        </p:txBody>
      </p:sp>
      <p:sp>
        <p:nvSpPr>
          <p:cNvPr id="49" name="TextBox 48"/>
          <p:cNvSpPr txBox="1"/>
          <p:nvPr/>
        </p:nvSpPr>
        <p:spPr>
          <a:xfrm>
            <a:off x="6332220" y="1435608"/>
            <a:ext cx="2880360" cy="246221"/>
          </a:xfrm>
          <a:prstGeom prst="rect">
            <a:avLst/>
          </a:prstGeom>
          <a:noFill/>
        </p:spPr>
        <p:txBody>
          <a:bodyPr wrap="square" lIns="0" tIns="0" rIns="0" bIns="0" anchor="t">
            <a:spAutoFit/>
          </a:bodyPr>
          <a:lstStyle/>
          <a:p>
            <a:pPr algn="l"/>
            <a:r>
              <a:rPr lang="en-US" sz="1600" b="0" i="0" dirty="0">
                <a:solidFill>
                  <a:srgbClr val="17324D"/>
                </a:solidFill>
                <a:latin typeface="Aptos"/>
              </a:rPr>
              <a:t>D</a:t>
            </a:r>
            <a:r>
              <a:rPr sz="1600" b="0" i="0" dirty="0">
                <a:solidFill>
                  <a:srgbClr val="17324D"/>
                </a:solidFill>
                <a:latin typeface="Aptos"/>
              </a:rPr>
              <a:t>ata   | </a:t>
            </a:r>
            <a:r>
              <a:rPr lang="en-US" sz="1600" b="0" i="0" dirty="0">
                <a:solidFill>
                  <a:srgbClr val="17324D"/>
                </a:solidFill>
                <a:latin typeface="Aptos"/>
              </a:rPr>
              <a:t> Parity</a:t>
            </a:r>
            <a:endParaRPr sz="1600" b="0" i="0" dirty="0">
              <a:solidFill>
                <a:srgbClr val="17324D"/>
              </a:solidFill>
              <a:latin typeface="Aptos"/>
            </a:endParaRPr>
          </a:p>
        </p:txBody>
      </p:sp>
      <p:sp>
        <p:nvSpPr>
          <p:cNvPr id="50" name="TextBox 49"/>
          <p:cNvSpPr txBox="1"/>
          <p:nvPr/>
        </p:nvSpPr>
        <p:spPr>
          <a:xfrm>
            <a:off x="1992630" y="5399413"/>
            <a:ext cx="1255776" cy="553998"/>
          </a:xfrm>
          <a:prstGeom prst="rect">
            <a:avLst/>
          </a:prstGeom>
          <a:noFill/>
        </p:spPr>
        <p:txBody>
          <a:bodyPr wrap="square" lIns="0" tIns="0" rIns="0" bIns="0" anchor="t">
            <a:spAutoFit/>
          </a:bodyPr>
          <a:lstStyle/>
          <a:p>
            <a:pPr algn="r"/>
            <a:r>
              <a:rPr lang="en-US" b="1" dirty="0">
                <a:solidFill>
                  <a:srgbClr val="17324D"/>
                </a:solidFill>
                <a:latin typeface="Aptos"/>
              </a:rPr>
              <a:t>Set Even or Odd Parity </a:t>
            </a:r>
            <a:endParaRPr sz="1800" b="1" i="0" dirty="0">
              <a:solidFill>
                <a:srgbClr val="17324D"/>
              </a:solidFill>
              <a:latin typeface="Aptos"/>
            </a:endParaRPr>
          </a:p>
        </p:txBody>
      </p:sp>
      <p:sp>
        <p:nvSpPr>
          <p:cNvPr id="52" name="Rounded Rectangle 18">
            <a:extLst>
              <a:ext uri="{FF2B5EF4-FFF2-40B4-BE49-F238E27FC236}">
                <a16:creationId xmlns:a16="http://schemas.microsoft.com/office/drawing/2014/main" id="{E4A6B27A-848F-D0F8-A320-A08AB221F2B8}"/>
              </a:ext>
            </a:extLst>
          </p:cNvPr>
          <p:cNvSpPr/>
          <p:nvPr/>
        </p:nvSpPr>
        <p:spPr>
          <a:xfrm>
            <a:off x="3931920" y="5209401"/>
            <a:ext cx="6632448" cy="942499"/>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5608CD14-B4E9-CFC2-813D-D1417DD6E882}"/>
              </a:ext>
            </a:extLst>
          </p:cNvPr>
          <p:cNvSpPr txBox="1"/>
          <p:nvPr/>
        </p:nvSpPr>
        <p:spPr>
          <a:xfrm>
            <a:off x="4160520" y="5425959"/>
            <a:ext cx="6093742"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Even parity: Data plus parity must contain an even number of 1s</a:t>
            </a:r>
          </a:p>
          <a:p>
            <a:pPr>
              <a:lnSpc>
                <a:spcPct val="102000"/>
              </a:lnSpc>
            </a:pPr>
            <a:r>
              <a:rPr lang="en-US" sz="1700" dirty="0">
                <a:solidFill>
                  <a:srgbClr val="182028"/>
                </a:solidFill>
                <a:latin typeface="Aptos"/>
              </a:rPr>
              <a:t>Odd parity: Data plus parity must contain an odd number of 1s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5E27546E-B398-FB10-18D1-C9145BA1F7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FAA652-9B00-FB20-C1E7-EC9DB828343F}"/>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81DF2B27-795F-4284-16EF-596A1661D701}"/>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BCDA9742-0BBE-FF40-2129-C44AE7C02AA6}"/>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A3076A1F-74A8-3F82-6659-3471F29E7469}"/>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E13D6096-A56D-4E13-9926-9FC923880C5F}"/>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6B7F0648-6830-3E1B-73E1-D68FC8C3A69B}"/>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88AE8BC-F043-4447-F37F-43A3AEB1DA62}"/>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EB0295DB-BD08-A511-0E05-06B0BC76A555}"/>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86C942FF-8D58-4843-A18C-294F77C3F65B}"/>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MAKE IT VISIBLE</a:t>
            </a:r>
          </a:p>
        </p:txBody>
      </p:sp>
      <p:sp>
        <p:nvSpPr>
          <p:cNvPr id="11" name="TextBox 10">
            <a:extLst>
              <a:ext uri="{FF2B5EF4-FFF2-40B4-BE49-F238E27FC236}">
                <a16:creationId xmlns:a16="http://schemas.microsoft.com/office/drawing/2014/main" id="{A0EAC27B-CC3B-128D-F26A-D572E80772DA}"/>
              </a:ext>
            </a:extLst>
          </p:cNvPr>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Parity Bits</a:t>
            </a:r>
            <a:endParaRPr sz="2700" b="1" i="0" dirty="0">
              <a:solidFill>
                <a:srgbClr val="17324D"/>
              </a:solidFill>
              <a:latin typeface="Aptos Display"/>
            </a:endParaRPr>
          </a:p>
        </p:txBody>
      </p:sp>
      <p:cxnSp>
        <p:nvCxnSpPr>
          <p:cNvPr id="12" name="Connector 11">
            <a:extLst>
              <a:ext uri="{FF2B5EF4-FFF2-40B4-BE49-F238E27FC236}">
                <a16:creationId xmlns:a16="http://schemas.microsoft.com/office/drawing/2014/main" id="{321D50D1-096D-363C-AA83-FD99E9F50B9E}"/>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51" name="Table 50">
            <a:extLst>
              <a:ext uri="{FF2B5EF4-FFF2-40B4-BE49-F238E27FC236}">
                <a16:creationId xmlns:a16="http://schemas.microsoft.com/office/drawing/2014/main" id="{140D43EC-6F79-1FFE-B40A-560E1963EACB}"/>
              </a:ext>
            </a:extLst>
          </p:cNvPr>
          <p:cNvGraphicFramePr>
            <a:graphicFrameLocks noGrp="1"/>
          </p:cNvGraphicFramePr>
          <p:nvPr>
            <p:extLst>
              <p:ext uri="{D42A27DB-BD31-4B8C-83A1-F6EECF244321}">
                <p14:modId xmlns:p14="http://schemas.microsoft.com/office/powerpoint/2010/main" val="386100421"/>
              </p:ext>
            </p:extLst>
          </p:nvPr>
        </p:nvGraphicFramePr>
        <p:xfrm>
          <a:off x="1755648" y="1724199"/>
          <a:ext cx="8229600" cy="1828800"/>
        </p:xfrm>
        <a:graphic>
          <a:graphicData uri="http://schemas.openxmlformats.org/drawingml/2006/table">
            <a:tbl>
              <a:tblPr firstRow="1">
                <a:solidFill>
                  <a:srgbClr val="17324D"/>
                </a:solidFill>
                <a:tableStyleId>{5C22544A-7EE6-4342-B048-85BDC9FD1C3A}</a:tableStyleId>
              </a:tblPr>
              <a:tblGrid>
                <a:gridCol w="2057400">
                  <a:extLst>
                    <a:ext uri="{9D8B030D-6E8A-4147-A177-3AD203B41FA5}">
                      <a16:colId xmlns:a16="http://schemas.microsoft.com/office/drawing/2014/main" val="3437655586"/>
                    </a:ext>
                  </a:extLst>
                </a:gridCol>
                <a:gridCol w="2057400">
                  <a:extLst>
                    <a:ext uri="{9D8B030D-6E8A-4147-A177-3AD203B41FA5}">
                      <a16:colId xmlns:a16="http://schemas.microsoft.com/office/drawing/2014/main" val="3663133247"/>
                    </a:ext>
                  </a:extLst>
                </a:gridCol>
                <a:gridCol w="2057400">
                  <a:extLst>
                    <a:ext uri="{9D8B030D-6E8A-4147-A177-3AD203B41FA5}">
                      <a16:colId xmlns:a16="http://schemas.microsoft.com/office/drawing/2014/main" val="3550672920"/>
                    </a:ext>
                  </a:extLst>
                </a:gridCol>
                <a:gridCol w="2057400">
                  <a:extLst>
                    <a:ext uri="{9D8B030D-6E8A-4147-A177-3AD203B41FA5}">
                      <a16:colId xmlns:a16="http://schemas.microsoft.com/office/drawing/2014/main" val="442453605"/>
                    </a:ext>
                  </a:extLst>
                </a:gridCol>
              </a:tblGrid>
              <a:tr h="0">
                <a:tc>
                  <a:txBody>
                    <a:bodyPr/>
                    <a:lstStyle/>
                    <a:p>
                      <a:pPr algn="ctr">
                        <a:buNone/>
                      </a:pPr>
                      <a:r>
                        <a:rPr lang="en-US" dirty="0">
                          <a:latin typeface="Aptos" panose="020B0004020202020204" pitchFamily="34" charset="0"/>
                        </a:rPr>
                        <a:t>Character</a:t>
                      </a:r>
                    </a:p>
                  </a:txBody>
                  <a:tcPr anchor="ctr">
                    <a:solidFill>
                      <a:schemeClr val="tx2">
                        <a:lumMod val="75000"/>
                      </a:schemeClr>
                    </a:solidFill>
                  </a:tcPr>
                </a:tc>
                <a:tc>
                  <a:txBody>
                    <a:bodyPr/>
                    <a:lstStyle/>
                    <a:p>
                      <a:pPr algn="ctr">
                        <a:buNone/>
                      </a:pPr>
                      <a:r>
                        <a:rPr lang="en-US" dirty="0">
                          <a:latin typeface="Aptos" panose="020B0004020202020204" pitchFamily="34" charset="0"/>
                        </a:rPr>
                        <a:t>ASCII bits</a:t>
                      </a:r>
                    </a:p>
                  </a:txBody>
                  <a:tcPr anchor="ctr">
                    <a:solidFill>
                      <a:schemeClr val="tx2">
                        <a:lumMod val="75000"/>
                      </a:schemeClr>
                    </a:solidFill>
                  </a:tcPr>
                </a:tc>
                <a:tc>
                  <a:txBody>
                    <a:bodyPr/>
                    <a:lstStyle/>
                    <a:p>
                      <a:pPr algn="ctr">
                        <a:buNone/>
                      </a:pPr>
                      <a:r>
                        <a:rPr lang="en-US" dirty="0">
                          <a:latin typeface="Aptos" panose="020B0004020202020204" pitchFamily="34" charset="0"/>
                        </a:rPr>
                        <a:t>Number of ones</a:t>
                      </a:r>
                    </a:p>
                  </a:txBody>
                  <a:tcPr anchor="ctr">
                    <a:solidFill>
                      <a:schemeClr val="tx2">
                        <a:lumMod val="75000"/>
                      </a:schemeClr>
                    </a:solidFill>
                  </a:tcPr>
                </a:tc>
                <a:tc>
                  <a:txBody>
                    <a:bodyPr/>
                    <a:lstStyle/>
                    <a:p>
                      <a:pPr algn="ctr">
                        <a:buNone/>
                      </a:pPr>
                      <a:r>
                        <a:rPr lang="en-US" dirty="0">
                          <a:latin typeface="Aptos" panose="020B0004020202020204" pitchFamily="34" charset="0"/>
                        </a:rPr>
                        <a:t>Added parity bit</a:t>
                      </a:r>
                    </a:p>
                  </a:txBody>
                  <a:tcPr anchor="ctr">
                    <a:solidFill>
                      <a:schemeClr val="tx2">
                        <a:lumMod val="75000"/>
                      </a:schemeClr>
                    </a:solidFill>
                  </a:tcPr>
                </a:tc>
                <a:extLst>
                  <a:ext uri="{0D108BD9-81ED-4DB2-BD59-A6C34878D82A}">
                    <a16:rowId xmlns:a16="http://schemas.microsoft.com/office/drawing/2014/main" val="2049343494"/>
                  </a:ext>
                </a:extLst>
              </a:tr>
              <a:tr h="0">
                <a:tc>
                  <a:txBody>
                    <a:bodyPr/>
                    <a:lstStyle/>
                    <a:p>
                      <a:pPr algn="ctr">
                        <a:buNone/>
                      </a:pPr>
                      <a:r>
                        <a:rPr lang="en-US" b="1" dirty="0">
                          <a:latin typeface="Aptos" panose="020B0004020202020204" pitchFamily="34" charset="0"/>
                        </a:rPr>
                        <a:t>S</a:t>
                      </a:r>
                    </a:p>
                  </a:txBody>
                  <a:tcPr anchor="ctr"/>
                </a:tc>
                <a:tc>
                  <a:txBody>
                    <a:bodyPr/>
                    <a:lstStyle/>
                    <a:p>
                      <a:pPr algn="ctr">
                        <a:buNone/>
                      </a:pPr>
                      <a:r>
                        <a:rPr lang="en-US" dirty="0">
                          <a:latin typeface="Aptos" panose="020B0004020202020204" pitchFamily="34" charset="0"/>
                        </a:rPr>
                        <a:t>01010011</a:t>
                      </a:r>
                    </a:p>
                  </a:txBody>
                  <a:tcPr anchor="ctr"/>
                </a:tc>
                <a:tc>
                  <a:txBody>
                    <a:bodyPr/>
                    <a:lstStyle/>
                    <a:p>
                      <a:pPr algn="ctr">
                        <a:buNone/>
                      </a:pPr>
                      <a:r>
                        <a:rPr lang="en-US">
                          <a:latin typeface="Aptos" panose="020B0004020202020204" pitchFamily="34" charset="0"/>
                        </a:rPr>
                        <a:t>4</a:t>
                      </a:r>
                    </a:p>
                  </a:txBody>
                  <a:tcPr anchor="ctr"/>
                </a:tc>
                <a:tc>
                  <a:txBody>
                    <a:bodyPr/>
                    <a:lstStyle/>
                    <a:p>
                      <a:pPr algn="ctr">
                        <a:buNone/>
                      </a:pPr>
                      <a:r>
                        <a:rPr lang="en-US">
                          <a:latin typeface="Aptos" panose="020B0004020202020204" pitchFamily="34" charset="0"/>
                        </a:rPr>
                        <a:t>0</a:t>
                      </a:r>
                    </a:p>
                  </a:txBody>
                  <a:tcPr anchor="ctr"/>
                </a:tc>
                <a:extLst>
                  <a:ext uri="{0D108BD9-81ED-4DB2-BD59-A6C34878D82A}">
                    <a16:rowId xmlns:a16="http://schemas.microsoft.com/office/drawing/2014/main" val="3427176951"/>
                  </a:ext>
                </a:extLst>
              </a:tr>
              <a:tr h="0">
                <a:tc>
                  <a:txBody>
                    <a:bodyPr/>
                    <a:lstStyle/>
                    <a:p>
                      <a:pPr algn="ctr">
                        <a:buNone/>
                      </a:pPr>
                      <a:r>
                        <a:rPr lang="en-US" b="1" dirty="0">
                          <a:latin typeface="Aptos" panose="020B0004020202020204" pitchFamily="34" charset="0"/>
                        </a:rPr>
                        <a:t>A</a:t>
                      </a:r>
                    </a:p>
                  </a:txBody>
                  <a:tcPr anchor="ctr"/>
                </a:tc>
                <a:tc>
                  <a:txBody>
                    <a:bodyPr/>
                    <a:lstStyle/>
                    <a:p>
                      <a:pPr algn="ctr">
                        <a:buNone/>
                      </a:pPr>
                      <a:r>
                        <a:rPr lang="en-US" dirty="0">
                          <a:latin typeface="Aptos" panose="020B0004020202020204" pitchFamily="34" charset="0"/>
                        </a:rPr>
                        <a:t>01000001</a:t>
                      </a:r>
                    </a:p>
                  </a:txBody>
                  <a:tcPr anchor="ctr"/>
                </a:tc>
                <a:tc>
                  <a:txBody>
                    <a:bodyPr/>
                    <a:lstStyle/>
                    <a:p>
                      <a:pPr algn="ctr">
                        <a:buNone/>
                      </a:pPr>
                      <a:r>
                        <a:rPr lang="en-US" dirty="0">
                          <a:latin typeface="Aptos" panose="020B0004020202020204" pitchFamily="34" charset="0"/>
                        </a:rPr>
                        <a:t>2</a:t>
                      </a:r>
                    </a:p>
                  </a:txBody>
                  <a:tcPr anchor="ctr"/>
                </a:tc>
                <a:tc>
                  <a:txBody>
                    <a:bodyPr/>
                    <a:lstStyle/>
                    <a:p>
                      <a:pPr algn="ctr">
                        <a:buNone/>
                      </a:pPr>
                      <a:r>
                        <a:rPr lang="en-US">
                          <a:latin typeface="Aptos" panose="020B0004020202020204" pitchFamily="34" charset="0"/>
                        </a:rPr>
                        <a:t>0</a:t>
                      </a:r>
                    </a:p>
                  </a:txBody>
                  <a:tcPr anchor="ctr"/>
                </a:tc>
                <a:extLst>
                  <a:ext uri="{0D108BD9-81ED-4DB2-BD59-A6C34878D82A}">
                    <a16:rowId xmlns:a16="http://schemas.microsoft.com/office/drawing/2014/main" val="2619522301"/>
                  </a:ext>
                </a:extLst>
              </a:tr>
              <a:tr h="0">
                <a:tc>
                  <a:txBody>
                    <a:bodyPr/>
                    <a:lstStyle/>
                    <a:p>
                      <a:pPr algn="ctr">
                        <a:buNone/>
                      </a:pPr>
                      <a:r>
                        <a:rPr lang="en-US" b="1" dirty="0">
                          <a:latin typeface="Aptos" panose="020B0004020202020204" pitchFamily="34" charset="0"/>
                        </a:rPr>
                        <a:t>F</a:t>
                      </a:r>
                    </a:p>
                  </a:txBody>
                  <a:tcPr anchor="ctr"/>
                </a:tc>
                <a:tc>
                  <a:txBody>
                    <a:bodyPr/>
                    <a:lstStyle/>
                    <a:p>
                      <a:pPr algn="ctr">
                        <a:buNone/>
                      </a:pPr>
                      <a:r>
                        <a:rPr lang="en-US" dirty="0">
                          <a:latin typeface="Aptos" panose="020B0004020202020204" pitchFamily="34" charset="0"/>
                        </a:rPr>
                        <a:t>01000110</a:t>
                      </a:r>
                    </a:p>
                  </a:txBody>
                  <a:tcPr anchor="ctr"/>
                </a:tc>
                <a:tc>
                  <a:txBody>
                    <a:bodyPr/>
                    <a:lstStyle/>
                    <a:p>
                      <a:pPr algn="ctr">
                        <a:buNone/>
                      </a:pPr>
                      <a:r>
                        <a:rPr lang="en-US" dirty="0">
                          <a:latin typeface="Aptos" panose="020B0004020202020204" pitchFamily="34" charset="0"/>
                        </a:rPr>
                        <a:t>3</a:t>
                      </a:r>
                    </a:p>
                  </a:txBody>
                  <a:tcPr anchor="ctr"/>
                </a:tc>
                <a:tc>
                  <a:txBody>
                    <a:bodyPr/>
                    <a:lstStyle/>
                    <a:p>
                      <a:pPr algn="ctr">
                        <a:buNone/>
                      </a:pPr>
                      <a:r>
                        <a:rPr lang="en-US" dirty="0">
                          <a:latin typeface="Aptos" panose="020B0004020202020204" pitchFamily="34" charset="0"/>
                        </a:rPr>
                        <a:t>1</a:t>
                      </a:r>
                    </a:p>
                  </a:txBody>
                  <a:tcPr anchor="ctr"/>
                </a:tc>
                <a:extLst>
                  <a:ext uri="{0D108BD9-81ED-4DB2-BD59-A6C34878D82A}">
                    <a16:rowId xmlns:a16="http://schemas.microsoft.com/office/drawing/2014/main" val="3019607546"/>
                  </a:ext>
                </a:extLst>
              </a:tr>
              <a:tr h="0">
                <a:tc>
                  <a:txBody>
                    <a:bodyPr/>
                    <a:lstStyle/>
                    <a:p>
                      <a:pPr algn="ctr">
                        <a:buNone/>
                      </a:pPr>
                      <a:r>
                        <a:rPr lang="en-US" b="1" dirty="0">
                          <a:latin typeface="Aptos" panose="020B0004020202020204" pitchFamily="34" charset="0"/>
                        </a:rPr>
                        <a:t>E</a:t>
                      </a:r>
                    </a:p>
                  </a:txBody>
                  <a:tcPr anchor="ctr"/>
                </a:tc>
                <a:tc>
                  <a:txBody>
                    <a:bodyPr/>
                    <a:lstStyle/>
                    <a:p>
                      <a:pPr algn="ctr">
                        <a:buNone/>
                      </a:pPr>
                      <a:r>
                        <a:rPr lang="en-US" dirty="0">
                          <a:latin typeface="Aptos" panose="020B0004020202020204" pitchFamily="34" charset="0"/>
                        </a:rPr>
                        <a:t>01000101</a:t>
                      </a:r>
                    </a:p>
                  </a:txBody>
                  <a:tcPr anchor="ctr"/>
                </a:tc>
                <a:tc>
                  <a:txBody>
                    <a:bodyPr/>
                    <a:lstStyle/>
                    <a:p>
                      <a:pPr algn="ctr">
                        <a:buNone/>
                      </a:pPr>
                      <a:r>
                        <a:rPr lang="en-US" dirty="0">
                          <a:latin typeface="Aptos" panose="020B0004020202020204" pitchFamily="34" charset="0"/>
                        </a:rPr>
                        <a:t>3</a:t>
                      </a:r>
                    </a:p>
                  </a:txBody>
                  <a:tcPr anchor="ctr"/>
                </a:tc>
                <a:tc>
                  <a:txBody>
                    <a:bodyPr/>
                    <a:lstStyle/>
                    <a:p>
                      <a:pPr algn="ctr">
                        <a:buNone/>
                      </a:pPr>
                      <a:r>
                        <a:rPr lang="en-US" dirty="0">
                          <a:latin typeface="Aptos" panose="020B0004020202020204" pitchFamily="34" charset="0"/>
                        </a:rPr>
                        <a:t>1</a:t>
                      </a:r>
                    </a:p>
                  </a:txBody>
                  <a:tcPr anchor="ctr"/>
                </a:tc>
                <a:extLst>
                  <a:ext uri="{0D108BD9-81ED-4DB2-BD59-A6C34878D82A}">
                    <a16:rowId xmlns:a16="http://schemas.microsoft.com/office/drawing/2014/main" val="2373458234"/>
                  </a:ext>
                </a:extLst>
              </a:tr>
            </a:tbl>
          </a:graphicData>
        </a:graphic>
      </p:graphicFrame>
      <p:sp>
        <p:nvSpPr>
          <p:cNvPr id="56" name="Rounded Rectangle 18">
            <a:extLst>
              <a:ext uri="{FF2B5EF4-FFF2-40B4-BE49-F238E27FC236}">
                <a16:creationId xmlns:a16="http://schemas.microsoft.com/office/drawing/2014/main" id="{BD58261A-CC15-6B52-07C0-96A93110CF62}"/>
              </a:ext>
            </a:extLst>
          </p:cNvPr>
          <p:cNvSpPr/>
          <p:nvPr/>
        </p:nvSpPr>
        <p:spPr>
          <a:xfrm>
            <a:off x="1524000" y="3710911"/>
            <a:ext cx="8692896" cy="51971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Transmission: </a:t>
            </a:r>
            <a:r>
              <a:rPr lang="en-US" dirty="0">
                <a:solidFill>
                  <a:schemeClr val="tx1"/>
                </a:solidFill>
                <a:latin typeface="Aptos" panose="020B0004020202020204" pitchFamily="34" charset="0"/>
              </a:rPr>
              <a:t>01010011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01000001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01000110</a:t>
            </a:r>
            <a:r>
              <a:rPr lang="en-US" b="1" dirty="0">
                <a:solidFill>
                  <a:schemeClr val="tx1"/>
                </a:solidFill>
                <a:latin typeface="Aptos" panose="020B0004020202020204" pitchFamily="34" charset="0"/>
              </a:rPr>
              <a:t>1</a:t>
            </a:r>
            <a:r>
              <a:rPr lang="en-US" dirty="0">
                <a:solidFill>
                  <a:schemeClr val="tx1"/>
                </a:solidFill>
                <a:latin typeface="Aptos" panose="020B0004020202020204" pitchFamily="34" charset="0"/>
              </a:rPr>
              <a:t>01000101</a:t>
            </a:r>
            <a:r>
              <a:rPr lang="en-US" b="1" dirty="0">
                <a:solidFill>
                  <a:schemeClr val="tx1"/>
                </a:solidFill>
                <a:latin typeface="Aptos" panose="020B0004020202020204" pitchFamily="34" charset="0"/>
              </a:rPr>
              <a:t>1</a:t>
            </a:r>
          </a:p>
        </p:txBody>
      </p:sp>
      <p:sp>
        <p:nvSpPr>
          <p:cNvPr id="58" name="Rounded Rectangle 18">
            <a:extLst>
              <a:ext uri="{FF2B5EF4-FFF2-40B4-BE49-F238E27FC236}">
                <a16:creationId xmlns:a16="http://schemas.microsoft.com/office/drawing/2014/main" id="{50EAE7F9-5AFC-E572-BED5-B196B6F8056C}"/>
              </a:ext>
            </a:extLst>
          </p:cNvPr>
          <p:cNvSpPr/>
          <p:nvPr/>
        </p:nvSpPr>
        <p:spPr>
          <a:xfrm>
            <a:off x="1524000" y="4661887"/>
            <a:ext cx="8692896" cy="51971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Received: </a:t>
            </a:r>
            <a:r>
              <a:rPr lang="en-US" dirty="0">
                <a:solidFill>
                  <a:schemeClr val="tx1"/>
                </a:solidFill>
                <a:latin typeface="Aptos" panose="020B0004020202020204" pitchFamily="34" charset="0"/>
              </a:rPr>
              <a:t>01010011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01000001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01000110</a:t>
            </a:r>
            <a:r>
              <a:rPr lang="en-US" b="1" dirty="0">
                <a:solidFill>
                  <a:schemeClr val="tx1"/>
                </a:solidFill>
                <a:latin typeface="Aptos" panose="020B0004020202020204" pitchFamily="34" charset="0"/>
              </a:rPr>
              <a:t>1</a:t>
            </a:r>
            <a:r>
              <a:rPr lang="en-US" dirty="0">
                <a:solidFill>
                  <a:schemeClr val="tx1"/>
                </a:solidFill>
                <a:latin typeface="Aptos" panose="020B0004020202020204" pitchFamily="34" charset="0"/>
              </a:rPr>
              <a:t>0100010</a:t>
            </a:r>
            <a:r>
              <a:rPr lang="en-US" dirty="0">
                <a:solidFill>
                  <a:srgbClr val="FF0000"/>
                </a:solidFill>
                <a:latin typeface="Aptos" panose="020B0004020202020204" pitchFamily="34" charset="0"/>
              </a:rPr>
              <a:t>0</a:t>
            </a:r>
            <a:r>
              <a:rPr lang="en-US" b="1" dirty="0">
                <a:solidFill>
                  <a:schemeClr val="tx1"/>
                </a:solidFill>
                <a:latin typeface="Aptos" panose="020B0004020202020204" pitchFamily="34" charset="0"/>
              </a:rPr>
              <a:t>1</a:t>
            </a:r>
          </a:p>
        </p:txBody>
      </p:sp>
      <p:sp>
        <p:nvSpPr>
          <p:cNvPr id="59" name="Rounded Rectangle 18">
            <a:extLst>
              <a:ext uri="{FF2B5EF4-FFF2-40B4-BE49-F238E27FC236}">
                <a16:creationId xmlns:a16="http://schemas.microsoft.com/office/drawing/2014/main" id="{AF6263B6-C3B2-BEA6-C267-FB16C94EEC47}"/>
              </a:ext>
            </a:extLst>
          </p:cNvPr>
          <p:cNvSpPr/>
          <p:nvPr/>
        </p:nvSpPr>
        <p:spPr>
          <a:xfrm>
            <a:off x="1524000" y="5413248"/>
            <a:ext cx="8692896" cy="51971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Received: </a:t>
            </a:r>
            <a:r>
              <a:rPr lang="en-US" dirty="0">
                <a:solidFill>
                  <a:schemeClr val="tx1"/>
                </a:solidFill>
                <a:latin typeface="Aptos" panose="020B0004020202020204" pitchFamily="34" charset="0"/>
              </a:rPr>
              <a:t>01010011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01000001</a:t>
            </a:r>
            <a:r>
              <a:rPr lang="en-US" b="1" dirty="0">
                <a:solidFill>
                  <a:schemeClr val="tx1"/>
                </a:solidFill>
                <a:latin typeface="Aptos" panose="020B0004020202020204" pitchFamily="34" charset="0"/>
              </a:rPr>
              <a:t>0</a:t>
            </a:r>
            <a:r>
              <a:rPr lang="en-US" dirty="0">
                <a:solidFill>
                  <a:schemeClr val="tx1"/>
                </a:solidFill>
                <a:latin typeface="Aptos" panose="020B0004020202020204" pitchFamily="34" charset="0"/>
              </a:rPr>
              <a:t>01000110</a:t>
            </a:r>
            <a:r>
              <a:rPr lang="en-US" b="1" dirty="0">
                <a:solidFill>
                  <a:schemeClr val="tx1"/>
                </a:solidFill>
                <a:latin typeface="Aptos" panose="020B0004020202020204" pitchFamily="34" charset="0"/>
              </a:rPr>
              <a:t>1</a:t>
            </a:r>
            <a:r>
              <a:rPr lang="en-US" dirty="0">
                <a:solidFill>
                  <a:schemeClr val="tx1"/>
                </a:solidFill>
                <a:latin typeface="Aptos" panose="020B0004020202020204" pitchFamily="34" charset="0"/>
              </a:rPr>
              <a:t>010001</a:t>
            </a:r>
            <a:r>
              <a:rPr lang="en-US" dirty="0">
                <a:solidFill>
                  <a:srgbClr val="FF0000"/>
                </a:solidFill>
                <a:latin typeface="Aptos" panose="020B0004020202020204" pitchFamily="34" charset="0"/>
              </a:rPr>
              <a:t>10</a:t>
            </a:r>
            <a:r>
              <a:rPr lang="en-US" b="1" dirty="0">
                <a:solidFill>
                  <a:schemeClr val="tx1"/>
                </a:solidFill>
                <a:latin typeface="Aptos" panose="020B0004020202020204" pitchFamily="34" charset="0"/>
              </a:rPr>
              <a:t>1</a:t>
            </a:r>
          </a:p>
        </p:txBody>
      </p:sp>
      <p:sp>
        <p:nvSpPr>
          <p:cNvPr id="62" name="TextBox 61">
            <a:extLst>
              <a:ext uri="{FF2B5EF4-FFF2-40B4-BE49-F238E27FC236}">
                <a16:creationId xmlns:a16="http://schemas.microsoft.com/office/drawing/2014/main" id="{01D242D2-8638-B95A-6FE9-B09AF70FD861}"/>
              </a:ext>
            </a:extLst>
          </p:cNvPr>
          <p:cNvSpPr txBox="1"/>
          <p:nvPr/>
        </p:nvSpPr>
        <p:spPr>
          <a:xfrm>
            <a:off x="8356854" y="5534605"/>
            <a:ext cx="1255776" cy="276999"/>
          </a:xfrm>
          <a:prstGeom prst="rect">
            <a:avLst/>
          </a:prstGeom>
          <a:noFill/>
        </p:spPr>
        <p:txBody>
          <a:bodyPr wrap="square" lIns="0" tIns="0" rIns="0" bIns="0" anchor="t">
            <a:spAutoFit/>
          </a:bodyPr>
          <a:lstStyle/>
          <a:p>
            <a:pPr algn="r"/>
            <a:r>
              <a:rPr lang="en-US" b="1" dirty="0">
                <a:solidFill>
                  <a:srgbClr val="17324D"/>
                </a:solidFill>
                <a:latin typeface="Aptos"/>
              </a:rPr>
              <a:t>PASS</a:t>
            </a:r>
            <a:endParaRPr sz="1800" b="1" i="0" dirty="0">
              <a:solidFill>
                <a:srgbClr val="17324D"/>
              </a:solidFill>
              <a:latin typeface="Aptos"/>
            </a:endParaRPr>
          </a:p>
        </p:txBody>
      </p:sp>
      <p:sp>
        <p:nvSpPr>
          <p:cNvPr id="63" name="TextBox 62">
            <a:extLst>
              <a:ext uri="{FF2B5EF4-FFF2-40B4-BE49-F238E27FC236}">
                <a16:creationId xmlns:a16="http://schemas.microsoft.com/office/drawing/2014/main" id="{EB4ED4A7-8181-F0F0-DE28-D656E4A72BE4}"/>
              </a:ext>
            </a:extLst>
          </p:cNvPr>
          <p:cNvSpPr txBox="1"/>
          <p:nvPr/>
        </p:nvSpPr>
        <p:spPr>
          <a:xfrm>
            <a:off x="8356854" y="4783244"/>
            <a:ext cx="1255776" cy="276999"/>
          </a:xfrm>
          <a:prstGeom prst="rect">
            <a:avLst/>
          </a:prstGeom>
          <a:noFill/>
        </p:spPr>
        <p:txBody>
          <a:bodyPr wrap="square" lIns="0" tIns="0" rIns="0" bIns="0" anchor="t">
            <a:spAutoFit/>
          </a:bodyPr>
          <a:lstStyle/>
          <a:p>
            <a:pPr algn="r"/>
            <a:r>
              <a:rPr lang="en-US" sz="1800" b="1" i="0" dirty="0">
                <a:solidFill>
                  <a:srgbClr val="17324D"/>
                </a:solidFill>
                <a:latin typeface="Aptos"/>
              </a:rPr>
              <a:t>FAIL</a:t>
            </a:r>
            <a:endParaRPr sz="1800" b="1" i="0" dirty="0">
              <a:solidFill>
                <a:srgbClr val="17324D"/>
              </a:solidFill>
              <a:latin typeface="Aptos"/>
            </a:endParaRPr>
          </a:p>
        </p:txBody>
      </p:sp>
    </p:spTree>
    <p:extLst>
      <p:ext uri="{BB962C8B-B14F-4D97-AF65-F5344CB8AC3E}">
        <p14:creationId xmlns:p14="http://schemas.microsoft.com/office/powerpoint/2010/main" val="230023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13997081-0FE2-8BE3-2620-150EDE3B8C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199913C-B182-5657-D299-1B053F8734B9}"/>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DEC34DFA-9BAD-3DC1-B4F1-2914815CD599}"/>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69B235FA-5DBA-3FA4-C36D-15103FF5C4A1}"/>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C5BF50D9-5534-8706-C693-A43998A8472A}"/>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B6139D64-629C-94DF-07A8-2AB76DF46394}"/>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9FCD29C6-9CD9-EF59-7DD1-FC98EB8F136A}"/>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1027918-1B92-4597-8353-0316B22CF443}"/>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DC331C51-6CD7-21CF-E7A1-B22B091DE26A}"/>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6356425B-9526-2F63-01CD-067928598AAD}"/>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MAKE IT VISIBLE</a:t>
            </a:r>
          </a:p>
        </p:txBody>
      </p:sp>
      <p:sp>
        <p:nvSpPr>
          <p:cNvPr id="11" name="TextBox 10">
            <a:extLst>
              <a:ext uri="{FF2B5EF4-FFF2-40B4-BE49-F238E27FC236}">
                <a16:creationId xmlns:a16="http://schemas.microsoft.com/office/drawing/2014/main" id="{B89A4E8D-EFBB-5B46-3C8C-16F05763549C}"/>
              </a:ext>
            </a:extLst>
          </p:cNvPr>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Checksum</a:t>
            </a:r>
            <a:endParaRPr sz="2700" b="1" i="0" dirty="0">
              <a:solidFill>
                <a:srgbClr val="17324D"/>
              </a:solidFill>
              <a:latin typeface="Aptos Display"/>
            </a:endParaRPr>
          </a:p>
        </p:txBody>
      </p:sp>
      <p:cxnSp>
        <p:nvCxnSpPr>
          <p:cNvPr id="12" name="Connector 11">
            <a:extLst>
              <a:ext uri="{FF2B5EF4-FFF2-40B4-BE49-F238E27FC236}">
                <a16:creationId xmlns:a16="http://schemas.microsoft.com/office/drawing/2014/main" id="{51B372BF-0B39-97CC-30FE-2D6C3C75FD0D}"/>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56" name="Rounded Rectangle 18">
            <a:extLst>
              <a:ext uri="{FF2B5EF4-FFF2-40B4-BE49-F238E27FC236}">
                <a16:creationId xmlns:a16="http://schemas.microsoft.com/office/drawing/2014/main" id="{4C9155CF-3282-4CE2-C592-B265EF25E96D}"/>
              </a:ext>
            </a:extLst>
          </p:cNvPr>
          <p:cNvSpPr/>
          <p:nvPr/>
        </p:nvSpPr>
        <p:spPr>
          <a:xfrm>
            <a:off x="1524000" y="3710911"/>
            <a:ext cx="8692896" cy="51971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Transmission: 01010011 01000001 01000110 01000101 </a:t>
            </a:r>
            <a:r>
              <a:rPr lang="en-US" b="1" dirty="0">
                <a:solidFill>
                  <a:schemeClr val="tx1"/>
                </a:solidFill>
              </a:rPr>
              <a:t>00011111</a:t>
            </a:r>
          </a:p>
        </p:txBody>
      </p:sp>
      <p:sp>
        <p:nvSpPr>
          <p:cNvPr id="58" name="Rounded Rectangle 18">
            <a:extLst>
              <a:ext uri="{FF2B5EF4-FFF2-40B4-BE49-F238E27FC236}">
                <a16:creationId xmlns:a16="http://schemas.microsoft.com/office/drawing/2014/main" id="{8D9B3F30-9B66-2FEC-D372-F130F7525F98}"/>
              </a:ext>
            </a:extLst>
          </p:cNvPr>
          <p:cNvSpPr/>
          <p:nvPr/>
        </p:nvSpPr>
        <p:spPr>
          <a:xfrm>
            <a:off x="1524000" y="4661887"/>
            <a:ext cx="8692896" cy="51971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Received: 01010011 01000001 01000110 0100010</a:t>
            </a:r>
            <a:r>
              <a:rPr lang="en-US" dirty="0">
                <a:solidFill>
                  <a:srgbClr val="FF0000"/>
                </a:solidFill>
              </a:rPr>
              <a:t>0 </a:t>
            </a:r>
            <a:r>
              <a:rPr lang="en-US" b="1" dirty="0">
                <a:solidFill>
                  <a:schemeClr val="tx1"/>
                </a:solidFill>
              </a:rPr>
              <a:t>00011111</a:t>
            </a:r>
            <a:endParaRPr lang="en-US" b="1" dirty="0">
              <a:solidFill>
                <a:schemeClr val="tx1"/>
              </a:solidFill>
              <a:latin typeface="Aptos" panose="020B0004020202020204" pitchFamily="34" charset="0"/>
            </a:endParaRPr>
          </a:p>
        </p:txBody>
      </p:sp>
      <p:sp>
        <p:nvSpPr>
          <p:cNvPr id="59" name="Rounded Rectangle 18">
            <a:extLst>
              <a:ext uri="{FF2B5EF4-FFF2-40B4-BE49-F238E27FC236}">
                <a16:creationId xmlns:a16="http://schemas.microsoft.com/office/drawing/2014/main" id="{0F12A73E-EBF8-308F-F562-CF9241883F5B}"/>
              </a:ext>
            </a:extLst>
          </p:cNvPr>
          <p:cNvSpPr/>
          <p:nvPr/>
        </p:nvSpPr>
        <p:spPr>
          <a:xfrm>
            <a:off x="1524000" y="5413248"/>
            <a:ext cx="8692896" cy="51971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Received: 01010011 01000001 0100011</a:t>
            </a:r>
            <a:r>
              <a:rPr lang="en-US" dirty="0">
                <a:solidFill>
                  <a:srgbClr val="FF0000"/>
                </a:solidFill>
              </a:rPr>
              <a:t>1</a:t>
            </a:r>
            <a:r>
              <a:rPr lang="en-US" dirty="0">
                <a:solidFill>
                  <a:schemeClr val="tx1"/>
                </a:solidFill>
              </a:rPr>
              <a:t> 0100010</a:t>
            </a:r>
            <a:r>
              <a:rPr lang="en-US" dirty="0">
                <a:solidFill>
                  <a:srgbClr val="FF0000"/>
                </a:solidFill>
              </a:rPr>
              <a:t>0 </a:t>
            </a:r>
            <a:r>
              <a:rPr lang="en-US" b="1" dirty="0">
                <a:solidFill>
                  <a:schemeClr val="tx1"/>
                </a:solidFill>
              </a:rPr>
              <a:t>00011111</a:t>
            </a:r>
            <a:endParaRPr lang="en-US" b="1" dirty="0">
              <a:solidFill>
                <a:schemeClr val="tx1"/>
              </a:solidFill>
              <a:latin typeface="Aptos" panose="020B0004020202020204" pitchFamily="34" charset="0"/>
            </a:endParaRPr>
          </a:p>
        </p:txBody>
      </p:sp>
      <p:sp>
        <p:nvSpPr>
          <p:cNvPr id="62" name="TextBox 61">
            <a:extLst>
              <a:ext uri="{FF2B5EF4-FFF2-40B4-BE49-F238E27FC236}">
                <a16:creationId xmlns:a16="http://schemas.microsoft.com/office/drawing/2014/main" id="{1B59133E-8D10-7304-2AE6-144BEFDC9264}"/>
              </a:ext>
            </a:extLst>
          </p:cNvPr>
          <p:cNvSpPr txBox="1"/>
          <p:nvPr/>
        </p:nvSpPr>
        <p:spPr>
          <a:xfrm>
            <a:off x="8356854" y="5534605"/>
            <a:ext cx="1255776" cy="276999"/>
          </a:xfrm>
          <a:prstGeom prst="rect">
            <a:avLst/>
          </a:prstGeom>
          <a:noFill/>
        </p:spPr>
        <p:txBody>
          <a:bodyPr wrap="square" lIns="0" tIns="0" rIns="0" bIns="0" anchor="t">
            <a:spAutoFit/>
          </a:bodyPr>
          <a:lstStyle/>
          <a:p>
            <a:pPr algn="r"/>
            <a:r>
              <a:rPr lang="en-US" b="1" dirty="0">
                <a:solidFill>
                  <a:srgbClr val="17324D"/>
                </a:solidFill>
                <a:latin typeface="Aptos"/>
              </a:rPr>
              <a:t>PASS</a:t>
            </a:r>
            <a:endParaRPr sz="1800" b="1" i="0" dirty="0">
              <a:solidFill>
                <a:srgbClr val="17324D"/>
              </a:solidFill>
              <a:latin typeface="Aptos"/>
            </a:endParaRPr>
          </a:p>
        </p:txBody>
      </p:sp>
      <p:sp>
        <p:nvSpPr>
          <p:cNvPr id="63" name="TextBox 62">
            <a:extLst>
              <a:ext uri="{FF2B5EF4-FFF2-40B4-BE49-F238E27FC236}">
                <a16:creationId xmlns:a16="http://schemas.microsoft.com/office/drawing/2014/main" id="{3443B370-77CF-133C-105A-169CE0BB3E34}"/>
              </a:ext>
            </a:extLst>
          </p:cNvPr>
          <p:cNvSpPr txBox="1"/>
          <p:nvPr/>
        </p:nvSpPr>
        <p:spPr>
          <a:xfrm>
            <a:off x="8790432" y="4783244"/>
            <a:ext cx="822198" cy="276999"/>
          </a:xfrm>
          <a:prstGeom prst="rect">
            <a:avLst/>
          </a:prstGeom>
          <a:noFill/>
        </p:spPr>
        <p:txBody>
          <a:bodyPr wrap="square" lIns="0" tIns="0" rIns="0" bIns="0" anchor="t">
            <a:spAutoFit/>
          </a:bodyPr>
          <a:lstStyle/>
          <a:p>
            <a:pPr algn="r"/>
            <a:r>
              <a:rPr lang="en-US" sz="1800" b="1" i="0" dirty="0">
                <a:solidFill>
                  <a:srgbClr val="17324D"/>
                </a:solidFill>
                <a:latin typeface="Aptos"/>
              </a:rPr>
              <a:t>FAIL</a:t>
            </a:r>
            <a:endParaRPr sz="1800" b="1" i="0" dirty="0">
              <a:solidFill>
                <a:srgbClr val="17324D"/>
              </a:solidFill>
              <a:latin typeface="Aptos"/>
            </a:endParaRPr>
          </a:p>
        </p:txBody>
      </p:sp>
      <p:graphicFrame>
        <p:nvGraphicFramePr>
          <p:cNvPr id="13" name="Table 12">
            <a:extLst>
              <a:ext uri="{FF2B5EF4-FFF2-40B4-BE49-F238E27FC236}">
                <a16:creationId xmlns:a16="http://schemas.microsoft.com/office/drawing/2014/main" id="{F519830A-91BB-7FBB-F067-BB7C996AEB2A}"/>
              </a:ext>
            </a:extLst>
          </p:cNvPr>
          <p:cNvGraphicFramePr>
            <a:graphicFrameLocks noGrp="1"/>
          </p:cNvGraphicFramePr>
          <p:nvPr>
            <p:extLst>
              <p:ext uri="{D42A27DB-BD31-4B8C-83A1-F6EECF244321}">
                <p14:modId xmlns:p14="http://schemas.microsoft.com/office/powerpoint/2010/main" val="2498078423"/>
              </p:ext>
            </p:extLst>
          </p:nvPr>
        </p:nvGraphicFramePr>
        <p:xfrm>
          <a:off x="1524000" y="1874442"/>
          <a:ext cx="8229600" cy="1005840"/>
        </p:xfrm>
        <a:graphic>
          <a:graphicData uri="http://schemas.openxmlformats.org/drawingml/2006/table">
            <a:tbl>
              <a:tblPr firstRow="1">
                <a:tableStyleId>{5C22544A-7EE6-4342-B048-85BDC9FD1C3A}</a:tableStyleId>
              </a:tblPr>
              <a:tblGrid>
                <a:gridCol w="1371600">
                  <a:extLst>
                    <a:ext uri="{9D8B030D-6E8A-4147-A177-3AD203B41FA5}">
                      <a16:colId xmlns:a16="http://schemas.microsoft.com/office/drawing/2014/main" val="3594498646"/>
                    </a:ext>
                  </a:extLst>
                </a:gridCol>
                <a:gridCol w="1371600">
                  <a:extLst>
                    <a:ext uri="{9D8B030D-6E8A-4147-A177-3AD203B41FA5}">
                      <a16:colId xmlns:a16="http://schemas.microsoft.com/office/drawing/2014/main" val="3814206598"/>
                    </a:ext>
                  </a:extLst>
                </a:gridCol>
                <a:gridCol w="1371600">
                  <a:extLst>
                    <a:ext uri="{9D8B030D-6E8A-4147-A177-3AD203B41FA5}">
                      <a16:colId xmlns:a16="http://schemas.microsoft.com/office/drawing/2014/main" val="2440946009"/>
                    </a:ext>
                  </a:extLst>
                </a:gridCol>
                <a:gridCol w="1371600">
                  <a:extLst>
                    <a:ext uri="{9D8B030D-6E8A-4147-A177-3AD203B41FA5}">
                      <a16:colId xmlns:a16="http://schemas.microsoft.com/office/drawing/2014/main" val="4024469304"/>
                    </a:ext>
                  </a:extLst>
                </a:gridCol>
                <a:gridCol w="1371600">
                  <a:extLst>
                    <a:ext uri="{9D8B030D-6E8A-4147-A177-3AD203B41FA5}">
                      <a16:colId xmlns:a16="http://schemas.microsoft.com/office/drawing/2014/main" val="750261537"/>
                    </a:ext>
                  </a:extLst>
                </a:gridCol>
                <a:gridCol w="1371600">
                  <a:extLst>
                    <a:ext uri="{9D8B030D-6E8A-4147-A177-3AD203B41FA5}">
                      <a16:colId xmlns:a16="http://schemas.microsoft.com/office/drawing/2014/main" val="3573664987"/>
                    </a:ext>
                  </a:extLst>
                </a:gridCol>
              </a:tblGrid>
              <a:tr h="0">
                <a:tc>
                  <a:txBody>
                    <a:bodyPr/>
                    <a:lstStyle/>
                    <a:p>
                      <a:pPr algn="ctr">
                        <a:buNone/>
                      </a:pPr>
                      <a:r>
                        <a:rPr lang="en-US" dirty="0"/>
                        <a:t>Character</a:t>
                      </a:r>
                    </a:p>
                  </a:txBody>
                  <a:tcPr anchor="ctr">
                    <a:solidFill>
                      <a:schemeClr val="tx2">
                        <a:lumMod val="75000"/>
                      </a:schemeClr>
                    </a:solidFill>
                  </a:tcPr>
                </a:tc>
                <a:tc>
                  <a:txBody>
                    <a:bodyPr/>
                    <a:lstStyle/>
                    <a:p>
                      <a:pPr algn="ctr">
                        <a:buNone/>
                      </a:pPr>
                      <a:r>
                        <a:rPr lang="en-US" dirty="0"/>
                        <a:t>S</a:t>
                      </a:r>
                    </a:p>
                  </a:txBody>
                  <a:tcPr anchor="ctr">
                    <a:solidFill>
                      <a:schemeClr val="tx2">
                        <a:lumMod val="75000"/>
                      </a:schemeClr>
                    </a:solidFill>
                  </a:tcPr>
                </a:tc>
                <a:tc>
                  <a:txBody>
                    <a:bodyPr/>
                    <a:lstStyle/>
                    <a:p>
                      <a:pPr algn="ctr">
                        <a:buNone/>
                      </a:pPr>
                      <a:r>
                        <a:rPr lang="en-US" dirty="0"/>
                        <a:t>A</a:t>
                      </a:r>
                    </a:p>
                  </a:txBody>
                  <a:tcPr anchor="ctr">
                    <a:solidFill>
                      <a:schemeClr val="tx2">
                        <a:lumMod val="75000"/>
                      </a:schemeClr>
                    </a:solidFill>
                  </a:tcPr>
                </a:tc>
                <a:tc>
                  <a:txBody>
                    <a:bodyPr/>
                    <a:lstStyle/>
                    <a:p>
                      <a:pPr algn="ctr">
                        <a:buNone/>
                      </a:pPr>
                      <a:r>
                        <a:rPr lang="en-US" dirty="0"/>
                        <a:t>F</a:t>
                      </a:r>
                    </a:p>
                  </a:txBody>
                  <a:tcPr anchor="ctr">
                    <a:solidFill>
                      <a:schemeClr val="tx2">
                        <a:lumMod val="75000"/>
                      </a:schemeClr>
                    </a:solidFill>
                  </a:tcPr>
                </a:tc>
                <a:tc>
                  <a:txBody>
                    <a:bodyPr/>
                    <a:lstStyle/>
                    <a:p>
                      <a:pPr algn="ctr">
                        <a:buNone/>
                      </a:pPr>
                      <a:r>
                        <a:rPr lang="en-US" dirty="0"/>
                        <a:t>E</a:t>
                      </a:r>
                    </a:p>
                  </a:txBody>
                  <a:tcPr anchor="ctr">
                    <a:solidFill>
                      <a:schemeClr val="tx2">
                        <a:lumMod val="75000"/>
                      </a:schemeClr>
                    </a:solidFill>
                  </a:tcPr>
                </a:tc>
                <a:tc>
                  <a:txBody>
                    <a:bodyPr/>
                    <a:lstStyle/>
                    <a:p>
                      <a:pPr algn="ctr">
                        <a:buNone/>
                      </a:pPr>
                      <a:r>
                        <a:rPr lang="en-US" dirty="0"/>
                        <a:t>Total</a:t>
                      </a:r>
                    </a:p>
                  </a:txBody>
                  <a:tcPr anchor="ctr">
                    <a:solidFill>
                      <a:schemeClr val="tx2">
                        <a:lumMod val="75000"/>
                      </a:schemeClr>
                    </a:solidFill>
                  </a:tcPr>
                </a:tc>
                <a:extLst>
                  <a:ext uri="{0D108BD9-81ED-4DB2-BD59-A6C34878D82A}">
                    <a16:rowId xmlns:a16="http://schemas.microsoft.com/office/drawing/2014/main" val="610034354"/>
                  </a:ext>
                </a:extLst>
              </a:tr>
              <a:tr h="0">
                <a:tc>
                  <a:txBody>
                    <a:bodyPr/>
                    <a:lstStyle/>
                    <a:p>
                      <a:pPr algn="ctr">
                        <a:buNone/>
                      </a:pPr>
                      <a:r>
                        <a:rPr lang="en-US"/>
                        <a:t>Numerical code</a:t>
                      </a:r>
                    </a:p>
                  </a:txBody>
                  <a:tcPr anchor="ctr"/>
                </a:tc>
                <a:tc>
                  <a:txBody>
                    <a:bodyPr/>
                    <a:lstStyle/>
                    <a:p>
                      <a:pPr algn="ctr">
                        <a:buNone/>
                      </a:pPr>
                      <a:r>
                        <a:rPr lang="en-US" dirty="0"/>
                        <a:t>83</a:t>
                      </a:r>
                    </a:p>
                  </a:txBody>
                  <a:tcPr anchor="ctr"/>
                </a:tc>
                <a:tc>
                  <a:txBody>
                    <a:bodyPr/>
                    <a:lstStyle/>
                    <a:p>
                      <a:pPr algn="ctr">
                        <a:buNone/>
                      </a:pPr>
                      <a:r>
                        <a:rPr lang="en-US" dirty="0"/>
                        <a:t>65</a:t>
                      </a:r>
                    </a:p>
                  </a:txBody>
                  <a:tcPr anchor="ctr"/>
                </a:tc>
                <a:tc>
                  <a:txBody>
                    <a:bodyPr/>
                    <a:lstStyle/>
                    <a:p>
                      <a:pPr algn="ctr">
                        <a:buNone/>
                      </a:pPr>
                      <a:r>
                        <a:rPr lang="en-US" dirty="0"/>
                        <a:t>70</a:t>
                      </a:r>
                    </a:p>
                  </a:txBody>
                  <a:tcPr anchor="ctr"/>
                </a:tc>
                <a:tc>
                  <a:txBody>
                    <a:bodyPr/>
                    <a:lstStyle/>
                    <a:p>
                      <a:pPr algn="ctr">
                        <a:buNone/>
                      </a:pPr>
                      <a:r>
                        <a:rPr lang="en-US" dirty="0"/>
                        <a:t>69</a:t>
                      </a:r>
                    </a:p>
                  </a:txBody>
                  <a:tcPr anchor="ctr"/>
                </a:tc>
                <a:tc>
                  <a:txBody>
                    <a:bodyPr/>
                    <a:lstStyle/>
                    <a:p>
                      <a:pPr algn="ctr">
                        <a:buNone/>
                      </a:pPr>
                      <a:r>
                        <a:rPr lang="en-US" dirty="0"/>
                        <a:t>287</a:t>
                      </a:r>
                    </a:p>
                  </a:txBody>
                  <a:tcPr anchor="ctr"/>
                </a:tc>
                <a:extLst>
                  <a:ext uri="{0D108BD9-81ED-4DB2-BD59-A6C34878D82A}">
                    <a16:rowId xmlns:a16="http://schemas.microsoft.com/office/drawing/2014/main" val="1089233591"/>
                  </a:ext>
                </a:extLst>
              </a:tr>
            </a:tbl>
          </a:graphicData>
        </a:graphic>
      </p:graphicFrame>
      <p:sp>
        <p:nvSpPr>
          <p:cNvPr id="15" name="TextBox 14">
            <a:extLst>
              <a:ext uri="{FF2B5EF4-FFF2-40B4-BE49-F238E27FC236}">
                <a16:creationId xmlns:a16="http://schemas.microsoft.com/office/drawing/2014/main" id="{7E256889-6F18-4072-54C3-B6CA57F31547}"/>
              </a:ext>
            </a:extLst>
          </p:cNvPr>
          <p:cNvSpPr txBox="1"/>
          <p:nvPr/>
        </p:nvSpPr>
        <p:spPr>
          <a:xfrm>
            <a:off x="1895856" y="3200915"/>
            <a:ext cx="3974592" cy="276999"/>
          </a:xfrm>
          <a:prstGeom prst="rect">
            <a:avLst/>
          </a:prstGeom>
          <a:noFill/>
        </p:spPr>
        <p:txBody>
          <a:bodyPr wrap="square" lIns="0" tIns="0" rIns="0" bIns="0" anchor="t">
            <a:spAutoFit/>
          </a:bodyPr>
          <a:lstStyle/>
          <a:p>
            <a:pPr algn="r"/>
            <a:r>
              <a:rPr lang="en-US" b="1" dirty="0">
                <a:solidFill>
                  <a:srgbClr val="17324D"/>
                </a:solidFill>
                <a:latin typeface="Aptos"/>
              </a:rPr>
              <a:t>For an 8-bit checksum, mod by 256:</a:t>
            </a:r>
            <a:endParaRPr sz="1800" b="1" i="0" dirty="0">
              <a:solidFill>
                <a:srgbClr val="17324D"/>
              </a:solidFill>
              <a:latin typeface="Aptos"/>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E5F3F965-32AC-A2C0-6CB5-130495635F59}"/>
                  </a:ext>
                </a:extLst>
              </p:cNvPr>
              <p:cNvSpPr txBox="1"/>
              <p:nvPr/>
            </p:nvSpPr>
            <p:spPr>
              <a:xfrm>
                <a:off x="6187440" y="3111929"/>
                <a:ext cx="3029676"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287 </m:t>
                    </m:r>
                    <m:r>
                      <m:rPr>
                        <m:sty m:val="p"/>
                      </m:rPr>
                      <a:rPr lang="en-US" b="0" i="1" smtClean="0">
                        <a:latin typeface="Cambria Math" panose="02040503050406030204" pitchFamily="18" charset="0"/>
                      </a:rPr>
                      <m:t>mod</m:t>
                    </m:r>
                    <m:r>
                      <a:rPr lang="en-US" b="0" i="1" smtClean="0">
                        <a:latin typeface="Cambria Math" panose="02040503050406030204" pitchFamily="18" charset="0"/>
                      </a:rPr>
                      <m:t> 256=31</m:t>
                    </m:r>
                  </m:oMath>
                </a14:m>
                <a:r>
                  <a:rPr lang="en-US" dirty="0"/>
                  <a:t> = 00011111</a:t>
                </a:r>
              </a:p>
            </p:txBody>
          </p:sp>
        </mc:Choice>
        <mc:Fallback>
          <p:sp>
            <p:nvSpPr>
              <p:cNvPr id="16" name="TextBox 15">
                <a:extLst>
                  <a:ext uri="{FF2B5EF4-FFF2-40B4-BE49-F238E27FC236}">
                    <a16:creationId xmlns:a16="http://schemas.microsoft.com/office/drawing/2014/main" id="{E5F3F965-32AC-A2C0-6CB5-130495635F59}"/>
                  </a:ext>
                </a:extLst>
              </p:cNvPr>
              <p:cNvSpPr txBox="1">
                <a:spLocks noRot="1" noChangeAspect="1" noMove="1" noResize="1" noEditPoints="1" noAdjustHandles="1" noChangeArrowheads="1" noChangeShapeType="1" noTextEdit="1"/>
              </p:cNvSpPr>
              <p:nvPr/>
            </p:nvSpPr>
            <p:spPr>
              <a:xfrm>
                <a:off x="6187440" y="3111929"/>
                <a:ext cx="3029676" cy="276999"/>
              </a:xfrm>
              <a:prstGeom prst="rect">
                <a:avLst/>
              </a:prstGeom>
              <a:blipFill>
                <a:blip r:embed="rId3"/>
                <a:stretch>
                  <a:fillRect l="-2616" t="-28261" r="-3622" b="-50000"/>
                </a:stretch>
              </a:blipFill>
            </p:spPr>
            <p:txBody>
              <a:bodyPr/>
              <a:lstStyle/>
              <a:p>
                <a:r>
                  <a:rPr lang="en-US">
                    <a:noFill/>
                  </a:rPr>
                  <a:t> </a:t>
                </a:r>
              </a:p>
            </p:txBody>
          </p:sp>
        </mc:Fallback>
      </mc:AlternateContent>
    </p:spTree>
    <p:extLst>
      <p:ext uri="{BB962C8B-B14F-4D97-AF65-F5344CB8AC3E}">
        <p14:creationId xmlns:p14="http://schemas.microsoft.com/office/powerpoint/2010/main" val="26291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46EB410A-F507-4842-0F38-AD36C2FEF70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4D49EB-5560-42B8-363A-84877B8027CB}"/>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183E4F36-7A90-A8A3-6F6D-6CA9643BADC9}"/>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E839740C-651C-3FC8-F5B9-A4E2AC68C44F}"/>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212CD934-8CCB-8503-098C-3981FE6B96E8}"/>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63E9FAE3-E6BC-CB40-73CD-C1CFE936C427}"/>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CA753878-CE5E-F82D-8989-D11740867543}"/>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6B87CC0-1B26-7B8C-707F-1DF6182BBD16}"/>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8280645F-348E-819E-5B6B-58A5A3B28A5C}"/>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9BE48E6E-B88D-03E4-3246-3CFF59828D3D}"/>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MAKE IT VISIBLE</a:t>
            </a:r>
          </a:p>
        </p:txBody>
      </p:sp>
      <p:sp>
        <p:nvSpPr>
          <p:cNvPr id="11" name="TextBox 10">
            <a:extLst>
              <a:ext uri="{FF2B5EF4-FFF2-40B4-BE49-F238E27FC236}">
                <a16:creationId xmlns:a16="http://schemas.microsoft.com/office/drawing/2014/main" id="{0FF8BA04-A7D0-55AA-44B2-BBF8D45A6AF2}"/>
              </a:ext>
            </a:extLst>
          </p:cNvPr>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Cyclic Redundanc</a:t>
            </a:r>
            <a:r>
              <a:rPr lang="en-US" sz="2700" b="1" dirty="0">
                <a:solidFill>
                  <a:srgbClr val="17324D"/>
                </a:solidFill>
                <a:latin typeface="Aptos Display"/>
              </a:rPr>
              <a:t>y Check (CRC)</a:t>
            </a:r>
            <a:endParaRPr sz="2700" b="1" i="0" dirty="0">
              <a:solidFill>
                <a:srgbClr val="17324D"/>
              </a:solidFill>
              <a:latin typeface="Aptos Display"/>
            </a:endParaRPr>
          </a:p>
        </p:txBody>
      </p:sp>
      <p:cxnSp>
        <p:nvCxnSpPr>
          <p:cNvPr id="12" name="Connector 11">
            <a:extLst>
              <a:ext uri="{FF2B5EF4-FFF2-40B4-BE49-F238E27FC236}">
                <a16:creationId xmlns:a16="http://schemas.microsoft.com/office/drawing/2014/main" id="{74EA00A5-9C7F-72BA-197D-15D253B3A20C}"/>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56" name="Rounded Rectangle 18">
            <a:extLst>
              <a:ext uri="{FF2B5EF4-FFF2-40B4-BE49-F238E27FC236}">
                <a16:creationId xmlns:a16="http://schemas.microsoft.com/office/drawing/2014/main" id="{8548F662-EE27-6054-68D0-CE523EEC8E31}"/>
              </a:ext>
            </a:extLst>
          </p:cNvPr>
          <p:cNvSpPr/>
          <p:nvPr/>
        </p:nvSpPr>
        <p:spPr>
          <a:xfrm>
            <a:off x="1524000" y="3059441"/>
            <a:ext cx="8692896" cy="117118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Transmission: 01010011 01000001 01000110 01000101 </a:t>
            </a:r>
            <a:r>
              <a:rPr lang="en-US" b="1" dirty="0">
                <a:solidFill>
                  <a:schemeClr val="tx1"/>
                </a:solidFill>
              </a:rPr>
              <a:t>11010010</a:t>
            </a:r>
          </a:p>
        </p:txBody>
      </p:sp>
      <p:sp>
        <p:nvSpPr>
          <p:cNvPr id="58" name="Rounded Rectangle 18">
            <a:extLst>
              <a:ext uri="{FF2B5EF4-FFF2-40B4-BE49-F238E27FC236}">
                <a16:creationId xmlns:a16="http://schemas.microsoft.com/office/drawing/2014/main" id="{42218C68-7C28-9E60-058B-7FF1877F68F9}"/>
              </a:ext>
            </a:extLst>
          </p:cNvPr>
          <p:cNvSpPr/>
          <p:nvPr/>
        </p:nvSpPr>
        <p:spPr>
          <a:xfrm>
            <a:off x="1511808" y="4661886"/>
            <a:ext cx="8692896" cy="1323415"/>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lvl="3"/>
            <a:endParaRPr lang="en-US" dirty="0">
              <a:solidFill>
                <a:schemeClr val="tx1"/>
              </a:solidFill>
              <a:latin typeface="Aptos" panose="020B0004020202020204" pitchFamily="34" charset="0"/>
            </a:endParaRPr>
          </a:p>
          <a:p>
            <a:pPr lvl="3"/>
            <a:r>
              <a:rPr lang="en-US" dirty="0">
                <a:solidFill>
                  <a:schemeClr val="tx1"/>
                </a:solidFill>
                <a:latin typeface="Aptos" panose="020B0004020202020204" pitchFamily="34" charset="0"/>
              </a:rPr>
              <a:t>Received:</a:t>
            </a:r>
          </a:p>
          <a:p>
            <a:pPr lvl="3"/>
            <a:r>
              <a:rPr lang="en-US" dirty="0">
                <a:solidFill>
                  <a:schemeClr val="tx1"/>
                </a:solidFill>
                <a:latin typeface="Aptos" panose="020B0004020202020204" pitchFamily="34" charset="0"/>
              </a:rPr>
              <a:t>Calculated:</a:t>
            </a:r>
          </a:p>
        </p:txBody>
      </p:sp>
      <p:pic>
        <p:nvPicPr>
          <p:cNvPr id="17" name="Picture 16">
            <a:extLst>
              <a:ext uri="{FF2B5EF4-FFF2-40B4-BE49-F238E27FC236}">
                <a16:creationId xmlns:a16="http://schemas.microsoft.com/office/drawing/2014/main" id="{F5E77995-2B76-659D-8BEA-3F8B5F0FA8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4444" y="278215"/>
            <a:ext cx="6411976" cy="2675393"/>
          </a:xfrm>
          <a:prstGeom prst="rect">
            <a:avLst/>
          </a:prstGeom>
        </p:spPr>
      </p:pic>
      <p:sp>
        <p:nvSpPr>
          <p:cNvPr id="18" name="Rounded Rectangle 18">
            <a:extLst>
              <a:ext uri="{FF2B5EF4-FFF2-40B4-BE49-F238E27FC236}">
                <a16:creationId xmlns:a16="http://schemas.microsoft.com/office/drawing/2014/main" id="{A997E7C5-651C-7A3D-E8E1-7E6D0D29A7BC}"/>
              </a:ext>
            </a:extLst>
          </p:cNvPr>
          <p:cNvSpPr/>
          <p:nvPr/>
        </p:nvSpPr>
        <p:spPr>
          <a:xfrm>
            <a:off x="621792" y="1736776"/>
            <a:ext cx="3703320" cy="128016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 name="Rectangle 18">
            <a:extLst>
              <a:ext uri="{FF2B5EF4-FFF2-40B4-BE49-F238E27FC236}">
                <a16:creationId xmlns:a16="http://schemas.microsoft.com/office/drawing/2014/main" id="{E09BE55B-3BFA-E06E-A62E-4E7096D66152}"/>
              </a:ext>
            </a:extLst>
          </p:cNvPr>
          <p:cNvSpPr/>
          <p:nvPr/>
        </p:nvSpPr>
        <p:spPr>
          <a:xfrm>
            <a:off x="621792" y="1736776"/>
            <a:ext cx="82296" cy="128016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23B714B3-9E50-CD63-74AF-DD9EDCCE00AA}"/>
              </a:ext>
            </a:extLst>
          </p:cNvPr>
          <p:cNvSpPr txBox="1"/>
          <p:nvPr/>
        </p:nvSpPr>
        <p:spPr>
          <a:xfrm>
            <a:off x="850392" y="1944585"/>
            <a:ext cx="3291840" cy="794320"/>
          </a:xfrm>
          <a:prstGeom prst="rect">
            <a:avLst/>
          </a:prstGeom>
          <a:noFill/>
        </p:spPr>
        <p:txBody>
          <a:bodyPr wrap="square" lIns="0" tIns="0" rIns="0" bIns="0" anchor="t">
            <a:spAutoFit/>
          </a:bodyPr>
          <a:lstStyle/>
          <a:p>
            <a:pPr>
              <a:lnSpc>
                <a:spcPct val="102000"/>
              </a:lnSpc>
            </a:pPr>
            <a:r>
              <a:rPr lang="en-US" sz="1700" dirty="0">
                <a:solidFill>
                  <a:srgbClr val="182028"/>
                </a:solidFill>
                <a:latin typeface="Aptos"/>
              </a:rPr>
              <a:t>Runs the message’s bits through an </a:t>
            </a:r>
            <a:r>
              <a:rPr lang="en-US" sz="1700" b="1" dirty="0">
                <a:solidFill>
                  <a:srgbClr val="182028"/>
                </a:solidFill>
                <a:latin typeface="Aptos"/>
              </a:rPr>
              <a:t>agreed calculation </a:t>
            </a:r>
            <a:r>
              <a:rPr lang="en-US" sz="1700" dirty="0">
                <a:solidFill>
                  <a:srgbClr val="182028"/>
                </a:solidFill>
                <a:latin typeface="Aptos"/>
              </a:rPr>
              <a:t>to produce a short check value.</a:t>
            </a:r>
            <a:endParaRPr sz="1700" b="1" i="0" dirty="0">
              <a:solidFill>
                <a:srgbClr val="182028"/>
              </a:solidFill>
              <a:latin typeface="Aptos"/>
            </a:endParaRPr>
          </a:p>
        </p:txBody>
      </p:sp>
      <p:sp>
        <p:nvSpPr>
          <p:cNvPr id="22" name="TextBox 21">
            <a:extLst>
              <a:ext uri="{FF2B5EF4-FFF2-40B4-BE49-F238E27FC236}">
                <a16:creationId xmlns:a16="http://schemas.microsoft.com/office/drawing/2014/main" id="{BD814AFF-5DA0-49A7-86B2-14DED42D2512}"/>
              </a:ext>
            </a:extLst>
          </p:cNvPr>
          <p:cNvSpPr txBox="1"/>
          <p:nvPr/>
        </p:nvSpPr>
        <p:spPr>
          <a:xfrm>
            <a:off x="3794950" y="3165103"/>
            <a:ext cx="4535044" cy="276999"/>
          </a:xfrm>
          <a:prstGeom prst="rect">
            <a:avLst/>
          </a:prstGeom>
          <a:noFill/>
        </p:spPr>
        <p:txBody>
          <a:bodyPr wrap="square" lIns="0" tIns="0" rIns="0" bIns="0" anchor="t">
            <a:spAutoFit/>
          </a:bodyPr>
          <a:lstStyle/>
          <a:p>
            <a:pPr algn="ctr"/>
            <a:r>
              <a:rPr lang="en-US" sz="1800" b="1" i="0" dirty="0">
                <a:solidFill>
                  <a:srgbClr val="17324D"/>
                </a:solidFill>
                <a:latin typeface="Aptos"/>
              </a:rPr>
              <a:t>S </a:t>
            </a:r>
            <a:r>
              <a:rPr lang="en-US" b="1" dirty="0">
                <a:solidFill>
                  <a:srgbClr val="17324D"/>
                </a:solidFill>
                <a:latin typeface="Aptos"/>
              </a:rPr>
              <a:t>        </a:t>
            </a:r>
            <a:r>
              <a:rPr lang="en-US" sz="1800" b="1" i="0" dirty="0">
                <a:solidFill>
                  <a:srgbClr val="17324D"/>
                </a:solidFill>
                <a:latin typeface="Aptos"/>
              </a:rPr>
              <a:t>	A		F		 E</a:t>
            </a:r>
            <a:endParaRPr sz="1800" b="1" i="0" dirty="0">
              <a:solidFill>
                <a:srgbClr val="17324D"/>
              </a:solidFill>
              <a:latin typeface="Aptos"/>
            </a:endParaRPr>
          </a:p>
        </p:txBody>
      </p:sp>
      <p:sp>
        <p:nvSpPr>
          <p:cNvPr id="23" name="TextBox 22">
            <a:extLst>
              <a:ext uri="{FF2B5EF4-FFF2-40B4-BE49-F238E27FC236}">
                <a16:creationId xmlns:a16="http://schemas.microsoft.com/office/drawing/2014/main" id="{996D36BE-D281-2664-22EA-45ADB593EFA5}"/>
              </a:ext>
            </a:extLst>
          </p:cNvPr>
          <p:cNvSpPr txBox="1"/>
          <p:nvPr/>
        </p:nvSpPr>
        <p:spPr>
          <a:xfrm>
            <a:off x="3794950" y="3494598"/>
            <a:ext cx="5495354" cy="276999"/>
          </a:xfrm>
          <a:prstGeom prst="rect">
            <a:avLst/>
          </a:prstGeom>
          <a:noFill/>
        </p:spPr>
        <p:txBody>
          <a:bodyPr wrap="square" lIns="0" tIns="0" rIns="0" bIns="0" anchor="t">
            <a:spAutoFit/>
          </a:bodyPr>
          <a:lstStyle/>
          <a:p>
            <a:r>
              <a:rPr lang="en-US" b="1" dirty="0"/>
              <a:t>             0x53         0x41         0x46          0x45           0xD2</a:t>
            </a:r>
            <a:endParaRPr sz="1800" b="1" i="0" dirty="0">
              <a:solidFill>
                <a:srgbClr val="17324D"/>
              </a:solidFill>
              <a:latin typeface="Aptos"/>
            </a:endParaRPr>
          </a:p>
        </p:txBody>
      </p:sp>
      <p:sp>
        <p:nvSpPr>
          <p:cNvPr id="24" name="TextBox 23">
            <a:extLst>
              <a:ext uri="{FF2B5EF4-FFF2-40B4-BE49-F238E27FC236}">
                <a16:creationId xmlns:a16="http://schemas.microsoft.com/office/drawing/2014/main" id="{9AB07F94-E228-E5DF-8677-234D56B02B8F}"/>
              </a:ext>
            </a:extLst>
          </p:cNvPr>
          <p:cNvSpPr txBox="1"/>
          <p:nvPr/>
        </p:nvSpPr>
        <p:spPr>
          <a:xfrm>
            <a:off x="3794950" y="4694614"/>
            <a:ext cx="4535044" cy="276999"/>
          </a:xfrm>
          <a:prstGeom prst="rect">
            <a:avLst/>
          </a:prstGeom>
          <a:noFill/>
        </p:spPr>
        <p:txBody>
          <a:bodyPr wrap="square" lIns="0" tIns="0" rIns="0" bIns="0" anchor="t">
            <a:spAutoFit/>
          </a:bodyPr>
          <a:lstStyle/>
          <a:p>
            <a:pPr algn="ctr"/>
            <a:r>
              <a:rPr lang="en-US" sz="1800" b="1" i="0" dirty="0">
                <a:solidFill>
                  <a:srgbClr val="17324D"/>
                </a:solidFill>
                <a:latin typeface="Aptos"/>
              </a:rPr>
              <a:t>S </a:t>
            </a:r>
            <a:r>
              <a:rPr lang="en-US" b="1" dirty="0">
                <a:solidFill>
                  <a:srgbClr val="17324D"/>
                </a:solidFill>
                <a:latin typeface="Aptos"/>
              </a:rPr>
              <a:t>        </a:t>
            </a:r>
            <a:r>
              <a:rPr lang="en-US" sz="1800" b="1" i="0" dirty="0">
                <a:solidFill>
                  <a:srgbClr val="17324D"/>
                </a:solidFill>
                <a:latin typeface="Aptos"/>
              </a:rPr>
              <a:t>	A		F		 </a:t>
            </a:r>
            <a:r>
              <a:rPr lang="en-US" sz="1800" b="1" i="0" dirty="0">
                <a:solidFill>
                  <a:srgbClr val="FF0000"/>
                </a:solidFill>
                <a:latin typeface="Aptos"/>
              </a:rPr>
              <a:t>E</a:t>
            </a:r>
            <a:endParaRPr sz="1800" b="1" i="0" dirty="0">
              <a:solidFill>
                <a:srgbClr val="FF0000"/>
              </a:solidFill>
              <a:latin typeface="Aptos"/>
            </a:endParaRPr>
          </a:p>
        </p:txBody>
      </p:sp>
      <p:sp>
        <p:nvSpPr>
          <p:cNvPr id="25" name="TextBox 24">
            <a:extLst>
              <a:ext uri="{FF2B5EF4-FFF2-40B4-BE49-F238E27FC236}">
                <a16:creationId xmlns:a16="http://schemas.microsoft.com/office/drawing/2014/main" id="{56315DFA-7F3B-7B51-8773-23CBCD072B83}"/>
              </a:ext>
            </a:extLst>
          </p:cNvPr>
          <p:cNvSpPr txBox="1"/>
          <p:nvPr/>
        </p:nvSpPr>
        <p:spPr>
          <a:xfrm>
            <a:off x="3794950" y="5125875"/>
            <a:ext cx="5495354" cy="276999"/>
          </a:xfrm>
          <a:prstGeom prst="rect">
            <a:avLst/>
          </a:prstGeom>
          <a:noFill/>
        </p:spPr>
        <p:txBody>
          <a:bodyPr wrap="square" lIns="0" tIns="0" rIns="0" bIns="0" anchor="t">
            <a:spAutoFit/>
          </a:bodyPr>
          <a:lstStyle/>
          <a:p>
            <a:r>
              <a:rPr lang="en-US" b="1" dirty="0"/>
              <a:t>             0x53         0x41         0x46          </a:t>
            </a:r>
            <a:r>
              <a:rPr lang="en-US" b="1" dirty="0">
                <a:solidFill>
                  <a:srgbClr val="FF0000"/>
                </a:solidFill>
              </a:rPr>
              <a:t>0x44</a:t>
            </a:r>
            <a:r>
              <a:rPr lang="en-US" b="1" dirty="0"/>
              <a:t>           0xD2</a:t>
            </a:r>
            <a:endParaRPr sz="1800" b="1" i="0" dirty="0">
              <a:solidFill>
                <a:srgbClr val="17324D"/>
              </a:solidFill>
              <a:latin typeface="Aptos"/>
            </a:endParaRPr>
          </a:p>
        </p:txBody>
      </p:sp>
      <p:sp>
        <p:nvSpPr>
          <p:cNvPr id="26" name="TextBox 25">
            <a:extLst>
              <a:ext uri="{FF2B5EF4-FFF2-40B4-BE49-F238E27FC236}">
                <a16:creationId xmlns:a16="http://schemas.microsoft.com/office/drawing/2014/main" id="{AEEEC4AD-8714-8D40-700B-8F38D23E308B}"/>
              </a:ext>
            </a:extLst>
          </p:cNvPr>
          <p:cNvSpPr txBox="1"/>
          <p:nvPr/>
        </p:nvSpPr>
        <p:spPr>
          <a:xfrm>
            <a:off x="3794950" y="5404918"/>
            <a:ext cx="5495354" cy="276999"/>
          </a:xfrm>
          <a:prstGeom prst="rect">
            <a:avLst/>
          </a:prstGeom>
          <a:noFill/>
        </p:spPr>
        <p:txBody>
          <a:bodyPr wrap="square" lIns="0" tIns="0" rIns="0" bIns="0" anchor="t">
            <a:spAutoFit/>
          </a:bodyPr>
          <a:lstStyle/>
          <a:p>
            <a:r>
              <a:rPr lang="en-US" b="1" dirty="0"/>
              <a:t>             0x53         0x41         0x46          0x44           </a:t>
            </a:r>
            <a:r>
              <a:rPr lang="en-US" b="1" dirty="0">
                <a:solidFill>
                  <a:srgbClr val="FF0000"/>
                </a:solidFill>
              </a:rPr>
              <a:t>0xD5</a:t>
            </a:r>
            <a:endParaRPr sz="1800" b="1" i="0" dirty="0">
              <a:solidFill>
                <a:srgbClr val="FF0000"/>
              </a:solidFill>
              <a:latin typeface="Aptos"/>
            </a:endParaRPr>
          </a:p>
        </p:txBody>
      </p:sp>
      <p:sp>
        <p:nvSpPr>
          <p:cNvPr id="27" name="TextBox 26">
            <a:extLst>
              <a:ext uri="{FF2B5EF4-FFF2-40B4-BE49-F238E27FC236}">
                <a16:creationId xmlns:a16="http://schemas.microsoft.com/office/drawing/2014/main" id="{5D9BE85C-D8CC-167A-03BC-53ABF69C232E}"/>
              </a:ext>
            </a:extLst>
          </p:cNvPr>
          <p:cNvSpPr txBox="1"/>
          <p:nvPr/>
        </p:nvSpPr>
        <p:spPr>
          <a:xfrm>
            <a:off x="8790432" y="5388252"/>
            <a:ext cx="822198" cy="276999"/>
          </a:xfrm>
          <a:prstGeom prst="rect">
            <a:avLst/>
          </a:prstGeom>
          <a:noFill/>
        </p:spPr>
        <p:txBody>
          <a:bodyPr wrap="square" lIns="0" tIns="0" rIns="0" bIns="0" anchor="t">
            <a:spAutoFit/>
          </a:bodyPr>
          <a:lstStyle/>
          <a:p>
            <a:pPr algn="r"/>
            <a:r>
              <a:rPr lang="en-US" sz="1800" b="1" i="0" dirty="0">
                <a:solidFill>
                  <a:srgbClr val="17324D"/>
                </a:solidFill>
                <a:latin typeface="Aptos"/>
              </a:rPr>
              <a:t>FAIL</a:t>
            </a:r>
            <a:endParaRPr sz="1800" b="1" i="0" dirty="0">
              <a:solidFill>
                <a:srgbClr val="17324D"/>
              </a:solidFill>
              <a:latin typeface="Aptos"/>
            </a:endParaRPr>
          </a:p>
        </p:txBody>
      </p:sp>
      <p:sp>
        <p:nvSpPr>
          <p:cNvPr id="28" name="TextBox 27">
            <a:extLst>
              <a:ext uri="{FF2B5EF4-FFF2-40B4-BE49-F238E27FC236}">
                <a16:creationId xmlns:a16="http://schemas.microsoft.com/office/drawing/2014/main" id="{35AC6938-81CD-0215-F908-57FC7F248001}"/>
              </a:ext>
            </a:extLst>
          </p:cNvPr>
          <p:cNvSpPr txBox="1"/>
          <p:nvPr/>
        </p:nvSpPr>
        <p:spPr>
          <a:xfrm>
            <a:off x="8790432" y="3517806"/>
            <a:ext cx="1414272" cy="276999"/>
          </a:xfrm>
          <a:prstGeom prst="rect">
            <a:avLst/>
          </a:prstGeom>
          <a:noFill/>
        </p:spPr>
        <p:txBody>
          <a:bodyPr wrap="square" lIns="0" tIns="0" rIns="0" bIns="0" anchor="t">
            <a:spAutoFit/>
          </a:bodyPr>
          <a:lstStyle/>
          <a:p>
            <a:pPr algn="r"/>
            <a:r>
              <a:rPr lang="en-US" sz="1800" b="1" i="0" dirty="0">
                <a:solidFill>
                  <a:srgbClr val="17324D"/>
                </a:solidFill>
                <a:latin typeface="Aptos"/>
              </a:rPr>
              <a:t>8-bit CRC</a:t>
            </a:r>
            <a:endParaRPr sz="1800" b="1" i="0" dirty="0">
              <a:solidFill>
                <a:srgbClr val="17324D"/>
              </a:solidFill>
              <a:latin typeface="Aptos"/>
            </a:endParaRPr>
          </a:p>
        </p:txBody>
      </p:sp>
    </p:spTree>
    <p:extLst>
      <p:ext uri="{BB962C8B-B14F-4D97-AF65-F5344CB8AC3E}">
        <p14:creationId xmlns:p14="http://schemas.microsoft.com/office/powerpoint/2010/main" val="348028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p:bldP spid="22" grpId="0"/>
      <p:bldP spid="23" grpId="0"/>
      <p:bldP spid="24" grpId="0"/>
      <p:bldP spid="25" grpId="0"/>
      <p:bldP spid="26" grpId="0"/>
      <p:bldP spid="27"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03</a:t>
            </a:r>
          </a:p>
        </p:txBody>
      </p:sp>
      <p:sp>
        <p:nvSpPr>
          <p:cNvPr id="10" name="TextBox 9"/>
          <p:cNvSpPr txBox="1"/>
          <p:nvPr/>
        </p:nvSpPr>
        <p:spPr>
          <a:xfrm>
            <a:off x="621792" y="384048"/>
            <a:ext cx="10881360" cy="161583"/>
          </a:xfrm>
          <a:prstGeom prst="rect">
            <a:avLst/>
          </a:prstGeom>
          <a:noFill/>
        </p:spPr>
        <p:txBody>
          <a:bodyPr wrap="square" lIns="0" tIns="0" rIns="0" bIns="0" anchor="t">
            <a:spAutoFit/>
          </a:bodyPr>
          <a:lstStyle/>
          <a:p>
            <a:pPr algn="l"/>
            <a:r>
              <a:rPr lang="en-US" sz="1050" b="1" i="0" dirty="0">
                <a:solidFill>
                  <a:srgbClr val="0F6D74"/>
                </a:solidFill>
                <a:latin typeface="Aptos"/>
              </a:rPr>
              <a:t>ERROR CHECKS</a:t>
            </a:r>
            <a:endParaRPr sz="1050" b="1" i="0" dirty="0">
              <a:solidFill>
                <a:srgbClr val="0F6D74"/>
              </a:solidFill>
              <a:latin typeface="Aptos"/>
            </a:endParaRP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700" b="1" i="0" dirty="0">
                <a:solidFill>
                  <a:srgbClr val="17324D"/>
                </a:solidFill>
                <a:latin typeface="Aptos Display"/>
              </a:rPr>
              <a:t>Send extra information so errors leave a clue</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30" name="Table 29">
            <a:extLst>
              <a:ext uri="{FF2B5EF4-FFF2-40B4-BE49-F238E27FC236}">
                <a16:creationId xmlns:a16="http://schemas.microsoft.com/office/drawing/2014/main" id="{FA810211-625E-C3CC-2D4E-46C24CC91519}"/>
              </a:ext>
            </a:extLst>
          </p:cNvPr>
          <p:cNvGraphicFramePr>
            <a:graphicFrameLocks noGrp="1"/>
          </p:cNvGraphicFramePr>
          <p:nvPr>
            <p:extLst>
              <p:ext uri="{D42A27DB-BD31-4B8C-83A1-F6EECF244321}">
                <p14:modId xmlns:p14="http://schemas.microsoft.com/office/powerpoint/2010/main" val="2596832024"/>
              </p:ext>
            </p:extLst>
          </p:nvPr>
        </p:nvGraphicFramePr>
        <p:xfrm>
          <a:off x="6739128" y="1572768"/>
          <a:ext cx="5148072" cy="4242849"/>
        </p:xfrm>
        <a:graphic>
          <a:graphicData uri="http://schemas.openxmlformats.org/drawingml/2006/table">
            <a:tbl>
              <a:tblPr firstRow="1">
                <a:tableStyleId>{5C22544A-7EE6-4342-B048-85BDC9FD1C3A}</a:tableStyleId>
              </a:tblPr>
              <a:tblGrid>
                <a:gridCol w="2574036">
                  <a:extLst>
                    <a:ext uri="{9D8B030D-6E8A-4147-A177-3AD203B41FA5}">
                      <a16:colId xmlns:a16="http://schemas.microsoft.com/office/drawing/2014/main" val="2963208805"/>
                    </a:ext>
                  </a:extLst>
                </a:gridCol>
                <a:gridCol w="2574036">
                  <a:extLst>
                    <a:ext uri="{9D8B030D-6E8A-4147-A177-3AD203B41FA5}">
                      <a16:colId xmlns:a16="http://schemas.microsoft.com/office/drawing/2014/main" val="3792700183"/>
                    </a:ext>
                  </a:extLst>
                </a:gridCol>
              </a:tblGrid>
              <a:tr h="667918">
                <a:tc>
                  <a:txBody>
                    <a:bodyPr/>
                    <a:lstStyle/>
                    <a:p>
                      <a:pPr algn="ctr">
                        <a:buNone/>
                      </a:pPr>
                      <a:r>
                        <a:rPr lang="en-US" dirty="0"/>
                        <a:t>Check</a:t>
                      </a:r>
                    </a:p>
                  </a:txBody>
                  <a:tcPr anchor="ctr">
                    <a:solidFill>
                      <a:schemeClr val="tx2">
                        <a:lumMod val="75000"/>
                      </a:schemeClr>
                    </a:solidFill>
                  </a:tcPr>
                </a:tc>
                <a:tc>
                  <a:txBody>
                    <a:bodyPr/>
                    <a:lstStyle/>
                    <a:p>
                      <a:pPr algn="ctr">
                        <a:buNone/>
                      </a:pPr>
                      <a:r>
                        <a:rPr lang="en-US" dirty="0"/>
                        <a:t>Chance of missing a corrupted message</a:t>
                      </a:r>
                    </a:p>
                  </a:txBody>
                  <a:tcPr anchor="ctr">
                    <a:solidFill>
                      <a:schemeClr val="tx2">
                        <a:lumMod val="75000"/>
                      </a:schemeClr>
                    </a:solidFill>
                  </a:tcPr>
                </a:tc>
                <a:extLst>
                  <a:ext uri="{0D108BD9-81ED-4DB2-BD59-A6C34878D82A}">
                    <a16:rowId xmlns:a16="http://schemas.microsoft.com/office/drawing/2014/main" val="2027969875"/>
                  </a:ext>
                </a:extLst>
              </a:tr>
              <a:tr h="447819">
                <a:tc>
                  <a:txBody>
                    <a:bodyPr/>
                    <a:lstStyle/>
                    <a:p>
                      <a:pPr algn="ctr">
                        <a:buNone/>
                      </a:pPr>
                      <a:r>
                        <a:rPr lang="en-US" dirty="0"/>
                        <a:t>One parity bit</a:t>
                      </a:r>
                    </a:p>
                  </a:txBody>
                  <a:tcPr anchor="ctr"/>
                </a:tc>
                <a:tc>
                  <a:txBody>
                    <a:bodyPr/>
                    <a:lstStyle/>
                    <a:p>
                      <a:pPr algn="ctr">
                        <a:buNone/>
                      </a:pPr>
                      <a:r>
                        <a:rPr lang="en-US" dirty="0"/>
                        <a:t>About 1 in 2</a:t>
                      </a:r>
                    </a:p>
                  </a:txBody>
                  <a:tcPr anchor="ctr"/>
                </a:tc>
                <a:extLst>
                  <a:ext uri="{0D108BD9-81ED-4DB2-BD59-A6C34878D82A}">
                    <a16:rowId xmlns:a16="http://schemas.microsoft.com/office/drawing/2014/main" val="3378716875"/>
                  </a:ext>
                </a:extLst>
              </a:tr>
              <a:tr h="447819">
                <a:tc>
                  <a:txBody>
                    <a:bodyPr/>
                    <a:lstStyle/>
                    <a:p>
                      <a:pPr algn="ctr">
                        <a:buNone/>
                      </a:pPr>
                      <a:r>
                        <a:rPr lang="en-US"/>
                        <a:t>8-bit additive checksum</a:t>
                      </a:r>
                    </a:p>
                  </a:txBody>
                  <a:tcPr anchor="ctr"/>
                </a:tc>
                <a:tc>
                  <a:txBody>
                    <a:bodyPr/>
                    <a:lstStyle/>
                    <a:p>
                      <a:pPr algn="ctr">
                        <a:buNone/>
                      </a:pPr>
                      <a:r>
                        <a:rPr lang="en-US"/>
                        <a:t>About 1 in 256</a:t>
                      </a:r>
                    </a:p>
                  </a:txBody>
                  <a:tcPr anchor="ctr"/>
                </a:tc>
                <a:extLst>
                  <a:ext uri="{0D108BD9-81ED-4DB2-BD59-A6C34878D82A}">
                    <a16:rowId xmlns:a16="http://schemas.microsoft.com/office/drawing/2014/main" val="40293117"/>
                  </a:ext>
                </a:extLst>
              </a:tr>
              <a:tr h="447819">
                <a:tc>
                  <a:txBody>
                    <a:bodyPr/>
                    <a:lstStyle/>
                    <a:p>
                      <a:pPr algn="ctr">
                        <a:buNone/>
                      </a:pPr>
                      <a:r>
                        <a:rPr lang="en-US"/>
                        <a:t>8-bit CRC</a:t>
                      </a:r>
                    </a:p>
                  </a:txBody>
                  <a:tcPr anchor="ctr"/>
                </a:tc>
                <a:tc>
                  <a:txBody>
                    <a:bodyPr/>
                    <a:lstStyle/>
                    <a:p>
                      <a:pPr algn="ctr">
                        <a:buNone/>
                      </a:pPr>
                      <a:r>
                        <a:rPr lang="en-US"/>
                        <a:t>About 1 in 256</a:t>
                      </a:r>
                    </a:p>
                  </a:txBody>
                  <a:tcPr anchor="ctr"/>
                </a:tc>
                <a:extLst>
                  <a:ext uri="{0D108BD9-81ED-4DB2-BD59-A6C34878D82A}">
                    <a16:rowId xmlns:a16="http://schemas.microsoft.com/office/drawing/2014/main" val="653840255"/>
                  </a:ext>
                </a:extLst>
              </a:tr>
              <a:tr h="667918">
                <a:tc>
                  <a:txBody>
                    <a:bodyPr/>
                    <a:lstStyle/>
                    <a:p>
                      <a:pPr algn="ctr">
                        <a:buNone/>
                      </a:pPr>
                      <a:r>
                        <a:rPr lang="en-US"/>
                        <a:t>16-bit additive checksum</a:t>
                      </a:r>
                    </a:p>
                  </a:txBody>
                  <a:tcPr anchor="ctr"/>
                </a:tc>
                <a:tc>
                  <a:txBody>
                    <a:bodyPr/>
                    <a:lstStyle/>
                    <a:p>
                      <a:pPr algn="ctr">
                        <a:buNone/>
                      </a:pPr>
                      <a:r>
                        <a:rPr lang="en-US"/>
                        <a:t>About 1 in 65,536</a:t>
                      </a:r>
                    </a:p>
                  </a:txBody>
                  <a:tcPr anchor="ctr"/>
                </a:tc>
                <a:extLst>
                  <a:ext uri="{0D108BD9-81ED-4DB2-BD59-A6C34878D82A}">
                    <a16:rowId xmlns:a16="http://schemas.microsoft.com/office/drawing/2014/main" val="1226216181"/>
                  </a:ext>
                </a:extLst>
              </a:tr>
              <a:tr h="447819">
                <a:tc>
                  <a:txBody>
                    <a:bodyPr/>
                    <a:lstStyle/>
                    <a:p>
                      <a:pPr algn="ctr">
                        <a:buNone/>
                      </a:pPr>
                      <a:r>
                        <a:rPr lang="en-US"/>
                        <a:t>16-bit CRC</a:t>
                      </a:r>
                    </a:p>
                  </a:txBody>
                  <a:tcPr anchor="ctr"/>
                </a:tc>
                <a:tc>
                  <a:txBody>
                    <a:bodyPr/>
                    <a:lstStyle/>
                    <a:p>
                      <a:pPr algn="ctr">
                        <a:buNone/>
                      </a:pPr>
                      <a:r>
                        <a:rPr lang="en-US"/>
                        <a:t>About 1 in 65,536</a:t>
                      </a:r>
                    </a:p>
                  </a:txBody>
                  <a:tcPr anchor="ctr"/>
                </a:tc>
                <a:extLst>
                  <a:ext uri="{0D108BD9-81ED-4DB2-BD59-A6C34878D82A}">
                    <a16:rowId xmlns:a16="http://schemas.microsoft.com/office/drawing/2014/main" val="1737974151"/>
                  </a:ext>
                </a:extLst>
              </a:tr>
              <a:tr h="667918">
                <a:tc>
                  <a:txBody>
                    <a:bodyPr/>
                    <a:lstStyle/>
                    <a:p>
                      <a:pPr algn="ctr">
                        <a:buNone/>
                      </a:pPr>
                      <a:r>
                        <a:rPr lang="en-US"/>
                        <a:t>32-bit additive checksum</a:t>
                      </a:r>
                    </a:p>
                  </a:txBody>
                  <a:tcPr anchor="ctr"/>
                </a:tc>
                <a:tc>
                  <a:txBody>
                    <a:bodyPr/>
                    <a:lstStyle/>
                    <a:p>
                      <a:pPr algn="ctr">
                        <a:buNone/>
                      </a:pPr>
                      <a:r>
                        <a:rPr lang="en-US"/>
                        <a:t>About 1 in 4.3 billion</a:t>
                      </a:r>
                    </a:p>
                  </a:txBody>
                  <a:tcPr anchor="ctr"/>
                </a:tc>
                <a:extLst>
                  <a:ext uri="{0D108BD9-81ED-4DB2-BD59-A6C34878D82A}">
                    <a16:rowId xmlns:a16="http://schemas.microsoft.com/office/drawing/2014/main" val="4032003719"/>
                  </a:ext>
                </a:extLst>
              </a:tr>
              <a:tr h="447819">
                <a:tc>
                  <a:txBody>
                    <a:bodyPr/>
                    <a:lstStyle/>
                    <a:p>
                      <a:pPr algn="ctr">
                        <a:buNone/>
                      </a:pPr>
                      <a:r>
                        <a:rPr lang="en-US"/>
                        <a:t>32-bit CRC</a:t>
                      </a:r>
                    </a:p>
                  </a:txBody>
                  <a:tcPr anchor="ctr"/>
                </a:tc>
                <a:tc>
                  <a:txBody>
                    <a:bodyPr/>
                    <a:lstStyle/>
                    <a:p>
                      <a:pPr algn="ctr">
                        <a:buNone/>
                      </a:pPr>
                      <a:r>
                        <a:rPr lang="en-US" dirty="0"/>
                        <a:t>About 1 in 4.3 billion</a:t>
                      </a:r>
                    </a:p>
                  </a:txBody>
                  <a:tcPr anchor="ctr"/>
                </a:tc>
                <a:extLst>
                  <a:ext uri="{0D108BD9-81ED-4DB2-BD59-A6C34878D82A}">
                    <a16:rowId xmlns:a16="http://schemas.microsoft.com/office/drawing/2014/main" val="1271202064"/>
                  </a:ext>
                </a:extLst>
              </a:tr>
            </a:tbl>
          </a:graphicData>
        </a:graphic>
      </p:graphicFrame>
      <p:sp>
        <p:nvSpPr>
          <p:cNvPr id="32" name="Rounded Rectangle 18">
            <a:extLst>
              <a:ext uri="{FF2B5EF4-FFF2-40B4-BE49-F238E27FC236}">
                <a16:creationId xmlns:a16="http://schemas.microsoft.com/office/drawing/2014/main" id="{4038C3CA-A36E-B82F-5B59-9F2D8D90A5DE}"/>
              </a:ext>
            </a:extLst>
          </p:cNvPr>
          <p:cNvSpPr/>
          <p:nvPr/>
        </p:nvSpPr>
        <p:spPr>
          <a:xfrm>
            <a:off x="502920" y="1828800"/>
            <a:ext cx="4117848" cy="126698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8BAB0B5-3A72-27F5-09C3-F3A41AF18E41}"/>
              </a:ext>
            </a:extLst>
          </p:cNvPr>
          <p:cNvSpPr/>
          <p:nvPr/>
        </p:nvSpPr>
        <p:spPr>
          <a:xfrm>
            <a:off x="502920" y="1828800"/>
            <a:ext cx="82296" cy="1266984"/>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8C26C79E-BF93-306C-2E13-EA764C4E2106}"/>
              </a:ext>
            </a:extLst>
          </p:cNvPr>
          <p:cNvSpPr txBox="1"/>
          <p:nvPr/>
        </p:nvSpPr>
        <p:spPr>
          <a:xfrm>
            <a:off x="731520" y="1993392"/>
            <a:ext cx="3913632" cy="276999"/>
          </a:xfrm>
          <a:prstGeom prst="rect">
            <a:avLst/>
          </a:prstGeom>
          <a:noFill/>
        </p:spPr>
        <p:txBody>
          <a:bodyPr wrap="square" lIns="0" tIns="0" rIns="0" bIns="0" anchor="t">
            <a:spAutoFit/>
          </a:bodyPr>
          <a:lstStyle/>
          <a:p>
            <a:pPr algn="l"/>
            <a:r>
              <a:rPr lang="en-US" b="1" i="0" dirty="0">
                <a:solidFill>
                  <a:srgbClr val="17324D"/>
                </a:solidFill>
                <a:latin typeface="Aptos"/>
              </a:rPr>
              <a:t>Equal numbers ≠ Equal Protection</a:t>
            </a:r>
            <a:endParaRPr b="1" i="0" dirty="0">
              <a:solidFill>
                <a:srgbClr val="17324D"/>
              </a:solidFill>
              <a:latin typeface="Aptos"/>
            </a:endParaRPr>
          </a:p>
        </p:txBody>
      </p:sp>
      <p:graphicFrame>
        <p:nvGraphicFramePr>
          <p:cNvPr id="39" name="Table 38">
            <a:extLst>
              <a:ext uri="{FF2B5EF4-FFF2-40B4-BE49-F238E27FC236}">
                <a16:creationId xmlns:a16="http://schemas.microsoft.com/office/drawing/2014/main" id="{6EC5B74C-BFC0-FCC0-E6B2-5CD722B056FF}"/>
              </a:ext>
            </a:extLst>
          </p:cNvPr>
          <p:cNvGraphicFramePr>
            <a:graphicFrameLocks noGrp="1"/>
          </p:cNvGraphicFramePr>
          <p:nvPr>
            <p:extLst>
              <p:ext uri="{D42A27DB-BD31-4B8C-83A1-F6EECF244321}">
                <p14:modId xmlns:p14="http://schemas.microsoft.com/office/powerpoint/2010/main" val="373037636"/>
              </p:ext>
            </p:extLst>
          </p:nvPr>
        </p:nvGraphicFramePr>
        <p:xfrm>
          <a:off x="502920" y="3273552"/>
          <a:ext cx="5733288" cy="3383280"/>
        </p:xfrm>
        <a:graphic>
          <a:graphicData uri="http://schemas.openxmlformats.org/drawingml/2006/table">
            <a:tbl>
              <a:tblPr firstRow="1">
                <a:tableStyleId>{5C22544A-7EE6-4342-B048-85BDC9FD1C3A}</a:tableStyleId>
              </a:tblPr>
              <a:tblGrid>
                <a:gridCol w="2048256">
                  <a:extLst>
                    <a:ext uri="{9D8B030D-6E8A-4147-A177-3AD203B41FA5}">
                      <a16:colId xmlns:a16="http://schemas.microsoft.com/office/drawing/2014/main" val="176945286"/>
                    </a:ext>
                  </a:extLst>
                </a:gridCol>
                <a:gridCol w="1773936">
                  <a:extLst>
                    <a:ext uri="{9D8B030D-6E8A-4147-A177-3AD203B41FA5}">
                      <a16:colId xmlns:a16="http://schemas.microsoft.com/office/drawing/2014/main" val="940888829"/>
                    </a:ext>
                  </a:extLst>
                </a:gridCol>
                <a:gridCol w="1911096">
                  <a:extLst>
                    <a:ext uri="{9D8B030D-6E8A-4147-A177-3AD203B41FA5}">
                      <a16:colId xmlns:a16="http://schemas.microsoft.com/office/drawing/2014/main" val="1544623200"/>
                    </a:ext>
                  </a:extLst>
                </a:gridCol>
              </a:tblGrid>
              <a:tr h="505193">
                <a:tc>
                  <a:txBody>
                    <a:bodyPr/>
                    <a:lstStyle/>
                    <a:p>
                      <a:pPr>
                        <a:buNone/>
                      </a:pPr>
                      <a:r>
                        <a:rPr lang="en-US" sz="1600" dirty="0"/>
                        <a:t>Error pattern</a:t>
                      </a:r>
                    </a:p>
                  </a:txBody>
                  <a:tcPr anchor="ctr">
                    <a:solidFill>
                      <a:schemeClr val="tx2">
                        <a:lumMod val="75000"/>
                      </a:schemeClr>
                    </a:solidFill>
                  </a:tcPr>
                </a:tc>
                <a:tc>
                  <a:txBody>
                    <a:bodyPr/>
                    <a:lstStyle/>
                    <a:p>
                      <a:pPr>
                        <a:buNone/>
                      </a:pPr>
                      <a:r>
                        <a:rPr lang="en-US" sz="1600" dirty="0"/>
                        <a:t>Simple 8-bit additive checksum</a:t>
                      </a:r>
                    </a:p>
                  </a:txBody>
                  <a:tcPr anchor="ctr">
                    <a:solidFill>
                      <a:schemeClr val="tx2">
                        <a:lumMod val="75000"/>
                      </a:schemeClr>
                    </a:solidFill>
                  </a:tcPr>
                </a:tc>
                <a:tc>
                  <a:txBody>
                    <a:bodyPr/>
                    <a:lstStyle/>
                    <a:p>
                      <a:pPr>
                        <a:buNone/>
                      </a:pPr>
                      <a:r>
                        <a:rPr lang="en-US" sz="1600" dirty="0"/>
                        <a:t>8-bit CRC</a:t>
                      </a:r>
                    </a:p>
                  </a:txBody>
                  <a:tcPr anchor="ctr">
                    <a:solidFill>
                      <a:schemeClr val="tx2">
                        <a:lumMod val="75000"/>
                      </a:schemeClr>
                    </a:solidFill>
                  </a:tcPr>
                </a:tc>
                <a:extLst>
                  <a:ext uri="{0D108BD9-81ED-4DB2-BD59-A6C34878D82A}">
                    <a16:rowId xmlns:a16="http://schemas.microsoft.com/office/drawing/2014/main" val="3684520733"/>
                  </a:ext>
                </a:extLst>
              </a:tr>
              <a:tr h="292480">
                <a:tc>
                  <a:txBody>
                    <a:bodyPr/>
                    <a:lstStyle/>
                    <a:p>
                      <a:pPr>
                        <a:buNone/>
                      </a:pPr>
                      <a:r>
                        <a:rPr lang="en-US" sz="1600"/>
                        <a:t>One data bit flips</a:t>
                      </a:r>
                    </a:p>
                  </a:txBody>
                  <a:tcPr anchor="ctr"/>
                </a:tc>
                <a:tc>
                  <a:txBody>
                    <a:bodyPr/>
                    <a:lstStyle/>
                    <a:p>
                      <a:pPr>
                        <a:buNone/>
                      </a:pPr>
                      <a:r>
                        <a:rPr lang="en-US" sz="1600" dirty="0"/>
                        <a:t>Always detects</a:t>
                      </a:r>
                    </a:p>
                  </a:txBody>
                  <a:tcPr anchor="ctr"/>
                </a:tc>
                <a:tc>
                  <a:txBody>
                    <a:bodyPr/>
                    <a:lstStyle/>
                    <a:p>
                      <a:pPr>
                        <a:buNone/>
                      </a:pPr>
                      <a:r>
                        <a:rPr lang="en-US" sz="1600"/>
                        <a:t>Always detects</a:t>
                      </a:r>
                    </a:p>
                  </a:txBody>
                  <a:tcPr anchor="ctr"/>
                </a:tc>
                <a:extLst>
                  <a:ext uri="{0D108BD9-81ED-4DB2-BD59-A6C34878D82A}">
                    <a16:rowId xmlns:a16="http://schemas.microsoft.com/office/drawing/2014/main" val="4089717064"/>
                  </a:ext>
                </a:extLst>
              </a:tr>
              <a:tr h="836945">
                <a:tc>
                  <a:txBody>
                    <a:bodyPr/>
                    <a:lstStyle/>
                    <a:p>
                      <a:pPr>
                        <a:buNone/>
                      </a:pPr>
                      <a:r>
                        <a:rPr lang="en-US" sz="1600"/>
                        <a:t>One byte increases by 1; another decreases by 1</a:t>
                      </a:r>
                    </a:p>
                  </a:txBody>
                  <a:tcPr anchor="ctr"/>
                </a:tc>
                <a:tc>
                  <a:txBody>
                    <a:bodyPr/>
                    <a:lstStyle/>
                    <a:p>
                      <a:pPr>
                        <a:buNone/>
                      </a:pPr>
                      <a:r>
                        <a:rPr lang="en-US" sz="1600"/>
                        <a:t>Always misses</a:t>
                      </a:r>
                    </a:p>
                  </a:txBody>
                  <a:tcPr anchor="ctr"/>
                </a:tc>
                <a:tc>
                  <a:txBody>
                    <a:bodyPr/>
                    <a:lstStyle/>
                    <a:p>
                      <a:pPr>
                        <a:buNone/>
                      </a:pPr>
                      <a:r>
                        <a:rPr lang="en-US" sz="1600"/>
                        <a:t>Detects many such changes; depends on positions and CRC</a:t>
                      </a:r>
                    </a:p>
                  </a:txBody>
                  <a:tcPr anchor="ctr"/>
                </a:tc>
                <a:extLst>
                  <a:ext uri="{0D108BD9-81ED-4DB2-BD59-A6C34878D82A}">
                    <a16:rowId xmlns:a16="http://schemas.microsoft.com/office/drawing/2014/main" val="2469826883"/>
                  </a:ext>
                </a:extLst>
              </a:tr>
              <a:tr h="717905">
                <a:tc>
                  <a:txBody>
                    <a:bodyPr/>
                    <a:lstStyle/>
                    <a:p>
                      <a:pPr>
                        <a:buNone/>
                      </a:pPr>
                      <a:r>
                        <a:rPr lang="en-US" sz="1600" dirty="0"/>
                        <a:t>Two different data bytes swap positions</a:t>
                      </a:r>
                    </a:p>
                  </a:txBody>
                  <a:tcPr anchor="ctr"/>
                </a:tc>
                <a:tc>
                  <a:txBody>
                    <a:bodyPr/>
                    <a:lstStyle/>
                    <a:p>
                      <a:pPr>
                        <a:buNone/>
                      </a:pPr>
                      <a:r>
                        <a:rPr lang="en-US" sz="1600"/>
                        <a:t>Always misses</a:t>
                      </a:r>
                    </a:p>
                  </a:txBody>
                  <a:tcPr anchor="ctr"/>
                </a:tc>
                <a:tc>
                  <a:txBody>
                    <a:bodyPr/>
                    <a:lstStyle/>
                    <a:p>
                      <a:pPr>
                        <a:buNone/>
                      </a:pPr>
                      <a:r>
                        <a:rPr lang="en-US" sz="1600"/>
                        <a:t>Detects many swaps; depends on data and CRC</a:t>
                      </a:r>
                    </a:p>
                  </a:txBody>
                  <a:tcPr anchor="ctr"/>
                </a:tc>
                <a:extLst>
                  <a:ext uri="{0D108BD9-81ED-4DB2-BD59-A6C34878D82A}">
                    <a16:rowId xmlns:a16="http://schemas.microsoft.com/office/drawing/2014/main" val="1093041144"/>
                  </a:ext>
                </a:extLst>
              </a:tr>
              <a:tr h="505193">
                <a:tc>
                  <a:txBody>
                    <a:bodyPr/>
                    <a:lstStyle/>
                    <a:p>
                      <a:pPr>
                        <a:buNone/>
                      </a:pPr>
                      <a:r>
                        <a:rPr lang="en-US" sz="1600" dirty="0"/>
                        <a:t>Burst spanning up to 8 bits</a:t>
                      </a:r>
                    </a:p>
                  </a:txBody>
                  <a:tcPr anchor="ctr"/>
                </a:tc>
                <a:tc>
                  <a:txBody>
                    <a:bodyPr/>
                    <a:lstStyle/>
                    <a:p>
                      <a:pPr>
                        <a:buNone/>
                      </a:pPr>
                      <a:r>
                        <a:rPr lang="en-US" sz="1600"/>
                        <a:t>Can miss some</a:t>
                      </a:r>
                    </a:p>
                  </a:txBody>
                  <a:tcPr anchor="ctr"/>
                </a:tc>
                <a:tc>
                  <a:txBody>
                    <a:bodyPr/>
                    <a:lstStyle/>
                    <a:p>
                      <a:pPr>
                        <a:buNone/>
                      </a:pPr>
                      <a:r>
                        <a:rPr lang="en-US" sz="1600" dirty="0"/>
                        <a:t>Always detects*</a:t>
                      </a:r>
                    </a:p>
                  </a:txBody>
                  <a:tcPr anchor="ctr"/>
                </a:tc>
                <a:extLst>
                  <a:ext uri="{0D108BD9-81ED-4DB2-BD59-A6C34878D82A}">
                    <a16:rowId xmlns:a16="http://schemas.microsoft.com/office/drawing/2014/main" val="3611763190"/>
                  </a:ext>
                </a:extLst>
              </a:tr>
            </a:tbl>
          </a:graphicData>
        </a:graphic>
      </p:graphicFrame>
      <p:sp>
        <p:nvSpPr>
          <p:cNvPr id="41" name="TextBox 40">
            <a:extLst>
              <a:ext uri="{FF2B5EF4-FFF2-40B4-BE49-F238E27FC236}">
                <a16:creationId xmlns:a16="http://schemas.microsoft.com/office/drawing/2014/main" id="{14208617-ECBF-BDCC-61E7-2BFF087B63A5}"/>
              </a:ext>
            </a:extLst>
          </p:cNvPr>
          <p:cNvSpPr txBox="1"/>
          <p:nvPr/>
        </p:nvSpPr>
        <p:spPr>
          <a:xfrm>
            <a:off x="731520" y="2363210"/>
            <a:ext cx="3285744" cy="668237"/>
          </a:xfrm>
          <a:prstGeom prst="rect">
            <a:avLst/>
          </a:prstGeom>
          <a:noFill/>
        </p:spPr>
        <p:txBody>
          <a:bodyPr wrap="square">
            <a:spAutoFit/>
          </a:bodyPr>
          <a:lstStyle/>
          <a:p>
            <a:r>
              <a:rPr lang="en-US" dirty="0"/>
              <a:t>Right t</a:t>
            </a:r>
            <a:r>
              <a:rPr lang="en-US" sz="1800" dirty="0">
                <a:solidFill>
                  <a:schemeClr val="tx1"/>
                </a:solidFill>
              </a:rPr>
              <a:t>able assumes uniforml</a:t>
            </a:r>
            <a:r>
              <a:rPr lang="en-US" dirty="0"/>
              <a:t>y random errors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09</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BUILD THE IDEA</a:t>
            </a: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900" b="1" i="0">
                <a:solidFill>
                  <a:srgbClr val="17324D"/>
                </a:solidFill>
                <a:latin typeface="Aptos Display"/>
              </a:rPr>
              <a:t>A failed check gives us two recovery choices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42416" y="1755648"/>
            <a:ext cx="6181344" cy="1331976"/>
          </a:xfrm>
          <a:prstGeom prst="rect">
            <a:avLst/>
          </a:prstGeom>
          <a:noFill/>
        </p:spPr>
        <p:txBody>
          <a:bodyPr wrap="square" lIns="0" tIns="0" rIns="0" bIns="0" anchor="ctr">
            <a:spAutoFit/>
          </a:bodyPr>
          <a:lstStyle/>
          <a:p>
            <a:pPr algn="l"/>
            <a:r>
              <a:rPr sz="1650" b="0" i="0" dirty="0">
                <a:solidFill>
                  <a:srgbClr val="182028"/>
                </a:solidFill>
                <a:latin typeface="Aptos"/>
              </a:rPr>
              <a:t>Request another copy: automatic repeat request (ARQ). This costs time and requires a return path.</a:t>
            </a:r>
          </a:p>
        </p:txBody>
      </p:sp>
      <p:sp>
        <p:nvSpPr>
          <p:cNvPr id="16" name="TextBox 15"/>
          <p:cNvSpPr txBox="1"/>
          <p:nvPr/>
        </p:nvSpPr>
        <p:spPr>
          <a:xfrm>
            <a:off x="1042416" y="2549652"/>
            <a:ext cx="6181344" cy="1331976"/>
          </a:xfrm>
          <a:prstGeom prst="rect">
            <a:avLst/>
          </a:prstGeom>
          <a:noFill/>
        </p:spPr>
        <p:txBody>
          <a:bodyPr wrap="square" lIns="0" tIns="0" rIns="0" bIns="0" anchor="ctr">
            <a:spAutoFit/>
          </a:bodyPr>
          <a:lstStyle/>
          <a:p>
            <a:pPr algn="l"/>
            <a:r>
              <a:rPr sz="1650" b="0" i="0" dirty="0">
                <a:solidFill>
                  <a:srgbClr val="182028"/>
                </a:solidFill>
                <a:latin typeface="Aptos"/>
              </a:rPr>
              <a:t>Add enough structured redundancy to repair some errors: forward error correction (FEC).</a:t>
            </a:r>
          </a:p>
        </p:txBody>
      </p:sp>
      <p:sp>
        <p:nvSpPr>
          <p:cNvPr id="21" name="TextBox 20"/>
          <p:cNvSpPr txBox="1"/>
          <p:nvPr/>
        </p:nvSpPr>
        <p:spPr>
          <a:xfrm>
            <a:off x="594360" y="2108061"/>
            <a:ext cx="548640" cy="553998"/>
          </a:xfrm>
          <a:prstGeom prst="rect">
            <a:avLst/>
          </a:prstGeom>
          <a:noFill/>
        </p:spPr>
        <p:txBody>
          <a:bodyPr wrap="square" lIns="0" tIns="0" rIns="0" bIns="0" anchor="t">
            <a:spAutoFit/>
          </a:bodyPr>
          <a:lstStyle/>
          <a:p>
            <a:pPr algn="l"/>
            <a:r>
              <a:rPr lang="en-US" sz="3600" b="1" i="0" dirty="0">
                <a:solidFill>
                  <a:srgbClr val="17324D"/>
                </a:solidFill>
                <a:latin typeface="Aptos"/>
              </a:rPr>
              <a:t>1</a:t>
            </a:r>
            <a:endParaRPr sz="3600" b="1" i="0" dirty="0">
              <a:solidFill>
                <a:srgbClr val="17324D"/>
              </a:solidFill>
              <a:latin typeface="Aptos"/>
            </a:endParaRPr>
          </a:p>
        </p:txBody>
      </p:sp>
      <p:sp>
        <p:nvSpPr>
          <p:cNvPr id="23" name="TextBox 22">
            <a:extLst>
              <a:ext uri="{FF2B5EF4-FFF2-40B4-BE49-F238E27FC236}">
                <a16:creationId xmlns:a16="http://schemas.microsoft.com/office/drawing/2014/main" id="{09F83F59-489C-4021-8ADE-11F21A130761}"/>
              </a:ext>
            </a:extLst>
          </p:cNvPr>
          <p:cNvSpPr txBox="1"/>
          <p:nvPr/>
        </p:nvSpPr>
        <p:spPr>
          <a:xfrm>
            <a:off x="594360" y="2875002"/>
            <a:ext cx="548640" cy="553998"/>
          </a:xfrm>
          <a:prstGeom prst="rect">
            <a:avLst/>
          </a:prstGeom>
          <a:noFill/>
        </p:spPr>
        <p:txBody>
          <a:bodyPr wrap="square" lIns="0" tIns="0" rIns="0" bIns="0" anchor="t">
            <a:spAutoFit/>
          </a:bodyPr>
          <a:lstStyle/>
          <a:p>
            <a:pPr algn="l"/>
            <a:r>
              <a:rPr lang="en-US" sz="3600" b="1" i="0" dirty="0">
                <a:solidFill>
                  <a:srgbClr val="17324D"/>
                </a:solidFill>
                <a:latin typeface="Aptos"/>
              </a:rPr>
              <a:t>2</a:t>
            </a:r>
            <a:endParaRPr sz="3600" b="1" i="0" dirty="0">
              <a:solidFill>
                <a:srgbClr val="17324D"/>
              </a:solidFill>
              <a:latin typeface="Aptos"/>
            </a:endParaRPr>
          </a:p>
        </p:txBody>
      </p:sp>
      <p:sp>
        <p:nvSpPr>
          <p:cNvPr id="25" name="Rounded Rectangle 18">
            <a:extLst>
              <a:ext uri="{FF2B5EF4-FFF2-40B4-BE49-F238E27FC236}">
                <a16:creationId xmlns:a16="http://schemas.microsoft.com/office/drawing/2014/main" id="{058712DF-3AB4-32A5-6886-855D07132C0C}"/>
              </a:ext>
            </a:extLst>
          </p:cNvPr>
          <p:cNvSpPr/>
          <p:nvPr/>
        </p:nvSpPr>
        <p:spPr>
          <a:xfrm>
            <a:off x="1524000" y="3710911"/>
            <a:ext cx="8692896" cy="51971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CRC Transmission: 01010011 01000001 01000110 01000101 </a:t>
            </a:r>
            <a:r>
              <a:rPr lang="en-US" b="1" dirty="0">
                <a:solidFill>
                  <a:schemeClr val="tx1"/>
                </a:solidFill>
              </a:rPr>
              <a:t>11010010</a:t>
            </a:r>
          </a:p>
        </p:txBody>
      </p:sp>
      <p:sp>
        <p:nvSpPr>
          <p:cNvPr id="26" name="Rounded Rectangle 18">
            <a:extLst>
              <a:ext uri="{FF2B5EF4-FFF2-40B4-BE49-F238E27FC236}">
                <a16:creationId xmlns:a16="http://schemas.microsoft.com/office/drawing/2014/main" id="{1BD96915-86AE-DAA8-C307-9FEAB1890DF8}"/>
              </a:ext>
            </a:extLst>
          </p:cNvPr>
          <p:cNvSpPr/>
          <p:nvPr/>
        </p:nvSpPr>
        <p:spPr>
          <a:xfrm>
            <a:off x="1524000" y="4431761"/>
            <a:ext cx="8692896" cy="1112521"/>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FEC Transmission: 000 111 000 111 000 000 111 111 000 111 000 000 000 000 000 111 000 111 000 000 000 111 111 000 000 111 000 000 000 111 000 111 </a:t>
            </a:r>
            <a:r>
              <a:rPr lang="en-US" b="1" dirty="0">
                <a:solidFill>
                  <a:schemeClr val="tx1"/>
                </a:solidFill>
              </a:rPr>
              <a:t>000 000 000 111 111 111 111 111</a:t>
            </a:r>
          </a:p>
        </p:txBody>
      </p:sp>
      <p:sp>
        <p:nvSpPr>
          <p:cNvPr id="35" name="Rounded Rectangle 18">
            <a:extLst>
              <a:ext uri="{FF2B5EF4-FFF2-40B4-BE49-F238E27FC236}">
                <a16:creationId xmlns:a16="http://schemas.microsoft.com/office/drawing/2014/main" id="{998F8DE6-C809-F5C4-270D-5C84F1A1AA30}"/>
              </a:ext>
            </a:extLst>
          </p:cNvPr>
          <p:cNvSpPr/>
          <p:nvPr/>
        </p:nvSpPr>
        <p:spPr>
          <a:xfrm>
            <a:off x="7626096" y="1671799"/>
            <a:ext cx="3703320" cy="128016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Rectangle 35">
            <a:extLst>
              <a:ext uri="{FF2B5EF4-FFF2-40B4-BE49-F238E27FC236}">
                <a16:creationId xmlns:a16="http://schemas.microsoft.com/office/drawing/2014/main" id="{1F525BCA-375A-F212-6174-7644F517B149}"/>
              </a:ext>
            </a:extLst>
          </p:cNvPr>
          <p:cNvSpPr/>
          <p:nvPr/>
        </p:nvSpPr>
        <p:spPr>
          <a:xfrm>
            <a:off x="7626096" y="1671799"/>
            <a:ext cx="82296" cy="128016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TextBox 36">
            <a:extLst>
              <a:ext uri="{FF2B5EF4-FFF2-40B4-BE49-F238E27FC236}">
                <a16:creationId xmlns:a16="http://schemas.microsoft.com/office/drawing/2014/main" id="{D75A5FB0-7A54-23D3-3939-90F22AE1DB8C}"/>
              </a:ext>
            </a:extLst>
          </p:cNvPr>
          <p:cNvSpPr txBox="1"/>
          <p:nvPr/>
        </p:nvSpPr>
        <p:spPr>
          <a:xfrm>
            <a:off x="7854696" y="1789672"/>
            <a:ext cx="3291840"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Simplest implementation of FEC: </a:t>
            </a:r>
            <a:r>
              <a:rPr lang="en-US" sz="1700" b="1" i="0" dirty="0">
                <a:solidFill>
                  <a:srgbClr val="182028"/>
                </a:solidFill>
                <a:latin typeface="Aptos"/>
              </a:rPr>
              <a:t>majority correction:</a:t>
            </a:r>
            <a:endParaRPr sz="1700" b="1" i="0" dirty="0">
              <a:solidFill>
                <a:srgbClr val="182028"/>
              </a:solidFill>
              <a:latin typeface="Aptos"/>
            </a:endParaRPr>
          </a:p>
        </p:txBody>
      </p:sp>
      <p:sp>
        <p:nvSpPr>
          <p:cNvPr id="38" name="TextBox 37">
            <a:extLst>
              <a:ext uri="{FF2B5EF4-FFF2-40B4-BE49-F238E27FC236}">
                <a16:creationId xmlns:a16="http://schemas.microsoft.com/office/drawing/2014/main" id="{39692AA2-AAB4-1EA4-36E2-9CA99FC0CAFB}"/>
              </a:ext>
            </a:extLst>
          </p:cNvPr>
          <p:cNvSpPr txBox="1"/>
          <p:nvPr/>
        </p:nvSpPr>
        <p:spPr>
          <a:xfrm>
            <a:off x="7854696" y="2442967"/>
            <a:ext cx="3291840" cy="260584"/>
          </a:xfrm>
          <a:prstGeom prst="rect">
            <a:avLst/>
          </a:prstGeom>
          <a:noFill/>
        </p:spPr>
        <p:txBody>
          <a:bodyPr wrap="square" lIns="0" tIns="0" rIns="0" bIns="0" anchor="t">
            <a:spAutoFit/>
          </a:bodyPr>
          <a:lstStyle/>
          <a:p>
            <a:pPr algn="ctr">
              <a:lnSpc>
                <a:spcPct val="102000"/>
              </a:lnSpc>
            </a:pPr>
            <a:r>
              <a:rPr lang="en-US" sz="1700" b="0" i="0" dirty="0">
                <a:solidFill>
                  <a:srgbClr val="182028"/>
                </a:solidFill>
                <a:latin typeface="Aptos"/>
              </a:rPr>
              <a:t>1 transmits as 111</a:t>
            </a:r>
            <a:endParaRPr sz="1700" b="1" i="0" dirty="0">
              <a:solidFill>
                <a:srgbClr val="182028"/>
              </a:solidFill>
              <a:latin typeface="Aptos"/>
            </a:endParaRPr>
          </a:p>
        </p:txBody>
      </p:sp>
      <p:sp>
        <p:nvSpPr>
          <p:cNvPr id="45" name="Rounded Rectangle 18">
            <a:extLst>
              <a:ext uri="{FF2B5EF4-FFF2-40B4-BE49-F238E27FC236}">
                <a16:creationId xmlns:a16="http://schemas.microsoft.com/office/drawing/2014/main" id="{FEDCD7A5-5AB6-4374-2B65-88F1E3D45AB9}"/>
              </a:ext>
            </a:extLst>
          </p:cNvPr>
          <p:cNvSpPr/>
          <p:nvPr/>
        </p:nvSpPr>
        <p:spPr>
          <a:xfrm>
            <a:off x="7626096" y="5603719"/>
            <a:ext cx="3593592" cy="73307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6" name="Rectangle 45">
            <a:extLst>
              <a:ext uri="{FF2B5EF4-FFF2-40B4-BE49-F238E27FC236}">
                <a16:creationId xmlns:a16="http://schemas.microsoft.com/office/drawing/2014/main" id="{1E830E41-2208-366E-9C8F-6A1C7F623B95}"/>
              </a:ext>
            </a:extLst>
          </p:cNvPr>
          <p:cNvSpPr/>
          <p:nvPr/>
        </p:nvSpPr>
        <p:spPr>
          <a:xfrm>
            <a:off x="7626096" y="5603719"/>
            <a:ext cx="79858" cy="733074"/>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7" name="TextBox 46">
            <a:extLst>
              <a:ext uri="{FF2B5EF4-FFF2-40B4-BE49-F238E27FC236}">
                <a16:creationId xmlns:a16="http://schemas.microsoft.com/office/drawing/2014/main" id="{1760A457-CA26-282F-AC1B-1A0AEFBC0371}"/>
              </a:ext>
            </a:extLst>
          </p:cNvPr>
          <p:cNvSpPr txBox="1"/>
          <p:nvPr/>
        </p:nvSpPr>
        <p:spPr>
          <a:xfrm>
            <a:off x="7854696" y="5721592"/>
            <a:ext cx="3194304"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What are the disadvantages for this specific FEC?</a:t>
            </a:r>
            <a:endParaRPr sz="1700" b="1" i="0" dirty="0">
              <a:solidFill>
                <a:srgbClr val="182028"/>
              </a:solidFill>
              <a:latin typeface="Apto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500"/>
                                        <p:tgtEl>
                                          <p:spTgt spid="4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p:bldP spid="38" grpId="0"/>
      <p:bldP spid="45" grpId="0" animBg="1"/>
      <p:bldP spid="46" grpId="0" animBg="1"/>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E98ADAC5-5739-63F3-C1A6-D8C3E63D68F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22F31A-F71C-EC85-56E6-B5CC457CC66D}"/>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90487072-BACD-5658-5BA0-462166EB61FE}"/>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2270D650-674C-951E-D88C-8669EFE3229C}"/>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AAD79121-2E98-D119-71C5-0F876E7A698F}"/>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30DACDF8-7998-0680-FFCE-AC76F9C212D6}"/>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9CBCB7DA-2C82-13D9-4D44-AC94211A1118}"/>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FED63B7-A0AF-8B73-12B4-537F02593ADA}"/>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a:extLst>
              <a:ext uri="{FF2B5EF4-FFF2-40B4-BE49-F238E27FC236}">
                <a16:creationId xmlns:a16="http://schemas.microsoft.com/office/drawing/2014/main" id="{3B1C8558-9AB6-BC32-F997-F61CB5D81BC1}"/>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09</a:t>
            </a:r>
          </a:p>
        </p:txBody>
      </p:sp>
      <p:sp>
        <p:nvSpPr>
          <p:cNvPr id="10" name="TextBox 9">
            <a:extLst>
              <a:ext uri="{FF2B5EF4-FFF2-40B4-BE49-F238E27FC236}">
                <a16:creationId xmlns:a16="http://schemas.microsoft.com/office/drawing/2014/main" id="{54D23E01-9825-0175-1648-958416EE5F78}"/>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BUILD THE IDEA</a:t>
            </a:r>
          </a:p>
        </p:txBody>
      </p:sp>
      <p:sp>
        <p:nvSpPr>
          <p:cNvPr id="11" name="TextBox 10">
            <a:extLst>
              <a:ext uri="{FF2B5EF4-FFF2-40B4-BE49-F238E27FC236}">
                <a16:creationId xmlns:a16="http://schemas.microsoft.com/office/drawing/2014/main" id="{E8F1708D-C700-6FD6-5A6F-DF2A50CAD32C}"/>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Error Correcting Code (ECC): Block Parity</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DC1714A5-A516-FF4A-C9B6-58DF9D36B2BC}"/>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7" name="Rounded Rectangle 18">
            <a:extLst>
              <a:ext uri="{FF2B5EF4-FFF2-40B4-BE49-F238E27FC236}">
                <a16:creationId xmlns:a16="http://schemas.microsoft.com/office/drawing/2014/main" id="{B9A715C2-4EFB-352B-9DAB-2ECF513EFAFC}"/>
              </a:ext>
            </a:extLst>
          </p:cNvPr>
          <p:cNvSpPr/>
          <p:nvPr/>
        </p:nvSpPr>
        <p:spPr>
          <a:xfrm>
            <a:off x="502920" y="2004612"/>
            <a:ext cx="2854483" cy="190446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ectangle 17">
            <a:extLst>
              <a:ext uri="{FF2B5EF4-FFF2-40B4-BE49-F238E27FC236}">
                <a16:creationId xmlns:a16="http://schemas.microsoft.com/office/drawing/2014/main" id="{18D06900-8E90-EF72-3EDB-3819885735B3}"/>
              </a:ext>
            </a:extLst>
          </p:cNvPr>
          <p:cNvSpPr/>
          <p:nvPr/>
        </p:nvSpPr>
        <p:spPr>
          <a:xfrm>
            <a:off x="502920" y="2004613"/>
            <a:ext cx="63433" cy="190446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9C9E6143-ABDB-54D8-0CA9-F3C17AC3E7F8}"/>
              </a:ext>
            </a:extLst>
          </p:cNvPr>
          <p:cNvSpPr txBox="1"/>
          <p:nvPr/>
        </p:nvSpPr>
        <p:spPr>
          <a:xfrm>
            <a:off x="731519" y="2122485"/>
            <a:ext cx="2717323" cy="260584"/>
          </a:xfrm>
          <a:prstGeom prst="rect">
            <a:avLst/>
          </a:prstGeom>
          <a:noFill/>
        </p:spPr>
        <p:txBody>
          <a:bodyPr wrap="square" lIns="0" tIns="0" rIns="0" bIns="0" anchor="t">
            <a:spAutoFit/>
          </a:bodyPr>
          <a:lstStyle/>
          <a:p>
            <a:pPr algn="l">
              <a:lnSpc>
                <a:spcPct val="102000"/>
              </a:lnSpc>
            </a:pPr>
            <a:r>
              <a:rPr lang="en-US" sz="1700" b="1" i="0" dirty="0">
                <a:solidFill>
                  <a:srgbClr val="182028"/>
                </a:solidFill>
                <a:latin typeface="Aptos"/>
              </a:rPr>
              <a:t>Parity in 2 dimensions</a:t>
            </a:r>
            <a:endParaRPr sz="1700" b="1" i="0" dirty="0">
              <a:solidFill>
                <a:srgbClr val="182028"/>
              </a:solidFill>
              <a:latin typeface="Aptos"/>
            </a:endParaRPr>
          </a:p>
        </p:txBody>
      </p:sp>
      <p:sp>
        <p:nvSpPr>
          <p:cNvPr id="20" name="TextBox 19">
            <a:extLst>
              <a:ext uri="{FF2B5EF4-FFF2-40B4-BE49-F238E27FC236}">
                <a16:creationId xmlns:a16="http://schemas.microsoft.com/office/drawing/2014/main" id="{080681D8-FCE6-3035-07BC-AF87614982A1}"/>
              </a:ext>
            </a:extLst>
          </p:cNvPr>
          <p:cNvSpPr txBox="1"/>
          <p:nvPr/>
        </p:nvSpPr>
        <p:spPr>
          <a:xfrm>
            <a:off x="731520" y="2775781"/>
            <a:ext cx="2537318" cy="738664"/>
          </a:xfrm>
          <a:prstGeom prst="rect">
            <a:avLst/>
          </a:prstGeom>
          <a:noFill/>
        </p:spPr>
        <p:txBody>
          <a:bodyPr wrap="square" lIns="0" tIns="0" rIns="0" bIns="0" anchor="t">
            <a:spAutoFit/>
          </a:bodyPr>
          <a:lstStyle/>
          <a:p>
            <a:pPr algn="ctr">
              <a:lnSpc>
                <a:spcPct val="100000"/>
              </a:lnSpc>
            </a:pPr>
            <a:r>
              <a:rPr lang="en-US" sz="1600" dirty="0">
                <a:latin typeface="Aptos" panose="020B0004020202020204" pitchFamily="34" charset="0"/>
              </a:rPr>
              <a:t>Arrange the data in a grid, then add parity bits for </a:t>
            </a:r>
            <a:r>
              <a:rPr lang="en-US" sz="1600" b="1" dirty="0">
                <a:latin typeface="Aptos" panose="020B0004020202020204" pitchFamily="34" charset="0"/>
              </a:rPr>
              <a:t>each row and each column</a:t>
            </a:r>
            <a:endParaRPr sz="1700" b="1" i="0" dirty="0">
              <a:solidFill>
                <a:srgbClr val="182028"/>
              </a:solidFill>
              <a:latin typeface="Aptos" panose="020B0004020202020204" pitchFamily="34" charset="0"/>
            </a:endParaRPr>
          </a:p>
        </p:txBody>
      </p:sp>
      <p:sp>
        <p:nvSpPr>
          <p:cNvPr id="24" name="Rounded Rectangle 18">
            <a:extLst>
              <a:ext uri="{FF2B5EF4-FFF2-40B4-BE49-F238E27FC236}">
                <a16:creationId xmlns:a16="http://schemas.microsoft.com/office/drawing/2014/main" id="{82467347-EB24-12B6-2B66-92463F28D10A}"/>
              </a:ext>
            </a:extLst>
          </p:cNvPr>
          <p:cNvSpPr/>
          <p:nvPr/>
        </p:nvSpPr>
        <p:spPr>
          <a:xfrm>
            <a:off x="502920" y="4395779"/>
            <a:ext cx="2882490" cy="130454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a:extLst>
              <a:ext uri="{FF2B5EF4-FFF2-40B4-BE49-F238E27FC236}">
                <a16:creationId xmlns:a16="http://schemas.microsoft.com/office/drawing/2014/main" id="{2072A7FD-8C7F-4C5F-5B40-5614A1D13FC8}"/>
              </a:ext>
            </a:extLst>
          </p:cNvPr>
          <p:cNvSpPr/>
          <p:nvPr/>
        </p:nvSpPr>
        <p:spPr>
          <a:xfrm>
            <a:off x="502920" y="4395779"/>
            <a:ext cx="64055" cy="1304544"/>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D612A554-4955-3605-077D-38529980FD5B}"/>
              </a:ext>
            </a:extLst>
          </p:cNvPr>
          <p:cNvSpPr txBox="1"/>
          <p:nvPr/>
        </p:nvSpPr>
        <p:spPr>
          <a:xfrm>
            <a:off x="731520" y="4658880"/>
            <a:ext cx="2562213"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What could go wrong with this?</a:t>
            </a:r>
            <a:endParaRPr sz="1700" b="0" i="0" dirty="0">
              <a:solidFill>
                <a:srgbClr val="182028"/>
              </a:solidFill>
              <a:latin typeface="Aptos"/>
            </a:endParaRPr>
          </a:p>
        </p:txBody>
      </p:sp>
      <p:graphicFrame>
        <p:nvGraphicFramePr>
          <p:cNvPr id="31" name="Table 30">
            <a:extLst>
              <a:ext uri="{FF2B5EF4-FFF2-40B4-BE49-F238E27FC236}">
                <a16:creationId xmlns:a16="http://schemas.microsoft.com/office/drawing/2014/main" id="{2769E67B-71FB-5126-1745-1FF029C39C9C}"/>
              </a:ext>
            </a:extLst>
          </p:cNvPr>
          <p:cNvGraphicFramePr>
            <a:graphicFrameLocks noGrp="1"/>
          </p:cNvGraphicFramePr>
          <p:nvPr>
            <p:extLst>
              <p:ext uri="{D42A27DB-BD31-4B8C-83A1-F6EECF244321}">
                <p14:modId xmlns:p14="http://schemas.microsoft.com/office/powerpoint/2010/main" val="3337587480"/>
              </p:ext>
            </p:extLst>
          </p:nvPr>
        </p:nvGraphicFramePr>
        <p:xfrm>
          <a:off x="3570531" y="2004612"/>
          <a:ext cx="4210750" cy="3068865"/>
        </p:xfrm>
        <a:graphic>
          <a:graphicData uri="http://schemas.openxmlformats.org/drawingml/2006/table">
            <a:tbl>
              <a:tblPr firstRow="1">
                <a:solidFill>
                  <a:srgbClr val="17324D"/>
                </a:solidFill>
                <a:tableStyleId>{5C22544A-7EE6-4342-B048-85BDC9FD1C3A}</a:tableStyleId>
              </a:tblPr>
              <a:tblGrid>
                <a:gridCol w="842150">
                  <a:extLst>
                    <a:ext uri="{9D8B030D-6E8A-4147-A177-3AD203B41FA5}">
                      <a16:colId xmlns:a16="http://schemas.microsoft.com/office/drawing/2014/main" val="789492315"/>
                    </a:ext>
                  </a:extLst>
                </a:gridCol>
                <a:gridCol w="842150">
                  <a:extLst>
                    <a:ext uri="{9D8B030D-6E8A-4147-A177-3AD203B41FA5}">
                      <a16:colId xmlns:a16="http://schemas.microsoft.com/office/drawing/2014/main" val="2184149776"/>
                    </a:ext>
                  </a:extLst>
                </a:gridCol>
                <a:gridCol w="842150">
                  <a:extLst>
                    <a:ext uri="{9D8B030D-6E8A-4147-A177-3AD203B41FA5}">
                      <a16:colId xmlns:a16="http://schemas.microsoft.com/office/drawing/2014/main" val="4130252262"/>
                    </a:ext>
                  </a:extLst>
                </a:gridCol>
                <a:gridCol w="842150">
                  <a:extLst>
                    <a:ext uri="{9D8B030D-6E8A-4147-A177-3AD203B41FA5}">
                      <a16:colId xmlns:a16="http://schemas.microsoft.com/office/drawing/2014/main" val="1444940669"/>
                    </a:ext>
                  </a:extLst>
                </a:gridCol>
                <a:gridCol w="842150">
                  <a:extLst>
                    <a:ext uri="{9D8B030D-6E8A-4147-A177-3AD203B41FA5}">
                      <a16:colId xmlns:a16="http://schemas.microsoft.com/office/drawing/2014/main" val="3109393647"/>
                    </a:ext>
                  </a:extLst>
                </a:gridCol>
              </a:tblGrid>
              <a:tr h="613773">
                <a:tc gridSpan="4">
                  <a:txBody>
                    <a:bodyPr/>
                    <a:lstStyle/>
                    <a:p>
                      <a:pPr algn="ctr">
                        <a:buNone/>
                      </a:pPr>
                      <a:r>
                        <a:rPr lang="en-US" dirty="0">
                          <a:latin typeface="Aptos" panose="020B0004020202020204" pitchFamily="34" charset="0"/>
                        </a:rPr>
                        <a:t>Data</a:t>
                      </a:r>
                    </a:p>
                  </a:txBody>
                  <a:tcPr anchor="ctr">
                    <a:solidFill>
                      <a:schemeClr val="tx2">
                        <a:lumMod val="75000"/>
                      </a:schemeClr>
                    </a:solidFill>
                  </a:tcPr>
                </a:tc>
                <a:tc hMerge="1">
                  <a:txBody>
                    <a:bodyPr/>
                    <a:lstStyle/>
                    <a:p>
                      <a:endParaRPr/>
                    </a:p>
                  </a:txBody>
                  <a:tcPr anchor="ctr">
                    <a:solidFill>
                      <a:schemeClr val="tx2">
                        <a:lumMod val="75000"/>
                      </a:schemeClr>
                    </a:solidFill>
                  </a:tcPr>
                </a:tc>
                <a:tc hMerge="1">
                  <a:txBody>
                    <a:bodyPr/>
                    <a:lstStyle/>
                    <a:p>
                      <a:endParaRPr dirty="0"/>
                    </a:p>
                  </a:txBody>
                  <a:tcPr anchor="ctr">
                    <a:solidFill>
                      <a:schemeClr val="tx2">
                        <a:lumMod val="75000"/>
                      </a:schemeClr>
                    </a:solidFill>
                  </a:tcPr>
                </a:tc>
                <a:tc hMerge="1">
                  <a:txBody>
                    <a:bodyPr/>
                    <a:lstStyle/>
                    <a:p>
                      <a:pPr algn="ctr">
                        <a:buNone/>
                      </a:pPr>
                      <a:endParaRPr lang="en-US" dirty="0">
                        <a:latin typeface="Aptos" panose="020B0004020202020204" pitchFamily="34" charset="0"/>
                      </a:endParaRPr>
                    </a:p>
                  </a:txBody>
                  <a:tcPr anchor="ctr">
                    <a:solidFill>
                      <a:schemeClr val="tx2">
                        <a:lumMod val="75000"/>
                      </a:schemeClr>
                    </a:solidFill>
                  </a:tcPr>
                </a:tc>
                <a:tc>
                  <a:txBody>
                    <a:bodyPr/>
                    <a:lstStyle/>
                    <a:p>
                      <a:pPr algn="ctr">
                        <a:buNone/>
                      </a:pPr>
                      <a:r>
                        <a:rPr lang="en-US" dirty="0">
                          <a:latin typeface="Aptos" panose="020B0004020202020204" pitchFamily="34" charset="0"/>
                        </a:rPr>
                        <a:t>Parity</a:t>
                      </a:r>
                    </a:p>
                  </a:txBody>
                  <a:tcPr anchor="ctr">
                    <a:solidFill>
                      <a:schemeClr val="tx2">
                        <a:lumMod val="75000"/>
                      </a:schemeClr>
                    </a:solidFill>
                  </a:tcPr>
                </a:tc>
                <a:extLst>
                  <a:ext uri="{0D108BD9-81ED-4DB2-BD59-A6C34878D82A}">
                    <a16:rowId xmlns:a16="http://schemas.microsoft.com/office/drawing/2014/main" val="4108389782"/>
                  </a:ext>
                </a:extLst>
              </a:tr>
              <a:tr h="613773">
                <a:tc>
                  <a:txBody>
                    <a:bodyPr/>
                    <a:lstStyle/>
                    <a:p>
                      <a:pPr algn="ctr">
                        <a:buNone/>
                      </a:pPr>
                      <a:r>
                        <a:rPr lang="en-US" b="0"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1</a:t>
                      </a:r>
                    </a:p>
                  </a:txBody>
                  <a:tcPr anchor="ctr">
                    <a:lnR w="12700" cap="flat" cmpd="sng" algn="ctr">
                      <a:solidFill>
                        <a:schemeClr val="tx1"/>
                      </a:solidFill>
                      <a:prstDash val="solid"/>
                      <a:round/>
                      <a:headEnd type="none" w="med" len="med"/>
                      <a:tailEnd type="none" w="med" len="med"/>
                    </a:lnR>
                  </a:tcPr>
                </a:tc>
                <a:tc>
                  <a:txBody>
                    <a:bodyPr/>
                    <a:lstStyle/>
                    <a:p>
                      <a:pPr algn="ctr">
                        <a:buNone/>
                      </a:pPr>
                      <a:r>
                        <a:rPr lang="en-US" dirty="0">
                          <a:latin typeface="Aptos" panose="020B0004020202020204" pitchFamily="34" charset="0"/>
                        </a:rPr>
                        <a:t>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44933550"/>
                  </a:ext>
                </a:extLst>
              </a:tr>
              <a:tr h="613773">
                <a:tc>
                  <a:txBody>
                    <a:bodyPr/>
                    <a:lstStyle/>
                    <a:p>
                      <a:pPr algn="ctr">
                        <a:buNone/>
                      </a:pPr>
                      <a:r>
                        <a:rPr lang="en-US" b="0"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0</a:t>
                      </a:r>
                    </a:p>
                  </a:txBody>
                  <a:tcPr anchor="ctr">
                    <a:lnR w="12700" cap="flat" cmpd="sng" algn="ctr">
                      <a:solidFill>
                        <a:schemeClr val="tx1"/>
                      </a:solidFill>
                      <a:prstDash val="solid"/>
                      <a:round/>
                      <a:headEnd type="none" w="med" len="med"/>
                      <a:tailEnd type="none" w="med" len="med"/>
                    </a:lnR>
                  </a:tcPr>
                </a:tc>
                <a:tc>
                  <a:txBody>
                    <a:bodyPr/>
                    <a:lstStyle/>
                    <a:p>
                      <a:pPr algn="ctr">
                        <a:buNone/>
                      </a:pPr>
                      <a:r>
                        <a:rPr lang="en-US" dirty="0">
                          <a:latin typeface="Aptos" panose="020B0004020202020204" pitchFamily="34" charset="0"/>
                        </a:rPr>
                        <a:t>1</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64539981"/>
                  </a:ext>
                </a:extLst>
              </a:tr>
              <a:tr h="613773">
                <a:tc>
                  <a:txBody>
                    <a:bodyPr/>
                    <a:lstStyle/>
                    <a:p>
                      <a:pPr algn="ctr">
                        <a:buNone/>
                      </a:pPr>
                      <a:r>
                        <a:rPr lang="en-US" b="0" dirty="0">
                          <a:latin typeface="Aptos" panose="020B0004020202020204" pitchFamily="34" charset="0"/>
                        </a:rPr>
                        <a:t>1</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1</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0</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1</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1</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374479"/>
                  </a:ext>
                </a:extLst>
              </a:tr>
              <a:tr h="613773">
                <a:tc>
                  <a:txBody>
                    <a:bodyPr/>
                    <a:lstStyle/>
                    <a:p>
                      <a:pPr algn="ctr">
                        <a:buNone/>
                      </a:pPr>
                      <a:r>
                        <a:rPr lang="en-US" b="0" dirty="0">
                          <a:latin typeface="Aptos" panose="020B0004020202020204" pitchFamily="34" charset="0"/>
                        </a:rPr>
                        <a:t>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0</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buNone/>
                      </a:pPr>
                      <a:endParaRPr lang="en-US" dirty="0">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05169567"/>
                  </a:ext>
                </a:extLst>
              </a:tr>
            </a:tbl>
          </a:graphicData>
        </a:graphic>
      </p:graphicFrame>
      <p:sp>
        <p:nvSpPr>
          <p:cNvPr id="32" name="Rounded Rectangle 18">
            <a:extLst>
              <a:ext uri="{FF2B5EF4-FFF2-40B4-BE49-F238E27FC236}">
                <a16:creationId xmlns:a16="http://schemas.microsoft.com/office/drawing/2014/main" id="{5F1BACD5-4A8C-B9C6-20ED-2FFA1B5513D9}"/>
              </a:ext>
            </a:extLst>
          </p:cNvPr>
          <p:cNvSpPr/>
          <p:nvPr/>
        </p:nvSpPr>
        <p:spPr>
          <a:xfrm>
            <a:off x="8666382" y="5233416"/>
            <a:ext cx="2882490" cy="1304544"/>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A5871016-99F4-FA3C-ACD1-D4DDD009C1E7}"/>
              </a:ext>
            </a:extLst>
          </p:cNvPr>
          <p:cNvSpPr/>
          <p:nvPr/>
        </p:nvSpPr>
        <p:spPr>
          <a:xfrm>
            <a:off x="8666382" y="5233416"/>
            <a:ext cx="64055" cy="1304544"/>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C5E27FAE-336E-9A1D-BFC3-7B48869E7C30}"/>
              </a:ext>
            </a:extLst>
          </p:cNvPr>
          <p:cNvSpPr txBox="1"/>
          <p:nvPr/>
        </p:nvSpPr>
        <p:spPr>
          <a:xfrm>
            <a:off x="8894982" y="5496517"/>
            <a:ext cx="2562213" cy="527452"/>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Assume even parity. Which bit(s) could be erroneous?</a:t>
            </a:r>
            <a:endParaRPr sz="1700" b="0" i="0" dirty="0">
              <a:solidFill>
                <a:srgbClr val="182028"/>
              </a:solidFill>
              <a:latin typeface="Aptos"/>
            </a:endParaRPr>
          </a:p>
        </p:txBody>
      </p:sp>
      <p:graphicFrame>
        <p:nvGraphicFramePr>
          <p:cNvPr id="39" name="Table 38">
            <a:extLst>
              <a:ext uri="{FF2B5EF4-FFF2-40B4-BE49-F238E27FC236}">
                <a16:creationId xmlns:a16="http://schemas.microsoft.com/office/drawing/2014/main" id="{434D4A5F-29EB-F28F-C04C-998FE69901F3}"/>
              </a:ext>
            </a:extLst>
          </p:cNvPr>
          <p:cNvGraphicFramePr>
            <a:graphicFrameLocks noGrp="1"/>
          </p:cNvGraphicFramePr>
          <p:nvPr>
            <p:extLst>
              <p:ext uri="{D42A27DB-BD31-4B8C-83A1-F6EECF244321}">
                <p14:modId xmlns:p14="http://schemas.microsoft.com/office/powerpoint/2010/main" val="748872721"/>
              </p:ext>
            </p:extLst>
          </p:nvPr>
        </p:nvGraphicFramePr>
        <p:xfrm>
          <a:off x="7949093" y="2054823"/>
          <a:ext cx="4210750" cy="3068865"/>
        </p:xfrm>
        <a:graphic>
          <a:graphicData uri="http://schemas.openxmlformats.org/drawingml/2006/table">
            <a:tbl>
              <a:tblPr firstRow="1">
                <a:solidFill>
                  <a:srgbClr val="17324D"/>
                </a:solidFill>
                <a:tableStyleId>{5C22544A-7EE6-4342-B048-85BDC9FD1C3A}</a:tableStyleId>
              </a:tblPr>
              <a:tblGrid>
                <a:gridCol w="842150">
                  <a:extLst>
                    <a:ext uri="{9D8B030D-6E8A-4147-A177-3AD203B41FA5}">
                      <a16:colId xmlns:a16="http://schemas.microsoft.com/office/drawing/2014/main" val="789492315"/>
                    </a:ext>
                  </a:extLst>
                </a:gridCol>
                <a:gridCol w="842150">
                  <a:extLst>
                    <a:ext uri="{9D8B030D-6E8A-4147-A177-3AD203B41FA5}">
                      <a16:colId xmlns:a16="http://schemas.microsoft.com/office/drawing/2014/main" val="2184149776"/>
                    </a:ext>
                  </a:extLst>
                </a:gridCol>
                <a:gridCol w="842150">
                  <a:extLst>
                    <a:ext uri="{9D8B030D-6E8A-4147-A177-3AD203B41FA5}">
                      <a16:colId xmlns:a16="http://schemas.microsoft.com/office/drawing/2014/main" val="4130252262"/>
                    </a:ext>
                  </a:extLst>
                </a:gridCol>
                <a:gridCol w="842150">
                  <a:extLst>
                    <a:ext uri="{9D8B030D-6E8A-4147-A177-3AD203B41FA5}">
                      <a16:colId xmlns:a16="http://schemas.microsoft.com/office/drawing/2014/main" val="1444940669"/>
                    </a:ext>
                  </a:extLst>
                </a:gridCol>
                <a:gridCol w="842150">
                  <a:extLst>
                    <a:ext uri="{9D8B030D-6E8A-4147-A177-3AD203B41FA5}">
                      <a16:colId xmlns:a16="http://schemas.microsoft.com/office/drawing/2014/main" val="3109393647"/>
                    </a:ext>
                  </a:extLst>
                </a:gridCol>
              </a:tblGrid>
              <a:tr h="613773">
                <a:tc gridSpan="4">
                  <a:txBody>
                    <a:bodyPr/>
                    <a:lstStyle/>
                    <a:p>
                      <a:pPr algn="ctr">
                        <a:buNone/>
                      </a:pPr>
                      <a:r>
                        <a:rPr lang="en-US" dirty="0">
                          <a:latin typeface="Aptos" panose="020B0004020202020204" pitchFamily="34" charset="0"/>
                        </a:rPr>
                        <a:t>Data</a:t>
                      </a:r>
                    </a:p>
                  </a:txBody>
                  <a:tcPr anchor="ctr">
                    <a:solidFill>
                      <a:schemeClr val="tx2">
                        <a:lumMod val="75000"/>
                      </a:schemeClr>
                    </a:solidFill>
                  </a:tcPr>
                </a:tc>
                <a:tc hMerge="1">
                  <a:txBody>
                    <a:bodyPr/>
                    <a:lstStyle/>
                    <a:p>
                      <a:endParaRPr/>
                    </a:p>
                  </a:txBody>
                  <a:tcPr anchor="ctr">
                    <a:solidFill>
                      <a:schemeClr val="tx2">
                        <a:lumMod val="75000"/>
                      </a:schemeClr>
                    </a:solidFill>
                  </a:tcPr>
                </a:tc>
                <a:tc hMerge="1">
                  <a:txBody>
                    <a:bodyPr/>
                    <a:lstStyle/>
                    <a:p>
                      <a:endParaRPr dirty="0"/>
                    </a:p>
                  </a:txBody>
                  <a:tcPr anchor="ctr">
                    <a:solidFill>
                      <a:schemeClr val="tx2">
                        <a:lumMod val="75000"/>
                      </a:schemeClr>
                    </a:solidFill>
                  </a:tcPr>
                </a:tc>
                <a:tc hMerge="1">
                  <a:txBody>
                    <a:bodyPr/>
                    <a:lstStyle/>
                    <a:p>
                      <a:pPr algn="ctr">
                        <a:buNone/>
                      </a:pPr>
                      <a:endParaRPr lang="en-US" dirty="0">
                        <a:latin typeface="Aptos" panose="020B0004020202020204" pitchFamily="34" charset="0"/>
                      </a:endParaRPr>
                    </a:p>
                  </a:txBody>
                  <a:tcPr anchor="ctr">
                    <a:solidFill>
                      <a:schemeClr val="tx2">
                        <a:lumMod val="75000"/>
                      </a:schemeClr>
                    </a:solidFill>
                  </a:tcPr>
                </a:tc>
                <a:tc>
                  <a:txBody>
                    <a:bodyPr/>
                    <a:lstStyle/>
                    <a:p>
                      <a:pPr algn="ctr">
                        <a:buNone/>
                      </a:pPr>
                      <a:r>
                        <a:rPr lang="en-US" dirty="0">
                          <a:latin typeface="Aptos" panose="020B0004020202020204" pitchFamily="34" charset="0"/>
                        </a:rPr>
                        <a:t>Parity</a:t>
                      </a:r>
                    </a:p>
                  </a:txBody>
                  <a:tcPr anchor="ctr">
                    <a:solidFill>
                      <a:schemeClr val="tx2">
                        <a:lumMod val="75000"/>
                      </a:schemeClr>
                    </a:solidFill>
                  </a:tcPr>
                </a:tc>
                <a:extLst>
                  <a:ext uri="{0D108BD9-81ED-4DB2-BD59-A6C34878D82A}">
                    <a16:rowId xmlns:a16="http://schemas.microsoft.com/office/drawing/2014/main" val="4108389782"/>
                  </a:ext>
                </a:extLst>
              </a:tr>
              <a:tr h="613773">
                <a:tc>
                  <a:txBody>
                    <a:bodyPr/>
                    <a:lstStyle/>
                    <a:p>
                      <a:pPr algn="ctr">
                        <a:buNone/>
                      </a:pPr>
                      <a:r>
                        <a:rPr lang="en-US" b="0"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1</a:t>
                      </a:r>
                    </a:p>
                  </a:txBody>
                  <a:tcPr anchor="ctr">
                    <a:lnR w="12700" cap="flat" cmpd="sng" algn="ctr">
                      <a:solidFill>
                        <a:schemeClr val="tx1"/>
                      </a:solidFill>
                      <a:prstDash val="solid"/>
                      <a:round/>
                      <a:headEnd type="none" w="med" len="med"/>
                      <a:tailEnd type="none" w="med" len="med"/>
                    </a:lnR>
                  </a:tcPr>
                </a:tc>
                <a:tc>
                  <a:txBody>
                    <a:bodyPr/>
                    <a:lstStyle/>
                    <a:p>
                      <a:pPr algn="ctr">
                        <a:buNone/>
                      </a:pPr>
                      <a:r>
                        <a:rPr lang="en-US" dirty="0">
                          <a:latin typeface="Aptos" panose="020B0004020202020204" pitchFamily="34" charset="0"/>
                        </a:rPr>
                        <a:t>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44933550"/>
                  </a:ext>
                </a:extLst>
              </a:tr>
              <a:tr h="613773">
                <a:tc>
                  <a:txBody>
                    <a:bodyPr/>
                    <a:lstStyle/>
                    <a:p>
                      <a:pPr algn="ctr">
                        <a:buNone/>
                      </a:pPr>
                      <a:r>
                        <a:rPr lang="en-US" b="0" dirty="0">
                          <a:latin typeface="Aptos" panose="020B0004020202020204" pitchFamily="34" charset="0"/>
                        </a:rPr>
                        <a:t>1</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0</a:t>
                      </a:r>
                    </a:p>
                  </a:txBody>
                  <a:tcPr anchor="ctr"/>
                </a:tc>
                <a:tc>
                  <a:txBody>
                    <a:bodyPr/>
                    <a:lstStyle/>
                    <a:p>
                      <a:pPr algn="ctr">
                        <a:buNone/>
                      </a:pPr>
                      <a:r>
                        <a:rPr lang="en-US" dirty="0">
                          <a:latin typeface="Aptos" panose="020B0004020202020204" pitchFamily="34" charset="0"/>
                        </a:rPr>
                        <a:t>0</a:t>
                      </a:r>
                    </a:p>
                  </a:txBody>
                  <a:tcPr anchor="ctr">
                    <a:lnR w="12700" cap="flat" cmpd="sng" algn="ctr">
                      <a:solidFill>
                        <a:schemeClr val="tx1"/>
                      </a:solidFill>
                      <a:prstDash val="solid"/>
                      <a:round/>
                      <a:headEnd type="none" w="med" len="med"/>
                      <a:tailEnd type="none" w="med" len="med"/>
                    </a:lnR>
                  </a:tcPr>
                </a:tc>
                <a:tc>
                  <a:txBody>
                    <a:bodyPr/>
                    <a:lstStyle/>
                    <a:p>
                      <a:pPr algn="ctr">
                        <a:buNone/>
                      </a:pPr>
                      <a:r>
                        <a:rPr lang="en-US" dirty="0">
                          <a:latin typeface="Aptos" panose="020B0004020202020204" pitchFamily="34" charset="0"/>
                        </a:rPr>
                        <a:t>1</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64539981"/>
                  </a:ext>
                </a:extLst>
              </a:tr>
              <a:tr h="613773">
                <a:tc>
                  <a:txBody>
                    <a:bodyPr/>
                    <a:lstStyle/>
                    <a:p>
                      <a:pPr algn="ctr">
                        <a:buNone/>
                      </a:pPr>
                      <a:r>
                        <a:rPr lang="en-US" b="0" dirty="0">
                          <a:latin typeface="Aptos" panose="020B0004020202020204" pitchFamily="34" charset="0"/>
                        </a:rPr>
                        <a:t>1</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1</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0</a:t>
                      </a:r>
                    </a:p>
                  </a:txBody>
                  <a:tcPr anchor="ct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1</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buNone/>
                      </a:pPr>
                      <a:r>
                        <a:rPr lang="en-US" dirty="0">
                          <a:latin typeface="Aptos" panose="020B0004020202020204" pitchFamily="34" charset="0"/>
                        </a:rPr>
                        <a:t>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6374479"/>
                  </a:ext>
                </a:extLst>
              </a:tr>
              <a:tr h="613773">
                <a:tc>
                  <a:txBody>
                    <a:bodyPr/>
                    <a:lstStyle/>
                    <a:p>
                      <a:pPr algn="ctr">
                        <a:buNone/>
                      </a:pPr>
                      <a:r>
                        <a:rPr lang="en-US" b="0" dirty="0">
                          <a:latin typeface="Aptos" panose="020B0004020202020204" pitchFamily="34" charset="0"/>
                        </a:rPr>
                        <a:t>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0</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1</a:t>
                      </a:r>
                    </a:p>
                  </a:txBody>
                  <a:tcPr anchor="ctr">
                    <a:lnT w="12700" cap="flat" cmpd="sng" algn="ctr">
                      <a:solidFill>
                        <a:schemeClr val="tx1"/>
                      </a:solidFill>
                      <a:prstDash val="solid"/>
                      <a:round/>
                      <a:headEnd type="none" w="med" len="med"/>
                      <a:tailEnd type="none" w="med" len="med"/>
                    </a:lnT>
                  </a:tcPr>
                </a:tc>
                <a:tc>
                  <a:txBody>
                    <a:bodyPr/>
                    <a:lstStyle/>
                    <a:p>
                      <a:pPr algn="ctr">
                        <a:buNone/>
                      </a:pPr>
                      <a:r>
                        <a:rPr lang="en-US" dirty="0">
                          <a:latin typeface="Aptos" panose="020B0004020202020204" pitchFamily="34" charset="0"/>
                        </a:rPr>
                        <a:t>0</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buNone/>
                      </a:pPr>
                      <a:endParaRPr lang="en-US" dirty="0">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805169567"/>
                  </a:ext>
                </a:extLst>
              </a:tr>
            </a:tbl>
          </a:graphicData>
        </a:graphic>
      </p:graphicFrame>
      <p:sp>
        <p:nvSpPr>
          <p:cNvPr id="40" name="TextBox 39">
            <a:extLst>
              <a:ext uri="{FF2B5EF4-FFF2-40B4-BE49-F238E27FC236}">
                <a16:creationId xmlns:a16="http://schemas.microsoft.com/office/drawing/2014/main" id="{9623E748-B1D0-650D-7641-5B23A23C4061}"/>
              </a:ext>
            </a:extLst>
          </p:cNvPr>
          <p:cNvSpPr txBox="1"/>
          <p:nvPr/>
        </p:nvSpPr>
        <p:spPr>
          <a:xfrm>
            <a:off x="4937760" y="1518573"/>
            <a:ext cx="2562213" cy="260584"/>
          </a:xfrm>
          <a:prstGeom prst="rect">
            <a:avLst/>
          </a:prstGeom>
          <a:noFill/>
        </p:spPr>
        <p:txBody>
          <a:bodyPr wrap="square" lIns="0" tIns="0" rIns="0" bIns="0" anchor="t">
            <a:spAutoFit/>
          </a:bodyPr>
          <a:lstStyle/>
          <a:p>
            <a:pPr algn="l">
              <a:lnSpc>
                <a:spcPct val="102000"/>
              </a:lnSpc>
            </a:pPr>
            <a:r>
              <a:rPr lang="en-US" sz="1700" b="1" i="0" dirty="0">
                <a:solidFill>
                  <a:srgbClr val="182028"/>
                </a:solidFill>
                <a:latin typeface="Aptos"/>
              </a:rPr>
              <a:t>1 error</a:t>
            </a:r>
            <a:endParaRPr sz="1700" b="1" i="0" dirty="0">
              <a:solidFill>
                <a:srgbClr val="182028"/>
              </a:solidFill>
              <a:latin typeface="Aptos"/>
            </a:endParaRPr>
          </a:p>
        </p:txBody>
      </p:sp>
      <p:sp>
        <p:nvSpPr>
          <p:cNvPr id="41" name="TextBox 40">
            <a:extLst>
              <a:ext uri="{FF2B5EF4-FFF2-40B4-BE49-F238E27FC236}">
                <a16:creationId xmlns:a16="http://schemas.microsoft.com/office/drawing/2014/main" id="{B4C4EF1E-4245-5C25-A4F7-C45F27160B7A}"/>
              </a:ext>
            </a:extLst>
          </p:cNvPr>
          <p:cNvSpPr txBox="1"/>
          <p:nvPr/>
        </p:nvSpPr>
        <p:spPr>
          <a:xfrm>
            <a:off x="9417373" y="1518573"/>
            <a:ext cx="2562213" cy="260584"/>
          </a:xfrm>
          <a:prstGeom prst="rect">
            <a:avLst/>
          </a:prstGeom>
          <a:noFill/>
        </p:spPr>
        <p:txBody>
          <a:bodyPr wrap="square" lIns="0" tIns="0" rIns="0" bIns="0" anchor="t">
            <a:spAutoFit/>
          </a:bodyPr>
          <a:lstStyle/>
          <a:p>
            <a:pPr algn="l">
              <a:lnSpc>
                <a:spcPct val="102000"/>
              </a:lnSpc>
            </a:pPr>
            <a:r>
              <a:rPr lang="en-US" sz="1700" b="1" dirty="0">
                <a:solidFill>
                  <a:srgbClr val="182028"/>
                </a:solidFill>
                <a:latin typeface="Aptos"/>
              </a:rPr>
              <a:t>2</a:t>
            </a:r>
            <a:r>
              <a:rPr lang="en-US" sz="1700" b="1" i="0" dirty="0">
                <a:solidFill>
                  <a:srgbClr val="182028"/>
                </a:solidFill>
                <a:latin typeface="Aptos"/>
              </a:rPr>
              <a:t> errors</a:t>
            </a:r>
            <a:endParaRPr sz="1700" b="1" i="0" dirty="0">
              <a:solidFill>
                <a:srgbClr val="182028"/>
              </a:solidFill>
              <a:latin typeface="Aptos"/>
            </a:endParaRPr>
          </a:p>
        </p:txBody>
      </p:sp>
    </p:spTree>
    <p:extLst>
      <p:ext uri="{BB962C8B-B14F-4D97-AF65-F5344CB8AC3E}">
        <p14:creationId xmlns:p14="http://schemas.microsoft.com/office/powerpoint/2010/main" val="234118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12</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BUILD THE IDEA</a:t>
            </a:r>
          </a:p>
        </p:txBody>
      </p:sp>
      <p:sp>
        <p:nvSpPr>
          <p:cNvPr id="11" name="TextBox 10"/>
          <p:cNvSpPr txBox="1"/>
          <p:nvPr/>
        </p:nvSpPr>
        <p:spPr>
          <a:xfrm>
            <a:off x="594360" y="749808"/>
            <a:ext cx="10881360" cy="446276"/>
          </a:xfrm>
          <a:prstGeom prst="rect">
            <a:avLst/>
          </a:prstGeom>
          <a:noFill/>
        </p:spPr>
        <p:txBody>
          <a:bodyPr wrap="square" lIns="0" tIns="0" rIns="0" bIns="0" anchor="t">
            <a:spAutoFit/>
          </a:bodyPr>
          <a:lstStyle/>
          <a:p>
            <a:pPr algn="l"/>
            <a:r>
              <a:rPr sz="2900" b="1" i="0" dirty="0">
                <a:solidFill>
                  <a:srgbClr val="17324D"/>
                </a:solidFill>
                <a:latin typeface="Aptos Display"/>
              </a:rPr>
              <a:t>Bursts </a:t>
            </a:r>
            <a:r>
              <a:rPr lang="en-US" sz="2900" b="1" i="0" dirty="0">
                <a:solidFill>
                  <a:srgbClr val="17324D"/>
                </a:solidFill>
                <a:latin typeface="Aptos Display"/>
              </a:rPr>
              <a:t>&amp; Interleaving</a:t>
            </a:r>
            <a:endParaRPr sz="29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22375" y="3552215"/>
            <a:ext cx="3703320" cy="186103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22375" y="3552215"/>
            <a:ext cx="82296" cy="186103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5" y="3716807"/>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Interleaving</a:t>
            </a:r>
            <a:endParaRPr sz="2200" b="1" i="0" dirty="0">
              <a:solidFill>
                <a:srgbClr val="17324D"/>
              </a:solidFill>
              <a:latin typeface="Aptos"/>
            </a:endParaRPr>
          </a:p>
        </p:txBody>
      </p:sp>
      <p:sp>
        <p:nvSpPr>
          <p:cNvPr id="22" name="TextBox 21"/>
          <p:cNvSpPr txBox="1"/>
          <p:nvPr/>
        </p:nvSpPr>
        <p:spPr>
          <a:xfrm>
            <a:off x="950975" y="4155719"/>
            <a:ext cx="3291840" cy="1092479"/>
          </a:xfrm>
          <a:prstGeom prst="rect">
            <a:avLst/>
          </a:prstGeom>
          <a:noFill/>
        </p:spPr>
        <p:txBody>
          <a:bodyPr wrap="square" lIns="0" tIns="0" rIns="0" bIns="0" anchor="t">
            <a:spAutoFit/>
          </a:bodyPr>
          <a:lstStyle/>
          <a:p>
            <a:pPr>
              <a:lnSpc>
                <a:spcPct val="102000"/>
              </a:lnSpc>
            </a:pPr>
            <a:r>
              <a:rPr lang="en-US" dirty="0">
                <a:solidFill>
                  <a:srgbClr val="182028"/>
                </a:solidFill>
                <a:latin typeface="Aptos"/>
              </a:rPr>
              <a:t>sends pieces of different codewords in alternating order.</a:t>
            </a:r>
            <a:endParaRPr lang="en-US" sz="1700" b="0" i="0" dirty="0">
              <a:solidFill>
                <a:srgbClr val="182028"/>
              </a:solidFill>
              <a:latin typeface="Aptos"/>
            </a:endParaRPr>
          </a:p>
          <a:p>
            <a:pPr algn="l">
              <a:lnSpc>
                <a:spcPct val="102000"/>
              </a:lnSpc>
            </a:pPr>
            <a:r>
              <a:rPr lang="en-US" sz="1700" dirty="0">
                <a:solidFill>
                  <a:srgbClr val="182028"/>
                </a:solidFill>
                <a:latin typeface="Aptos"/>
              </a:rPr>
              <a:t>S</a:t>
            </a:r>
            <a:r>
              <a:rPr sz="1700" b="0" i="0" dirty="0">
                <a:solidFill>
                  <a:srgbClr val="182028"/>
                </a:solidFill>
                <a:latin typeface="Aptos"/>
              </a:rPr>
              <a:t>preads burst damage</a:t>
            </a:r>
            <a:r>
              <a:rPr lang="en-US" sz="1700" dirty="0">
                <a:solidFill>
                  <a:srgbClr val="182028"/>
                </a:solidFill>
                <a:latin typeface="Aptos"/>
              </a:rPr>
              <a:t> so </a:t>
            </a:r>
            <a:r>
              <a:rPr lang="en-US" sz="1700" b="0" i="0" dirty="0">
                <a:solidFill>
                  <a:srgbClr val="182028"/>
                </a:solidFill>
                <a:latin typeface="Aptos"/>
              </a:rPr>
              <a:t>ECC can work well</a:t>
            </a:r>
            <a:endParaRPr sz="1700" b="0" i="0" dirty="0">
              <a:solidFill>
                <a:srgbClr val="182028"/>
              </a:solidFill>
              <a:latin typeface="Aptos"/>
            </a:endParaRPr>
          </a:p>
        </p:txBody>
      </p:sp>
      <p:sp>
        <p:nvSpPr>
          <p:cNvPr id="23" name="Rounded Rectangle 18">
            <a:extLst>
              <a:ext uri="{FF2B5EF4-FFF2-40B4-BE49-F238E27FC236}">
                <a16:creationId xmlns:a16="http://schemas.microsoft.com/office/drawing/2014/main" id="{13292F27-FAB2-6432-9EB0-50EACA3D5287}"/>
              </a:ext>
            </a:extLst>
          </p:cNvPr>
          <p:cNvSpPr/>
          <p:nvPr/>
        </p:nvSpPr>
        <p:spPr>
          <a:xfrm>
            <a:off x="722375" y="1792224"/>
            <a:ext cx="3703320" cy="1280160"/>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Rectangle 23">
            <a:extLst>
              <a:ext uri="{FF2B5EF4-FFF2-40B4-BE49-F238E27FC236}">
                <a16:creationId xmlns:a16="http://schemas.microsoft.com/office/drawing/2014/main" id="{ADFE939A-6EF4-DA46-6B8B-AFA609695434}"/>
              </a:ext>
            </a:extLst>
          </p:cNvPr>
          <p:cNvSpPr/>
          <p:nvPr/>
        </p:nvSpPr>
        <p:spPr>
          <a:xfrm>
            <a:off x="722375" y="1792224"/>
            <a:ext cx="82296" cy="1280160"/>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TextBox 13"/>
          <p:cNvSpPr txBox="1"/>
          <p:nvPr/>
        </p:nvSpPr>
        <p:spPr>
          <a:xfrm>
            <a:off x="917449" y="2166873"/>
            <a:ext cx="3621024" cy="761747"/>
          </a:xfrm>
          <a:prstGeom prst="rect">
            <a:avLst/>
          </a:prstGeom>
          <a:noFill/>
        </p:spPr>
        <p:txBody>
          <a:bodyPr wrap="square" lIns="0" tIns="0" rIns="0" bIns="0" anchor="ctr">
            <a:spAutoFit/>
          </a:bodyPr>
          <a:lstStyle/>
          <a:p>
            <a:pPr algn="l"/>
            <a:r>
              <a:rPr sz="1650" b="0" i="0" dirty="0">
                <a:solidFill>
                  <a:srgbClr val="182028"/>
                </a:solidFill>
                <a:latin typeface="Aptos"/>
              </a:rPr>
              <a:t>Random errors are scattered</a:t>
            </a:r>
            <a:r>
              <a:rPr lang="en-US" sz="1650" b="0" i="0" dirty="0">
                <a:solidFill>
                  <a:srgbClr val="182028"/>
                </a:solidFill>
                <a:latin typeface="Aptos"/>
              </a:rPr>
              <a:t>, but</a:t>
            </a:r>
            <a:r>
              <a:rPr sz="1650" b="0" i="0" dirty="0">
                <a:solidFill>
                  <a:srgbClr val="182028"/>
                </a:solidFill>
                <a:latin typeface="Aptos"/>
              </a:rPr>
              <a:t> a burst damages a nearby run of transmitted bits.</a:t>
            </a:r>
          </a:p>
        </p:txBody>
      </p:sp>
      <p:sp>
        <p:nvSpPr>
          <p:cNvPr id="26" name="TextBox 25">
            <a:extLst>
              <a:ext uri="{FF2B5EF4-FFF2-40B4-BE49-F238E27FC236}">
                <a16:creationId xmlns:a16="http://schemas.microsoft.com/office/drawing/2014/main" id="{0DCEF33C-28BB-9E2E-4AF0-F6561110F4F7}"/>
              </a:ext>
            </a:extLst>
          </p:cNvPr>
          <p:cNvSpPr txBox="1"/>
          <p:nvPr/>
        </p:nvSpPr>
        <p:spPr>
          <a:xfrm>
            <a:off x="928115" y="1853184"/>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Burst Error</a:t>
            </a:r>
            <a:endParaRPr sz="2200" b="1" i="0" dirty="0">
              <a:solidFill>
                <a:srgbClr val="17324D"/>
              </a:solidFill>
              <a:latin typeface="Aptos"/>
            </a:endParaRPr>
          </a:p>
        </p:txBody>
      </p:sp>
      <p:pic>
        <p:nvPicPr>
          <p:cNvPr id="28" name="Picture 27">
            <a:extLst>
              <a:ext uri="{FF2B5EF4-FFF2-40B4-BE49-F238E27FC236}">
                <a16:creationId xmlns:a16="http://schemas.microsoft.com/office/drawing/2014/main" id="{966180C7-95D3-D452-4371-6AC1076C3A18}"/>
              </a:ext>
            </a:extLst>
          </p:cNvPr>
          <p:cNvPicPr>
            <a:picLocks noChangeAspect="1"/>
          </p:cNvPicPr>
          <p:nvPr/>
        </p:nvPicPr>
        <p:blipFill>
          <a:blip r:embed="rId3"/>
          <a:srcRect/>
          <a:stretch>
            <a:fillRect/>
          </a:stretch>
        </p:blipFill>
        <p:spPr>
          <a:xfrm>
            <a:off x="4571999" y="1342135"/>
            <a:ext cx="7382257" cy="49215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13</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 THE EXAMPLE</a:t>
            </a: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900" b="1" i="0">
                <a:solidFill>
                  <a:srgbClr val="17324D"/>
                </a:solidFill>
                <a:latin typeface="Aptos Display"/>
              </a:rPr>
              <a:t>Reliability has a rate and delay cost</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graphicFrame>
            <p:nvGraphicFramePr>
              <p:cNvPr id="13" name="Table 12"/>
              <p:cNvGraphicFramePr>
                <a:graphicFrameLocks noGrp="1"/>
              </p:cNvGraphicFramePr>
              <p:nvPr>
                <p:extLst>
                  <p:ext uri="{D42A27DB-BD31-4B8C-83A1-F6EECF244321}">
                    <p14:modId xmlns:p14="http://schemas.microsoft.com/office/powerpoint/2010/main" val="2717745084"/>
                  </p:ext>
                </p:extLst>
              </p:nvPr>
            </p:nvGraphicFramePr>
            <p:xfrm>
              <a:off x="8120133" y="639081"/>
              <a:ext cx="3698240" cy="3801827"/>
            </p:xfrm>
            <a:graphic>
              <a:graphicData uri="http://schemas.openxmlformats.org/drawingml/2006/table">
                <a:tbl>
                  <a:tblPr firstRow="1" bandRow="1">
                    <a:tableStyleId>{5C22544A-7EE6-4342-B048-85BDC9FD1C3A}</a:tableStyleId>
                  </a:tblPr>
                  <a:tblGrid>
                    <a:gridCol w="1849120">
                      <a:extLst>
                        <a:ext uri="{9D8B030D-6E8A-4147-A177-3AD203B41FA5}">
                          <a16:colId xmlns:a16="http://schemas.microsoft.com/office/drawing/2014/main" val="20001"/>
                        </a:ext>
                      </a:extLst>
                    </a:gridCol>
                    <a:gridCol w="1849120">
                      <a:extLst>
                        <a:ext uri="{9D8B030D-6E8A-4147-A177-3AD203B41FA5}">
                          <a16:colId xmlns:a16="http://schemas.microsoft.com/office/drawing/2014/main" val="20002"/>
                        </a:ext>
                      </a:extLst>
                    </a:gridCol>
                  </a:tblGrid>
                  <a:tr h="646803">
                    <a:tc>
                      <a:txBody>
                        <a:bodyPr/>
                        <a:lstStyle/>
                        <a:p>
                          <a:r>
                            <a:rPr lang="en-US" sz="1700" b="1" dirty="0">
                              <a:solidFill>
                                <a:srgbClr val="FFFFFF"/>
                              </a:solidFill>
                              <a:latin typeface="Aptos"/>
                            </a:rPr>
                            <a:t>Storage Tech</a:t>
                          </a:r>
                          <a:endParaRPr sz="1700" b="1" dirty="0">
                            <a:solidFill>
                              <a:srgbClr val="FFFFFF"/>
                            </a:solidFill>
                            <a:latin typeface="Aptos"/>
                          </a:endParaRPr>
                        </a:p>
                      </a:txBody>
                      <a:tcPr marL="82296" marR="82296" marT="54864" marB="36576">
                        <a:solidFill>
                          <a:srgbClr val="17324D"/>
                        </a:solidFill>
                      </a:tcPr>
                    </a:tc>
                    <a:tc>
                      <a:txBody>
                        <a:bodyPr/>
                        <a:lstStyle/>
                        <a:p>
                          <a:r>
                            <a:rPr sz="1700" b="1" dirty="0">
                              <a:solidFill>
                                <a:srgbClr val="FFFFFF"/>
                              </a:solidFill>
                              <a:latin typeface="Aptos"/>
                            </a:rPr>
                            <a:t>Interpretation</a:t>
                          </a:r>
                        </a:p>
                      </a:txBody>
                      <a:tcPr marL="82296" marR="82296" marT="54864" marB="36576">
                        <a:solidFill>
                          <a:srgbClr val="17324D"/>
                        </a:solidFill>
                      </a:tcPr>
                    </a:tc>
                    <a:extLst>
                      <a:ext uri="{0D108BD9-81ED-4DB2-BD59-A6C34878D82A}">
                        <a16:rowId xmlns:a16="http://schemas.microsoft.com/office/drawing/2014/main" val="10000"/>
                      </a:ext>
                    </a:extLst>
                  </a:tr>
                  <a:tr h="646803">
                    <a:tc>
                      <a:txBody>
                        <a:bodyPr/>
                        <a:lstStyle/>
                        <a:p>
                          <a:r>
                            <a:rPr lang="en-US" sz="1700" b="0" dirty="0">
                              <a:solidFill>
                                <a:srgbClr val="182028"/>
                              </a:solidFill>
                              <a:latin typeface="Aptos"/>
                            </a:rPr>
                            <a:t>HDD</a:t>
                          </a:r>
                          <a:endParaRPr sz="1700" b="0" dirty="0">
                            <a:solidFill>
                              <a:srgbClr val="182028"/>
                            </a:solidFill>
                            <a:latin typeface="Aptos"/>
                          </a:endParaRPr>
                        </a:p>
                      </a:txBody>
                      <a:tcPr marL="82296" marR="82296" marB="27432">
                        <a:solidFill>
                          <a:srgbClr val="FBF9F4"/>
                        </a:solidFill>
                      </a:tcPr>
                    </a:tc>
                    <a:tc>
                      <a:txBody>
                        <a:bodyPr/>
                        <a:lstStyle/>
                        <a:p>
                          <a:r>
                            <a:rPr lang="en-US" sz="1600" b="0" dirty="0"/>
                            <a:t>1 unrecoverable sector per </a:t>
                          </a:r>
                          <a14:m>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10</m:t>
                                  </m:r>
                                </m:e>
                                <m:sup>
                                  <m:r>
                                    <a:rPr lang="en-US" sz="1600" b="0" i="0" dirty="0" smtClean="0">
                                      <a:latin typeface="Cambria Math" panose="02040503050406030204" pitchFamily="18" charset="0"/>
                                    </a:rPr>
                                    <m:t>15</m:t>
                                  </m:r>
                                </m:sup>
                              </m:sSup>
                            </m:oMath>
                          </a14:m>
                          <a:r>
                            <a:rPr lang="en-US" sz="1600" b="0" dirty="0"/>
                            <a:t>bits transferred</a:t>
                          </a:r>
                          <a:endParaRPr sz="1700" b="0" dirty="0">
                            <a:solidFill>
                              <a:srgbClr val="182028"/>
                            </a:solidFill>
                            <a:latin typeface="Aptos"/>
                          </a:endParaRPr>
                        </a:p>
                      </a:txBody>
                      <a:tcPr marL="82296" marR="82296" marB="27432">
                        <a:solidFill>
                          <a:srgbClr val="FBF9F4"/>
                        </a:solidFill>
                      </a:tcPr>
                    </a:tc>
                    <a:extLst>
                      <a:ext uri="{0D108BD9-81ED-4DB2-BD59-A6C34878D82A}">
                        <a16:rowId xmlns:a16="http://schemas.microsoft.com/office/drawing/2014/main" val="10001"/>
                      </a:ext>
                    </a:extLst>
                  </a:tr>
                  <a:tr h="692494">
                    <a:tc>
                      <a:txBody>
                        <a:bodyPr/>
                        <a:lstStyle/>
                        <a:p>
                          <a:r>
                            <a:rPr lang="en-US" sz="1700" b="0">
                              <a:solidFill>
                                <a:srgbClr val="182028"/>
                              </a:solidFill>
                              <a:latin typeface="Aptos"/>
                            </a:rPr>
                            <a:t>SSD</a:t>
                          </a:r>
                          <a:endParaRPr sz="1700" b="0" dirty="0">
                            <a:solidFill>
                              <a:srgbClr val="182028"/>
                            </a:solidFill>
                            <a:latin typeface="Aptos"/>
                          </a:endParaRPr>
                        </a:p>
                      </a:txBody>
                      <a:tcPr marL="82296" marR="82296" marB="27432">
                        <a:solidFill>
                          <a:srgbClr val="E3EBF1"/>
                        </a:solidFill>
                      </a:tcPr>
                    </a:tc>
                    <a:tc>
                      <a:txBody>
                        <a:bodyPr/>
                        <a:lstStyle/>
                        <a:p>
                          <a:r>
                            <a:rPr lang="en-US" sz="1600" b="0" dirty="0"/>
                            <a:t>1 unrecoverable sector per </a:t>
                          </a:r>
                          <a14:m>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10</m:t>
                                  </m:r>
                                </m:e>
                                <m:sup>
                                  <m:r>
                                    <a:rPr lang="en-US" sz="1600" b="0" i="0" dirty="0" smtClean="0">
                                      <a:latin typeface="Cambria Math" panose="02040503050406030204" pitchFamily="18" charset="0"/>
                                    </a:rPr>
                                    <m:t>17</m:t>
                                  </m:r>
                                </m:sup>
                              </m:sSup>
                            </m:oMath>
                          </a14:m>
                          <a:r>
                            <a:rPr lang="en-US" sz="1600" b="0" dirty="0"/>
                            <a:t>bits read</a:t>
                          </a:r>
                          <a:endParaRPr sz="1700" b="0" dirty="0">
                            <a:solidFill>
                              <a:srgbClr val="182028"/>
                            </a:solidFill>
                            <a:latin typeface="Aptos"/>
                          </a:endParaRPr>
                        </a:p>
                      </a:txBody>
                      <a:tcPr marL="82296" marR="82296" marB="27432">
                        <a:solidFill>
                          <a:srgbClr val="E3EBF1"/>
                        </a:solidFill>
                      </a:tcPr>
                    </a:tc>
                    <a:extLst>
                      <a:ext uri="{0D108BD9-81ED-4DB2-BD59-A6C34878D82A}">
                        <a16:rowId xmlns:a16="http://schemas.microsoft.com/office/drawing/2014/main" val="10002"/>
                      </a:ext>
                    </a:extLst>
                  </a:tr>
                  <a:tr h="692494">
                    <a:tc>
                      <a:txBody>
                        <a:bodyPr/>
                        <a:lstStyle/>
                        <a:p>
                          <a:r>
                            <a:rPr lang="en-US" sz="1700" b="0">
                              <a:solidFill>
                                <a:srgbClr val="182028"/>
                              </a:solidFill>
                              <a:latin typeface="Aptos"/>
                            </a:rPr>
                            <a:t>USB Flash</a:t>
                          </a:r>
                          <a:endParaRPr sz="1700" b="0" dirty="0">
                            <a:solidFill>
                              <a:srgbClr val="182028"/>
                            </a:solidFill>
                            <a:latin typeface="Aptos"/>
                          </a:endParaRPr>
                        </a:p>
                      </a:txBody>
                      <a:tcPr marL="82296" marR="82296" marB="27432">
                        <a:solidFill>
                          <a:srgbClr val="FBF9F4"/>
                        </a:solidFill>
                      </a:tcPr>
                    </a:tc>
                    <a:tc>
                      <a:txBody>
                        <a:bodyPr/>
                        <a:lstStyle/>
                        <a:p>
                          <a:r>
                            <a:rPr lang="en-US" sz="1600" b="0" dirty="0"/>
                            <a:t>1 bit error per </a:t>
                          </a:r>
                          <a14:m>
                            <m:oMath xmlns:m="http://schemas.openxmlformats.org/officeDocument/2006/math">
                              <m:sSup>
                                <m:sSupPr>
                                  <m:ctrlPr>
                                    <a:rPr lang="en-US" sz="1600" b="0" i="1" dirty="0" smtClean="0">
                                      <a:latin typeface="Cambria Math" panose="02040503050406030204" pitchFamily="18" charset="0"/>
                                    </a:rPr>
                                  </m:ctrlPr>
                                </m:sSupPr>
                                <m:e>
                                  <m:r>
                                    <a:rPr lang="en-US" sz="1600" b="0" i="1" dirty="0" smtClean="0">
                                      <a:latin typeface="Cambria Math" panose="02040503050406030204" pitchFamily="18" charset="0"/>
                                    </a:rPr>
                                    <m:t>10</m:t>
                                  </m:r>
                                </m:e>
                                <m:sup>
                                  <m:r>
                                    <a:rPr lang="en-US" sz="1600" b="0" i="0" dirty="0" smtClean="0">
                                      <a:latin typeface="Cambria Math" panose="02040503050406030204" pitchFamily="18" charset="0"/>
                                    </a:rPr>
                                    <m:t>15 </m:t>
                                  </m:r>
                                </m:sup>
                              </m:sSup>
                            </m:oMath>
                          </a14:m>
                          <a:r>
                            <a:rPr lang="en-US" sz="1600" b="0" dirty="0"/>
                            <a:t>bits read.</a:t>
                          </a:r>
                          <a:endParaRPr sz="1700" b="0" dirty="0">
                            <a:solidFill>
                              <a:srgbClr val="182028"/>
                            </a:solidFill>
                            <a:latin typeface="Aptos"/>
                          </a:endParaRPr>
                        </a:p>
                      </a:txBody>
                      <a:tcPr marL="82296" marR="82296" marB="27432">
                        <a:solidFill>
                          <a:srgbClr val="FBF9F4"/>
                        </a:solidFill>
                      </a:tcPr>
                    </a:tc>
                    <a:extLst>
                      <a:ext uri="{0D108BD9-81ED-4DB2-BD59-A6C34878D82A}">
                        <a16:rowId xmlns:a16="http://schemas.microsoft.com/office/drawing/2014/main" val="10003"/>
                      </a:ext>
                    </a:extLst>
                  </a:tr>
                  <a:tr h="591938">
                    <a:tc>
                      <a:txBody>
                        <a:bodyPr/>
                        <a:lstStyle/>
                        <a:p>
                          <a:r>
                            <a:rPr lang="en-US" sz="1700" b="0">
                              <a:solidFill>
                                <a:srgbClr val="182028"/>
                              </a:solidFill>
                              <a:latin typeface="Aptos"/>
                            </a:rPr>
                            <a:t>LTO-9 tape</a:t>
                          </a:r>
                          <a:endParaRPr sz="1700" b="0" dirty="0">
                            <a:solidFill>
                              <a:srgbClr val="182028"/>
                            </a:solidFill>
                            <a:latin typeface="Aptos"/>
                          </a:endParaRPr>
                        </a:p>
                      </a:txBody>
                      <a:tcPr marL="82296" marR="82296" marB="27432">
                        <a:solidFill>
                          <a:srgbClr val="E3EBF1"/>
                        </a:solidFill>
                      </a:tcPr>
                    </a:tc>
                    <a:tc>
                      <a:txBody>
                        <a:bodyPr/>
                        <a:lstStyle/>
                        <a:p>
                          <a:r>
                            <a:rPr lang="en-US" sz="1700" b="0" dirty="0">
                              <a:solidFill>
                                <a:srgbClr val="182028"/>
                              </a:solidFill>
                              <a:latin typeface="Aptos"/>
                            </a:rPr>
                            <a:t>1 uncorrectable error event per </a:t>
                          </a:r>
                          <a14:m>
                            <m:oMath xmlns:m="http://schemas.openxmlformats.org/officeDocument/2006/math">
                              <m:sSup>
                                <m:sSupPr>
                                  <m:ctrlPr>
                                    <a:rPr lang="en-US" sz="1700" b="0" i="1" dirty="0" smtClean="0">
                                      <a:solidFill>
                                        <a:srgbClr val="182028"/>
                                      </a:solidFill>
                                      <a:latin typeface="Cambria Math" panose="02040503050406030204" pitchFamily="18" charset="0"/>
                                    </a:rPr>
                                  </m:ctrlPr>
                                </m:sSupPr>
                                <m:e>
                                  <m:r>
                                    <a:rPr lang="en-US" sz="1700" b="0" i="1" dirty="0" smtClean="0">
                                      <a:solidFill>
                                        <a:srgbClr val="182028"/>
                                      </a:solidFill>
                                      <a:latin typeface="Cambria Math" panose="02040503050406030204" pitchFamily="18" charset="0"/>
                                    </a:rPr>
                                    <m:t>10</m:t>
                                  </m:r>
                                </m:e>
                                <m:sup>
                                  <m:r>
                                    <a:rPr lang="en-US" sz="1700" b="0" i="0" dirty="0" smtClean="0">
                                      <a:solidFill>
                                        <a:srgbClr val="182028"/>
                                      </a:solidFill>
                                      <a:latin typeface="Cambria Math" panose="02040503050406030204" pitchFamily="18" charset="0"/>
                                    </a:rPr>
                                    <m:t>20</m:t>
                                  </m:r>
                                </m:sup>
                              </m:sSup>
                            </m:oMath>
                          </a14:m>
                          <a:r>
                            <a:rPr lang="en-US" sz="1700" b="0" dirty="0">
                              <a:solidFill>
                                <a:srgbClr val="182028"/>
                              </a:solidFill>
                              <a:latin typeface="Aptos"/>
                            </a:rPr>
                            <a:t>user bits</a:t>
                          </a:r>
                          <a:endParaRPr sz="1700" b="0" dirty="0">
                            <a:solidFill>
                              <a:srgbClr val="182028"/>
                            </a:solidFill>
                            <a:latin typeface="Aptos"/>
                          </a:endParaRPr>
                        </a:p>
                      </a:txBody>
                      <a:tcPr marL="82296" marR="82296" marB="27432">
                        <a:solidFill>
                          <a:srgbClr val="E3EBF1"/>
                        </a:solidFill>
                      </a:tcPr>
                    </a:tc>
                    <a:extLst>
                      <a:ext uri="{0D108BD9-81ED-4DB2-BD59-A6C34878D82A}">
                        <a16:rowId xmlns:a16="http://schemas.microsoft.com/office/drawing/2014/main" val="10004"/>
                      </a:ext>
                    </a:extLst>
                  </a:tr>
                </a:tbl>
              </a:graphicData>
            </a:graphic>
          </p:graphicFrame>
        </mc:Choice>
        <mc:Fallback>
          <p:graphicFrame>
            <p:nvGraphicFramePr>
              <p:cNvPr id="13" name="Table 12"/>
              <p:cNvGraphicFramePr>
                <a:graphicFrameLocks noGrp="1"/>
              </p:cNvGraphicFramePr>
              <p:nvPr>
                <p:extLst>
                  <p:ext uri="{D42A27DB-BD31-4B8C-83A1-F6EECF244321}">
                    <p14:modId xmlns:p14="http://schemas.microsoft.com/office/powerpoint/2010/main" val="2717745084"/>
                  </p:ext>
                </p:extLst>
              </p:nvPr>
            </p:nvGraphicFramePr>
            <p:xfrm>
              <a:off x="8120133" y="639081"/>
              <a:ext cx="3698240" cy="3801827"/>
            </p:xfrm>
            <a:graphic>
              <a:graphicData uri="http://schemas.openxmlformats.org/drawingml/2006/table">
                <a:tbl>
                  <a:tblPr firstRow="1" bandRow="1">
                    <a:tableStyleId>{5C22544A-7EE6-4342-B048-85BDC9FD1C3A}</a:tableStyleId>
                  </a:tblPr>
                  <a:tblGrid>
                    <a:gridCol w="1849120">
                      <a:extLst>
                        <a:ext uri="{9D8B030D-6E8A-4147-A177-3AD203B41FA5}">
                          <a16:colId xmlns:a16="http://schemas.microsoft.com/office/drawing/2014/main" val="20001"/>
                        </a:ext>
                      </a:extLst>
                    </a:gridCol>
                    <a:gridCol w="1849120">
                      <a:extLst>
                        <a:ext uri="{9D8B030D-6E8A-4147-A177-3AD203B41FA5}">
                          <a16:colId xmlns:a16="http://schemas.microsoft.com/office/drawing/2014/main" val="20002"/>
                        </a:ext>
                      </a:extLst>
                    </a:gridCol>
                  </a:tblGrid>
                  <a:tr h="646803">
                    <a:tc>
                      <a:txBody>
                        <a:bodyPr/>
                        <a:lstStyle/>
                        <a:p>
                          <a:r>
                            <a:rPr lang="en-US" sz="1700" b="1" dirty="0">
                              <a:solidFill>
                                <a:srgbClr val="FFFFFF"/>
                              </a:solidFill>
                              <a:latin typeface="Aptos"/>
                            </a:rPr>
                            <a:t>Storage Tech</a:t>
                          </a:r>
                          <a:endParaRPr sz="1700" b="1" dirty="0">
                            <a:solidFill>
                              <a:srgbClr val="FFFFFF"/>
                            </a:solidFill>
                            <a:latin typeface="Aptos"/>
                          </a:endParaRPr>
                        </a:p>
                      </a:txBody>
                      <a:tcPr marL="82296" marR="82296" marT="54864" marB="36576">
                        <a:solidFill>
                          <a:srgbClr val="17324D"/>
                        </a:solidFill>
                      </a:tcPr>
                    </a:tc>
                    <a:tc>
                      <a:txBody>
                        <a:bodyPr/>
                        <a:lstStyle/>
                        <a:p>
                          <a:r>
                            <a:rPr sz="1700" b="1" dirty="0">
                              <a:solidFill>
                                <a:srgbClr val="FFFFFF"/>
                              </a:solidFill>
                              <a:latin typeface="Aptos"/>
                            </a:rPr>
                            <a:t>Interpretation</a:t>
                          </a:r>
                        </a:p>
                      </a:txBody>
                      <a:tcPr marL="82296" marR="82296" marT="54864" marB="36576">
                        <a:solidFill>
                          <a:srgbClr val="17324D"/>
                        </a:solidFill>
                      </a:tcPr>
                    </a:tc>
                    <a:extLst>
                      <a:ext uri="{0D108BD9-81ED-4DB2-BD59-A6C34878D82A}">
                        <a16:rowId xmlns:a16="http://schemas.microsoft.com/office/drawing/2014/main" val="10000"/>
                      </a:ext>
                    </a:extLst>
                  </a:tr>
                  <a:tr h="807466">
                    <a:tc>
                      <a:txBody>
                        <a:bodyPr/>
                        <a:lstStyle/>
                        <a:p>
                          <a:r>
                            <a:rPr lang="en-US" sz="1700" b="0" dirty="0">
                              <a:solidFill>
                                <a:srgbClr val="182028"/>
                              </a:solidFill>
                              <a:latin typeface="Aptos"/>
                            </a:rPr>
                            <a:t>HDD</a:t>
                          </a:r>
                          <a:endParaRPr sz="1700" b="0" dirty="0">
                            <a:solidFill>
                              <a:srgbClr val="182028"/>
                            </a:solidFill>
                            <a:latin typeface="Aptos"/>
                          </a:endParaRPr>
                        </a:p>
                      </a:txBody>
                      <a:tcPr marL="82296" marR="82296" marB="27432">
                        <a:solidFill>
                          <a:srgbClr val="FBF9F4"/>
                        </a:solidFill>
                      </a:tcPr>
                    </a:tc>
                    <a:tc>
                      <a:txBody>
                        <a:bodyPr/>
                        <a:lstStyle/>
                        <a:p>
                          <a:endParaRPr lang="en-US"/>
                        </a:p>
                      </a:txBody>
                      <a:tcPr marL="82296" marR="82296" marB="27432">
                        <a:blipFill>
                          <a:blip r:embed="rId3"/>
                          <a:stretch>
                            <a:fillRect l="-100660" t="-80451" r="-1320" b="-303008"/>
                          </a:stretch>
                        </a:blipFill>
                      </a:tcPr>
                    </a:tc>
                    <a:extLst>
                      <a:ext uri="{0D108BD9-81ED-4DB2-BD59-A6C34878D82A}">
                        <a16:rowId xmlns:a16="http://schemas.microsoft.com/office/drawing/2014/main" val="10001"/>
                      </a:ext>
                    </a:extLst>
                  </a:tr>
                  <a:tr h="804672">
                    <a:tc>
                      <a:txBody>
                        <a:bodyPr/>
                        <a:lstStyle/>
                        <a:p>
                          <a:r>
                            <a:rPr lang="en-US" sz="1700" b="0">
                              <a:solidFill>
                                <a:srgbClr val="182028"/>
                              </a:solidFill>
                              <a:latin typeface="Aptos"/>
                            </a:rPr>
                            <a:t>SSD</a:t>
                          </a:r>
                          <a:endParaRPr sz="1700" b="0" dirty="0">
                            <a:solidFill>
                              <a:srgbClr val="182028"/>
                            </a:solidFill>
                            <a:latin typeface="Aptos"/>
                          </a:endParaRPr>
                        </a:p>
                      </a:txBody>
                      <a:tcPr marL="82296" marR="82296" marB="27432">
                        <a:solidFill>
                          <a:srgbClr val="E3EBF1"/>
                        </a:solidFill>
                      </a:tcPr>
                    </a:tc>
                    <a:tc>
                      <a:txBody>
                        <a:bodyPr/>
                        <a:lstStyle/>
                        <a:p>
                          <a:endParaRPr lang="en-US"/>
                        </a:p>
                      </a:txBody>
                      <a:tcPr marL="82296" marR="82296" marB="27432">
                        <a:blipFill>
                          <a:blip r:embed="rId3"/>
                          <a:stretch>
                            <a:fillRect l="-100660" t="-181818" r="-1320" b="-205303"/>
                          </a:stretch>
                        </a:blipFill>
                      </a:tcPr>
                    </a:tc>
                    <a:extLst>
                      <a:ext uri="{0D108BD9-81ED-4DB2-BD59-A6C34878D82A}">
                        <a16:rowId xmlns:a16="http://schemas.microsoft.com/office/drawing/2014/main" val="10002"/>
                      </a:ext>
                    </a:extLst>
                  </a:tr>
                  <a:tr h="692494">
                    <a:tc>
                      <a:txBody>
                        <a:bodyPr/>
                        <a:lstStyle/>
                        <a:p>
                          <a:r>
                            <a:rPr lang="en-US" sz="1700" b="0">
                              <a:solidFill>
                                <a:srgbClr val="182028"/>
                              </a:solidFill>
                              <a:latin typeface="Aptos"/>
                            </a:rPr>
                            <a:t>USB Flash</a:t>
                          </a:r>
                          <a:endParaRPr sz="1700" b="0" dirty="0">
                            <a:solidFill>
                              <a:srgbClr val="182028"/>
                            </a:solidFill>
                            <a:latin typeface="Aptos"/>
                          </a:endParaRPr>
                        </a:p>
                      </a:txBody>
                      <a:tcPr marL="82296" marR="82296" marB="27432">
                        <a:solidFill>
                          <a:srgbClr val="FBF9F4"/>
                        </a:solidFill>
                      </a:tcPr>
                    </a:tc>
                    <a:tc>
                      <a:txBody>
                        <a:bodyPr/>
                        <a:lstStyle/>
                        <a:p>
                          <a:endParaRPr lang="en-US"/>
                        </a:p>
                      </a:txBody>
                      <a:tcPr marL="82296" marR="82296" marB="27432">
                        <a:blipFill>
                          <a:blip r:embed="rId3"/>
                          <a:stretch>
                            <a:fillRect l="-100660" t="-326316" r="-1320" b="-137719"/>
                          </a:stretch>
                        </a:blipFill>
                      </a:tcPr>
                    </a:tc>
                    <a:extLst>
                      <a:ext uri="{0D108BD9-81ED-4DB2-BD59-A6C34878D82A}">
                        <a16:rowId xmlns:a16="http://schemas.microsoft.com/office/drawing/2014/main" val="10003"/>
                      </a:ext>
                    </a:extLst>
                  </a:tr>
                  <a:tr h="850392">
                    <a:tc>
                      <a:txBody>
                        <a:bodyPr/>
                        <a:lstStyle/>
                        <a:p>
                          <a:r>
                            <a:rPr lang="en-US" sz="1700" b="0">
                              <a:solidFill>
                                <a:srgbClr val="182028"/>
                              </a:solidFill>
                              <a:latin typeface="Aptos"/>
                            </a:rPr>
                            <a:t>LTO-9 tape</a:t>
                          </a:r>
                          <a:endParaRPr sz="1700" b="0" dirty="0">
                            <a:solidFill>
                              <a:srgbClr val="182028"/>
                            </a:solidFill>
                            <a:latin typeface="Aptos"/>
                          </a:endParaRPr>
                        </a:p>
                      </a:txBody>
                      <a:tcPr marL="82296" marR="82296" marB="27432">
                        <a:solidFill>
                          <a:srgbClr val="E3EBF1"/>
                        </a:solidFill>
                      </a:tcPr>
                    </a:tc>
                    <a:tc>
                      <a:txBody>
                        <a:bodyPr/>
                        <a:lstStyle/>
                        <a:p>
                          <a:endParaRPr lang="en-US"/>
                        </a:p>
                      </a:txBody>
                      <a:tcPr marL="82296" marR="82296" marB="27432">
                        <a:blipFill>
                          <a:blip r:embed="rId3"/>
                          <a:stretch>
                            <a:fillRect l="-100660" t="-347143" r="-1320" b="-12143"/>
                          </a:stretch>
                        </a:blipFill>
                      </a:tcPr>
                    </a:tc>
                    <a:extLst>
                      <a:ext uri="{0D108BD9-81ED-4DB2-BD59-A6C34878D82A}">
                        <a16:rowId xmlns:a16="http://schemas.microsoft.com/office/drawing/2014/main" val="10004"/>
                      </a:ext>
                    </a:extLst>
                  </a:tr>
                </a:tbl>
              </a:graphicData>
            </a:graphic>
          </p:graphicFrame>
        </mc:Fallback>
      </mc:AlternateContent>
      <p:sp>
        <p:nvSpPr>
          <p:cNvPr id="14" name="Rounded Rectangle 18">
            <a:extLst>
              <a:ext uri="{FF2B5EF4-FFF2-40B4-BE49-F238E27FC236}">
                <a16:creationId xmlns:a16="http://schemas.microsoft.com/office/drawing/2014/main" id="{CEFED294-B1E3-0700-54A4-45395CDBE294}"/>
              </a:ext>
            </a:extLst>
          </p:cNvPr>
          <p:cNvSpPr/>
          <p:nvPr/>
        </p:nvSpPr>
        <p:spPr>
          <a:xfrm>
            <a:off x="8298606" y="4680730"/>
            <a:ext cx="3515524" cy="1378129"/>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ectangle 14">
            <a:extLst>
              <a:ext uri="{FF2B5EF4-FFF2-40B4-BE49-F238E27FC236}">
                <a16:creationId xmlns:a16="http://schemas.microsoft.com/office/drawing/2014/main" id="{0CF5B4AE-5D0D-9841-6551-E3793032C699}"/>
              </a:ext>
            </a:extLst>
          </p:cNvPr>
          <p:cNvSpPr/>
          <p:nvPr/>
        </p:nvSpPr>
        <p:spPr>
          <a:xfrm>
            <a:off x="8298606" y="4680731"/>
            <a:ext cx="63433" cy="1378129"/>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76B225F-2C60-461D-400D-FD75340D0B77}"/>
              </a:ext>
            </a:extLst>
          </p:cNvPr>
          <p:cNvSpPr txBox="1"/>
          <p:nvPr/>
        </p:nvSpPr>
        <p:spPr>
          <a:xfrm>
            <a:off x="8435765" y="4854189"/>
            <a:ext cx="3469229" cy="306494"/>
          </a:xfrm>
          <a:prstGeom prst="rect">
            <a:avLst/>
          </a:prstGeom>
          <a:noFill/>
        </p:spPr>
        <p:txBody>
          <a:bodyPr wrap="square" lIns="0" tIns="0" rIns="0" bIns="0" anchor="t">
            <a:spAutoFit/>
          </a:bodyPr>
          <a:lstStyle/>
          <a:p>
            <a:pPr algn="l">
              <a:lnSpc>
                <a:spcPct val="102000"/>
              </a:lnSpc>
            </a:pPr>
            <a:r>
              <a:rPr lang="en-US" sz="2000" b="1" i="0" dirty="0">
                <a:solidFill>
                  <a:srgbClr val="182028"/>
                </a:solidFill>
                <a:latin typeface="Aptos"/>
              </a:rPr>
              <a:t>If reading at 100MB/s:</a:t>
            </a:r>
            <a:endParaRPr sz="2000" b="1" i="0" dirty="0">
              <a:solidFill>
                <a:srgbClr val="182028"/>
              </a:solidFill>
              <a:latin typeface="Aptos"/>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C8E3F2D7-B41E-9459-CB41-F158F8C8913C}"/>
                  </a:ext>
                </a:extLst>
              </p:cNvPr>
              <p:cNvSpPr txBox="1"/>
              <p:nvPr/>
            </p:nvSpPr>
            <p:spPr>
              <a:xfrm>
                <a:off x="8457187" y="5314584"/>
                <a:ext cx="3024133" cy="557076"/>
              </a:xfrm>
              <a:prstGeom prst="rect">
                <a:avLst/>
              </a:prstGeom>
              <a:noFill/>
            </p:spPr>
            <p:txBody>
              <a:bodyPr wrap="square" lIns="0" tIns="0" rIns="0" bIns="0" anchor="t">
                <a:spAutoFit/>
              </a:bodyPr>
              <a:lstStyle/>
              <a:p>
                <a:pPr algn="ctr">
                  <a:lnSpc>
                    <a:spcPct val="100000"/>
                  </a:lnSpc>
                </a:pPr>
                <a14:m>
                  <m:oMath xmlns:m="http://schemas.openxmlformats.org/officeDocument/2006/math">
                    <m:sSup>
                      <m:sSupPr>
                        <m:ctrlPr>
                          <a:rPr lang="en-US" b="0" i="1" dirty="0">
                            <a:latin typeface="Cambria Math" panose="02040503050406030204" pitchFamily="18" charset="0"/>
                          </a:rPr>
                        </m:ctrlPr>
                      </m:sSupPr>
                      <m:e>
                        <m:r>
                          <a:rPr lang="en-US" b="0" i="1" dirty="0">
                            <a:latin typeface="Cambria Math" panose="02040503050406030204" pitchFamily="18" charset="0"/>
                          </a:rPr>
                          <m:t>10</m:t>
                        </m:r>
                      </m:e>
                      <m:sup>
                        <m:r>
                          <a:rPr lang="en-US" b="0" i="0" dirty="0">
                            <a:latin typeface="Cambria Math" panose="02040503050406030204" pitchFamily="18" charset="0"/>
                          </a:rPr>
                          <m:t>15</m:t>
                        </m:r>
                      </m:sup>
                    </m:sSup>
                  </m:oMath>
                </a14:m>
                <a:r>
                  <a:rPr lang="en-US" dirty="0"/>
                  <a:t> bits: 1 every 14.5 days</a:t>
                </a:r>
              </a:p>
              <a:p>
                <a:pPr algn="ctr">
                  <a:lnSpc>
                    <a:spcPct val="100000"/>
                  </a:lnSpc>
                </a:pPr>
                <a14:m>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10</m:t>
                        </m:r>
                      </m:e>
                      <m:sup>
                        <m:r>
                          <a:rPr lang="en-US" b="0" i="0" dirty="0" smtClean="0">
                            <a:latin typeface="Cambria Math" panose="02040503050406030204" pitchFamily="18" charset="0"/>
                          </a:rPr>
                          <m:t>20</m:t>
                        </m:r>
                      </m:sup>
                    </m:sSup>
                  </m:oMath>
                </a14:m>
                <a:r>
                  <a:rPr lang="en-US" dirty="0"/>
                  <a:t>bits: 1 every 4,000 years</a:t>
                </a:r>
                <a:endParaRPr i="0" dirty="0">
                  <a:solidFill>
                    <a:srgbClr val="182028"/>
                  </a:solidFill>
                  <a:latin typeface="Aptos" panose="020B0004020202020204" pitchFamily="34" charset="0"/>
                </a:endParaRPr>
              </a:p>
            </p:txBody>
          </p:sp>
        </mc:Choice>
        <mc:Fallback>
          <p:sp>
            <p:nvSpPr>
              <p:cNvPr id="17" name="TextBox 16">
                <a:extLst>
                  <a:ext uri="{FF2B5EF4-FFF2-40B4-BE49-F238E27FC236}">
                    <a16:creationId xmlns:a16="http://schemas.microsoft.com/office/drawing/2014/main" id="{C8E3F2D7-B41E-9459-CB41-F158F8C8913C}"/>
                  </a:ext>
                </a:extLst>
              </p:cNvPr>
              <p:cNvSpPr txBox="1">
                <a:spLocks noRot="1" noChangeAspect="1" noMove="1" noResize="1" noEditPoints="1" noAdjustHandles="1" noChangeArrowheads="1" noChangeShapeType="1" noTextEdit="1"/>
              </p:cNvSpPr>
              <p:nvPr/>
            </p:nvSpPr>
            <p:spPr>
              <a:xfrm>
                <a:off x="8457187" y="5314584"/>
                <a:ext cx="3024133" cy="557076"/>
              </a:xfrm>
              <a:prstGeom prst="rect">
                <a:avLst/>
              </a:prstGeom>
              <a:blipFill>
                <a:blip r:embed="rId4"/>
                <a:stretch>
                  <a:fillRect t="-13187" b="-2527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ounded Rectangle 18">
                <a:extLst>
                  <a:ext uri="{FF2B5EF4-FFF2-40B4-BE49-F238E27FC236}">
                    <a16:creationId xmlns:a16="http://schemas.microsoft.com/office/drawing/2014/main" id="{38AF9F58-CC5F-F0E0-0BAF-671FAF669B53}"/>
                  </a:ext>
                </a:extLst>
              </p:cNvPr>
              <p:cNvSpPr/>
              <p:nvPr/>
            </p:nvSpPr>
            <p:spPr>
              <a:xfrm>
                <a:off x="722375" y="1683333"/>
                <a:ext cx="3703320" cy="186103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
                      <m:sSub>
                        <m:sSubPr>
                          <m:ctrlPr>
                            <a:rPr lang="en-US" b="0" i="1" smtClean="0">
                              <a:solidFill>
                                <a:schemeClr val="tx1"/>
                              </a:solidFill>
                              <a:latin typeface="Cambria Math" panose="02040503050406030204" pitchFamily="18" charset="0"/>
                            </a:rPr>
                          </m:ctrlPr>
                        </m:sSubPr>
                        <m:e>
                          <m:r>
                            <m:rPr>
                              <m:sty m:val="p"/>
                            </m:rPr>
                            <a:rPr lang="en-US" b="0" i="1" smtClean="0">
                              <a:solidFill>
                                <a:schemeClr val="tx1"/>
                              </a:solidFill>
                              <a:latin typeface="Cambria Math" panose="02040503050406030204" pitchFamily="18" charset="0"/>
                            </a:rPr>
                            <m:t>R</m:t>
                          </m:r>
                        </m:e>
                        <m:sub>
                          <m:r>
                            <m:rPr>
                              <m:sty m:val="p"/>
                            </m:rPr>
                            <a:rPr lang="en-US" b="0" i="1" smtClean="0">
                              <a:solidFill>
                                <a:schemeClr val="tx1"/>
                              </a:solidFill>
                              <a:latin typeface="Cambria Math" panose="02040503050406030204" pitchFamily="18" charset="0"/>
                            </a:rPr>
                            <m:t>C</m:t>
                          </m:r>
                        </m:sub>
                      </m:sSub>
                      <m:r>
                        <a:rPr lang="ar-AE" b="0" i="1" smtClean="0">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m:rPr>
                              <m:sty m:val="p"/>
                            </m:rPr>
                            <a:rPr lang="en-US" b="0" i="1" smtClean="0">
                              <a:solidFill>
                                <a:schemeClr val="tx1"/>
                              </a:solidFill>
                              <a:latin typeface="Cambria Math" panose="02040503050406030204" pitchFamily="18" charset="0"/>
                            </a:rPr>
                            <m:t>k</m:t>
                          </m:r>
                          <m:r>
                            <a:rPr lang="en-US" b="0" i="1" smtClean="0">
                              <a:solidFill>
                                <a:schemeClr val="tx1"/>
                              </a:solidFill>
                              <a:latin typeface="Cambria Math" panose="02040503050406030204" pitchFamily="18" charset="0"/>
                            </a:rPr>
                            <m:t> </m:t>
                          </m:r>
                          <m:r>
                            <m:rPr>
                              <m:sty m:val="p"/>
                            </m:rPr>
                            <a:rPr lang="en-US" b="0" i="1" smtClean="0">
                              <a:solidFill>
                                <a:schemeClr val="tx1"/>
                              </a:solidFill>
                              <a:latin typeface="Cambria Math" panose="02040503050406030204" pitchFamily="18" charset="0"/>
                            </a:rPr>
                            <m:t>data</m:t>
                          </m:r>
                          <m:r>
                            <a:rPr lang="en-US" b="0" i="1" smtClean="0">
                              <a:solidFill>
                                <a:schemeClr val="tx1"/>
                              </a:solidFill>
                              <a:latin typeface="Cambria Math" panose="02040503050406030204" pitchFamily="18" charset="0"/>
                            </a:rPr>
                            <m:t> </m:t>
                          </m:r>
                          <m:r>
                            <m:rPr>
                              <m:sty m:val="p"/>
                            </m:rPr>
                            <a:rPr lang="en-US" b="0" i="1" smtClean="0">
                              <a:solidFill>
                                <a:schemeClr val="tx1"/>
                              </a:solidFill>
                              <a:latin typeface="Cambria Math" panose="02040503050406030204" pitchFamily="18" charset="0"/>
                            </a:rPr>
                            <m:t>bits</m:t>
                          </m:r>
                        </m:num>
                        <m:den>
                          <m:r>
                            <m:rPr>
                              <m:sty m:val="p"/>
                            </m:rPr>
                            <a:rPr lang="en-US" b="0" i="1" smtClean="0">
                              <a:solidFill>
                                <a:schemeClr val="tx1"/>
                              </a:solidFill>
                              <a:latin typeface="Cambria Math" panose="02040503050406030204" pitchFamily="18" charset="0"/>
                            </a:rPr>
                            <m:t>n</m:t>
                          </m:r>
                          <m:r>
                            <a:rPr lang="en-US" b="0" i="1" smtClean="0">
                              <a:solidFill>
                                <a:schemeClr val="tx1"/>
                              </a:solidFill>
                              <a:latin typeface="Cambria Math" panose="02040503050406030204" pitchFamily="18" charset="0"/>
                            </a:rPr>
                            <m:t> </m:t>
                          </m:r>
                          <m:r>
                            <m:rPr>
                              <m:sty m:val="p"/>
                            </m:rPr>
                            <a:rPr lang="en-US" b="0" i="1" smtClean="0">
                              <a:solidFill>
                                <a:schemeClr val="tx1"/>
                              </a:solidFill>
                              <a:latin typeface="Cambria Math" panose="02040503050406030204" pitchFamily="18" charset="0"/>
                            </a:rPr>
                            <m:t>total</m:t>
                          </m:r>
                          <m:r>
                            <a:rPr lang="en-US" b="0" i="1" smtClean="0">
                              <a:solidFill>
                                <a:schemeClr val="tx1"/>
                              </a:solidFill>
                              <a:latin typeface="Cambria Math" panose="02040503050406030204" pitchFamily="18" charset="0"/>
                            </a:rPr>
                            <m:t> </m:t>
                          </m:r>
                          <m:r>
                            <m:rPr>
                              <m:sty m:val="p"/>
                            </m:rPr>
                            <a:rPr lang="en-US" b="0" i="1" smtClean="0">
                              <a:solidFill>
                                <a:schemeClr val="tx1"/>
                              </a:solidFill>
                              <a:latin typeface="Cambria Math" panose="02040503050406030204" pitchFamily="18" charset="0"/>
                            </a:rPr>
                            <m:t>coded</m:t>
                          </m:r>
                          <m:r>
                            <a:rPr lang="en-US" b="0" i="1" smtClean="0">
                              <a:solidFill>
                                <a:schemeClr val="tx1"/>
                              </a:solidFill>
                              <a:latin typeface="Cambria Math" panose="02040503050406030204" pitchFamily="18" charset="0"/>
                            </a:rPr>
                            <m:t> </m:t>
                          </m:r>
                          <m:r>
                            <m:rPr>
                              <m:sty m:val="p"/>
                            </m:rPr>
                            <a:rPr lang="en-US" b="0" i="1" smtClean="0">
                              <a:solidFill>
                                <a:schemeClr val="tx1"/>
                              </a:solidFill>
                              <a:latin typeface="Cambria Math" panose="02040503050406030204" pitchFamily="18" charset="0"/>
                            </a:rPr>
                            <m:t>bits</m:t>
                          </m:r>
                        </m:den>
                      </m:f>
                    </m:oMath>
                  </m:oMathPara>
                </a14:m>
                <a:endParaRPr lang="ar-AE" dirty="0">
                  <a:solidFill>
                    <a:schemeClr val="tx1"/>
                  </a:solidFill>
                </a:endParaRPr>
              </a:p>
            </p:txBody>
          </p:sp>
        </mc:Choice>
        <mc:Fallback>
          <p:sp>
            <p:nvSpPr>
              <p:cNvPr id="21" name="Rounded Rectangle 18">
                <a:extLst>
                  <a:ext uri="{FF2B5EF4-FFF2-40B4-BE49-F238E27FC236}">
                    <a16:creationId xmlns:a16="http://schemas.microsoft.com/office/drawing/2014/main" id="{38AF9F58-CC5F-F0E0-0BAF-671FAF669B53}"/>
                  </a:ext>
                </a:extLst>
              </p:cNvPr>
              <p:cNvSpPr>
                <a:spLocks noRot="1" noChangeAspect="1" noMove="1" noResize="1" noEditPoints="1" noAdjustHandles="1" noChangeArrowheads="1" noChangeShapeType="1" noTextEdit="1"/>
              </p:cNvSpPr>
              <p:nvPr/>
            </p:nvSpPr>
            <p:spPr>
              <a:xfrm>
                <a:off x="722375" y="1683333"/>
                <a:ext cx="3703320" cy="1861033"/>
              </a:xfrm>
              <a:prstGeom prst="roundRect">
                <a:avLst/>
              </a:prstGeom>
              <a:blipFill>
                <a:blip r:embed="rId5"/>
                <a:stretch>
                  <a:fillRect/>
                </a:stretch>
              </a:blipFill>
              <a:ln w="10160">
                <a:solidFill>
                  <a:srgbClr val="CCD1D0"/>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DD3BE834-FC9E-4972-1867-E3476E067366}"/>
              </a:ext>
            </a:extLst>
          </p:cNvPr>
          <p:cNvSpPr/>
          <p:nvPr/>
        </p:nvSpPr>
        <p:spPr>
          <a:xfrm>
            <a:off x="722375" y="1683333"/>
            <a:ext cx="82296" cy="186103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BDF11149-E0D2-BB39-95AE-F46D62E6A958}"/>
              </a:ext>
            </a:extLst>
          </p:cNvPr>
          <p:cNvSpPr txBox="1"/>
          <p:nvPr/>
        </p:nvSpPr>
        <p:spPr>
          <a:xfrm>
            <a:off x="950975" y="1847925"/>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Code Rate</a:t>
            </a:r>
            <a:endParaRPr sz="2200" b="1" i="0" dirty="0">
              <a:solidFill>
                <a:srgbClr val="17324D"/>
              </a:solidFill>
              <a:latin typeface="Aptos"/>
            </a:endParaRPr>
          </a:p>
        </p:txBody>
      </p:sp>
      <p:sp>
        <p:nvSpPr>
          <p:cNvPr id="27" name="TextBox 26">
            <a:extLst>
              <a:ext uri="{FF2B5EF4-FFF2-40B4-BE49-F238E27FC236}">
                <a16:creationId xmlns:a16="http://schemas.microsoft.com/office/drawing/2014/main" id="{605B07A1-D4D3-D160-452D-D0880A595252}"/>
              </a:ext>
            </a:extLst>
          </p:cNvPr>
          <p:cNvSpPr txBox="1"/>
          <p:nvPr/>
        </p:nvSpPr>
        <p:spPr>
          <a:xfrm>
            <a:off x="950975" y="3053333"/>
            <a:ext cx="3291840" cy="275845"/>
          </a:xfrm>
          <a:prstGeom prst="rect">
            <a:avLst/>
          </a:prstGeom>
          <a:noFill/>
        </p:spPr>
        <p:txBody>
          <a:bodyPr wrap="square" lIns="0" tIns="0" rIns="0" bIns="0" anchor="t">
            <a:spAutoFit/>
          </a:bodyPr>
          <a:lstStyle/>
          <a:p>
            <a:pPr>
              <a:lnSpc>
                <a:spcPct val="102000"/>
              </a:lnSpc>
            </a:pPr>
            <a:r>
              <a:rPr lang="en-US" dirty="0">
                <a:solidFill>
                  <a:srgbClr val="182028"/>
                </a:solidFill>
                <a:latin typeface="Aptos"/>
              </a:rPr>
              <a:t>How much of the packet is data?</a:t>
            </a:r>
            <a:endParaRPr sz="1700" b="0" i="0" dirty="0">
              <a:solidFill>
                <a:srgbClr val="182028"/>
              </a:solidFill>
              <a:latin typeface="Aptos"/>
            </a:endParaRPr>
          </a:p>
        </p:txBody>
      </p:sp>
      <p:sp>
        <p:nvSpPr>
          <p:cNvPr id="28" name="Rounded Rectangle 18">
            <a:extLst>
              <a:ext uri="{FF2B5EF4-FFF2-40B4-BE49-F238E27FC236}">
                <a16:creationId xmlns:a16="http://schemas.microsoft.com/office/drawing/2014/main" id="{7DFC2655-62E1-D579-753B-22CFCAB13454}"/>
              </a:ext>
            </a:extLst>
          </p:cNvPr>
          <p:cNvSpPr/>
          <p:nvPr/>
        </p:nvSpPr>
        <p:spPr>
          <a:xfrm>
            <a:off x="4558710" y="1709760"/>
            <a:ext cx="3277698" cy="186103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AE" dirty="0">
              <a:solidFill>
                <a:schemeClr val="tx1"/>
              </a:solidFill>
            </a:endParaRPr>
          </a:p>
        </p:txBody>
      </p:sp>
      <p:sp>
        <p:nvSpPr>
          <p:cNvPr id="29" name="Rectangle 28">
            <a:extLst>
              <a:ext uri="{FF2B5EF4-FFF2-40B4-BE49-F238E27FC236}">
                <a16:creationId xmlns:a16="http://schemas.microsoft.com/office/drawing/2014/main" id="{9CF4F193-44B7-DF71-BB67-DE5510ECC990}"/>
              </a:ext>
            </a:extLst>
          </p:cNvPr>
          <p:cNvSpPr/>
          <p:nvPr/>
        </p:nvSpPr>
        <p:spPr>
          <a:xfrm>
            <a:off x="4558710" y="1709760"/>
            <a:ext cx="72838" cy="186103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74D66F4B-021C-809C-B8C0-6A3B3A3F7FB1}"/>
              </a:ext>
            </a:extLst>
          </p:cNvPr>
          <p:cNvSpPr txBox="1"/>
          <p:nvPr/>
        </p:nvSpPr>
        <p:spPr>
          <a:xfrm>
            <a:off x="4787310" y="1874352"/>
            <a:ext cx="2913509" cy="338554"/>
          </a:xfrm>
          <a:prstGeom prst="rect">
            <a:avLst/>
          </a:prstGeom>
          <a:noFill/>
        </p:spPr>
        <p:txBody>
          <a:bodyPr wrap="square" lIns="0" tIns="0" rIns="0" bIns="0" anchor="t">
            <a:spAutoFit/>
          </a:bodyPr>
          <a:lstStyle/>
          <a:p>
            <a:pPr algn="l"/>
            <a:r>
              <a:rPr lang="en-US" sz="2200" b="1" i="0" dirty="0">
                <a:solidFill>
                  <a:srgbClr val="17324D"/>
                </a:solidFill>
                <a:latin typeface="Aptos"/>
              </a:rPr>
              <a:t>Information Bit Rate</a:t>
            </a:r>
            <a:endParaRPr sz="2200" b="1" i="0" dirty="0">
              <a:solidFill>
                <a:srgbClr val="17324D"/>
              </a:solidFill>
              <a:latin typeface="Aptos"/>
            </a:endParaRPr>
          </a:p>
        </p:txBody>
      </p:sp>
      <p:sp>
        <p:nvSpPr>
          <p:cNvPr id="31" name="TextBox 30">
            <a:extLst>
              <a:ext uri="{FF2B5EF4-FFF2-40B4-BE49-F238E27FC236}">
                <a16:creationId xmlns:a16="http://schemas.microsoft.com/office/drawing/2014/main" id="{49E50174-956A-FECE-85A4-3573E2E7C549}"/>
              </a:ext>
            </a:extLst>
          </p:cNvPr>
          <p:cNvSpPr txBox="1"/>
          <p:nvPr/>
        </p:nvSpPr>
        <p:spPr>
          <a:xfrm>
            <a:off x="4787310" y="3079760"/>
            <a:ext cx="2913509" cy="275845"/>
          </a:xfrm>
          <a:prstGeom prst="rect">
            <a:avLst/>
          </a:prstGeom>
          <a:noFill/>
        </p:spPr>
        <p:txBody>
          <a:bodyPr wrap="square" lIns="0" tIns="0" rIns="0" bIns="0" anchor="t">
            <a:spAutoFit/>
          </a:bodyPr>
          <a:lstStyle/>
          <a:p>
            <a:pPr>
              <a:lnSpc>
                <a:spcPct val="102000"/>
              </a:lnSpc>
            </a:pPr>
            <a:r>
              <a:rPr lang="en-US" dirty="0">
                <a:solidFill>
                  <a:srgbClr val="182028"/>
                </a:solidFill>
                <a:latin typeface="Aptos"/>
              </a:rPr>
              <a:t>What rate remains?</a:t>
            </a:r>
            <a:endParaRPr sz="1700" b="0" i="0" dirty="0">
              <a:solidFill>
                <a:srgbClr val="182028"/>
              </a:solidFill>
              <a:latin typeface="Aptos"/>
            </a:endParaRPr>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F26A2B25-EBDD-378A-C513-59E8BB0425F8}"/>
                  </a:ext>
                </a:extLst>
              </p:cNvPr>
              <p:cNvSpPr txBox="1"/>
              <p:nvPr/>
            </p:nvSpPr>
            <p:spPr>
              <a:xfrm>
                <a:off x="4721131" y="2333709"/>
                <a:ext cx="2913509" cy="369332"/>
              </a:xfrm>
              <a:prstGeom prst="rect">
                <a:avLst/>
              </a:prstGeom>
              <a:noFill/>
            </p:spPr>
            <p:txBody>
              <a:bodyPr wrap="square">
                <a:spAutoFit/>
              </a:bodyPr>
              <a:lstStyle/>
              <a:p>
                <a:pPr/>
                <a14:m>
                  <m:oMathPara xmlns:m="http://schemas.openxmlformats.org/officeDocument/2006/math">
                    <m:oMath>
                      <m:sSub>
                        <m:sSubPr>
                          <m:ctrlPr>
                            <a:rPr lang="en-US" sz="1800" b="0" i="1" smtClean="0">
                              <a:solidFill>
                                <a:schemeClr val="tx1"/>
                              </a:solidFill>
                              <a:latin typeface="Cambria Math" panose="02040503050406030204" pitchFamily="18" charset="0"/>
                            </a:rPr>
                          </m:ctrlPr>
                        </m:sSubPr>
                        <m:e>
                          <m:r>
                            <m:rPr>
                              <m:sty m:val="p"/>
                            </m:rPr>
                            <a:rPr lang="en-US" sz="1800" b="0" i="1" smtClean="0">
                              <a:solidFill>
                                <a:schemeClr val="tx1"/>
                              </a:solidFill>
                              <a:latin typeface="Cambria Math" panose="02040503050406030204" pitchFamily="18" charset="0"/>
                            </a:rPr>
                            <m:t>R</m:t>
                          </m:r>
                        </m:e>
                        <m:sub>
                          <m:r>
                            <m:rPr>
                              <m:sty m:val="p"/>
                            </m:rPr>
                            <a:rPr lang="en-US" sz="1800" b="0" i="1" smtClean="0">
                              <a:solidFill>
                                <a:schemeClr val="tx1"/>
                              </a:solidFill>
                              <a:latin typeface="Cambria Math" panose="02040503050406030204" pitchFamily="18" charset="0"/>
                            </a:rPr>
                            <m:t>info</m:t>
                          </m:r>
                        </m:sub>
                      </m:sSub>
                      <m:r>
                        <a:rPr lang="ar-AE" sz="1800" b="0" i="1" smtClean="0">
                          <a:solidFill>
                            <a:schemeClr val="tx1"/>
                          </a:solidFill>
                          <a:latin typeface="Cambria Math" panose="02040503050406030204" pitchFamily="18" charset="0"/>
                        </a:rPr>
                        <m:t>=</m:t>
                      </m:r>
                      <m:sSub>
                        <m:sSubPr>
                          <m:ctrlPr>
                            <a:rPr lang="en-US" i="1">
                              <a:latin typeface="Cambria Math" panose="02040503050406030204" pitchFamily="18" charset="0"/>
                            </a:rPr>
                          </m:ctrlPr>
                        </m:sSubPr>
                        <m:e>
                          <m:r>
                            <m:rPr>
                              <m:sty m:val="p"/>
                            </m:rPr>
                            <a:rPr lang="en-US" i="1">
                              <a:latin typeface="Cambria Math" panose="02040503050406030204" pitchFamily="18" charset="0"/>
                            </a:rPr>
                            <m:t>R</m:t>
                          </m:r>
                        </m:e>
                        <m:sub>
                          <m:r>
                            <m:rPr>
                              <m:sty m:val="p"/>
                            </m:rPr>
                            <a:rPr lang="en-US" b="0" i="1" smtClean="0">
                              <a:latin typeface="Cambria Math" panose="02040503050406030204" pitchFamily="18" charset="0"/>
                            </a:rPr>
                            <m:t>coded</m:t>
                          </m:r>
                        </m:sub>
                      </m:sSub>
                      <m:sSub>
                        <m:sSubPr>
                          <m:ctrlPr>
                            <a:rPr lang="en-US" i="1">
                              <a:latin typeface="Cambria Math" panose="02040503050406030204" pitchFamily="18" charset="0"/>
                            </a:rPr>
                          </m:ctrlPr>
                        </m:sSubPr>
                        <m:e>
                          <m:r>
                            <m:rPr>
                              <m:sty m:val="p"/>
                            </m:rPr>
                            <a:rPr lang="en-US" i="1">
                              <a:latin typeface="Cambria Math" panose="02040503050406030204" pitchFamily="18" charset="0"/>
                            </a:rPr>
                            <m:t>R</m:t>
                          </m:r>
                        </m:e>
                        <m:sub>
                          <m:r>
                            <m:rPr>
                              <m:sty m:val="p"/>
                            </m:rPr>
                            <a:rPr lang="en-US" i="1">
                              <a:latin typeface="Cambria Math" panose="02040503050406030204" pitchFamily="18" charset="0"/>
                            </a:rPr>
                            <m:t>c</m:t>
                          </m:r>
                        </m:sub>
                      </m:sSub>
                    </m:oMath>
                  </m:oMathPara>
                </a14:m>
                <a:endParaRPr lang="en-US" dirty="0"/>
              </a:p>
            </p:txBody>
          </p:sp>
        </mc:Choice>
        <mc:Fallback>
          <p:sp>
            <p:nvSpPr>
              <p:cNvPr id="33" name="TextBox 32">
                <a:extLst>
                  <a:ext uri="{FF2B5EF4-FFF2-40B4-BE49-F238E27FC236}">
                    <a16:creationId xmlns:a16="http://schemas.microsoft.com/office/drawing/2014/main" id="{F26A2B25-EBDD-378A-C513-59E8BB0425F8}"/>
                  </a:ext>
                </a:extLst>
              </p:cNvPr>
              <p:cNvSpPr txBox="1">
                <a:spLocks noRot="1" noChangeAspect="1" noMove="1" noResize="1" noEditPoints="1" noAdjustHandles="1" noChangeArrowheads="1" noChangeShapeType="1" noTextEdit="1"/>
              </p:cNvSpPr>
              <p:nvPr/>
            </p:nvSpPr>
            <p:spPr>
              <a:xfrm>
                <a:off x="4721131" y="2333709"/>
                <a:ext cx="2913509" cy="369332"/>
              </a:xfrm>
              <a:prstGeom prst="rect">
                <a:avLst/>
              </a:prstGeom>
              <a:blipFill>
                <a:blip r:embed="rId6"/>
                <a:stretch>
                  <a:fillRect/>
                </a:stretch>
              </a:blipFill>
            </p:spPr>
            <p:txBody>
              <a:bodyPr/>
              <a:lstStyle/>
              <a:p>
                <a:r>
                  <a:rPr lang="en-US">
                    <a:noFill/>
                  </a:rPr>
                  <a:t> </a:t>
                </a:r>
              </a:p>
            </p:txBody>
          </p:sp>
        </mc:Fallback>
      </mc:AlternateContent>
      <p:sp>
        <p:nvSpPr>
          <p:cNvPr id="38" name="Rounded Rectangle 18">
            <a:extLst>
              <a:ext uri="{FF2B5EF4-FFF2-40B4-BE49-F238E27FC236}">
                <a16:creationId xmlns:a16="http://schemas.microsoft.com/office/drawing/2014/main" id="{902607C4-C432-FC92-692E-E9A8DF01F85F}"/>
              </a:ext>
            </a:extLst>
          </p:cNvPr>
          <p:cNvSpPr/>
          <p:nvPr/>
        </p:nvSpPr>
        <p:spPr>
          <a:xfrm>
            <a:off x="788554" y="3744773"/>
            <a:ext cx="3703320" cy="1861033"/>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AE" dirty="0">
              <a:solidFill>
                <a:schemeClr val="tx1"/>
              </a:solidFill>
            </a:endParaRPr>
          </a:p>
        </p:txBody>
      </p:sp>
      <p:sp>
        <p:nvSpPr>
          <p:cNvPr id="39" name="TextBox 38">
            <a:extLst>
              <a:ext uri="{FF2B5EF4-FFF2-40B4-BE49-F238E27FC236}">
                <a16:creationId xmlns:a16="http://schemas.microsoft.com/office/drawing/2014/main" id="{276B4122-C6F9-2489-5EC1-01A85B6B32BC}"/>
              </a:ext>
            </a:extLst>
          </p:cNvPr>
          <p:cNvSpPr txBox="1"/>
          <p:nvPr/>
        </p:nvSpPr>
        <p:spPr>
          <a:xfrm>
            <a:off x="1017154" y="3909365"/>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CRC Error Probability</a:t>
            </a:r>
            <a:endParaRPr sz="2200" b="1" i="0" dirty="0">
              <a:solidFill>
                <a:srgbClr val="17324D"/>
              </a:solidFill>
              <a:latin typeface="Aptos"/>
            </a:endParaRPr>
          </a:p>
        </p:txBody>
      </p:sp>
      <p:sp>
        <p:nvSpPr>
          <p:cNvPr id="40" name="TextBox 39">
            <a:extLst>
              <a:ext uri="{FF2B5EF4-FFF2-40B4-BE49-F238E27FC236}">
                <a16:creationId xmlns:a16="http://schemas.microsoft.com/office/drawing/2014/main" id="{9152F9DB-27EA-1B4E-8129-D2EBFE2E3519}"/>
              </a:ext>
            </a:extLst>
          </p:cNvPr>
          <p:cNvSpPr txBox="1"/>
          <p:nvPr/>
        </p:nvSpPr>
        <p:spPr>
          <a:xfrm>
            <a:off x="1017154" y="5013761"/>
            <a:ext cx="3474720" cy="558358"/>
          </a:xfrm>
          <a:prstGeom prst="rect">
            <a:avLst/>
          </a:prstGeom>
          <a:noFill/>
        </p:spPr>
        <p:txBody>
          <a:bodyPr wrap="square" lIns="0" tIns="0" rIns="0" bIns="0" anchor="t">
            <a:spAutoFit/>
          </a:bodyPr>
          <a:lstStyle/>
          <a:p>
            <a:pPr>
              <a:lnSpc>
                <a:spcPct val="102000"/>
              </a:lnSpc>
            </a:pPr>
            <a:r>
              <a:rPr lang="en-US" dirty="0">
                <a:solidFill>
                  <a:srgbClr val="182028"/>
                </a:solidFill>
                <a:latin typeface="Aptos"/>
              </a:rPr>
              <a:t>the probability that a corrupted frame passes its CRC check</a:t>
            </a:r>
            <a:endParaRPr sz="1700" b="0" i="0" dirty="0">
              <a:solidFill>
                <a:srgbClr val="182028"/>
              </a:solidFill>
              <a:latin typeface="Aptos"/>
            </a:endParaRPr>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D039BA4F-C8C1-9BA7-C1E3-69F400961255}"/>
                  </a:ext>
                </a:extLst>
              </p:cNvPr>
              <p:cNvSpPr txBox="1"/>
              <p:nvPr/>
            </p:nvSpPr>
            <p:spPr>
              <a:xfrm>
                <a:off x="950975" y="4368722"/>
                <a:ext cx="3291840" cy="584775"/>
              </a:xfrm>
              <a:prstGeom prst="rect">
                <a:avLst/>
              </a:prstGeom>
              <a:noFill/>
            </p:spPr>
            <p:txBody>
              <a:bodyPr wrap="square">
                <a:spAutoFit/>
              </a:bodyPr>
              <a:lstStyle/>
              <a:p>
                <a:pPr/>
                <a14:m>
                  <m:oMathPara xmlns:m="http://schemas.openxmlformats.org/officeDocument/2006/math">
                    <m:oMath>
                      <m:sSub>
                        <m:sSubPr>
                          <m:ctrlPr>
                            <a:rPr lang="en-US" sz="1800" b="0" i="1" smtClean="0">
                              <a:solidFill>
                                <a:schemeClr val="tx1"/>
                              </a:solidFill>
                              <a:latin typeface="Cambria Math" panose="02040503050406030204" pitchFamily="18" charset="0"/>
                            </a:rPr>
                          </m:ctrlPr>
                        </m:sSubPr>
                        <m:e>
                          <m:r>
                            <m:rPr>
                              <m:sty m:val="p"/>
                            </m:rPr>
                            <a:rPr lang="en-US" sz="1800" b="0" i="1" smtClean="0">
                              <a:solidFill>
                                <a:schemeClr val="tx1"/>
                              </a:solidFill>
                              <a:latin typeface="Cambria Math" panose="02040503050406030204" pitchFamily="18" charset="0"/>
                            </a:rPr>
                            <m:t>P</m:t>
                          </m:r>
                        </m:e>
                        <m:sub>
                          <m:r>
                            <m:rPr>
                              <m:sty m:val="p"/>
                            </m:rPr>
                            <a:rPr lang="en-US" sz="1800" b="0" i="1" smtClean="0">
                              <a:solidFill>
                                <a:schemeClr val="tx1"/>
                              </a:solidFill>
                              <a:latin typeface="Cambria Math" panose="02040503050406030204" pitchFamily="18" charset="0"/>
                            </a:rPr>
                            <m:t>ud</m:t>
                          </m:r>
                        </m:sub>
                      </m:sSub>
                      <m:r>
                        <a:rPr lang="ar-AE" sz="1800" b="0" i="1" smtClean="0">
                          <a:solidFill>
                            <a:schemeClr val="tx1"/>
                          </a:solidFill>
                          <a:latin typeface="Cambria Math" panose="02040503050406030204" pitchFamily="18" charset="0"/>
                          <a:ea typeface="Cambria Math" panose="02040503050406030204" pitchFamily="18" charset="0"/>
                        </a:rPr>
                        <m:t>≅</m:t>
                      </m:r>
                      <m:sSup>
                        <m:sSupPr>
                          <m:ctrlPr>
                            <a:rPr lang="en-US" sz="1800" b="0" i="1" smtClean="0">
                              <a:solidFill>
                                <a:schemeClr val="tx1"/>
                              </a:solidFill>
                              <a:latin typeface="Cambria Math" panose="02040503050406030204" pitchFamily="18" charset="0"/>
                              <a:ea typeface="Cambria Math" panose="02040503050406030204" pitchFamily="18" charset="0"/>
                            </a:rPr>
                          </m:ctrlPr>
                        </m:sSupPr>
                        <m:e>
                          <m:r>
                            <a:rPr lang="en-US" sz="1800" b="0" i="1" smtClean="0">
                              <a:solidFill>
                                <a:schemeClr val="tx1"/>
                              </a:solidFill>
                              <a:latin typeface="Cambria Math" panose="02040503050406030204" pitchFamily="18" charset="0"/>
                              <a:ea typeface="Cambria Math" panose="02040503050406030204" pitchFamily="18" charset="0"/>
                            </a:rPr>
                            <m:t>2</m:t>
                          </m:r>
                        </m:e>
                        <m:sup>
                          <m:r>
                            <a:rPr lang="en-US" sz="1800" b="0" i="1" smtClean="0">
                              <a:solidFill>
                                <a:schemeClr val="tx1"/>
                              </a:solidFill>
                              <a:latin typeface="Cambria Math" panose="02040503050406030204" pitchFamily="18" charset="0"/>
                              <a:ea typeface="Cambria Math" panose="02040503050406030204" pitchFamily="18" charset="0"/>
                            </a:rPr>
                            <m:t>-</m:t>
                          </m:r>
                          <m:r>
                            <m:rPr>
                              <m:sty m:val="p"/>
                            </m:rPr>
                            <a:rPr lang="en-US" sz="1800" b="0" i="1" smtClean="0">
                              <a:solidFill>
                                <a:schemeClr val="tx1"/>
                              </a:solidFill>
                              <a:latin typeface="Cambria Math" panose="02040503050406030204" pitchFamily="18" charset="0"/>
                              <a:ea typeface="Cambria Math" panose="02040503050406030204" pitchFamily="18" charset="0"/>
                            </a:rPr>
                            <m:t>r</m:t>
                          </m:r>
                        </m:sup>
                      </m:sSup>
                    </m:oMath>
                  </m:oMathPara>
                </a14:m>
                <a:endParaRPr lang="en-US" dirty="0"/>
              </a:p>
              <a:p>
                <a:pPr/>
                <a:r>
                  <a:rPr lang="en-US" sz="1400" dirty="0"/>
                  <a:t>r = CRC bits</a:t>
                </a:r>
              </a:p>
            </p:txBody>
          </p:sp>
        </mc:Choice>
        <mc:Fallback>
          <p:sp>
            <p:nvSpPr>
              <p:cNvPr id="41" name="TextBox 40">
                <a:extLst>
                  <a:ext uri="{FF2B5EF4-FFF2-40B4-BE49-F238E27FC236}">
                    <a16:creationId xmlns:a16="http://schemas.microsoft.com/office/drawing/2014/main" id="{D039BA4F-C8C1-9BA7-C1E3-69F400961255}"/>
                  </a:ext>
                </a:extLst>
              </p:cNvPr>
              <p:cNvSpPr txBox="1">
                <a:spLocks noRot="1" noChangeAspect="1" noMove="1" noResize="1" noEditPoints="1" noAdjustHandles="1" noChangeArrowheads="1" noChangeShapeType="1" noTextEdit="1"/>
              </p:cNvSpPr>
              <p:nvPr/>
            </p:nvSpPr>
            <p:spPr>
              <a:xfrm>
                <a:off x="950975" y="4368722"/>
                <a:ext cx="3291840" cy="584775"/>
              </a:xfrm>
              <a:prstGeom prst="rect">
                <a:avLst/>
              </a:prstGeom>
              <a:blipFill>
                <a:blip r:embed="rId7"/>
                <a:stretch>
                  <a:fillRect l="-556" b="-9375"/>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7B8444E1-F8D9-440B-52D0-9C55C1008D28}"/>
              </a:ext>
            </a:extLst>
          </p:cNvPr>
          <p:cNvSpPr/>
          <p:nvPr/>
        </p:nvSpPr>
        <p:spPr>
          <a:xfrm>
            <a:off x="720140" y="3750214"/>
            <a:ext cx="72838" cy="1861033"/>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20 | ERROR DETECTION AND CORRECTI</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15</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CHECK UNDERSTANDING</a:t>
            </a: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900" b="1" i="0">
                <a:solidFill>
                  <a:srgbClr val="17324D"/>
                </a:solidFill>
                <a:latin typeface="Aptos Display"/>
              </a:rPr>
              <a:t>Explain the next step</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1828800"/>
            <a:ext cx="10469880" cy="1417320"/>
          </a:xfrm>
          <a:prstGeom prst="rect">
            <a:avLst/>
          </a:prstGeom>
          <a:noFill/>
        </p:spPr>
        <p:txBody>
          <a:bodyPr wrap="square" lIns="0" tIns="0" rIns="0" bIns="0" anchor="ctr">
            <a:spAutoFit/>
          </a:bodyPr>
          <a:lstStyle/>
          <a:p>
            <a:pPr algn="ctr"/>
            <a:r>
              <a:rPr sz="3000" b="1" i="0" dirty="0">
                <a:solidFill>
                  <a:srgbClr val="17324D"/>
                </a:solidFill>
                <a:latin typeface="Aptos Display"/>
              </a:rPr>
              <a:t>The CRC passes. What do we still not know?</a:t>
            </a:r>
          </a:p>
        </p:txBody>
      </p:sp>
      <p:sp>
        <p:nvSpPr>
          <p:cNvPr id="14" name="TextBox 13"/>
          <p:cNvSpPr txBox="1"/>
          <p:nvPr/>
        </p:nvSpPr>
        <p:spPr>
          <a:xfrm>
            <a:off x="1828800" y="3520440"/>
            <a:ext cx="8503920" cy="822960"/>
          </a:xfrm>
          <a:prstGeom prst="rect">
            <a:avLst/>
          </a:prstGeom>
          <a:noFill/>
        </p:spPr>
        <p:txBody>
          <a:bodyPr wrap="square" lIns="0" tIns="0" rIns="0" bIns="0" anchor="ctr">
            <a:spAutoFit/>
          </a:bodyPr>
          <a:lstStyle/>
          <a:p>
            <a:pPr algn="ctr"/>
            <a:r>
              <a:rPr sz="1800" b="0" i="0">
                <a:solidFill>
                  <a:srgbClr val="5F6B73"/>
                </a:solidFill>
                <a:latin typeface="Aptos"/>
              </a:rPr>
              <a:t>Name one error the chosen code can detect, one cost of redundancy, and one unsupported trust claim.</a:t>
            </a:r>
          </a:p>
        </p:txBody>
      </p:sp>
      <p:sp>
        <p:nvSpPr>
          <p:cNvPr id="15" name="Rounded Rectangle 14"/>
          <p:cNvSpPr/>
          <p:nvPr/>
        </p:nvSpPr>
        <p:spPr>
          <a:xfrm>
            <a:off x="3657600" y="4892040"/>
            <a:ext cx="484632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4892040"/>
            <a:ext cx="4846320" cy="420624"/>
          </a:xfrm>
          <a:prstGeom prst="rect">
            <a:avLst/>
          </a:prstGeom>
          <a:noFill/>
        </p:spPr>
        <p:txBody>
          <a:bodyPr wrap="square" lIns="18288" tIns="18288" rIns="18288" bIns="18288" anchor="ctr">
            <a:spAutoFit/>
          </a:bodyPr>
          <a:lstStyle/>
          <a:p>
            <a:pPr algn="ctr"/>
            <a:r>
              <a:rPr sz="1150" b="1" i="0">
                <a:solidFill>
                  <a:srgbClr val="FFFFFF"/>
                </a:solidFill>
                <a:latin typeface="Aptos"/>
              </a:rPr>
              <a:t>NEXT: WHO AUTHORIZED THE MESSAGE?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671</TotalTime>
  <Words>1453</Words>
  <Application>Microsoft Office PowerPoint</Application>
  <PresentationFormat>Widescreen</PresentationFormat>
  <Paragraphs>342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Jerson Francia</cp:lastModifiedBy>
  <cp:revision>2</cp:revision>
  <dcterms:created xsi:type="dcterms:W3CDTF">2013-01-27T09:14:16Z</dcterms:created>
  <dcterms:modified xsi:type="dcterms:W3CDTF">2026-10-19T16:57:42Z</dcterms:modified>
  <cp:category/>
</cp:coreProperties>
</file>