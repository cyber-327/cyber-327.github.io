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Zoom out from circuits to a complete communication system. Keep modulation and encoding at block-level preview; detailed analog modulation begins in Week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sensor-to-controller or access-point-to-client example. Ask students where Lab 4's filter belongs; accept transmitter or receiver front end with justification.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baseband digital voltage can be a signal without using a separate sinusoidal carrier. Avoid saying every communication signal needs an RF carrier.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teach AM/FM/PM math yet. Emphasize that these operations occur at purposeful blocks and can fail differently.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 fixed historical bandwidth memorization. Focus on criteria and tradeoffs.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Multiplexing is not another direction mode. Keep it as resource sharing and defer techniques to later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waveform or spectrum can establish interference but usually cannot establish intent. Use jamming only when intent is known from the controlled scenario or corroborating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properties overlap. Require a stated asset and consequence rather than attaching a cyber label to every circuit anomaly.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Example: asset=5 kHz command channel; path=off-channel coupled tone; effect=reduced receiver output margin; consequence=availability loss; control=front-end selectivity plus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directly to Lab 4. The breadboard RLC path models one selective stage, not a complete secure receiver.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imply the Lab 4 passive filter defeats a real jammer. It demonstrates one selective mechanism under safe wired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shifted response supports detuning. It does not distinguish drift, damage, or deliberate replacement without additional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remains locked until component, audio-interface, speaker-loading, Morse-track, throughput, and timing validation pass. If it has not passed, restore the archived version or use checked fallback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Supported: the selective stage is detuned under the test. Consequence may be availability or integrity. Next: repeat, verify input, inspect components, compare baseline, or test the original resonance. Intent remains unsupported.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9EB0BC"/>
                </a:solidFill>
                <a:latin typeface="Aptos"/>
              </a:rPr>
              <a:t>LECTURE 10 | SYSTEMS + THREATS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9EB0BC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2C6C8"/>
                </a:solidFill>
                <a:latin typeface="Aptos"/>
              </a:rPr>
              <a:t>CYBER 327  /  LECTURE 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152144"/>
            <a:ext cx="1371600" cy="0"/>
          </a:xfrm>
          <a:prstGeom prst="line">
            <a:avLst/>
          </a:prstGeom>
          <a:ln w="508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481328"/>
            <a:ext cx="99669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ptos Display"/>
              </a:rPr>
              <a:t>Communication Blocks and Physical-Channel Threats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182112"/>
            <a:ext cx="8961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D6E1E7"/>
                </a:solidFill>
                <a:latin typeface="Aptos"/>
              </a:rPr>
              <a:t>Locate signal failures before attributing cause, identity, or intent.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5230368"/>
            <a:ext cx="196596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5230368"/>
            <a:ext cx="196596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SEP 25,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1216" y="5230368"/>
            <a:ext cx="2377440" cy="420624"/>
          </a:xfrm>
          <a:prstGeom prst="round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5230368"/>
            <a:ext cx="237744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50-MINUTE SESSION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86600" y="4574286"/>
            <a:ext cx="346710" cy="22082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33310" y="4679899"/>
            <a:ext cx="346710" cy="115214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80020" y="4679899"/>
            <a:ext cx="346710" cy="566471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126730" y="4929530"/>
            <a:ext cx="346710" cy="31684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73440" y="4929530"/>
            <a:ext cx="346710" cy="48006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820150" y="4766310"/>
            <a:ext cx="346710" cy="64328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66860" y="4766310"/>
            <a:ext cx="346710" cy="31683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513570" y="4641494"/>
            <a:ext cx="346710" cy="44165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60280" y="4641494"/>
            <a:ext cx="346710" cy="51846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206990" y="4871923"/>
            <a:ext cx="346710" cy="288036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553700" y="4871923"/>
            <a:ext cx="346710" cy="46085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900410" y="4699101"/>
            <a:ext cx="346710" cy="63367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10 | SYSTEMS + THREATS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SYSTEM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324D"/>
                </a:solidFill>
                <a:latin typeface="Aptos Display"/>
              </a:rPr>
              <a:t>Communication moves meaning through a physical channel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8368" y="2057400"/>
            <a:ext cx="2066544" cy="841248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057400"/>
            <a:ext cx="2066544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Message</a:t>
            </a:r>
          </a:p>
        </p:txBody>
      </p:sp>
      <p:sp>
        <p:nvSpPr>
          <p:cNvPr id="15" name="Chevron 14"/>
          <p:cNvSpPr/>
          <p:nvPr/>
        </p:nvSpPr>
        <p:spPr>
          <a:xfrm>
            <a:off x="2743200" y="2359152"/>
            <a:ext cx="100584" cy="228600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62072" y="2057400"/>
            <a:ext cx="2066544" cy="841248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62072" y="2057400"/>
            <a:ext cx="2066544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Transmitter</a:t>
            </a:r>
          </a:p>
        </p:txBody>
      </p:sp>
      <p:sp>
        <p:nvSpPr>
          <p:cNvPr id="18" name="Chevron 17"/>
          <p:cNvSpPr/>
          <p:nvPr/>
        </p:nvSpPr>
        <p:spPr>
          <a:xfrm>
            <a:off x="4946904" y="2359152"/>
            <a:ext cx="100584" cy="228600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5776" y="2057400"/>
            <a:ext cx="2066544" cy="841248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65776" y="2057400"/>
            <a:ext cx="2066544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Medium</a:t>
            </a:r>
          </a:p>
        </p:txBody>
      </p:sp>
      <p:sp>
        <p:nvSpPr>
          <p:cNvPr id="21" name="Chevron 20"/>
          <p:cNvSpPr/>
          <p:nvPr/>
        </p:nvSpPr>
        <p:spPr>
          <a:xfrm>
            <a:off x="7150608" y="2359152"/>
            <a:ext cx="100584" cy="228600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69480" y="2057400"/>
            <a:ext cx="2066544" cy="841248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2057400"/>
            <a:ext cx="2066544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Receiver</a:t>
            </a:r>
          </a:p>
        </p:txBody>
      </p:sp>
      <p:sp>
        <p:nvSpPr>
          <p:cNvPr id="24" name="Chevron 23"/>
          <p:cNvSpPr/>
          <p:nvPr/>
        </p:nvSpPr>
        <p:spPr>
          <a:xfrm>
            <a:off x="9354312" y="2359152"/>
            <a:ext cx="100584" cy="228600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73184" y="2057400"/>
            <a:ext cx="2066544" cy="841248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73184" y="2057400"/>
            <a:ext cx="2066544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Recovered message</a:t>
            </a:r>
          </a:p>
        </p:txBody>
      </p:sp>
      <p:sp>
        <p:nvSpPr>
          <p:cNvPr id="27" name="Oval 26"/>
          <p:cNvSpPr/>
          <p:nvPr/>
        </p:nvSpPr>
        <p:spPr>
          <a:xfrm>
            <a:off x="1051560" y="3888760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71016" y="3703320"/>
            <a:ext cx="9747504" cy="7726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182028"/>
                </a:solidFill>
                <a:latin typeface="Aptos"/>
              </a:rPr>
              <a:t>Every block transforms, transports, or interprets a physical signal.</a:t>
            </a:r>
          </a:p>
        </p:txBody>
      </p:sp>
      <p:sp>
        <p:nvSpPr>
          <p:cNvPr id="29" name="Oval 28"/>
          <p:cNvSpPr/>
          <p:nvPr/>
        </p:nvSpPr>
        <p:spPr>
          <a:xfrm>
            <a:off x="1051560" y="4807732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71016" y="4622292"/>
            <a:ext cx="9747504" cy="7726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182028"/>
                </a:solidFill>
                <a:latin typeface="Aptos"/>
              </a:rPr>
              <a:t>Noise, interference, distortion, loss, and tamper can act before software receives data.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0" y="5650992"/>
            <a:ext cx="5760720" cy="420624"/>
          </a:xfrm>
          <a:prstGeom prst="round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0" y="5650992"/>
            <a:ext cx="576072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A VALID DIAGNOSIS LOCATES THE FAILURE IN THE CHAIN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10 | SYSTEMS + THREATS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CORE VOCABULARY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324D"/>
                </a:solidFill>
                <a:latin typeface="Aptos Display"/>
              </a:rPr>
              <a:t>Message, signal, and carrier are not synonyms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58368" y="1737360"/>
          <a:ext cx="1088135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8644"/>
                <a:gridCol w="5114239"/>
                <a:gridCol w="3808475"/>
              </a:tblGrid>
              <a:tr h="83210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Term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Meaning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Example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  <a:tr h="83210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Message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Information to communicate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Temperature value or voice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  <a:tr h="83210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Signal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Physical variation representing information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Voltage waveform or radio field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  <a:tr h="83210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Carrier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Periodic waveform altered to transport a message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RF sine wave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  <a:tr h="83210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Channel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Path and constraints between endpoints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Cable, air, or fiber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10 | SYSTEMS + THREATS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BLOCK-LEVEL PREVIEW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324D"/>
                </a:solidFill>
                <a:latin typeface="Aptos Display"/>
              </a:rPr>
              <a:t>Encoding and modulation solve different representation problems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808" y="1783080"/>
            <a:ext cx="3520440" cy="3794760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8" y="1783080"/>
            <a:ext cx="82296" cy="379476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194767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Encoding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386584"/>
            <a:ext cx="3108960" cy="3044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>
                <a:solidFill>
                  <a:srgbClr val="182028"/>
                </a:solidFill>
                <a:latin typeface="Aptos"/>
              </a:rPr>
              <a:t>Maps information or bits into a defined representation.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256" y="1783080"/>
            <a:ext cx="3520440" cy="3794760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34256" y="1783080"/>
            <a:ext cx="82296" cy="379476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2856" y="194767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Modulation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2386584"/>
            <a:ext cx="3108960" cy="3044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>
                <a:solidFill>
                  <a:srgbClr val="182028"/>
                </a:solidFill>
                <a:latin typeface="Aptos"/>
              </a:rPr>
              <a:t>Changes a carrier property according to a message or symbol sequence.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18704" y="1783080"/>
            <a:ext cx="3520440" cy="3794760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18704" y="1783080"/>
            <a:ext cx="82296" cy="3794760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4" y="194767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2386584"/>
            <a:ext cx="3108960" cy="3044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>
                <a:solidFill>
                  <a:srgbClr val="182028"/>
                </a:solidFill>
                <a:latin typeface="Aptos"/>
              </a:rPr>
              <a:t>Detection, demodulation, decoding, and decisions reconstruct the message.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10 | SYSTEMS + THREATS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CHANNEL CONSTRAINTS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The medium imposes a usable bandwidth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22960" y="1987722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1755648"/>
            <a:ext cx="6181344" cy="9669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0" i="0">
                <a:solidFill>
                  <a:srgbClr val="182028"/>
                </a:solidFill>
                <a:latin typeface="Aptos"/>
              </a:rPr>
              <a:t>Copper, wireless, and optical paths attenuate and distort different frequencies differently.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082716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" y="2850642"/>
            <a:ext cx="6181344" cy="9669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0" i="0">
                <a:solidFill>
                  <a:srgbClr val="182028"/>
                </a:solidFill>
                <a:latin typeface="Aptos"/>
              </a:rPr>
              <a:t>Usable bandwidth is the range meeting a stated amplitude, phase, noise, or error criterion.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177710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3945636"/>
            <a:ext cx="6181344" cy="9669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0" i="0">
                <a:solidFill>
                  <a:srgbClr val="182028"/>
                </a:solidFill>
                <a:latin typeface="Aptos"/>
              </a:rPr>
              <a:t>More signal bandwidth can carry faster changes, but occupies more channel resources.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5272704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" y="5040630"/>
            <a:ext cx="6181344" cy="9669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0" i="0">
                <a:solidFill>
                  <a:srgbClr val="182028"/>
                </a:solidFill>
                <a:latin typeface="Aptos"/>
              </a:rPr>
              <a:t>Filtering outside the usable band cannot recover information the channel already destroyed.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1828800"/>
            <a:ext cx="3703320" cy="3611880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71231" y="1828800"/>
            <a:ext cx="82296" cy="361188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9831" y="1993392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7324D"/>
                </a:solidFill>
                <a:latin typeface="Aptos"/>
              </a:rPr>
              <a:t>Week 5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9831" y="2432304"/>
            <a:ext cx="3291840" cy="2862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>
                <a:solidFill>
                  <a:srgbClr val="182028"/>
                </a:solidFill>
                <a:latin typeface="Aptos"/>
              </a:rPr>
              <a:t>Time-domain shape depends on frequency content; noise and SNR further limit reliable information rate.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10 | SYSTEMS + THREATS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PLEX VOCABULARY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324D"/>
                </a:solidFill>
                <a:latin typeface="Aptos Display"/>
              </a:rPr>
              <a:t>Direction and sharing describe different system behaviors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58368" y="1737360"/>
          <a:ext cx="10881359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831"/>
                <a:gridCol w="2720340"/>
                <a:gridCol w="3046780"/>
                <a:gridCol w="3264408"/>
              </a:tblGrid>
              <a:tr h="83210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Mode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Example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Risk or constraint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  <a:tr h="832104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Simplex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One way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Broadcast sensor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No return path for feedback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  <a:tr h="832104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Half-duplex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Both ways, not simultaneously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Push-to-talk radio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Turn-taking and contention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  <a:tr h="832104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Full-duplex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Both ways simultaneously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Telephone link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Isolation and self-interference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  <a:tr h="832104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Multiplexed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Multiple users/signals share resources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Time or frequency slots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Coordination and separation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10 | SYSTEMS + THREATS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CAUSE VERSUS OBSERVATION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324D"/>
                </a:solidFill>
                <a:latin typeface="Aptos Display"/>
              </a:rPr>
              <a:t>Noise, interference, and jamming require careful labels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58368" y="1737360"/>
          <a:ext cx="10881359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8644"/>
                <a:gridCol w="4570171"/>
                <a:gridCol w="4352544"/>
              </a:tblGrid>
              <a:tr h="104013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Label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What it means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What measurement may show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  <a:tr h="104013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Noise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Unwanted random or aggregate variation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Raised floor or uncertain samples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  <a:tr h="104013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Interference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Unwanted energy that overlaps or affects reception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Tones, bursts, distortion, or errors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  <a:tr h="104013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Jamming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Intentional interference intended to disrupt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Disruption evidence plus separate evidence of intent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10 | SYSTEMS + THREATS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CYBERSECURITY CONNECTION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324D"/>
                </a:solidFill>
                <a:latin typeface="Aptos Display"/>
              </a:rPr>
              <a:t>Physical threats map to security consequences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58368" y="1737360"/>
          <a:ext cx="10881359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7967"/>
                <a:gridCol w="2176272"/>
                <a:gridCol w="5767120"/>
              </a:tblGrid>
              <a:tr h="83210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Physical event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Primary concern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Example evidence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  <a:tr h="83210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Interference or cut path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Availability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Reduced output, link loss, errors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  <a:tr h="83210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Unintended emission or tap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Confidentiality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Correlated recoverable signal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  <a:tr h="83210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Component change or injected signal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Integrity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Response shift or altered decisions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  <a:tr h="83210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Unknown transmitter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Authenticity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Requires more than energy detection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10 | SYSTEMS + THREATS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ASSET - PATH - CONSEQUENCE -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Threat-model one physical path at a time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8368" y="2057400"/>
            <a:ext cx="2066544" cy="841248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057400"/>
            <a:ext cx="2066544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Asset</a:t>
            </a:r>
          </a:p>
        </p:txBody>
      </p:sp>
      <p:sp>
        <p:nvSpPr>
          <p:cNvPr id="15" name="Chevron 14"/>
          <p:cNvSpPr/>
          <p:nvPr/>
        </p:nvSpPr>
        <p:spPr>
          <a:xfrm>
            <a:off x="2743200" y="2359152"/>
            <a:ext cx="100584" cy="228600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62072" y="2057400"/>
            <a:ext cx="2066544" cy="841248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62072" y="2057400"/>
            <a:ext cx="2066544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Exposure/path</a:t>
            </a:r>
          </a:p>
        </p:txBody>
      </p:sp>
      <p:sp>
        <p:nvSpPr>
          <p:cNvPr id="18" name="Chevron 17"/>
          <p:cNvSpPr/>
          <p:nvPr/>
        </p:nvSpPr>
        <p:spPr>
          <a:xfrm>
            <a:off x="4946904" y="2359152"/>
            <a:ext cx="100584" cy="228600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5776" y="2057400"/>
            <a:ext cx="2066544" cy="841248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65776" y="2057400"/>
            <a:ext cx="2066544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Observable effect</a:t>
            </a:r>
          </a:p>
        </p:txBody>
      </p:sp>
      <p:sp>
        <p:nvSpPr>
          <p:cNvPr id="21" name="Chevron 20"/>
          <p:cNvSpPr/>
          <p:nvPr/>
        </p:nvSpPr>
        <p:spPr>
          <a:xfrm>
            <a:off x="7150608" y="2359152"/>
            <a:ext cx="100584" cy="228600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69480" y="2057400"/>
            <a:ext cx="2066544" cy="841248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2057400"/>
            <a:ext cx="2066544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Consequence</a:t>
            </a:r>
          </a:p>
        </p:txBody>
      </p:sp>
      <p:sp>
        <p:nvSpPr>
          <p:cNvPr id="24" name="Chevron 23"/>
          <p:cNvSpPr/>
          <p:nvPr/>
        </p:nvSpPr>
        <p:spPr>
          <a:xfrm>
            <a:off x="9354312" y="2359152"/>
            <a:ext cx="100584" cy="228600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73184" y="2057400"/>
            <a:ext cx="2066544" cy="841248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73184" y="2057400"/>
            <a:ext cx="2066544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27" name="Oval 26"/>
          <p:cNvSpPr/>
          <p:nvPr/>
        </p:nvSpPr>
        <p:spPr>
          <a:xfrm>
            <a:off x="1051560" y="3815242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71016" y="3703320"/>
            <a:ext cx="9747504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182028"/>
                </a:solidFill>
                <a:latin typeface="Aptos"/>
              </a:rPr>
              <a:t>Name what must remain available, confidential, accurate, or authentic.</a:t>
            </a:r>
          </a:p>
        </p:txBody>
      </p:sp>
      <p:sp>
        <p:nvSpPr>
          <p:cNvPr id="29" name="Oval 28"/>
          <p:cNvSpPr/>
          <p:nvPr/>
        </p:nvSpPr>
        <p:spPr>
          <a:xfrm>
            <a:off x="1051560" y="4427890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71016" y="4315968"/>
            <a:ext cx="9747504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182028"/>
                </a:solidFill>
                <a:latin typeface="Aptos"/>
              </a:rPr>
              <a:t>State the physical access and capability required for the scenario.</a:t>
            </a:r>
          </a:p>
        </p:txBody>
      </p:sp>
      <p:sp>
        <p:nvSpPr>
          <p:cNvPr id="31" name="Oval 30"/>
          <p:cNvSpPr/>
          <p:nvPr/>
        </p:nvSpPr>
        <p:spPr>
          <a:xfrm>
            <a:off x="1051560" y="5040538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71016" y="4928616"/>
            <a:ext cx="9747504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182028"/>
                </a:solidFill>
                <a:latin typeface="Aptos"/>
              </a:rPr>
              <a:t>Select a control and identify a measurement that would verify 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0" y="5650992"/>
            <a:ext cx="5760720" cy="420624"/>
          </a:xfrm>
          <a:prstGeom prst="round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0" y="5650992"/>
            <a:ext cx="576072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DO NOT SKIP FROM ANOMALY TO ADVERSARY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10 | SYSTEMS + THREATS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FILTER IN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324D"/>
                </a:solidFill>
                <a:latin typeface="Aptos Display"/>
              </a:rPr>
              <a:t>Receiver selectivity protects a limited resource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8368" y="2057400"/>
            <a:ext cx="2066544" cy="841248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057400"/>
            <a:ext cx="2066544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Antenna or cable</a:t>
            </a:r>
          </a:p>
        </p:txBody>
      </p:sp>
      <p:sp>
        <p:nvSpPr>
          <p:cNvPr id="15" name="Chevron 14"/>
          <p:cNvSpPr/>
          <p:nvPr/>
        </p:nvSpPr>
        <p:spPr>
          <a:xfrm>
            <a:off x="2743200" y="2359152"/>
            <a:ext cx="100584" cy="228600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62072" y="2057400"/>
            <a:ext cx="2066544" cy="841248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62072" y="2057400"/>
            <a:ext cx="2066544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Input protection</a:t>
            </a:r>
          </a:p>
        </p:txBody>
      </p:sp>
      <p:sp>
        <p:nvSpPr>
          <p:cNvPr id="18" name="Chevron 17"/>
          <p:cNvSpPr/>
          <p:nvPr/>
        </p:nvSpPr>
        <p:spPr>
          <a:xfrm>
            <a:off x="4946904" y="2359152"/>
            <a:ext cx="100584" cy="228600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5776" y="2057400"/>
            <a:ext cx="2066544" cy="841248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65776" y="2057400"/>
            <a:ext cx="2066544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Band selection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7150608" y="2359152"/>
            <a:ext cx="100584" cy="228600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69480" y="2057400"/>
            <a:ext cx="2066544" cy="841248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2057400"/>
            <a:ext cx="2066544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Amplification</a:t>
            </a:r>
          </a:p>
        </p:txBody>
      </p:sp>
      <p:sp>
        <p:nvSpPr>
          <p:cNvPr id="24" name="Chevron 23"/>
          <p:cNvSpPr/>
          <p:nvPr/>
        </p:nvSpPr>
        <p:spPr>
          <a:xfrm>
            <a:off x="9354312" y="2359152"/>
            <a:ext cx="100584" cy="228600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73184" y="2057400"/>
            <a:ext cx="2066544" cy="841248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73184" y="2057400"/>
            <a:ext cx="2066544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Detection</a:t>
            </a:r>
          </a:p>
        </p:txBody>
      </p:sp>
      <p:sp>
        <p:nvSpPr>
          <p:cNvPr id="27" name="Oval 26"/>
          <p:cNvSpPr/>
          <p:nvPr/>
        </p:nvSpPr>
        <p:spPr>
          <a:xfrm>
            <a:off x="1051560" y="3888760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71016" y="3703320"/>
            <a:ext cx="9747504" cy="7726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182028"/>
                </a:solidFill>
                <a:latin typeface="Aptos"/>
              </a:rPr>
              <a:t>Early filtering can reduce out-of-band energy before sensitive stages overload.</a:t>
            </a:r>
          </a:p>
        </p:txBody>
      </p:sp>
      <p:sp>
        <p:nvSpPr>
          <p:cNvPr id="29" name="Oval 28"/>
          <p:cNvSpPr/>
          <p:nvPr/>
        </p:nvSpPr>
        <p:spPr>
          <a:xfrm>
            <a:off x="1051560" y="4807732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71016" y="4622292"/>
            <a:ext cx="9747504" cy="7726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182028"/>
                </a:solidFill>
                <a:latin typeface="Aptos"/>
              </a:rPr>
              <a:t>The passband must still preserve the desired signal's occupied bandwidth and drift.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0" y="5650992"/>
            <a:ext cx="5760720" cy="420624"/>
          </a:xfrm>
          <a:prstGeom prst="round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0" y="5650992"/>
            <a:ext cx="576072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A FILTER IS ONE CONTROL, NOT A COMPLETE RECEIVER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10 | SYSTEMS + THREATS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DESIGN TRADEOFFS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324D"/>
                </a:solidFill>
                <a:latin typeface="Aptos Display"/>
              </a:rPr>
              <a:t>A filter has limits an attacker or fault can expose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808" y="1783080"/>
            <a:ext cx="3520440" cy="3794760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8" y="1783080"/>
            <a:ext cx="82296" cy="3794760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194767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In-band energy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386584"/>
            <a:ext cx="3108960" cy="3044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>
                <a:solidFill>
                  <a:srgbClr val="182028"/>
                </a:solidFill>
                <a:latin typeface="Aptos"/>
              </a:rPr>
              <a:t>Passes through the same frequency region as the desired signal.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256" y="1783080"/>
            <a:ext cx="3520440" cy="3794760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34256" y="1783080"/>
            <a:ext cx="82296" cy="379476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2856" y="194767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Overload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2386584"/>
            <a:ext cx="3108960" cy="3044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>
                <a:solidFill>
                  <a:srgbClr val="182028"/>
                </a:solidFill>
                <a:latin typeface="Aptos"/>
              </a:rPr>
              <a:t>Strong energy may cause nonlinearity before or despite intended filtering.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18704" y="1783080"/>
            <a:ext cx="3520440" cy="3794760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18704" y="1783080"/>
            <a:ext cx="82296" cy="379476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4" y="194767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Detuning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2386584"/>
            <a:ext cx="3108960" cy="3044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>
                <a:solidFill>
                  <a:srgbClr val="182028"/>
                </a:solidFill>
                <a:latin typeface="Aptos"/>
              </a:rPr>
              <a:t>Tolerance, temperature, damage, or alteration shifts the response.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10 | SYSTEMS + THREATS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OBSERVATION BEFORE 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Case: the expected channel becomes weak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58368" y="1737360"/>
          <a:ext cx="10881359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017"/>
                <a:gridCol w="4570171"/>
                <a:gridCol w="4570171"/>
              </a:tblGrid>
              <a:tr h="83210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Step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Question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Useful measurement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  <a:tr h="83210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Observe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What changed directly?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Input and output amplitude versus frequency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  <a:tr h="83210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Localize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Transmitter, path, filter, or receiver?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Known input at each boundary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  <a:tr h="83210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Hypothesize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Interference, loss, detuning, or instrument error?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Controlled A/B test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  <a:tr h="83210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Verify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Did the control restore performance?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Repeated response and baseline comparison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10 | SYSTEMS + THREATS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FRIDAY HANDOFF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324D"/>
                </a:solidFill>
                <a:latin typeface="Aptos Display"/>
              </a:rPr>
              <a:t>Lab 4 turns filter response into message recovery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22960" y="1935163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1755648"/>
            <a:ext cx="6181344" cy="7479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0" i="0">
                <a:solidFill>
                  <a:srgbClr val="182028"/>
                </a:solidFill>
                <a:latin typeface="Aptos"/>
              </a:rPr>
              <a:t>Measure RC high-pass and RL low-pass behavior first.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811158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" y="2631643"/>
            <a:ext cx="6181344" cy="7479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0" i="0">
                <a:solidFill>
                  <a:srgbClr val="182028"/>
                </a:solidFill>
                <a:latin typeface="Aptos"/>
              </a:rPr>
              <a:t>Combine the same parts into a series-RLC band-pass path.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687153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3507638"/>
            <a:ext cx="6181344" cy="7479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0" i="0">
                <a:solidFill>
                  <a:srgbClr val="182028"/>
                </a:solidFill>
                <a:latin typeface="Aptos"/>
              </a:rPr>
              <a:t>Measure a response curve instead of trusting nominal labels.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563148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" y="4383633"/>
            <a:ext cx="6181344" cy="7479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0" i="0">
                <a:solidFill>
                  <a:srgbClr val="182028"/>
                </a:solidFill>
                <a:latin typeface="Aptos"/>
              </a:rPr>
              <a:t>Disconnect the generator and attach the verified wired audio source.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5439143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" y="5259628"/>
            <a:ext cx="6181344" cy="7479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0" i="0">
                <a:solidFill>
                  <a:srgbClr val="182028"/>
                </a:solidFill>
                <a:latin typeface="Aptos"/>
              </a:rPr>
              <a:t>Recover a Morse-code carrier masked by out-of-band tones.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71231" y="1828800"/>
            <a:ext cx="3703320" cy="3611880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71231" y="1828800"/>
            <a:ext cx="82296" cy="3611880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99831" y="1993392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7324D"/>
                </a:solidFill>
                <a:latin typeface="Aptos"/>
              </a:rPr>
              <a:t>Evidence reminder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9831" y="2432304"/>
            <a:ext cx="3291840" cy="2862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>
                <a:solidFill>
                  <a:srgbClr val="182028"/>
                </a:solidFill>
                <a:latin typeface="Aptos"/>
              </a:rPr>
              <a:t>Preserve one RC/RL response, the final circuit, and the message-station input/output comparison.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10 | SYSTEMS + THREATS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EXIT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Week 4 synthesis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1828800"/>
            <a:ext cx="1046988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17324D"/>
                </a:solidFill>
                <a:latin typeface="Aptos Display"/>
              </a:rPr>
              <a:t>A receiver input is healthy, but its desired-channel output is weak and its response peak has shifted.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520440"/>
            <a:ext cx="8503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5F6B73"/>
                </a:solidFill>
                <a:latin typeface="Aptos"/>
              </a:rPr>
              <a:t>Name one supported diagnosis, one security consequence, and one measurement needed next.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4892040"/>
            <a:ext cx="484632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4892040"/>
            <a:ext cx="484632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NEXT: SPECTRUM + SNR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