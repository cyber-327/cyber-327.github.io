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8" r:id="rId4"/>
    <p:sldId id="258" r:id="rId5"/>
    <p:sldId id="269" r:id="rId6"/>
    <p:sldId id="264" r:id="rId7"/>
    <p:sldId id="259" r:id="rId8"/>
    <p:sldId id="260" r:id="rId9"/>
    <p:sldId id="262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419" autoAdjust="0"/>
  </p:normalViewPr>
  <p:slideViewPr>
    <p:cSldViewPr snapToGrid="0" snapToObjects="1">
      <p:cViewPr varScale="1">
        <p:scale>
          <a:sx n="71" d="100"/>
          <a:sy n="71" d="100"/>
        </p:scale>
        <p:origin x="103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6452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47F0F-37D9-BB78-AA81-47379A625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F4D2AB-7F0E-D2BB-A01B-47AAC2DBE5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CC958E-74CC-F98B-4B30-8E703B08A9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6356E-CA13-B5ED-E5FE-D14BE8FB9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2510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C97F2-1202-FFF0-7127-D5D8D689E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E05FF0-73EE-0C09-64E3-D643BE0575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6F21F-DAAB-7929-C98A-BCFAA29118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8B42B-61D1-4EA3-F0B4-961208325C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514797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Connect back to Lecture 5: X_L = 2 pi f L is an ideal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Expected voltage doubles; ideal current capability halves.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9EB0BC"/>
                </a:solidFill>
                <a:latin typeface="Aptos"/>
              </a:rPr>
              <a:t>LECTURE 06 | TRANSFORMERS +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9EB0BC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2C6C8"/>
                </a:solidFill>
                <a:latin typeface="Aptos"/>
              </a:rPr>
              <a:t>CYBER 327  /  LECTURE 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152144"/>
            <a:ext cx="1371600" cy="0"/>
          </a:xfrm>
          <a:prstGeom prst="line">
            <a:avLst/>
          </a:prstGeom>
          <a:ln w="508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481328"/>
            <a:ext cx="996696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ptos Display"/>
              </a:rPr>
              <a:t>Transformers, Isolation, and Coupling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82112"/>
            <a:ext cx="8961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D6E1E7"/>
                </a:solidFill>
                <a:latin typeface="Aptos"/>
              </a:rPr>
              <a:t>Controlled magnetic transfer creates useful links and imperfect boundaries.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5230368"/>
            <a:ext cx="196596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230368"/>
            <a:ext cx="196596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SEP 16,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6" y="5230368"/>
            <a:ext cx="237744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7086600" y="4574286"/>
            <a:ext cx="346710" cy="22082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33310" y="4679899"/>
            <a:ext cx="346710" cy="115214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80020" y="4679899"/>
            <a:ext cx="346710" cy="566471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126730" y="4929530"/>
            <a:ext cx="346710" cy="31684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73440" y="4929530"/>
            <a:ext cx="346710" cy="48006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820150" y="4766310"/>
            <a:ext cx="346710" cy="64328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66860" y="4766310"/>
            <a:ext cx="346710" cy="31683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513570" y="4641494"/>
            <a:ext cx="346710" cy="44165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60280" y="4641494"/>
            <a:ext cx="346710" cy="51846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206990" y="4871923"/>
            <a:ext cx="346710" cy="288036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53700" y="4871923"/>
            <a:ext cx="346710" cy="46085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900410" y="4699101"/>
            <a:ext cx="346710" cy="63367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06 | TRANSFORMERS +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MENTAL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7324D"/>
                </a:solidFill>
                <a:latin typeface="Aptos Display"/>
              </a:rPr>
              <a:t>A transformer is controlled magnetic coupling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1351780"/>
            <a:ext cx="9747504" cy="7726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 dirty="0">
                <a:solidFill>
                  <a:srgbClr val="182028"/>
                </a:solidFill>
                <a:latin typeface="Aptos"/>
              </a:rPr>
              <a:t>Energy transfers through a changing magnetic field.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5650992"/>
            <a:ext cx="576072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0" y="5650992"/>
            <a:ext cx="576072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 dirty="0">
                <a:solidFill>
                  <a:srgbClr val="FFFFFF"/>
                </a:solidFill>
                <a:latin typeface="Aptos"/>
              </a:rPr>
              <a:t>NO CHANGING FLUX -&gt; NO IDEAL TRANSFORMER ACTION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AF64E5A-F9D8-CD73-24AF-18B7BF5EE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0" b="59446"/>
          <a:stretch>
            <a:fillRect/>
          </a:stretch>
        </p:blipFill>
        <p:spPr>
          <a:xfrm>
            <a:off x="252503" y="2271506"/>
            <a:ext cx="6136570" cy="26440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8BE3668-8BC6-91A7-1D8E-437CC9537D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41" t="42048" r="1341" b="6907"/>
          <a:stretch>
            <a:fillRect/>
          </a:stretch>
        </p:blipFill>
        <p:spPr>
          <a:xfrm>
            <a:off x="5892835" y="1582666"/>
            <a:ext cx="6136570" cy="35006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E9DA6D-4C65-9353-656B-E39BF4E89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FD0036-CEAD-AA59-2301-9EB9AF87ACC4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04870BEB-0CE8-F5FF-3F58-10C376993954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68FA0F22-2622-AFD3-35CF-182589A64250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315556C7-03FB-96C9-321F-C18500F06912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4B47A0C2-5E06-DE80-E093-842835E97C5A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EAA8B26E-3B81-9113-98E8-321A5ECC3530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0661FF4-5D15-6E7A-D69F-C6660B6E0B09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06 | TRANSFORMERS + ISOLATION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472AB5-FDCB-78EE-A862-57B1727BB0BF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A6716A-7CAA-AF4F-F4D5-358E050A5154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MENTAL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463A85-D4F4-7298-4E28-53F9DAAE1366}"/>
              </a:ext>
            </a:extLst>
          </p:cNvPr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7324D"/>
                </a:solidFill>
                <a:latin typeface="Aptos Display"/>
              </a:rPr>
              <a:t>A transformer is controlled magnetic coupling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453C1137-22D5-A482-9372-32193ED9BD83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90CE328-4F83-544E-14C3-1629ABE62682}"/>
              </a:ext>
            </a:extLst>
          </p:cNvPr>
          <p:cNvSpPr txBox="1"/>
          <p:nvPr/>
        </p:nvSpPr>
        <p:spPr>
          <a:xfrm>
            <a:off x="594360" y="1351780"/>
            <a:ext cx="9747504" cy="7726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 dirty="0">
                <a:solidFill>
                  <a:srgbClr val="182028"/>
                </a:solidFill>
                <a:latin typeface="Aptos"/>
              </a:rPr>
              <a:t>Energy transfers through a changing magnetic field.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83BC893-BE8F-1556-899E-0EA14F0CB3E8}"/>
              </a:ext>
            </a:extLst>
          </p:cNvPr>
          <p:cNvSpPr/>
          <p:nvPr/>
        </p:nvSpPr>
        <p:spPr>
          <a:xfrm>
            <a:off x="3200400" y="5650992"/>
            <a:ext cx="576072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0DE4A7-D853-C747-85A2-EE80EBD65377}"/>
              </a:ext>
            </a:extLst>
          </p:cNvPr>
          <p:cNvSpPr txBox="1"/>
          <p:nvPr/>
        </p:nvSpPr>
        <p:spPr>
          <a:xfrm>
            <a:off x="3200400" y="5650992"/>
            <a:ext cx="576072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 dirty="0">
                <a:solidFill>
                  <a:srgbClr val="FFFFFF"/>
                </a:solidFill>
                <a:latin typeface="Aptos"/>
              </a:rPr>
              <a:t>NO CHANGING FLUX -&gt; NO IDEAL TRANSFORMER ACTION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73DFF32-5BAC-6C0F-088C-A201C9EB16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9203" y="1219559"/>
            <a:ext cx="2989914" cy="39865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CC46039-D9CB-0819-0D24-E75367EA13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401" y="2124448"/>
            <a:ext cx="4723124" cy="3205265"/>
          </a:xfrm>
          <a:prstGeom prst="rect">
            <a:avLst/>
          </a:prstGeom>
        </p:spPr>
      </p:pic>
      <p:pic>
        <p:nvPicPr>
          <p:cNvPr id="16" name="Picture 15" descr="A picture containing oven&#10;&#10;Description automatically generated">
            <a:extLst>
              <a:ext uri="{FF2B5EF4-FFF2-40B4-BE49-F238E27FC236}">
                <a16:creationId xmlns:a16="http://schemas.microsoft.com/office/drawing/2014/main" id="{8AADDD86-DC7F-94F5-4B8B-70D4FC023E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" y="2308511"/>
            <a:ext cx="3908809" cy="260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898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06 | TRANSFORMERS +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CORE RELATIONSHIP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Turns ratio sets ideal voltage ratio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3537020"/>
            <a:ext cx="3276600" cy="1720780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621990"/>
            <a:ext cx="45719" cy="1635809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914400" y="3810586"/>
                <a:ext cx="2865120" cy="92672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800" b="1" i="1" dirty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1" dirty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dirty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800" b="1" dirty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1" dirty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dirty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800" b="1" dirty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r>
                        <a:rPr lang="en-US" sz="2800" b="1" i="0" dirty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1" i="0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1" i="0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2800" b="1" dirty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1" i="0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1" i="0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2800" b="1" dirty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810586"/>
                <a:ext cx="2865120" cy="9267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914400" y="4979260"/>
            <a:ext cx="2865120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Voltage follows the turns ratio.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1000" y="3537020"/>
            <a:ext cx="3276600" cy="1720780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91000" y="3537020"/>
            <a:ext cx="82296" cy="172078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19600" y="4582651"/>
            <a:ext cx="2865120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Current ratio is inverse for an ideal transformer.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96200" y="3537020"/>
            <a:ext cx="3276600" cy="1720780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96200" y="3621990"/>
            <a:ext cx="82296" cy="1635809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24800" y="4582651"/>
            <a:ext cx="2865120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Real output is lower because of loss.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5596128"/>
            <a:ext cx="6675120" cy="420624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0" y="5596128"/>
            <a:ext cx="667512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STEP-UP VOLTAGE MEANS STEP-DOWN CURRENT CAPABILITY</a:t>
            </a:r>
          </a:p>
        </p:txBody>
      </p:sp>
      <p:pic>
        <p:nvPicPr>
          <p:cNvPr id="28" name="Picture 4" descr="Image result for electrical transformers construction">
            <a:extLst>
              <a:ext uri="{FF2B5EF4-FFF2-40B4-BE49-F238E27FC236}">
                <a16:creationId xmlns:a16="http://schemas.microsoft.com/office/drawing/2014/main" id="{B8538FF5-6200-AD36-EB8C-3C4722B83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55648" y="1199930"/>
            <a:ext cx="3019621" cy="2216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CAC4EA7-5EDB-E31A-5CB8-46638216D026}"/>
                  </a:ext>
                </a:extLst>
              </p:cNvPr>
              <p:cNvSpPr txBox="1"/>
              <p:nvPr/>
            </p:nvSpPr>
            <p:spPr>
              <a:xfrm>
                <a:off x="4437888" y="3621991"/>
                <a:ext cx="2865120" cy="94288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1" i="0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1" i="0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sz="2800" b="1" dirty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1" i="0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1" i="0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sz="2800" b="1" dirty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r>
                        <a:rPr lang="en-US" sz="2800" b="1" i="0" dirty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1" i="0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1" i="0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1" i="1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1" i="0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1" i="0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1" i="1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CAC4EA7-5EDB-E31A-5CB8-46638216D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888" y="3621991"/>
                <a:ext cx="2865120" cy="942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B19201E-74DE-CAAF-AA39-CA19BF5585D7}"/>
                  </a:ext>
                </a:extLst>
              </p:cNvPr>
              <p:cNvSpPr txBox="1"/>
              <p:nvPr/>
            </p:nvSpPr>
            <p:spPr>
              <a:xfrm>
                <a:off x="7924800" y="3658143"/>
                <a:ext cx="286512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dirty="0" smtClean="0">
                            <a:solidFill>
                              <a:srgbClr val="17324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1" i="1" dirty="0" smtClean="0">
                            <a:solidFill>
                              <a:srgbClr val="17324D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1" i="1" dirty="0" smtClean="0">
                            <a:solidFill>
                              <a:srgbClr val="17324D"/>
                            </a:solidFill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sz="2800" b="1" i="0" dirty="0">
                        <a:solidFill>
                          <a:srgbClr val="17324D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b="1" dirty="0">
                    <a:solidFill>
                      <a:srgbClr val="17324D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dirty="0">
                            <a:solidFill>
                              <a:srgbClr val="17324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1" i="1" dirty="0">
                            <a:solidFill>
                              <a:srgbClr val="17324D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1" i="1" dirty="0" smtClean="0">
                            <a:solidFill>
                              <a:srgbClr val="17324D"/>
                            </a:solidFill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B19201E-74DE-CAAF-AA39-CA19BF558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800" y="3658143"/>
                <a:ext cx="2865120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6" descr="Related image">
            <a:extLst>
              <a:ext uri="{FF2B5EF4-FFF2-40B4-BE49-F238E27FC236}">
                <a16:creationId xmlns:a16="http://schemas.microsoft.com/office/drawing/2014/main" id="{45B112B8-8D25-F826-B91B-A5BCC8600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423" y="1109578"/>
            <a:ext cx="2489874" cy="2211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CCAB64-A3C9-2B5F-9AC8-D3C68AFC1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12">
            <a:extLst>
              <a:ext uri="{FF2B5EF4-FFF2-40B4-BE49-F238E27FC236}">
                <a16:creationId xmlns:a16="http://schemas.microsoft.com/office/drawing/2014/main" id="{DEA46164-1D34-7388-A2C8-CC92E1EC5A01}"/>
              </a:ext>
            </a:extLst>
          </p:cNvPr>
          <p:cNvSpPr/>
          <p:nvPr/>
        </p:nvSpPr>
        <p:spPr>
          <a:xfrm>
            <a:off x="5215758" y="1123268"/>
            <a:ext cx="4979275" cy="1720780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9C5742-40CF-53AD-3D52-55DC51780399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DEA6518E-881C-85F2-5A06-3E8874742222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A4048D8-B52B-E99A-99F6-42D99D7F511D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DB84D317-AEE7-7781-701F-DCBC6F39F913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A0DA4B68-4875-9E19-A207-F48E6A6DD4CE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23CE20BD-8102-8A14-0487-B2A8625C923A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DD57FE4-67B0-A2C1-170C-A1A50485F03A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06 | TRANSFORMERS + ISOLATION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FE21E9-5CE9-65CA-34C9-B11D89CAD700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64B954-F85E-1C26-DF74-515EAD0FE795}"/>
              </a:ext>
            </a:extLst>
          </p:cNvPr>
          <p:cNvSpPr txBox="1"/>
          <p:nvPr/>
        </p:nvSpPr>
        <p:spPr>
          <a:xfrm>
            <a:off x="621792" y="354054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MENTAL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65A4B5-795C-1304-7F9D-C2C37A2ED497}"/>
              </a:ext>
            </a:extLst>
          </p:cNvPr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700" b="1" i="0" dirty="0">
                <a:solidFill>
                  <a:srgbClr val="17324D"/>
                </a:solidFill>
                <a:latin typeface="Aptos Display"/>
              </a:rPr>
              <a:t>Why transformers?</a:t>
            </a:r>
            <a:endParaRPr sz="27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55AA5AB8-83DD-C92F-2D84-5D0C0FE04F96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08D9E30-68A0-9594-8E13-C42D91254EA6}"/>
              </a:ext>
            </a:extLst>
          </p:cNvPr>
          <p:cNvSpPr txBox="1"/>
          <p:nvPr/>
        </p:nvSpPr>
        <p:spPr>
          <a:xfrm>
            <a:off x="594360" y="1707475"/>
            <a:ext cx="9747504" cy="1046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700" b="0" i="0" dirty="0">
                <a:solidFill>
                  <a:srgbClr val="182028"/>
                </a:solidFill>
                <a:latin typeface="Aptos"/>
              </a:rPr>
              <a:t>Step voltage up (and current down)</a:t>
            </a:r>
          </a:p>
          <a:p>
            <a:pPr algn="l"/>
            <a:r>
              <a:rPr lang="en-US" sz="1700" b="0" i="0" dirty="0">
                <a:solidFill>
                  <a:srgbClr val="182028"/>
                </a:solidFill>
                <a:latin typeface="Aptos"/>
              </a:rPr>
              <a:t>Step voltage down (and current up)</a:t>
            </a:r>
          </a:p>
          <a:p>
            <a:pPr algn="l"/>
            <a:r>
              <a:rPr lang="en-US" sz="1700" b="0" i="0" dirty="0">
                <a:solidFill>
                  <a:srgbClr val="182028"/>
                </a:solidFill>
                <a:latin typeface="Aptos"/>
              </a:rPr>
              <a:t>Provide DC isolation (block DC)</a:t>
            </a:r>
          </a:p>
          <a:p>
            <a:pPr algn="l"/>
            <a:r>
              <a:rPr lang="en-US" sz="1700" b="0" i="0" dirty="0">
                <a:solidFill>
                  <a:srgbClr val="182028"/>
                </a:solidFill>
                <a:latin typeface="Aptos"/>
              </a:rPr>
              <a:t>Provide impedance matching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BCEF707-BCA1-DF5C-E380-EB44259A2837}"/>
              </a:ext>
            </a:extLst>
          </p:cNvPr>
          <p:cNvSpPr/>
          <p:nvPr/>
        </p:nvSpPr>
        <p:spPr>
          <a:xfrm>
            <a:off x="3200400" y="5650992"/>
            <a:ext cx="576072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4AE571-746E-EA74-7971-1266F17ECFA5}"/>
              </a:ext>
            </a:extLst>
          </p:cNvPr>
          <p:cNvSpPr txBox="1"/>
          <p:nvPr/>
        </p:nvSpPr>
        <p:spPr>
          <a:xfrm>
            <a:off x="3200400" y="5754351"/>
            <a:ext cx="5760720" cy="2139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1150" b="1" i="0" dirty="0">
                <a:solidFill>
                  <a:srgbClr val="FFFFFF"/>
                </a:solidFill>
                <a:latin typeface="Aptos"/>
              </a:rPr>
              <a:t>AC IS EFFICIENT BECAUSE OF TRANSFORMERS</a:t>
            </a:r>
            <a:endParaRPr sz="1150" b="1" i="0" dirty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2FB2D5-10B9-B025-F239-C3F9BA9FA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4" y="3034927"/>
            <a:ext cx="11467033" cy="25285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CC13AD-624A-74CC-98CC-E71EC16D7275}"/>
                  </a:ext>
                </a:extLst>
              </p:cNvPr>
              <p:cNvSpPr txBox="1"/>
              <p:nvPr/>
            </p:nvSpPr>
            <p:spPr>
              <a:xfrm>
                <a:off x="4839957" y="1742093"/>
                <a:ext cx="286512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dirty="0" smtClean="0">
                            <a:solidFill>
                              <a:srgbClr val="17324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1" i="1" dirty="0" smtClean="0">
                            <a:solidFill>
                              <a:srgbClr val="17324D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1" i="1" dirty="0" smtClean="0">
                            <a:solidFill>
                              <a:srgbClr val="17324D"/>
                            </a:solidFill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sz="2800" b="1" i="0" dirty="0">
                        <a:solidFill>
                          <a:srgbClr val="17324D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b="1" dirty="0">
                    <a:solidFill>
                      <a:srgbClr val="17324D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dirty="0">
                            <a:solidFill>
                              <a:srgbClr val="17324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1" i="1" dirty="0">
                            <a:solidFill>
                              <a:srgbClr val="17324D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1" i="1" dirty="0" smtClean="0">
                            <a:solidFill>
                              <a:srgbClr val="17324D"/>
                            </a:solidFill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CC13AD-624A-74CC-98CC-E71EC16D7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9957" y="1742093"/>
                <a:ext cx="286512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FFBD0130-D8A6-89CD-07D7-A5EF89366C6E}"/>
              </a:ext>
            </a:extLst>
          </p:cNvPr>
          <p:cNvSpPr txBox="1"/>
          <p:nvPr/>
        </p:nvSpPr>
        <p:spPr>
          <a:xfrm>
            <a:off x="5538054" y="1391448"/>
            <a:ext cx="2167023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latin typeface="Aptos"/>
              </a:rPr>
              <a:t>REMEMBER</a:t>
            </a:r>
            <a:endParaRPr sz="1200" b="1" i="0" dirty="0"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9A13EB-89FC-BA0C-4A7A-260078A1D661}"/>
                  </a:ext>
                </a:extLst>
              </p:cNvPr>
              <p:cNvSpPr txBox="1"/>
              <p:nvPr/>
            </p:nvSpPr>
            <p:spPr>
              <a:xfrm>
                <a:off x="7289162" y="1742093"/>
                <a:ext cx="286512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dirty="0" smtClean="0">
                            <a:solidFill>
                              <a:srgbClr val="17324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1" i="1" dirty="0" smtClean="0">
                            <a:solidFill>
                              <a:srgbClr val="17324D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1" i="1" dirty="0" smtClean="0">
                            <a:solidFill>
                              <a:srgbClr val="17324D"/>
                            </a:solidFill>
                            <a:latin typeface="Cambria Math" panose="02040503050406030204" pitchFamily="18" charset="0"/>
                          </a:rPr>
                          <m:t>loss</m:t>
                        </m:r>
                      </m:sub>
                    </m:sSub>
                    <m:r>
                      <a:rPr lang="en-US" sz="2800" b="1" i="0" dirty="0">
                        <a:solidFill>
                          <a:srgbClr val="17324D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b="1" dirty="0">
                    <a:solidFill>
                      <a:srgbClr val="17324D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dirty="0" smtClean="0">
                            <a:solidFill>
                              <a:srgbClr val="17324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b="1" i="1" dirty="0" smtClean="0">
                            <a:solidFill>
                              <a:srgbClr val="17324D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p>
                        <m:r>
                          <a:rPr lang="en-US" sz="2800" b="1" i="1" dirty="0" smtClean="0">
                            <a:solidFill>
                              <a:srgbClr val="17324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2800" b="1" i="1" dirty="0" smtClean="0">
                        <a:solidFill>
                          <a:srgbClr val="17324D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9A13EB-89FC-BA0C-4A7A-260078A1D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162" y="1742093"/>
                <a:ext cx="286512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6112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06 | TRANSFORMERS +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MATCHING INTUITION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dirty="0">
                <a:solidFill>
                  <a:srgbClr val="17324D"/>
                </a:solidFill>
                <a:latin typeface="Aptos Display"/>
              </a:rPr>
              <a:t>Impedance can be reflected across a transformer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1828800"/>
            <a:ext cx="3276600" cy="3429000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1828800"/>
            <a:ext cx="82296" cy="3429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743200" y="5596128"/>
            <a:ext cx="6675120" cy="420624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0" y="5699487"/>
            <a:ext cx="6675120" cy="21390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en-US" sz="1150" b="1" i="0" dirty="0">
                <a:solidFill>
                  <a:srgbClr val="FFFFFF"/>
                </a:solidFill>
                <a:latin typeface="Aptos"/>
              </a:rPr>
              <a:t>2:1 TURNS = 4:1 IMPEDANCE</a:t>
            </a:r>
            <a:endParaRPr sz="115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2D61A9-E2F1-CADF-A6AE-C3595EF44652}"/>
              </a:ext>
            </a:extLst>
          </p:cNvPr>
          <p:cNvSpPr txBox="1"/>
          <p:nvPr/>
        </p:nvSpPr>
        <p:spPr>
          <a:xfrm>
            <a:off x="925875" y="3941354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100" b="1" i="0" dirty="0">
                <a:solidFill>
                  <a:srgbClr val="17324D"/>
                </a:solidFill>
                <a:latin typeface="Aptos"/>
              </a:rPr>
              <a:t>Impedance Matching</a:t>
            </a:r>
            <a:endParaRPr sz="21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962D99-9B95-BFED-D824-E8928B522314}"/>
              </a:ext>
            </a:extLst>
          </p:cNvPr>
          <p:cNvSpPr txBox="1"/>
          <p:nvPr/>
        </p:nvSpPr>
        <p:spPr>
          <a:xfrm>
            <a:off x="925875" y="4380266"/>
            <a:ext cx="2926080" cy="511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650" b="0" i="0" dirty="0">
                <a:solidFill>
                  <a:srgbClr val="182028"/>
                </a:solidFill>
                <a:latin typeface="Aptos"/>
              </a:rPr>
              <a:t>Making source and load work well together</a:t>
            </a:r>
            <a:endParaRPr sz="1650" b="0" i="0" dirty="0">
              <a:solidFill>
                <a:srgbClr val="182028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ED624AD-9226-D539-80CB-4156B6110FD4}"/>
                  </a:ext>
                </a:extLst>
              </p:cNvPr>
              <p:cNvSpPr txBox="1"/>
              <p:nvPr/>
            </p:nvSpPr>
            <p:spPr>
              <a:xfrm>
                <a:off x="685800" y="2237385"/>
                <a:ext cx="2865120" cy="127304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800" b="1" i="1" dirty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b="1" dirty="0">
                                      <a:solidFill>
                                        <a:srgbClr val="17324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1" dirty="0">
                                      <a:solidFill>
                                        <a:srgbClr val="17324D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sz="2800" b="1" dirty="0">
                                      <a:solidFill>
                                        <a:srgbClr val="17324D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800" b="1" dirty="0">
                                      <a:solidFill>
                                        <a:srgbClr val="17324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1" dirty="0">
                                      <a:solidFill>
                                        <a:srgbClr val="17324D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sz="2800" b="1" dirty="0">
                                      <a:solidFill>
                                        <a:srgbClr val="17324D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en-US" sz="2800" b="1" i="0" dirty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1" i="0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1" i="0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2800" b="1" dirty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1" i="0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1" i="0" dirty="0" smtClean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2800" b="1" dirty="0">
                                  <a:solidFill>
                                    <a:srgbClr val="17324D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ED624AD-9226-D539-80CB-4156B6110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237385"/>
                <a:ext cx="2865120" cy="12730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DE4A4747-DF10-6C37-1FCE-02D0347104AA}"/>
              </a:ext>
            </a:extLst>
          </p:cNvPr>
          <p:cNvSpPr/>
          <p:nvPr/>
        </p:nvSpPr>
        <p:spPr>
          <a:xfrm>
            <a:off x="5296349" y="2378768"/>
            <a:ext cx="1420009" cy="16030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Black" panose="020B0803020203020204" pitchFamily="34" charset="0"/>
              </a:rPr>
              <a:t>Amplifier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2D42619-CFA1-AADE-7A2F-9D93CCBBC22B}"/>
              </a:ext>
            </a:extLst>
          </p:cNvPr>
          <p:cNvSpPr/>
          <p:nvPr/>
        </p:nvSpPr>
        <p:spPr>
          <a:xfrm>
            <a:off x="9703667" y="2378768"/>
            <a:ext cx="1420009" cy="16030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Black" panose="020B0803020203020204" pitchFamily="34" charset="0"/>
              </a:rPr>
              <a:t>6</a:t>
            </a:r>
            <a:r>
              <a:rPr lang="el-GR" dirty="0">
                <a:solidFill>
                  <a:schemeClr val="tx1"/>
                </a:solidFill>
                <a:latin typeface="Avenir Black" panose="020B0803020203020204" pitchFamily="34" charset="0"/>
              </a:rPr>
              <a:t>Ω</a:t>
            </a:r>
            <a:endParaRPr lang="en-US" dirty="0">
              <a:solidFill>
                <a:schemeClr val="tx1"/>
              </a:solidFill>
              <a:latin typeface="Avenir Black" panose="020B0803020203020204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Avenir Black" panose="020B0803020203020204" pitchFamily="34" charset="0"/>
              </a:rPr>
              <a:t>Speaker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BBC956B-50EB-A364-8338-162569279C81}"/>
              </a:ext>
            </a:extLst>
          </p:cNvPr>
          <p:cNvSpPr/>
          <p:nvPr/>
        </p:nvSpPr>
        <p:spPr>
          <a:xfrm>
            <a:off x="7500008" y="2378768"/>
            <a:ext cx="1420009" cy="16030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venir Black" panose="020B0803020203020204" pitchFamily="34" charset="0"/>
              </a:rPr>
              <a:t>Transformer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A5C6461-66D5-1D14-532D-A4AFBA5876CA}"/>
              </a:ext>
            </a:extLst>
          </p:cNvPr>
          <p:cNvCxnSpPr/>
          <p:nvPr/>
        </p:nvCxnSpPr>
        <p:spPr>
          <a:xfrm>
            <a:off x="6836620" y="3180315"/>
            <a:ext cx="6633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4BEB801-FEFA-1DD0-4C06-356F7AD87580}"/>
              </a:ext>
            </a:extLst>
          </p:cNvPr>
          <p:cNvCxnSpPr/>
          <p:nvPr/>
        </p:nvCxnSpPr>
        <p:spPr>
          <a:xfrm>
            <a:off x="8984563" y="3185878"/>
            <a:ext cx="6633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A3A6009-3D51-8015-3384-6ABA7DAD2C2B}"/>
              </a:ext>
            </a:extLst>
          </p:cNvPr>
          <p:cNvSpPr txBox="1"/>
          <p:nvPr/>
        </p:nvSpPr>
        <p:spPr>
          <a:xfrm>
            <a:off x="5296349" y="4271539"/>
            <a:ext cx="4351602" cy="511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650" b="0" i="0" dirty="0">
                <a:solidFill>
                  <a:srgbClr val="182028"/>
                </a:solidFill>
                <a:latin typeface="Aptos"/>
              </a:rPr>
              <a:t>The amplifier works best if it sees 600 </a:t>
            </a:r>
            <a:r>
              <a:rPr lang="el-GR" sz="1650" b="0" i="0" dirty="0">
                <a:solidFill>
                  <a:srgbClr val="182028"/>
                </a:solidFill>
                <a:latin typeface="Aptos"/>
              </a:rPr>
              <a:t>Ω</a:t>
            </a:r>
            <a:r>
              <a:rPr lang="en-US" sz="1650" b="0" i="0" dirty="0">
                <a:solidFill>
                  <a:srgbClr val="182028"/>
                </a:solidFill>
                <a:latin typeface="Aptos"/>
              </a:rPr>
              <a:t>. What should be the output transformer?</a:t>
            </a:r>
            <a:endParaRPr sz="1650" b="0" i="0" dirty="0">
              <a:solidFill>
                <a:srgbClr val="18202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06 | TRANSFORMERS +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PREDICT BEFORE MEASURING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R</a:t>
            </a:r>
            <a:r>
              <a:rPr sz="2900" b="1" i="0" dirty="0">
                <a:solidFill>
                  <a:srgbClr val="17324D"/>
                </a:solidFill>
                <a:latin typeface="Aptos Display"/>
              </a:rPr>
              <a:t>atio example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6" descr="Related image">
            <a:extLst>
              <a:ext uri="{FF2B5EF4-FFF2-40B4-BE49-F238E27FC236}">
                <a16:creationId xmlns:a16="http://schemas.microsoft.com/office/drawing/2014/main" id="{46A19FB4-EF93-8E31-42B3-C939EC4DA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53363" y="2573169"/>
            <a:ext cx="2489874" cy="2211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9A693B3-F725-1A19-D7C4-850CE47660E8}"/>
                  </a:ext>
                </a:extLst>
              </p:cNvPr>
              <p:cNvSpPr txBox="1"/>
              <p:nvPr/>
            </p:nvSpPr>
            <p:spPr>
              <a:xfrm>
                <a:off x="502920" y="2523669"/>
                <a:ext cx="2865120" cy="46923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US" sz="2800" b="1" i="0" dirty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20 </m:t>
                      </m:r>
                      <m:sSub>
                        <m:sSubPr>
                          <m:ctrl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RMS</m:t>
                          </m:r>
                        </m:sub>
                      </m:sSub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9A693B3-F725-1A19-D7C4-850CE4766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523669"/>
                <a:ext cx="2865120" cy="4692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2354CC-B2A0-3B6D-BB7C-AE03A851CA65}"/>
                  </a:ext>
                </a:extLst>
              </p:cNvPr>
              <p:cNvSpPr txBox="1"/>
              <p:nvPr/>
            </p:nvSpPr>
            <p:spPr>
              <a:xfrm>
                <a:off x="502920" y="3078076"/>
                <a:ext cx="2865120" cy="46923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US" sz="2800" b="1" i="0" dirty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100 </m:t>
                      </m:r>
                      <m:r>
                        <m:rPr>
                          <m:sty m:val="p"/>
                        </m:rPr>
                        <a:rPr lang="en-US" sz="2800" b="1" i="1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turns</m:t>
                      </m:r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2354CC-B2A0-3B6D-BB7C-AE03A851C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3078076"/>
                <a:ext cx="2865120" cy="4692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2E4959-68C5-58D4-1A27-5442C286D34A}"/>
                  </a:ext>
                </a:extLst>
              </p:cNvPr>
              <p:cNvSpPr txBox="1"/>
              <p:nvPr/>
            </p:nvSpPr>
            <p:spPr>
              <a:xfrm>
                <a:off x="502920" y="3547307"/>
                <a:ext cx="286512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n-US" sz="2800" b="1" i="0" dirty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50 </m:t>
                      </m:r>
                      <m:r>
                        <m:rPr>
                          <m:sty m:val="p"/>
                        </m:rPr>
                        <a:rPr lang="en-US" sz="2800" b="1" i="1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turns</m:t>
                      </m:r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2E4959-68C5-58D4-1A27-5442C286D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3547307"/>
                <a:ext cx="2865120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D5499B1-50D8-56B6-25D6-7E4DCDDF86B5}"/>
                  </a:ext>
                </a:extLst>
              </p:cNvPr>
              <p:cNvSpPr txBox="1"/>
              <p:nvPr/>
            </p:nvSpPr>
            <p:spPr>
              <a:xfrm>
                <a:off x="453583" y="4039547"/>
                <a:ext cx="286512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n-US" sz="2800" b="1" i="0" dirty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100 </m:t>
                      </m:r>
                      <m:r>
                        <m:rPr>
                          <m:sty m:val="p"/>
                        </m:rPr>
                        <a:rPr lang="en-US" sz="2800" b="1" i="0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mA</m:t>
                      </m:r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D5499B1-50D8-56B6-25D6-7E4DCDDF8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83" y="4039547"/>
                <a:ext cx="2865120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7FA946-6D34-58EC-24E5-3877BC994402}"/>
                  </a:ext>
                </a:extLst>
              </p:cNvPr>
              <p:cNvSpPr txBox="1"/>
              <p:nvPr/>
            </p:nvSpPr>
            <p:spPr>
              <a:xfrm>
                <a:off x="7833360" y="3262799"/>
                <a:ext cx="2865120" cy="46923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US" sz="2800" b="1" i="0" dirty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17FA946-6D34-58EC-24E5-3877BC994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3360" y="3262799"/>
                <a:ext cx="2865120" cy="4692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FD50F2F-7732-FADD-605E-B5B1ECB0A73F}"/>
                  </a:ext>
                </a:extLst>
              </p:cNvPr>
              <p:cNvSpPr txBox="1"/>
              <p:nvPr/>
            </p:nvSpPr>
            <p:spPr>
              <a:xfrm>
                <a:off x="7738638" y="2608845"/>
                <a:ext cx="286512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n-US" sz="2800" b="1" i="0" dirty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FD50F2F-7732-FADD-605E-B5B1ECB0A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8638" y="2608845"/>
                <a:ext cx="2865120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DD8809C-B942-D4D5-D945-778C18F5E968}"/>
                  </a:ext>
                </a:extLst>
              </p:cNvPr>
              <p:cNvSpPr txBox="1"/>
              <p:nvPr/>
            </p:nvSpPr>
            <p:spPr>
              <a:xfrm>
                <a:off x="7833360" y="3935135"/>
                <a:ext cx="286512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in</m:t>
                          </m:r>
                        </m:sub>
                      </m:sSub>
                      <m:r>
                        <a:rPr lang="en-US" sz="2800" b="1" i="0" dirty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DD8809C-B942-D4D5-D945-778C18F5E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3360" y="3935135"/>
                <a:ext cx="2865120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85436AC-352C-5B51-A930-C321E0141B72}"/>
                  </a:ext>
                </a:extLst>
              </p:cNvPr>
              <p:cNvSpPr txBox="1"/>
              <p:nvPr/>
            </p:nvSpPr>
            <p:spPr>
              <a:xfrm>
                <a:off x="7833360" y="4569127"/>
                <a:ext cx="286512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1" i="1" dirty="0" smtClean="0">
                              <a:solidFill>
                                <a:srgbClr val="17324D"/>
                              </a:solidFill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  <m:r>
                        <a:rPr lang="en-US" sz="2800" b="1" i="0" dirty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rgbClr val="17324D"/>
                          </a:solidFill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sz="2800" b="1" i="0" dirty="0">
                  <a:solidFill>
                    <a:srgbClr val="17324D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85436AC-352C-5B51-A930-C321E0141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3360" y="4569127"/>
                <a:ext cx="2865120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06 | TRANSFORMERS +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NON-IDEAL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Real inductors and transformers have limits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8" y="1783080"/>
            <a:ext cx="3520440" cy="1463036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194767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386584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Winding resistance and core loss turn some stored or transferred energy into heat.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1783080"/>
            <a:ext cx="3520440" cy="1463036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62856" y="194767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Frequency limits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2386584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 dirty="0">
                <a:solidFill>
                  <a:srgbClr val="182028"/>
                </a:solidFill>
                <a:latin typeface="Aptos"/>
              </a:rPr>
              <a:t>Parasitic capacitance, self-resonance, and core saturation limit ideal reactance and transfer.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18704" y="1783080"/>
            <a:ext cx="3520440" cy="1463036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47304" y="194767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Ratings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2386584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>
                <a:solidFill>
                  <a:srgbClr val="182028"/>
                </a:solidFill>
                <a:latin typeface="Aptos"/>
              </a:rPr>
              <a:t>Current, voltage, frequency, insulation, and temperature limits must all be respected.</a:t>
            </a:r>
          </a:p>
        </p:txBody>
      </p:sp>
      <p:sp>
        <p:nvSpPr>
          <p:cNvPr id="26" name="Rounded Rectangle 12">
            <a:extLst>
              <a:ext uri="{FF2B5EF4-FFF2-40B4-BE49-F238E27FC236}">
                <a16:creationId xmlns:a16="http://schemas.microsoft.com/office/drawing/2014/main" id="{1735AD60-BD08-47D3-7C04-A7CCEA7D1ACD}"/>
              </a:ext>
            </a:extLst>
          </p:cNvPr>
          <p:cNvSpPr/>
          <p:nvPr/>
        </p:nvSpPr>
        <p:spPr>
          <a:xfrm>
            <a:off x="832104" y="4041831"/>
            <a:ext cx="3520440" cy="1536009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3218C6-3A93-E414-7CF0-6936913F800A}"/>
              </a:ext>
            </a:extLst>
          </p:cNvPr>
          <p:cNvSpPr txBox="1"/>
          <p:nvPr/>
        </p:nvSpPr>
        <p:spPr>
          <a:xfrm>
            <a:off x="1060704" y="4206423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7324D"/>
                </a:solidFill>
                <a:latin typeface="Aptos"/>
              </a:rPr>
              <a:t>Blocks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EAB51D-497A-C5F9-B3D9-54F0F635D750}"/>
              </a:ext>
            </a:extLst>
          </p:cNvPr>
          <p:cNvSpPr txBox="1"/>
          <p:nvPr/>
        </p:nvSpPr>
        <p:spPr>
          <a:xfrm>
            <a:off x="1060704" y="4645335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>
                <a:solidFill>
                  <a:srgbClr val="182028"/>
                </a:solidFill>
                <a:latin typeface="Aptos"/>
              </a:rPr>
              <a:t>Direct DC continuity and many ground-loop currents.</a:t>
            </a:r>
          </a:p>
        </p:txBody>
      </p:sp>
      <p:sp>
        <p:nvSpPr>
          <p:cNvPr id="32" name="Rounded Rectangle 16">
            <a:extLst>
              <a:ext uri="{FF2B5EF4-FFF2-40B4-BE49-F238E27FC236}">
                <a16:creationId xmlns:a16="http://schemas.microsoft.com/office/drawing/2014/main" id="{EA8897A5-4314-667B-D3C2-34B310FB0920}"/>
              </a:ext>
            </a:extLst>
          </p:cNvPr>
          <p:cNvSpPr/>
          <p:nvPr/>
        </p:nvSpPr>
        <p:spPr>
          <a:xfrm>
            <a:off x="4416552" y="4041831"/>
            <a:ext cx="3520440" cy="1536009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8CF8DB-BEE4-2A3E-317C-C2BF9ECD1FCC}"/>
              </a:ext>
            </a:extLst>
          </p:cNvPr>
          <p:cNvSpPr txBox="1"/>
          <p:nvPr/>
        </p:nvSpPr>
        <p:spPr>
          <a:xfrm>
            <a:off x="4645152" y="4206423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Passes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7BCD43-9865-A4AD-8977-55081915B82F}"/>
              </a:ext>
            </a:extLst>
          </p:cNvPr>
          <p:cNvSpPr txBox="1"/>
          <p:nvPr/>
        </p:nvSpPr>
        <p:spPr>
          <a:xfrm>
            <a:off x="4645152" y="4645335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>
                <a:solidFill>
                  <a:srgbClr val="182028"/>
                </a:solidFill>
                <a:latin typeface="Aptos"/>
              </a:rPr>
              <a:t>Changing signals and power within the transformer's bandwidth.</a:t>
            </a:r>
          </a:p>
        </p:txBody>
      </p:sp>
      <p:sp>
        <p:nvSpPr>
          <p:cNvPr id="38" name="Rounded Rectangle 20">
            <a:extLst>
              <a:ext uri="{FF2B5EF4-FFF2-40B4-BE49-F238E27FC236}">
                <a16:creationId xmlns:a16="http://schemas.microsoft.com/office/drawing/2014/main" id="{F7D89544-1896-7702-EA9F-379E3F33E9FC}"/>
              </a:ext>
            </a:extLst>
          </p:cNvPr>
          <p:cNvSpPr/>
          <p:nvPr/>
        </p:nvSpPr>
        <p:spPr>
          <a:xfrm>
            <a:off x="8001000" y="4041831"/>
            <a:ext cx="3520440" cy="1536009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376393-8E26-B17C-6AEA-FCC76EAE86D7}"/>
              </a:ext>
            </a:extLst>
          </p:cNvPr>
          <p:cNvSpPr txBox="1"/>
          <p:nvPr/>
        </p:nvSpPr>
        <p:spPr>
          <a:xfrm>
            <a:off x="8229600" y="4206423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7324D"/>
                </a:solidFill>
                <a:latin typeface="Aptos"/>
              </a:rPr>
              <a:t>May still couple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152D95-9DB6-7E25-FD4C-8BA1764305F7}"/>
              </a:ext>
            </a:extLst>
          </p:cNvPr>
          <p:cNvSpPr txBox="1"/>
          <p:nvPr/>
        </p:nvSpPr>
        <p:spPr>
          <a:xfrm>
            <a:off x="8229600" y="4645335"/>
            <a:ext cx="3108960" cy="3044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50" b="0" i="0">
                <a:solidFill>
                  <a:srgbClr val="182028"/>
                </a:solidFill>
                <a:latin typeface="Aptos"/>
              </a:rPr>
              <a:t>Capacitance, leakage flux, common-mode energy, or unsafe insulation failure.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1783080"/>
            <a:ext cx="82296" cy="379476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34256" y="1783080"/>
            <a:ext cx="82296" cy="379476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18704" y="1783080"/>
            <a:ext cx="82296" cy="3794760"/>
          </a:xfrm>
          <a:prstGeom prst="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06 | TRANSFORMERS +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WHERE IS THE CURRENT TRYING TO GO?</a:t>
            </a:r>
            <a:endParaRPr sz="1050" b="1" i="0" dirty="0">
              <a:solidFill>
                <a:srgbClr val="0F6D7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700" b="1" i="0" dirty="0">
                <a:solidFill>
                  <a:srgbClr val="17324D"/>
                </a:solidFill>
                <a:latin typeface="Aptos Display"/>
              </a:rPr>
              <a:t>Useful current vs. unwanted current paths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280829"/>
              </p:ext>
            </p:extLst>
          </p:nvPr>
        </p:nvGraphicFramePr>
        <p:xfrm>
          <a:off x="658368" y="1737360"/>
          <a:ext cx="701183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2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5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41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210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Mode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Where measured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Typical concern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182028"/>
                          </a:solidFill>
                          <a:latin typeface="Aptos"/>
                        </a:rPr>
                        <a:t>Differential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Between two signal conductors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Desired information or line imbalance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Common mode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Both conductors relative to a shared reference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Leakage, ground current, emissions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Ground loop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Multiple return paths at different potential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182028"/>
                          </a:solidFill>
                          <a:latin typeface="Aptos"/>
                        </a:rPr>
                        <a:t>Hum, error, unsafe current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Isolation barrier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82028"/>
                          </a:solidFill>
                          <a:latin typeface="Aptos"/>
                        </a:rPr>
                        <a:t>No intended conductive return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182028"/>
                          </a:solidFill>
                          <a:latin typeface="Aptos"/>
                        </a:rPr>
                        <a:t>Barrier rating and parasitic coupling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996234F-5044-F782-FE8C-1FF05139DC07}"/>
              </a:ext>
            </a:extLst>
          </p:cNvPr>
          <p:cNvSpPr txBox="1"/>
          <p:nvPr/>
        </p:nvSpPr>
        <p:spPr>
          <a:xfrm>
            <a:off x="7853082" y="1714985"/>
            <a:ext cx="362263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 dirty="0">
                <a:solidFill>
                  <a:srgbClr val="17324D"/>
                </a:solidFill>
                <a:latin typeface="Aptos Display"/>
              </a:rPr>
              <a:t>Coupling can bypass intended wiring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F0870F-16FE-FBB0-5F01-30EC962C6B09}"/>
              </a:ext>
            </a:extLst>
          </p:cNvPr>
          <p:cNvSpPr txBox="1"/>
          <p:nvPr/>
        </p:nvSpPr>
        <p:spPr>
          <a:xfrm>
            <a:off x="8334308" y="2718970"/>
            <a:ext cx="3324292" cy="30469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50" b="1" i="0" dirty="0">
                <a:solidFill>
                  <a:srgbClr val="182028"/>
                </a:solidFill>
                <a:latin typeface="Aptos"/>
              </a:rPr>
              <a:t>Magnetic coupling</a:t>
            </a:r>
            <a:r>
              <a:rPr lang="en-US" sz="1650" b="0" i="0" dirty="0">
                <a:solidFill>
                  <a:srgbClr val="182028"/>
                </a:solidFill>
                <a:latin typeface="Aptos"/>
              </a:rPr>
              <a:t>: changing current in one loop produces a changing magnetic field that reaches another loop</a:t>
            </a:r>
          </a:p>
          <a:p>
            <a:pPr algn="l"/>
            <a:r>
              <a:rPr lang="en-US" sz="1650" b="1" i="0" dirty="0">
                <a:solidFill>
                  <a:srgbClr val="182028"/>
                </a:solidFill>
                <a:latin typeface="Aptos"/>
              </a:rPr>
              <a:t>Capacitive coupling</a:t>
            </a:r>
            <a:r>
              <a:rPr lang="en-US" sz="1650" b="0" i="0" dirty="0">
                <a:solidFill>
                  <a:srgbClr val="182028"/>
                </a:solidFill>
                <a:latin typeface="Aptos"/>
              </a:rPr>
              <a:t>: changing voltage transfers energy through the small unintended capacitance between conductors.</a:t>
            </a:r>
          </a:p>
          <a:p>
            <a:pPr algn="l"/>
            <a:r>
              <a:rPr lang="en-US" sz="1650" b="1" i="0" dirty="0">
                <a:solidFill>
                  <a:srgbClr val="182028"/>
                </a:solidFill>
                <a:latin typeface="Aptos"/>
              </a:rPr>
              <a:t>Conducted coupling</a:t>
            </a:r>
            <a:r>
              <a:rPr lang="en-US" sz="1650" b="0" i="0" dirty="0">
                <a:solidFill>
                  <a:srgbClr val="182028"/>
                </a:solidFill>
                <a:latin typeface="Aptos"/>
              </a:rPr>
              <a:t>: signals travel through a shared ground, supply, or return path.</a:t>
            </a:r>
          </a:p>
          <a:p>
            <a:pPr algn="l"/>
            <a:endParaRPr sz="1650" b="0" i="0" dirty="0">
              <a:solidFill>
                <a:srgbClr val="18202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06 | TRANSFORMERS +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BEFORE FRIDAY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Exit check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1828800"/>
            <a:ext cx="1046988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17324D"/>
                </a:solidFill>
                <a:latin typeface="Aptos Display"/>
              </a:rPr>
              <a:t>A transformer has twice as many secondary turns as primary turns. What happens to ideal voltage?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4892040"/>
            <a:ext cx="484632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4892040"/>
            <a:ext cx="484632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NEXT: EMI + CONTAINMENT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586</Words>
  <Application>Microsoft Office PowerPoint</Application>
  <PresentationFormat>Widescreen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Avenir Black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Jerson Francia</cp:lastModifiedBy>
  <cp:revision>5</cp:revision>
  <dcterms:created xsi:type="dcterms:W3CDTF">2013-01-27T09:14:16Z</dcterms:created>
  <dcterms:modified xsi:type="dcterms:W3CDTF">2026-09-18T13:30:44Z</dcterms:modified>
  <cp:category/>
</cp:coreProperties>
</file>