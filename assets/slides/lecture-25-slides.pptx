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Lecture 22 mapped bits to signal states; Lecture 23 measured recovery; Lecture 24 organized carriers and dealt with delayed paths. Today inspect actual pulses and the sampling decision. A connection may pass a continuity check yet fail to deliver bits at the required rate. No new live demonstration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message bits through a line encoder, channel, receiver sampling and frame checks. Line coding chooses physical levels/transitions. Error-control coding adds redundancy for detection/correction; encryption addresses privacy. These are separate jobs. Carrier-based QAM and wired line coding are different representations, while both require usable waveforms and timing. Do not claim the DC-08 serial interface uses the specific example codes on later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NRZ as non-return-to-zero: no mandatory neutral return inside each bit. L means level, M means mark (one), S means space (zero). Declare the convention: NRZ-L high=1/low=0; NRZ-M changes at a bit boundary for 1; NRZ-S changes for 0. For M/S, start low immediately BEFORE the first interval. Both ends need the same rule and starting-state/timing information. The name NRZI can be used with different transition conventions; do not infer it without checking.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same bits as Lecture 22/23: 10110001. Ask students to predict each waveform before tracing it. NRZ-L: H L H H L L L H. NRZ-M from initial low: H H L H H H H L. NRZ-S: L H H H L H L L. A high level is not automatically bit 1 in a transition code. Vertical guides are bit boundaries, not additional transmitted clock pulses.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45 seconds before revealing the notes answer. Starting low, compare each level with the previous one. Change/no-change pattern is 1 0 1 1 0 0 0 1. Therefore recover 10110001. Under NRZ-S the same level history would decode 01001110. Starting state also affects the first decision. Incorrect configuration can produce repeatable wrong bits without channel noise.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Manchester convention here: 1 is low-to-high in the middle of the bit; 0 is high-to-low. The midpoint transition is mandatory; bit-boundary transitions may also occur. AMI means alternate mark inversion: zero uses the neutral level, successive ones alternate positive and negative pulses. Declare first mark positive. These are schematic polar/three-level examples, not connector voltage specifications. AMI was important in telephone digital links; keep history brief. Alternating marks reduce DC content, but long zero runs still lack transitions.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Clock recovery means estimating where bit intervals begin and where to sample, not just guessing a voltage threshold. NRZ-L long constant runs give no edges. NRZ-M zeros and NRZ-S ones give no boundary transitions. Manchester guarantees a midpoint transition but uses faster level intervals and generally requires more bandwidth for comparable pulse shaping. AMI zeros still lack transitions. Modern systems can add framing, scrambling or other timing provisions; no code provides authentication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100 kbit/s, Tb=1/100000=10 us. Binary NRZ uses one level interval per bit here. Manchester's half-bit interval is 5 us, but its message rate remains 100 kbit/s. Do not report 200 kbit/s of new information. Ts=1/Rs counts symbols; Tb=1/Rb counts bits. They coincide for one-bit-per-symbol binary NRZ, not for QPSK where a symbol represents two mapped bits. No universal exact bandwidth formula is inferred just from these sketches.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Identify the visual changes before proposing a cause: rounded edges, added voltage variation, or overshoot/ringing. Finite channel bandwidth limits edge speed; filtering can also remove noise, so the design needs an appropriate bandwidth rather than arbitrarily maximum bandwidth. Ringing can arise from channel/termination effects. These are constructed waveforms, not measurements or unique diagnoses. Link sharp transitions back to Lecture 11's harmonics.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ISI means intersymbol interference: energy from one symbol affects a neighboring symbol's decision. The toy observations isolate pattern history, not a fitted channel model. Nominal levels are 0/1 V, threshold 0.5 V. A current zero after zero measures 0.1 V and decodes correctly. A current zero after one measures 0.6 V and is misread as one. The receiver sees the same intended current bit but a different sampled voltage because of history. It is not necessarily a random voltage-noise problem.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Impedance mismatch means an abrupt difference from the impedance the traveling waveform expects. Some signal energy reflects, and a delayed copy can add to a later part of the waveform. An extra cable branch or unsuitable termination may cause this. The amount depends on the actual channel, impedances, edge speed and delays; do not claim every branch always fails. A DC continuity test cannot characterize these fast effects. Further transmission-line analysis comes later in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eye overlays many waveform segments aligned to symbol timing. Here show one-unit-interval windows with a little surrounding time; UI means unit interval, one symbol period in the selected display. Different bit histories create different traces. An overlay summarizes decision conditions, not a readable copy of the message. Do not promise that an ordinary scope has an automatic eye mode; the same idea can be shown in software or prepared captures. The figures are deterministic teaching sketches.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 stated sampling instant, vertical separation between upper/lower observed bands gives a voltage opening. At a stated decision criterion, horizontal opening gives a usable timing window. Choose a threshold between bands and sample away from transitions; the center is a sensible choice for this symmetric illustration, not a universal calibrated optimum. Eye height is not the margin to EACH side of a threshold. Actual instrument definitions may use statistical levels/BER contours, unlike these simple observed-bound examples.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patterns, not supposed attacker signatures. The noise sketch spreads traces mainly vertically; the jitter sketch shifts transitions mainly horizontally. Jitter is variation in transition timing relative to a reference. Bandwidth limitation and ISI can close both dimensions. Mixed causes are common. Keep vertical/time scales, sample count, clock-reference method and measurement point comparable. Eye appearance alone does not uniquely establish the impairment or the BER.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 supplied observed bounds. High minimum 0.8 V minus low maximum 0.2 V gives eye height 0.6 V. With threshold 0.5 V, each side has 0.3 V margin; use the smaller side if asymmetric. A usable 2-8 us window is 6 us wide; sample at 5 us for 3 us margin to either edge. With Tb=10 us these are inside one bit. The criteria and finite record are supplied; no lifetime error-free guarantee or BER calculation follows from these gaps alone.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known bit reference, not unknown application traffic, to count BER. Verify code convention, bit rate, timing/threshold, probe/cable loading and instrument bandwidth before blaming the link. Compare against a saved baseline, change one parameter, restore it and recheck. Capture the eye and error count/compared-bit count at a stated receiver point. Recovery after a controlled change supports a causal hypothesis, but multiple changes at once do not isolate the cause.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maintenance tap or cable replacement adds an unintended branch. Pulse distortion makes a legitimate door command fail its check or timeout. This is an availability risk. The waveform alone cannot distinguish an authorized but poor installation from sabotage. Encryption does not restore distorted pulse decisions; link repair and sender authentication/freshness solve separate problems. Do not portray every tap as causing errors or every impedance change as evidence of an attacker.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the week's four displays: constellation is I/Q position, spectrum is power versus frequency, eye is a time-domain overlay, BER compares recovered bits with an aligned known reference. In QAM a component eye may have multiple vertical openings: a four-level I or Q component of square 16-QAM has three, while two-level QPSK components have one. Planned Lab 9 compares QPSK/16-QAM with controlled impairments and a rate/BER target. It remains a paper plan pending a working simulator/captures and validation; do not announce a ready live lab. No RF transmitter or Arduino is required by that plan.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about two minutes for individual work or pairs. NRZ-M initial low, levels H L L L H H -&gt; 110010. Rb=200 kbit/s -&gt; Tb=5 us. Eye height 0.9-0.3=0.6 V; threshold 0.6 gives 0.3 V worst voltage margin. Usable time window 1-4 us gives center 2.5 us and 1.5 us margin to either boundary. Ask one student to explain why a correct code rule alone does not guarantee a correct sampled voltage. Do not use these supplied ranges to claim a numerical 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exit response: less voltage separation/timing window under the displayed measurement conditions; investigate code/settings, channel bandwidth, noise, jitter or reflections with a controlled comparison. No unique cause, attacker identity or sender authorization follows from the eye alone. Next lecture applies rate, error and timing limits to media delivery, including video, buffering and compression. No script file was requested or produced for this revision.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TextBox 1"/>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9EB0BC"/>
                </a:solidFill>
                <a:latin typeface="Aptos"/>
              </a:rPr>
              <a:t>LECTURE 25 | LINE CODING PULSE IMPAIRMENT</a:t>
            </a:r>
          </a:p>
        </p:txBody>
      </p:sp>
      <p:sp>
        <p:nvSpPr>
          <p:cNvPr id="3" name="TextBox 2"/>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9EB0BC"/>
                </a:solidFill>
                <a:latin typeface="Aptos"/>
              </a:rPr>
              <a:t>01</a:t>
            </a:r>
          </a:p>
        </p:txBody>
      </p:sp>
      <p:sp>
        <p:nvSpPr>
          <p:cNvPr id="4" name="TextBox 3"/>
          <p:cNvSpPr txBox="1"/>
          <p:nvPr/>
        </p:nvSpPr>
        <p:spPr>
          <a:xfrm>
            <a:off x="713232" y="658368"/>
            <a:ext cx="2743200" cy="365760"/>
          </a:xfrm>
          <a:prstGeom prst="rect">
            <a:avLst/>
          </a:prstGeom>
          <a:noFill/>
        </p:spPr>
        <p:txBody>
          <a:bodyPr wrap="square" lIns="0" rIns="0" tIns="0" bIns="0" anchor="t">
            <a:spAutoFit/>
          </a:bodyPr>
          <a:lstStyle/>
          <a:p>
            <a:pPr algn="l"/>
            <a:r>
              <a:rPr sz="1200" b="1" i="0">
                <a:solidFill>
                  <a:srgbClr val="62C6C8"/>
                </a:solidFill>
                <a:latin typeface="Aptos"/>
              </a:rPr>
              <a:t>CYBER 327  /  LECTURE 25</a:t>
            </a:r>
          </a:p>
        </p:txBody>
      </p:sp>
      <p:cxnSp>
        <p:nvCxnSpPr>
          <p:cNvPr id="5" name="Connector 4"/>
          <p:cNvCxnSpPr/>
          <p:nvPr/>
        </p:nvCxnSpPr>
        <p:spPr>
          <a:xfrm>
            <a:off x="731520" y="1152144"/>
            <a:ext cx="1371600" cy="0"/>
          </a:xfrm>
          <a:prstGeom prst="line">
            <a:avLst/>
          </a:prstGeom>
          <a:ln w="50800">
            <a:solidFill>
              <a:srgbClr val="D96F3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1481328"/>
            <a:ext cx="9966960" cy="1508760"/>
          </a:xfrm>
          <a:prstGeom prst="rect">
            <a:avLst/>
          </a:prstGeom>
          <a:noFill/>
        </p:spPr>
        <p:txBody>
          <a:bodyPr wrap="square" lIns="0" rIns="0" tIns="0" bIns="0" anchor="t">
            <a:spAutoFit/>
          </a:bodyPr>
          <a:lstStyle/>
          <a:p>
            <a:pPr algn="l"/>
            <a:r>
              <a:rPr sz="4000" b="1" i="0">
                <a:solidFill>
                  <a:srgbClr val="FFFFFF"/>
                </a:solidFill>
                <a:latin typeface="Aptos Display"/>
              </a:rPr>
              <a:t>Line Coding, Pulse Impairments, and Eye Patterns</a:t>
            </a:r>
          </a:p>
        </p:txBody>
      </p:sp>
      <p:sp>
        <p:nvSpPr>
          <p:cNvPr id="7" name="TextBox 6"/>
          <p:cNvSpPr txBox="1"/>
          <p:nvPr/>
        </p:nvSpPr>
        <p:spPr>
          <a:xfrm>
            <a:off x="749808" y="3182112"/>
            <a:ext cx="8961120" cy="777240"/>
          </a:xfrm>
          <a:prstGeom prst="rect">
            <a:avLst/>
          </a:prstGeom>
          <a:noFill/>
        </p:spPr>
        <p:txBody>
          <a:bodyPr wrap="square" lIns="0" rIns="0" tIns="0" bIns="0" anchor="t">
            <a:spAutoFit/>
          </a:bodyPr>
          <a:lstStyle/>
          <a:p>
            <a:pPr algn="l"/>
            <a:r>
              <a:rPr sz="1900" b="0" i="0">
                <a:solidFill>
                  <a:srgbClr val="D6E1E7"/>
                </a:solidFill>
                <a:latin typeface="Aptos"/>
              </a:rPr>
              <a:t>The bits are correct. Will the wire and sampling clock preserve them?</a:t>
            </a:r>
          </a:p>
        </p:txBody>
      </p:sp>
      <p:sp>
        <p:nvSpPr>
          <p:cNvPr id="8" name="Rounded Rectangle 7"/>
          <p:cNvSpPr/>
          <p:nvPr/>
        </p:nvSpPr>
        <p:spPr>
          <a:xfrm>
            <a:off x="749808" y="5230368"/>
            <a:ext cx="1965960" cy="420624"/>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230368"/>
            <a:ext cx="1965960" cy="420624"/>
          </a:xfrm>
          <a:prstGeom prst="rect">
            <a:avLst/>
          </a:prstGeom>
          <a:noFill/>
        </p:spPr>
        <p:txBody>
          <a:bodyPr wrap="square" lIns="18288" rIns="18288" tIns="18288" bIns="18288" anchor="ctr">
            <a:spAutoFit/>
          </a:bodyPr>
          <a:lstStyle/>
          <a:p>
            <a:pPr algn="ctr"/>
            <a:r>
              <a:rPr sz="1150" b="1" i="0">
                <a:solidFill>
                  <a:srgbClr val="FFFFFF"/>
                </a:solidFill>
                <a:latin typeface="Aptos"/>
              </a:rPr>
              <a:t>FRIDAY, OCTOBER 30, 2026</a:t>
            </a:r>
          </a:p>
        </p:txBody>
      </p:sp>
      <p:cxnSp>
        <p:nvCxnSpPr>
          <p:cNvPr id="10" name="Connector 9"/>
          <p:cNvCxnSpPr/>
          <p:nvPr/>
        </p:nvCxnSpPr>
        <p:spPr>
          <a:xfrm>
            <a:off x="7086600" y="4574286"/>
            <a:ext cx="346710" cy="220827"/>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433310" y="4679899"/>
            <a:ext cx="346710" cy="115214"/>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80020" y="4679899"/>
            <a:ext cx="346710" cy="566471"/>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126730" y="4929530"/>
            <a:ext cx="346710" cy="31684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473440" y="4929530"/>
            <a:ext cx="346710" cy="48006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820150" y="4766310"/>
            <a:ext cx="346710" cy="64328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166860" y="4766310"/>
            <a:ext cx="346710" cy="316839"/>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513570" y="4641494"/>
            <a:ext cx="346710" cy="441655"/>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860280" y="4641494"/>
            <a:ext cx="346710" cy="518465"/>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06990" y="4871923"/>
            <a:ext cx="346710" cy="288036"/>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553700" y="4871923"/>
            <a:ext cx="346710" cy="460857"/>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900410" y="4699101"/>
            <a:ext cx="346710" cy="633679"/>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02</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FOLLOW THE COMMUNICATION CHAIN</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700" b="1" i="0">
                <a:solidFill>
                  <a:srgbClr val="17324D"/>
                </a:solidFill>
                <a:latin typeface="Aptos Display"/>
              </a:rPr>
              <a:t>A receiver needs the right level at the right time</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58368" y="2057400"/>
            <a:ext cx="2066544"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Bits</a:t>
            </a:r>
          </a:p>
        </p:txBody>
      </p:sp>
      <p:sp>
        <p:nvSpPr>
          <p:cNvPr id="15" name="Chevron 14"/>
          <p:cNvSpPr/>
          <p:nvPr/>
        </p:nvSpPr>
        <p:spPr>
          <a:xfrm>
            <a:off x="2743200"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62072" y="2057400"/>
            <a:ext cx="2066544" cy="841248"/>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62072"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Line code</a:t>
            </a:r>
          </a:p>
        </p:txBody>
      </p:sp>
      <p:sp>
        <p:nvSpPr>
          <p:cNvPr id="18" name="Chevron 17"/>
          <p:cNvSpPr/>
          <p:nvPr/>
        </p:nvSpPr>
        <p:spPr>
          <a:xfrm>
            <a:off x="4946904"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057400"/>
            <a:ext cx="2066544"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65776"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Channel</a:t>
            </a:r>
          </a:p>
        </p:txBody>
      </p:sp>
      <p:sp>
        <p:nvSpPr>
          <p:cNvPr id="21" name="Chevron 20"/>
          <p:cNvSpPr/>
          <p:nvPr/>
        </p:nvSpPr>
        <p:spPr>
          <a:xfrm>
            <a:off x="7150608"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69480" y="2057400"/>
            <a:ext cx="2066544" cy="841248"/>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Sample</a:t>
            </a:r>
          </a:p>
        </p:txBody>
      </p:sp>
      <p:sp>
        <p:nvSpPr>
          <p:cNvPr id="24" name="Chevron 23"/>
          <p:cNvSpPr/>
          <p:nvPr/>
        </p:nvSpPr>
        <p:spPr>
          <a:xfrm>
            <a:off x="9354312"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473184" y="2057400"/>
            <a:ext cx="2066544"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73184"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Check</a:t>
            </a:r>
          </a:p>
        </p:txBody>
      </p:sp>
      <p:sp>
        <p:nvSpPr>
          <p:cNvPr id="27" name="Oval 26"/>
          <p:cNvSpPr/>
          <p:nvPr/>
        </p:nvSpPr>
        <p:spPr>
          <a:xfrm>
            <a:off x="1051560" y="3888760"/>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71016" y="3703320"/>
            <a:ext cx="9747504" cy="772668"/>
          </a:xfrm>
          <a:prstGeom prst="rect">
            <a:avLst/>
          </a:prstGeom>
          <a:noFill/>
        </p:spPr>
        <p:txBody>
          <a:bodyPr wrap="square" lIns="0" rIns="0" tIns="0" bIns="0" anchor="ctr">
            <a:spAutoFit/>
          </a:bodyPr>
          <a:lstStyle/>
          <a:p>
            <a:pPr algn="l"/>
            <a:r>
              <a:rPr sz="1700" b="0" i="0">
                <a:solidFill>
                  <a:srgbClr val="182028"/>
                </a:solidFill>
                <a:latin typeface="Aptos"/>
              </a:rPr>
              <a:t>Line coding chooses physical levels or transitions; the channel changes their shape.</a:t>
            </a:r>
          </a:p>
        </p:txBody>
      </p:sp>
      <p:sp>
        <p:nvSpPr>
          <p:cNvPr id="29" name="Oval 28"/>
          <p:cNvSpPr/>
          <p:nvPr/>
        </p:nvSpPr>
        <p:spPr>
          <a:xfrm>
            <a:off x="1051560" y="4807732"/>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71016" y="4622292"/>
            <a:ext cx="9747504" cy="772668"/>
          </a:xfrm>
          <a:prstGeom prst="rect">
            <a:avLst/>
          </a:prstGeom>
          <a:noFill/>
        </p:spPr>
        <p:txBody>
          <a:bodyPr wrap="square" lIns="0" rIns="0" tIns="0" bIns="0" anchor="ctr">
            <a:spAutoFit/>
          </a:bodyPr>
          <a:lstStyle/>
          <a:p>
            <a:pPr algn="l"/>
            <a:r>
              <a:rPr sz="1700" b="0" i="0">
                <a:solidFill>
                  <a:srgbClr val="182028"/>
                </a:solidFill>
                <a:latin typeface="Aptos"/>
              </a:rPr>
              <a:t>Error-control coding and encryption perform separate jobs.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03</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A TRANSITION HAPPENS AT THE START OF A BIT INTERVAL; CONVENTIONS MUST BE STATED</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NRZ: agree on levels or changes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59" cy="4160520"/>
        </p:xfrm>
        <a:graphic>
          <a:graphicData uri="http://schemas.openxmlformats.org/drawingml/2006/table">
            <a:tbl>
              <a:tblPr firstRow="1" bandRow="1">
                <a:tableStyleId>{5C22544A-7EE6-4342-B048-85BDC9FD1C3A}</a:tableStyleId>
              </a:tblPr>
              <a:tblGrid>
                <a:gridCol w="4026103"/>
                <a:gridCol w="3373221"/>
                <a:gridCol w="3482035"/>
              </a:tblGrid>
              <a:tr h="1040130">
                <a:tc>
                  <a:txBody>
                    <a:bodyPr/>
                    <a:lstStyle/>
                    <a:p>
                      <a:r>
                        <a:rPr sz="1700" b="1">
                          <a:solidFill>
                            <a:srgbClr val="FFFFFF"/>
                          </a:solidFill>
                          <a:latin typeface="Aptos"/>
                        </a:rPr>
                        <a:t>Code / full name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Our rule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Needed agreement</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NRZ-L: non-return-to-zero level</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1 = high; 0 = low</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Polarity and bit timing</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NRZ-M: non-return-to-zero mark</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1 = change; 0 = hold</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Initial level and bit timing</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NRZ-S: non-return-to-zero space</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0 = change; 1 = hold</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Initial level and bit timing</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04</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DECLARED CONVENTIONS; HIGH IS NOT ALWAYS A DATA ONE</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Encode the same 1 0 1 1 0 0 0 1 message</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20240" y="1783080"/>
            <a:ext cx="1143000" cy="365760"/>
          </a:xfrm>
          <a:prstGeom prst="rect">
            <a:avLst/>
          </a:prstGeom>
          <a:noFill/>
        </p:spPr>
        <p:txBody>
          <a:bodyPr wrap="square" lIns="0" rIns="0" tIns="0" bIns="0" anchor="t">
            <a:spAutoFit/>
          </a:bodyPr>
          <a:lstStyle/>
          <a:p>
            <a:pPr algn="ctr"/>
            <a:r>
              <a:rPr sz="2300" b="1" i="0">
                <a:solidFill>
                  <a:srgbClr val="17324D"/>
                </a:solidFill>
                <a:latin typeface="Aptos"/>
              </a:rPr>
              <a:t>1</a:t>
            </a:r>
          </a:p>
        </p:txBody>
      </p:sp>
      <p:sp>
        <p:nvSpPr>
          <p:cNvPr id="14" name="TextBox 13"/>
          <p:cNvSpPr txBox="1"/>
          <p:nvPr/>
        </p:nvSpPr>
        <p:spPr>
          <a:xfrm>
            <a:off x="3063240" y="1783080"/>
            <a:ext cx="1143000" cy="365760"/>
          </a:xfrm>
          <a:prstGeom prst="rect">
            <a:avLst/>
          </a:prstGeom>
          <a:noFill/>
        </p:spPr>
        <p:txBody>
          <a:bodyPr wrap="square" lIns="0" rIns="0" tIns="0" bIns="0" anchor="t">
            <a:spAutoFit/>
          </a:bodyPr>
          <a:lstStyle/>
          <a:p>
            <a:pPr algn="ctr"/>
            <a:r>
              <a:rPr sz="2300" b="1" i="0">
                <a:solidFill>
                  <a:srgbClr val="17324D"/>
                </a:solidFill>
                <a:latin typeface="Aptos"/>
              </a:rPr>
              <a:t>0</a:t>
            </a:r>
          </a:p>
        </p:txBody>
      </p:sp>
      <p:sp>
        <p:nvSpPr>
          <p:cNvPr id="15" name="TextBox 14"/>
          <p:cNvSpPr txBox="1"/>
          <p:nvPr/>
        </p:nvSpPr>
        <p:spPr>
          <a:xfrm>
            <a:off x="4206240" y="1783080"/>
            <a:ext cx="1143000" cy="365760"/>
          </a:xfrm>
          <a:prstGeom prst="rect">
            <a:avLst/>
          </a:prstGeom>
          <a:noFill/>
        </p:spPr>
        <p:txBody>
          <a:bodyPr wrap="square" lIns="0" rIns="0" tIns="0" bIns="0" anchor="t">
            <a:spAutoFit/>
          </a:bodyPr>
          <a:lstStyle/>
          <a:p>
            <a:pPr algn="ctr"/>
            <a:r>
              <a:rPr sz="2300" b="1" i="0">
                <a:solidFill>
                  <a:srgbClr val="17324D"/>
                </a:solidFill>
                <a:latin typeface="Aptos"/>
              </a:rPr>
              <a:t>1</a:t>
            </a:r>
          </a:p>
        </p:txBody>
      </p:sp>
      <p:sp>
        <p:nvSpPr>
          <p:cNvPr id="16" name="TextBox 15"/>
          <p:cNvSpPr txBox="1"/>
          <p:nvPr/>
        </p:nvSpPr>
        <p:spPr>
          <a:xfrm>
            <a:off x="5349240" y="1783080"/>
            <a:ext cx="1143000" cy="365760"/>
          </a:xfrm>
          <a:prstGeom prst="rect">
            <a:avLst/>
          </a:prstGeom>
          <a:noFill/>
        </p:spPr>
        <p:txBody>
          <a:bodyPr wrap="square" lIns="0" rIns="0" tIns="0" bIns="0" anchor="t">
            <a:spAutoFit/>
          </a:bodyPr>
          <a:lstStyle/>
          <a:p>
            <a:pPr algn="ctr"/>
            <a:r>
              <a:rPr sz="2300" b="1" i="0">
                <a:solidFill>
                  <a:srgbClr val="17324D"/>
                </a:solidFill>
                <a:latin typeface="Aptos"/>
              </a:rPr>
              <a:t>1</a:t>
            </a:r>
          </a:p>
        </p:txBody>
      </p:sp>
      <p:sp>
        <p:nvSpPr>
          <p:cNvPr id="17" name="TextBox 16"/>
          <p:cNvSpPr txBox="1"/>
          <p:nvPr/>
        </p:nvSpPr>
        <p:spPr>
          <a:xfrm>
            <a:off x="6492240" y="1783080"/>
            <a:ext cx="1143000" cy="365760"/>
          </a:xfrm>
          <a:prstGeom prst="rect">
            <a:avLst/>
          </a:prstGeom>
          <a:noFill/>
        </p:spPr>
        <p:txBody>
          <a:bodyPr wrap="square" lIns="0" rIns="0" tIns="0" bIns="0" anchor="t">
            <a:spAutoFit/>
          </a:bodyPr>
          <a:lstStyle/>
          <a:p>
            <a:pPr algn="ctr"/>
            <a:r>
              <a:rPr sz="2300" b="1" i="0">
                <a:solidFill>
                  <a:srgbClr val="17324D"/>
                </a:solidFill>
                <a:latin typeface="Aptos"/>
              </a:rPr>
              <a:t>0</a:t>
            </a:r>
          </a:p>
        </p:txBody>
      </p:sp>
      <p:sp>
        <p:nvSpPr>
          <p:cNvPr id="18" name="TextBox 17"/>
          <p:cNvSpPr txBox="1"/>
          <p:nvPr/>
        </p:nvSpPr>
        <p:spPr>
          <a:xfrm>
            <a:off x="7635240" y="1783080"/>
            <a:ext cx="1143000" cy="365760"/>
          </a:xfrm>
          <a:prstGeom prst="rect">
            <a:avLst/>
          </a:prstGeom>
          <a:noFill/>
        </p:spPr>
        <p:txBody>
          <a:bodyPr wrap="square" lIns="0" rIns="0" tIns="0" bIns="0" anchor="t">
            <a:spAutoFit/>
          </a:bodyPr>
          <a:lstStyle/>
          <a:p>
            <a:pPr algn="ctr"/>
            <a:r>
              <a:rPr sz="2300" b="1" i="0">
                <a:solidFill>
                  <a:srgbClr val="17324D"/>
                </a:solidFill>
                <a:latin typeface="Aptos"/>
              </a:rPr>
              <a:t>0</a:t>
            </a:r>
          </a:p>
        </p:txBody>
      </p:sp>
      <p:sp>
        <p:nvSpPr>
          <p:cNvPr id="19" name="TextBox 18"/>
          <p:cNvSpPr txBox="1"/>
          <p:nvPr/>
        </p:nvSpPr>
        <p:spPr>
          <a:xfrm>
            <a:off x="8778240" y="1783080"/>
            <a:ext cx="1143000" cy="365760"/>
          </a:xfrm>
          <a:prstGeom prst="rect">
            <a:avLst/>
          </a:prstGeom>
          <a:noFill/>
        </p:spPr>
        <p:txBody>
          <a:bodyPr wrap="square" lIns="0" rIns="0" tIns="0" bIns="0" anchor="t">
            <a:spAutoFit/>
          </a:bodyPr>
          <a:lstStyle/>
          <a:p>
            <a:pPr algn="ctr"/>
            <a:r>
              <a:rPr sz="2300" b="1" i="0">
                <a:solidFill>
                  <a:srgbClr val="17324D"/>
                </a:solidFill>
                <a:latin typeface="Aptos"/>
              </a:rPr>
              <a:t>0</a:t>
            </a:r>
          </a:p>
        </p:txBody>
      </p:sp>
      <p:sp>
        <p:nvSpPr>
          <p:cNvPr id="20" name="TextBox 19"/>
          <p:cNvSpPr txBox="1"/>
          <p:nvPr/>
        </p:nvSpPr>
        <p:spPr>
          <a:xfrm>
            <a:off x="9921240" y="1783080"/>
            <a:ext cx="1143000" cy="365760"/>
          </a:xfrm>
          <a:prstGeom prst="rect">
            <a:avLst/>
          </a:prstGeom>
          <a:noFill/>
        </p:spPr>
        <p:txBody>
          <a:bodyPr wrap="square" lIns="0" rIns="0" tIns="0" bIns="0" anchor="t">
            <a:spAutoFit/>
          </a:bodyPr>
          <a:lstStyle/>
          <a:p>
            <a:pPr algn="ctr"/>
            <a:r>
              <a:rPr sz="2300" b="1" i="0">
                <a:solidFill>
                  <a:srgbClr val="17324D"/>
                </a:solidFill>
                <a:latin typeface="Aptos"/>
              </a:rPr>
              <a:t>1</a:t>
            </a:r>
          </a:p>
        </p:txBody>
      </p:sp>
      <p:sp>
        <p:nvSpPr>
          <p:cNvPr id="21" name="TextBox 20"/>
          <p:cNvSpPr txBox="1"/>
          <p:nvPr/>
        </p:nvSpPr>
        <p:spPr>
          <a:xfrm>
            <a:off x="777240" y="2560320"/>
            <a:ext cx="1005840" cy="365760"/>
          </a:xfrm>
          <a:prstGeom prst="rect">
            <a:avLst/>
          </a:prstGeom>
          <a:noFill/>
        </p:spPr>
        <p:txBody>
          <a:bodyPr wrap="square" lIns="0" rIns="0" tIns="0" bIns="0" anchor="t">
            <a:spAutoFit/>
          </a:bodyPr>
          <a:lstStyle/>
          <a:p>
            <a:pPr algn="l"/>
            <a:r>
              <a:rPr sz="2000" b="1" i="0">
                <a:solidFill>
                  <a:srgbClr val="17324D"/>
                </a:solidFill>
                <a:latin typeface="Aptos"/>
              </a:rPr>
              <a:t>NRZ-L</a:t>
            </a:r>
          </a:p>
        </p:txBody>
      </p:sp>
      <p:cxnSp>
        <p:nvCxnSpPr>
          <p:cNvPr id="22" name="Connector 21"/>
          <p:cNvCxnSpPr/>
          <p:nvPr/>
        </p:nvCxnSpPr>
        <p:spPr>
          <a:xfrm>
            <a:off x="1920240" y="237744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063240" y="237744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206240" y="237744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349240" y="237744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492240" y="237744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635240" y="237744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778240" y="237744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921240" y="237744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064240" y="237744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1920240" y="2423160"/>
            <a:ext cx="9144000" cy="640080"/>
          </a:xfrm>
          <a:custGeom>
            <a:avLst/>
            <a:gdLst/>
            <a:ahLst/>
            <a:cxnLst/>
            <a:rect l="l" t="t" r="r" b="b"/>
            <a:pathLst>
              <a:path w="10000" h="700">
                <a:moveTo>
                  <a:pt x="0" y="0"/>
                </a:moveTo>
                <a:lnTo>
                  <a:pt x="1250" y="0"/>
                </a:lnTo>
                <a:lnTo>
                  <a:pt x="1250" y="700"/>
                </a:lnTo>
                <a:lnTo>
                  <a:pt x="2500" y="700"/>
                </a:lnTo>
                <a:lnTo>
                  <a:pt x="2500" y="0"/>
                </a:lnTo>
                <a:lnTo>
                  <a:pt x="3750" y="0"/>
                </a:lnTo>
                <a:lnTo>
                  <a:pt x="3750" y="0"/>
                </a:lnTo>
                <a:lnTo>
                  <a:pt x="5000" y="0"/>
                </a:lnTo>
                <a:lnTo>
                  <a:pt x="5000" y="700"/>
                </a:lnTo>
                <a:lnTo>
                  <a:pt x="6250" y="700"/>
                </a:lnTo>
                <a:lnTo>
                  <a:pt x="6250" y="700"/>
                </a:lnTo>
                <a:lnTo>
                  <a:pt x="7500" y="700"/>
                </a:lnTo>
                <a:lnTo>
                  <a:pt x="7500" y="700"/>
                </a:lnTo>
                <a:lnTo>
                  <a:pt x="8750" y="700"/>
                </a:lnTo>
                <a:lnTo>
                  <a:pt x="8750" y="0"/>
                </a:lnTo>
                <a:lnTo>
                  <a:pt x="10000" y="0"/>
                </a:lnTo>
              </a:path>
            </a:pathLst>
          </a:custGeom>
          <a:noFill/>
          <a:ln w="2540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3611880"/>
            <a:ext cx="1005840" cy="365760"/>
          </a:xfrm>
          <a:prstGeom prst="rect">
            <a:avLst/>
          </a:prstGeom>
          <a:noFill/>
        </p:spPr>
        <p:txBody>
          <a:bodyPr wrap="square" lIns="0" rIns="0" tIns="0" bIns="0" anchor="t">
            <a:spAutoFit/>
          </a:bodyPr>
          <a:lstStyle/>
          <a:p>
            <a:pPr algn="l"/>
            <a:r>
              <a:rPr sz="2000" b="1" i="0">
                <a:solidFill>
                  <a:srgbClr val="17324D"/>
                </a:solidFill>
                <a:latin typeface="Aptos"/>
              </a:rPr>
              <a:t>NRZ-M</a:t>
            </a:r>
          </a:p>
        </p:txBody>
      </p:sp>
      <p:cxnSp>
        <p:nvCxnSpPr>
          <p:cNvPr id="33" name="Connector 32"/>
          <p:cNvCxnSpPr/>
          <p:nvPr/>
        </p:nvCxnSpPr>
        <p:spPr>
          <a:xfrm>
            <a:off x="1920240" y="342900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063240" y="342900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206240" y="342900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349240" y="342900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492240" y="342900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635240" y="342900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778240" y="342900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921240" y="342900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1064240" y="3429000"/>
            <a:ext cx="0" cy="73152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42" name="Freeform 41"/>
          <p:cNvSpPr/>
          <p:nvPr/>
        </p:nvSpPr>
        <p:spPr>
          <a:xfrm>
            <a:off x="1755648" y="3474720"/>
            <a:ext cx="9308592" cy="640080"/>
          </a:xfrm>
          <a:custGeom>
            <a:avLst/>
            <a:gdLst/>
            <a:ahLst/>
            <a:cxnLst/>
            <a:rect l="l" t="t" r="r" b="b"/>
            <a:pathLst>
              <a:path w="10180" h="700">
                <a:moveTo>
                  <a:pt x="0" y="700"/>
                </a:moveTo>
                <a:lnTo>
                  <a:pt x="180" y="700"/>
                </a:lnTo>
                <a:lnTo>
                  <a:pt x="180" y="0"/>
                </a:lnTo>
                <a:lnTo>
                  <a:pt x="1430" y="0"/>
                </a:lnTo>
                <a:lnTo>
                  <a:pt x="1430" y="0"/>
                </a:lnTo>
                <a:lnTo>
                  <a:pt x="2680" y="0"/>
                </a:lnTo>
                <a:lnTo>
                  <a:pt x="2680" y="700"/>
                </a:lnTo>
                <a:lnTo>
                  <a:pt x="3930" y="700"/>
                </a:lnTo>
                <a:lnTo>
                  <a:pt x="3930" y="0"/>
                </a:lnTo>
                <a:lnTo>
                  <a:pt x="5180" y="0"/>
                </a:lnTo>
                <a:lnTo>
                  <a:pt x="5180" y="0"/>
                </a:lnTo>
                <a:lnTo>
                  <a:pt x="6430" y="0"/>
                </a:lnTo>
                <a:lnTo>
                  <a:pt x="6430" y="0"/>
                </a:lnTo>
                <a:lnTo>
                  <a:pt x="7680" y="0"/>
                </a:lnTo>
                <a:lnTo>
                  <a:pt x="7680" y="0"/>
                </a:lnTo>
                <a:lnTo>
                  <a:pt x="8930" y="0"/>
                </a:lnTo>
                <a:lnTo>
                  <a:pt x="8930" y="700"/>
                </a:lnTo>
                <a:lnTo>
                  <a:pt x="10180" y="700"/>
                </a:lnTo>
              </a:path>
            </a:pathLst>
          </a:custGeom>
          <a:noFill/>
          <a:ln w="2540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4663440"/>
            <a:ext cx="1005840" cy="365760"/>
          </a:xfrm>
          <a:prstGeom prst="rect">
            <a:avLst/>
          </a:prstGeom>
          <a:noFill/>
        </p:spPr>
        <p:txBody>
          <a:bodyPr wrap="square" lIns="0" rIns="0" tIns="0" bIns="0" anchor="t">
            <a:spAutoFit/>
          </a:bodyPr>
          <a:lstStyle/>
          <a:p>
            <a:pPr algn="l"/>
            <a:r>
              <a:rPr sz="2000" b="1" i="0">
                <a:solidFill>
                  <a:srgbClr val="17324D"/>
                </a:solidFill>
                <a:latin typeface="Aptos"/>
              </a:rPr>
              <a:t>NRZ-S</a:t>
            </a:r>
          </a:p>
        </p:txBody>
      </p:sp>
      <p:cxnSp>
        <p:nvCxnSpPr>
          <p:cNvPr id="44" name="Connector 43"/>
          <p:cNvCxnSpPr/>
          <p:nvPr/>
        </p:nvCxnSpPr>
        <p:spPr>
          <a:xfrm>
            <a:off x="1920240" y="4480559"/>
            <a:ext cx="0" cy="731521"/>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063240" y="4480559"/>
            <a:ext cx="0" cy="731521"/>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206240" y="4480559"/>
            <a:ext cx="0" cy="731521"/>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349240" y="4480559"/>
            <a:ext cx="0" cy="731521"/>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492240" y="4480559"/>
            <a:ext cx="0" cy="731521"/>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635240" y="4480559"/>
            <a:ext cx="0" cy="731521"/>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778240" y="4480559"/>
            <a:ext cx="0" cy="731521"/>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921240" y="4480559"/>
            <a:ext cx="0" cy="731521"/>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064240" y="4480559"/>
            <a:ext cx="0" cy="731521"/>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53" name="Freeform 52"/>
          <p:cNvSpPr/>
          <p:nvPr/>
        </p:nvSpPr>
        <p:spPr>
          <a:xfrm>
            <a:off x="1755648" y="4526280"/>
            <a:ext cx="9308592" cy="640080"/>
          </a:xfrm>
          <a:custGeom>
            <a:avLst/>
            <a:gdLst/>
            <a:ahLst/>
            <a:cxnLst/>
            <a:rect l="l" t="t" r="r" b="b"/>
            <a:pathLst>
              <a:path w="10180" h="700">
                <a:moveTo>
                  <a:pt x="0" y="700"/>
                </a:moveTo>
                <a:lnTo>
                  <a:pt x="180" y="700"/>
                </a:lnTo>
                <a:lnTo>
                  <a:pt x="180" y="700"/>
                </a:lnTo>
                <a:lnTo>
                  <a:pt x="1430" y="700"/>
                </a:lnTo>
                <a:lnTo>
                  <a:pt x="1430" y="0"/>
                </a:lnTo>
                <a:lnTo>
                  <a:pt x="2680" y="0"/>
                </a:lnTo>
                <a:lnTo>
                  <a:pt x="2680" y="0"/>
                </a:lnTo>
                <a:lnTo>
                  <a:pt x="3930" y="0"/>
                </a:lnTo>
                <a:lnTo>
                  <a:pt x="3930" y="0"/>
                </a:lnTo>
                <a:lnTo>
                  <a:pt x="5180" y="0"/>
                </a:lnTo>
                <a:lnTo>
                  <a:pt x="5180" y="700"/>
                </a:lnTo>
                <a:lnTo>
                  <a:pt x="6430" y="700"/>
                </a:lnTo>
                <a:lnTo>
                  <a:pt x="6430" y="0"/>
                </a:lnTo>
                <a:lnTo>
                  <a:pt x="7680" y="0"/>
                </a:lnTo>
                <a:lnTo>
                  <a:pt x="7680" y="700"/>
                </a:lnTo>
                <a:lnTo>
                  <a:pt x="8930" y="700"/>
                </a:lnTo>
                <a:lnTo>
                  <a:pt x="8930" y="700"/>
                </a:lnTo>
                <a:lnTo>
                  <a:pt x="10180" y="700"/>
                </a:lnTo>
              </a:path>
            </a:pathLst>
          </a:custGeom>
          <a:noFill/>
          <a:ln w="25400">
            <a:solidFill>
              <a:srgbClr val="1732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15000"/>
            <a:ext cx="10698480" cy="365760"/>
          </a:xfrm>
          <a:prstGeom prst="rect">
            <a:avLst/>
          </a:prstGeom>
          <a:noFill/>
        </p:spPr>
        <p:txBody>
          <a:bodyPr wrap="square" lIns="0" rIns="0" tIns="0" bIns="0" anchor="t">
            <a:spAutoFit/>
          </a:bodyPr>
          <a:lstStyle/>
          <a:p>
            <a:pPr algn="ctr"/>
            <a:r>
              <a:rPr sz="1700" b="0" i="0">
                <a:solidFill>
                  <a:srgbClr val="17324D"/>
                </a:solidFill>
                <a:latin typeface="Aptos"/>
              </a:rPr>
              <a:t>NRZ-M / NRZ-S start LOW immediately before the first bit. Same message; different representations.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05</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PRACTICE BEFORE VIEWING THE SPEAKER-NOTE ANSWERS</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Decode changes, not just high and low</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1783080"/>
            <a:ext cx="10698480" cy="594360"/>
          </a:xfrm>
          <a:prstGeom prst="rect">
            <a:avLst/>
          </a:prstGeom>
          <a:noFill/>
        </p:spPr>
        <p:txBody>
          <a:bodyPr wrap="square" lIns="0" rIns="0" tIns="0" bIns="0" anchor="t">
            <a:spAutoFit/>
          </a:bodyPr>
          <a:lstStyle/>
          <a:p>
            <a:pPr algn="l"/>
            <a:r>
              <a:rPr sz="2200" b="1" i="0">
                <a:solidFill>
                  <a:srgbClr val="17324D"/>
                </a:solidFill>
                <a:latin typeface="Aptos"/>
              </a:rPr>
              <a:t>NRZ-M; initial level LOW. Compare each level with the previous one.</a:t>
            </a:r>
          </a:p>
        </p:txBody>
      </p:sp>
      <p:graphicFrame>
        <p:nvGraphicFramePr>
          <p:cNvPr id="14" name="Table 13"/>
          <p:cNvGraphicFramePr>
            <a:graphicFrameLocks noGrp="1"/>
          </p:cNvGraphicFramePr>
          <p:nvPr/>
        </p:nvGraphicFramePr>
        <p:xfrm>
          <a:off x="658368" y="2606040"/>
          <a:ext cx="10881360" cy="3246120"/>
        </p:xfrm>
        <a:graphic>
          <a:graphicData uri="http://schemas.openxmlformats.org/drawingml/2006/table">
            <a:tbl>
              <a:tblPr firstRow="1" bandRow="1">
                <a:tableStyleId>{5C22544A-7EE6-4342-B048-85BDC9FD1C3A}</a:tableStyleId>
              </a:tblPr>
              <a:tblGrid>
                <a:gridCol w="5440680"/>
                <a:gridCol w="5440680"/>
              </a:tblGrid>
              <a:tr h="1082040">
                <a:tc>
                  <a:txBody>
                    <a:bodyPr/>
                    <a:lstStyle/>
                    <a:p>
                      <a:r>
                        <a:rPr sz="1800" b="1">
                          <a:solidFill>
                            <a:srgbClr val="FFFFFF"/>
                          </a:solidFill>
                          <a:latin typeface="Aptos"/>
                        </a:rPr>
                        <a:t>Received levels, one per bit</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What do you recover?</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82040">
                <a:tc>
                  <a:txBody>
                    <a:bodyPr/>
                    <a:lstStyle/>
                    <a:p>
                      <a:r>
                        <a:rPr sz="1800">
                          <a:solidFill>
                            <a:srgbClr val="182028"/>
                          </a:solidFill>
                          <a:latin typeface="Aptos"/>
                        </a:rPr>
                        <a:t>H H L H H H H L</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Write 1 for a change; 0 for no change.</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82040">
                <a:tc>
                  <a:txBody>
                    <a:bodyPr/>
                    <a:lstStyle/>
                    <a:p>
                      <a:r>
                        <a:rPr sz="1800">
                          <a:solidFill>
                            <a:srgbClr val="182028"/>
                          </a:solidFill>
                          <a:latin typeface="Aptos"/>
                        </a:rPr>
                        <a:t>Use NRZ-S on the same levels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Does the decoded message stay the same?</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06</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MANCHESTER HAS A MIDPOINT TRANSITION; AMI = ALTERNATE MARK INVERSION</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Other codes arrange transitions differently</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560320" y="1783080"/>
            <a:ext cx="1402080" cy="365760"/>
          </a:xfrm>
          <a:prstGeom prst="rect">
            <a:avLst/>
          </a:prstGeom>
          <a:noFill/>
        </p:spPr>
        <p:txBody>
          <a:bodyPr wrap="square" lIns="0" rIns="0" tIns="0" bIns="0" anchor="t">
            <a:spAutoFit/>
          </a:bodyPr>
          <a:lstStyle/>
          <a:p>
            <a:pPr algn="ctr"/>
            <a:r>
              <a:rPr sz="2300" b="1" i="0">
                <a:solidFill>
                  <a:srgbClr val="17324D"/>
                </a:solidFill>
                <a:latin typeface="Aptos"/>
              </a:rPr>
              <a:t>1</a:t>
            </a:r>
          </a:p>
        </p:txBody>
      </p:sp>
      <p:sp>
        <p:nvSpPr>
          <p:cNvPr id="14" name="TextBox 13"/>
          <p:cNvSpPr txBox="1"/>
          <p:nvPr/>
        </p:nvSpPr>
        <p:spPr>
          <a:xfrm>
            <a:off x="3962399" y="1783080"/>
            <a:ext cx="1402080" cy="365760"/>
          </a:xfrm>
          <a:prstGeom prst="rect">
            <a:avLst/>
          </a:prstGeom>
          <a:noFill/>
        </p:spPr>
        <p:txBody>
          <a:bodyPr wrap="square" lIns="0" rIns="0" tIns="0" bIns="0" anchor="t">
            <a:spAutoFit/>
          </a:bodyPr>
          <a:lstStyle/>
          <a:p>
            <a:pPr algn="ctr"/>
            <a:r>
              <a:rPr sz="2300" b="1" i="0">
                <a:solidFill>
                  <a:srgbClr val="17324D"/>
                </a:solidFill>
                <a:latin typeface="Aptos"/>
              </a:rPr>
              <a:t>0</a:t>
            </a:r>
          </a:p>
        </p:txBody>
      </p:sp>
      <p:sp>
        <p:nvSpPr>
          <p:cNvPr id="15" name="TextBox 14"/>
          <p:cNvSpPr txBox="1"/>
          <p:nvPr/>
        </p:nvSpPr>
        <p:spPr>
          <a:xfrm>
            <a:off x="5364480" y="1783080"/>
            <a:ext cx="1402080" cy="365760"/>
          </a:xfrm>
          <a:prstGeom prst="rect">
            <a:avLst/>
          </a:prstGeom>
          <a:noFill/>
        </p:spPr>
        <p:txBody>
          <a:bodyPr wrap="square" lIns="0" rIns="0" tIns="0" bIns="0" anchor="t">
            <a:spAutoFit/>
          </a:bodyPr>
          <a:lstStyle/>
          <a:p>
            <a:pPr algn="ctr"/>
            <a:r>
              <a:rPr sz="2300" b="1" i="0">
                <a:solidFill>
                  <a:srgbClr val="17324D"/>
                </a:solidFill>
                <a:latin typeface="Aptos"/>
              </a:rPr>
              <a:t>1</a:t>
            </a:r>
          </a:p>
        </p:txBody>
      </p:sp>
      <p:sp>
        <p:nvSpPr>
          <p:cNvPr id="16" name="TextBox 15"/>
          <p:cNvSpPr txBox="1"/>
          <p:nvPr/>
        </p:nvSpPr>
        <p:spPr>
          <a:xfrm>
            <a:off x="6766559" y="1783080"/>
            <a:ext cx="1402080" cy="365760"/>
          </a:xfrm>
          <a:prstGeom prst="rect">
            <a:avLst/>
          </a:prstGeom>
          <a:noFill/>
        </p:spPr>
        <p:txBody>
          <a:bodyPr wrap="square" lIns="0" rIns="0" tIns="0" bIns="0" anchor="t">
            <a:spAutoFit/>
          </a:bodyPr>
          <a:lstStyle/>
          <a:p>
            <a:pPr algn="ctr"/>
            <a:r>
              <a:rPr sz="2300" b="1" i="0">
                <a:solidFill>
                  <a:srgbClr val="17324D"/>
                </a:solidFill>
                <a:latin typeface="Aptos"/>
              </a:rPr>
              <a:t>1</a:t>
            </a:r>
          </a:p>
        </p:txBody>
      </p:sp>
      <p:sp>
        <p:nvSpPr>
          <p:cNvPr id="17" name="TextBox 16"/>
          <p:cNvSpPr txBox="1"/>
          <p:nvPr/>
        </p:nvSpPr>
        <p:spPr>
          <a:xfrm>
            <a:off x="8168640" y="1783080"/>
            <a:ext cx="1402080" cy="365760"/>
          </a:xfrm>
          <a:prstGeom prst="rect">
            <a:avLst/>
          </a:prstGeom>
          <a:noFill/>
        </p:spPr>
        <p:txBody>
          <a:bodyPr wrap="square" lIns="0" rIns="0" tIns="0" bIns="0" anchor="t">
            <a:spAutoFit/>
          </a:bodyPr>
          <a:lstStyle/>
          <a:p>
            <a:pPr algn="ctr"/>
            <a:r>
              <a:rPr sz="2300" b="1" i="0">
                <a:solidFill>
                  <a:srgbClr val="17324D"/>
                </a:solidFill>
                <a:latin typeface="Aptos"/>
              </a:rPr>
              <a:t>0</a:t>
            </a:r>
          </a:p>
        </p:txBody>
      </p:sp>
      <p:sp>
        <p:nvSpPr>
          <p:cNvPr id="18" name="TextBox 17"/>
          <p:cNvSpPr txBox="1"/>
          <p:nvPr/>
        </p:nvSpPr>
        <p:spPr>
          <a:xfrm>
            <a:off x="9570720" y="1783080"/>
            <a:ext cx="1402080" cy="365760"/>
          </a:xfrm>
          <a:prstGeom prst="rect">
            <a:avLst/>
          </a:prstGeom>
          <a:noFill/>
        </p:spPr>
        <p:txBody>
          <a:bodyPr wrap="square" lIns="0" rIns="0" tIns="0" bIns="0" anchor="t">
            <a:spAutoFit/>
          </a:bodyPr>
          <a:lstStyle/>
          <a:p>
            <a:pPr algn="ctr"/>
            <a:r>
              <a:rPr sz="2300" b="1" i="0">
                <a:solidFill>
                  <a:srgbClr val="17324D"/>
                </a:solidFill>
                <a:latin typeface="Aptos"/>
              </a:rPr>
              <a:t>0</a:t>
            </a:r>
          </a:p>
        </p:txBody>
      </p:sp>
      <p:sp>
        <p:nvSpPr>
          <p:cNvPr id="19" name="TextBox 18"/>
          <p:cNvSpPr txBox="1"/>
          <p:nvPr/>
        </p:nvSpPr>
        <p:spPr>
          <a:xfrm>
            <a:off x="731520" y="2651760"/>
            <a:ext cx="1691640" cy="457200"/>
          </a:xfrm>
          <a:prstGeom prst="rect">
            <a:avLst/>
          </a:prstGeom>
          <a:noFill/>
        </p:spPr>
        <p:txBody>
          <a:bodyPr wrap="square" lIns="0" rIns="0" tIns="0" bIns="0" anchor="t">
            <a:spAutoFit/>
          </a:bodyPr>
          <a:lstStyle/>
          <a:p>
            <a:pPr algn="l"/>
            <a:r>
              <a:rPr sz="1800" b="1" i="0">
                <a:solidFill>
                  <a:srgbClr val="17324D"/>
                </a:solidFill>
                <a:latin typeface="Aptos"/>
              </a:rPr>
              <a:t>Manchester</a:t>
            </a:r>
          </a:p>
        </p:txBody>
      </p:sp>
      <p:cxnSp>
        <p:nvCxnSpPr>
          <p:cNvPr id="20" name="Connector 19"/>
          <p:cNvCxnSpPr/>
          <p:nvPr/>
        </p:nvCxnSpPr>
        <p:spPr>
          <a:xfrm>
            <a:off x="2560320" y="23317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962399" y="23317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364480" y="23317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766559" y="23317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168640" y="23317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70720" y="23317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972800" y="23317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560320" y="2788920"/>
            <a:ext cx="8412480"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560320" y="2423160"/>
            <a:ext cx="8412480" cy="731520"/>
          </a:xfrm>
          <a:custGeom>
            <a:avLst/>
            <a:gdLst/>
            <a:ahLst/>
            <a:cxnLst/>
            <a:rect l="l" t="t" r="r" b="b"/>
            <a:pathLst>
              <a:path w="9200" h="800">
                <a:moveTo>
                  <a:pt x="0" y="800"/>
                </a:moveTo>
                <a:lnTo>
                  <a:pt x="767" y="800"/>
                </a:lnTo>
                <a:lnTo>
                  <a:pt x="767" y="0"/>
                </a:lnTo>
                <a:lnTo>
                  <a:pt x="1533" y="0"/>
                </a:lnTo>
                <a:lnTo>
                  <a:pt x="1533" y="0"/>
                </a:lnTo>
                <a:lnTo>
                  <a:pt x="2300" y="0"/>
                </a:lnTo>
                <a:lnTo>
                  <a:pt x="2300" y="800"/>
                </a:lnTo>
                <a:lnTo>
                  <a:pt x="3067" y="800"/>
                </a:lnTo>
                <a:lnTo>
                  <a:pt x="3067" y="800"/>
                </a:lnTo>
                <a:lnTo>
                  <a:pt x="3833" y="800"/>
                </a:lnTo>
                <a:lnTo>
                  <a:pt x="3833" y="0"/>
                </a:lnTo>
                <a:lnTo>
                  <a:pt x="4600" y="0"/>
                </a:lnTo>
                <a:lnTo>
                  <a:pt x="4600" y="800"/>
                </a:lnTo>
                <a:lnTo>
                  <a:pt x="5367" y="800"/>
                </a:lnTo>
                <a:lnTo>
                  <a:pt x="5367" y="0"/>
                </a:lnTo>
                <a:lnTo>
                  <a:pt x="6133" y="0"/>
                </a:lnTo>
                <a:lnTo>
                  <a:pt x="6133" y="0"/>
                </a:lnTo>
                <a:lnTo>
                  <a:pt x="6900" y="0"/>
                </a:lnTo>
                <a:lnTo>
                  <a:pt x="6900" y="800"/>
                </a:lnTo>
                <a:lnTo>
                  <a:pt x="7667" y="800"/>
                </a:lnTo>
                <a:lnTo>
                  <a:pt x="7667" y="0"/>
                </a:lnTo>
                <a:lnTo>
                  <a:pt x="8433" y="0"/>
                </a:lnTo>
                <a:lnTo>
                  <a:pt x="8433" y="800"/>
                </a:lnTo>
                <a:lnTo>
                  <a:pt x="9200" y="800"/>
                </a:lnTo>
              </a:path>
            </a:pathLst>
          </a:custGeom>
          <a:noFill/>
          <a:ln w="2540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251959"/>
            <a:ext cx="1691640" cy="457200"/>
          </a:xfrm>
          <a:prstGeom prst="rect">
            <a:avLst/>
          </a:prstGeom>
          <a:noFill/>
        </p:spPr>
        <p:txBody>
          <a:bodyPr wrap="square" lIns="0" rIns="0" tIns="0" bIns="0" anchor="t">
            <a:spAutoFit/>
          </a:bodyPr>
          <a:lstStyle/>
          <a:p>
            <a:pPr algn="l"/>
            <a:r>
              <a:rPr sz="1800" b="1" i="0">
                <a:solidFill>
                  <a:srgbClr val="17324D"/>
                </a:solidFill>
                <a:latin typeface="Aptos"/>
              </a:rPr>
              <a:t>AMI</a:t>
            </a:r>
          </a:p>
        </p:txBody>
      </p:sp>
      <p:cxnSp>
        <p:nvCxnSpPr>
          <p:cNvPr id="30" name="Connector 29"/>
          <p:cNvCxnSpPr/>
          <p:nvPr/>
        </p:nvCxnSpPr>
        <p:spPr>
          <a:xfrm>
            <a:off x="2560320" y="39319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962399" y="39319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364480" y="39319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766559" y="39319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168640" y="39319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570720" y="39319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972800" y="3931920"/>
            <a:ext cx="0" cy="91440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560320" y="4389120"/>
            <a:ext cx="8412480"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2560320" y="4023360"/>
            <a:ext cx="8412480" cy="731520"/>
          </a:xfrm>
          <a:custGeom>
            <a:avLst/>
            <a:gdLst/>
            <a:ahLst/>
            <a:cxnLst/>
            <a:rect l="l" t="t" r="r" b="b"/>
            <a:pathLst>
              <a:path w="9200" h="800">
                <a:moveTo>
                  <a:pt x="0" y="0"/>
                </a:moveTo>
                <a:lnTo>
                  <a:pt x="1533" y="0"/>
                </a:lnTo>
                <a:lnTo>
                  <a:pt x="1533" y="400"/>
                </a:lnTo>
                <a:lnTo>
                  <a:pt x="3067" y="400"/>
                </a:lnTo>
                <a:lnTo>
                  <a:pt x="3067" y="800"/>
                </a:lnTo>
                <a:lnTo>
                  <a:pt x="4600" y="800"/>
                </a:lnTo>
                <a:lnTo>
                  <a:pt x="4600" y="0"/>
                </a:lnTo>
                <a:lnTo>
                  <a:pt x="6133" y="0"/>
                </a:lnTo>
                <a:lnTo>
                  <a:pt x="6133" y="400"/>
                </a:lnTo>
                <a:lnTo>
                  <a:pt x="7667" y="400"/>
                </a:lnTo>
                <a:lnTo>
                  <a:pt x="7667" y="400"/>
                </a:lnTo>
                <a:lnTo>
                  <a:pt x="9200" y="400"/>
                </a:lnTo>
              </a:path>
            </a:pathLst>
          </a:custGeom>
          <a:noFill/>
          <a:ln w="2540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349240"/>
            <a:ext cx="10698480" cy="731520"/>
          </a:xfrm>
          <a:prstGeom prst="rect">
            <a:avLst/>
          </a:prstGeom>
          <a:noFill/>
        </p:spPr>
        <p:txBody>
          <a:bodyPr wrap="square" lIns="0" rIns="0" tIns="0" bIns="0" anchor="t">
            <a:spAutoFit/>
          </a:bodyPr>
          <a:lstStyle/>
          <a:p>
            <a:pPr algn="ctr"/>
            <a:r>
              <a:rPr sz="1900" b="0" i="0">
                <a:solidFill>
                  <a:srgbClr val="17324D"/>
                </a:solidFill>
                <a:latin typeface="Aptos"/>
              </a:rPr>
              <a:t>Manchester: 1 rises and 0 falls at mid-bit.</a:t>
            </a:r>
            <a:br/>
            <a:r>
              <a:rPr sz="1900" b="0" i="0">
                <a:solidFill>
                  <a:srgbClr val="17324D"/>
                </a:solidFill>
                <a:latin typeface="Aptos"/>
              </a:rPr>
              <a:t>AMI: zero is neutral; successive ones alternate + / -. First mark is positive.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07</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CLOCK RECOVERY ESTIMATES WHEN TO SAMPLE; A LINE CODE DOES NOT AUTHENTICATE THE SENDER</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Timing information has a physical cost</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58" cy="4160520"/>
        </p:xfrm>
        <a:graphic>
          <a:graphicData uri="http://schemas.openxmlformats.org/drawingml/2006/table">
            <a:tbl>
              <a:tblPr firstRow="1" bandRow="1">
                <a:tableStyleId>{5C22544A-7EE6-4342-B048-85BDC9FD1C3A}</a:tableStyleId>
              </a:tblPr>
              <a:tblGrid>
                <a:gridCol w="1958644"/>
                <a:gridCol w="3917289"/>
                <a:gridCol w="5005425"/>
              </a:tblGrid>
              <a:tr h="832104">
                <a:tc>
                  <a:txBody>
                    <a:bodyPr/>
                    <a:lstStyle/>
                    <a:p>
                      <a:r>
                        <a:rPr sz="1700" b="1">
                          <a:solidFill>
                            <a:srgbClr val="FFFFFF"/>
                          </a:solidFill>
                          <a:latin typeface="Aptos"/>
                        </a:rPr>
                        <a:t>Code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Run with few / no transitions</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Tradeoff</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NRZ-L</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Long run of the same bit</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Clock recovery needs other provisions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NRZ-M / NRZ-S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Zeros for M / ones for 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Transition rule does not guarantee an edge in every bit</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Manchester</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Every bit has a midpoint transition</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Faster level intervals; generally more bandwidth</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AMI</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Long zero run is neutral</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Alternating marks reduce DC; zeros still need timing support</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08</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T_S = 1 / R_S COUNTS SYMBOLS; T_B = 1 / R_B COUNTS BITS</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700" b="1" i="0">
                <a:solidFill>
                  <a:srgbClr val="17324D"/>
                </a:solidFill>
                <a:latin typeface="Aptos Display"/>
              </a:rPr>
              <a:t>A faster edge pattern is not more message bits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1783080"/>
            <a:ext cx="10698480" cy="594360"/>
          </a:xfrm>
          <a:prstGeom prst="rect">
            <a:avLst/>
          </a:prstGeom>
          <a:noFill/>
        </p:spPr>
        <p:txBody>
          <a:bodyPr wrap="square" lIns="0" rIns="0" tIns="0" bIns="0" anchor="t">
            <a:spAutoFit/>
          </a:bodyPr>
          <a:lstStyle/>
          <a:p>
            <a:pPr algn="l"/>
            <a:r>
              <a:rPr sz="2200" b="1" i="0">
                <a:solidFill>
                  <a:srgbClr val="17324D"/>
                </a:solidFill>
                <a:latin typeface="Aptos"/>
              </a:rPr>
              <a:t>Bit duration: T_b = 1 / R_b. Given R_b = 100 kbit/s.</a:t>
            </a:r>
          </a:p>
        </p:txBody>
      </p:sp>
      <p:graphicFrame>
        <p:nvGraphicFramePr>
          <p:cNvPr id="14" name="Table 13"/>
          <p:cNvGraphicFramePr>
            <a:graphicFrameLocks noGrp="1"/>
          </p:cNvGraphicFramePr>
          <p:nvPr/>
        </p:nvGraphicFramePr>
        <p:xfrm>
          <a:off x="658368" y="2606040"/>
          <a:ext cx="10881360" cy="3246120"/>
        </p:xfrm>
        <a:graphic>
          <a:graphicData uri="http://schemas.openxmlformats.org/drawingml/2006/table">
            <a:tbl>
              <a:tblPr firstRow="1" bandRow="1">
                <a:tableStyleId>{5C22544A-7EE6-4342-B048-85BDC9FD1C3A}</a:tableStyleId>
              </a:tblPr>
              <a:tblGrid>
                <a:gridCol w="3627120"/>
                <a:gridCol w="3627120"/>
                <a:gridCol w="3627120"/>
              </a:tblGrid>
              <a:tr h="1082040">
                <a:tc>
                  <a:txBody>
                    <a:bodyPr/>
                    <a:lstStyle/>
                    <a:p>
                      <a:r>
                        <a:rPr sz="1800" b="1">
                          <a:solidFill>
                            <a:srgbClr val="FFFFFF"/>
                          </a:solidFill>
                          <a:latin typeface="Aptos"/>
                        </a:rPr>
                        <a:t>Representation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Time calculation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New message rate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82040">
                <a:tc>
                  <a:txBody>
                    <a:bodyPr/>
                    <a:lstStyle/>
                    <a:p>
                      <a:r>
                        <a:rPr sz="1800">
                          <a:solidFill>
                            <a:srgbClr val="182028"/>
                          </a:solidFill>
                          <a:latin typeface="Aptos"/>
                        </a:rPr>
                        <a:t>Binary NRZ bit interval</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 / 100,000 = 10 us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100 kbit/s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82040">
                <a:tc>
                  <a:txBody>
                    <a:bodyPr/>
                    <a:lstStyle/>
                    <a:p>
                      <a:r>
                        <a:rPr sz="1800">
                          <a:solidFill>
                            <a:srgbClr val="182028"/>
                          </a:solidFill>
                          <a:latin typeface="Aptos"/>
                        </a:rPr>
                        <a:t>Manchester half-bit interval</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10 us / 2 = 5 us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Still 100 kbit/s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09</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CONNECT FINITE BANDWIDTH TO THE HARMONICS IN LECTURE 11</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Real channels change the pulse shape</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1920239"/>
            <a:ext cx="4754880" cy="365760"/>
          </a:xfrm>
          <a:prstGeom prst="rect">
            <a:avLst/>
          </a:prstGeom>
          <a:noFill/>
        </p:spPr>
        <p:txBody>
          <a:bodyPr wrap="square" lIns="0" rIns="0" tIns="0" bIns="0" anchor="t">
            <a:spAutoFit/>
          </a:bodyPr>
          <a:lstStyle/>
          <a:p>
            <a:pPr algn="l"/>
            <a:r>
              <a:rPr sz="2100" b="1" i="0">
                <a:solidFill>
                  <a:srgbClr val="17324D"/>
                </a:solidFill>
                <a:latin typeface="Aptos"/>
              </a:rPr>
              <a:t>Idealized pulses</a:t>
            </a:r>
          </a:p>
        </p:txBody>
      </p:sp>
      <p:cxnSp>
        <p:nvCxnSpPr>
          <p:cNvPr id="14" name="Connector 13"/>
          <p:cNvCxnSpPr/>
          <p:nvPr/>
        </p:nvCxnSpPr>
        <p:spPr>
          <a:xfrm>
            <a:off x="822960" y="3246120"/>
            <a:ext cx="4754880"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822960" y="2697480"/>
            <a:ext cx="4754880" cy="548640"/>
          </a:xfrm>
          <a:custGeom>
            <a:avLst/>
            <a:gdLst/>
            <a:ahLst/>
            <a:cxnLst/>
            <a:rect l="l" t="t" r="r" b="b"/>
            <a:pathLst>
              <a:path w="5200" h="600">
                <a:moveTo>
                  <a:pt x="0" y="0"/>
                </a:moveTo>
                <a:lnTo>
                  <a:pt x="22" y="0"/>
                </a:lnTo>
                <a:lnTo>
                  <a:pt x="43" y="0"/>
                </a:lnTo>
                <a:lnTo>
                  <a:pt x="65" y="0"/>
                </a:lnTo>
                <a:lnTo>
                  <a:pt x="87" y="0"/>
                </a:lnTo>
                <a:lnTo>
                  <a:pt x="108" y="0"/>
                </a:lnTo>
                <a:lnTo>
                  <a:pt x="130" y="0"/>
                </a:lnTo>
                <a:lnTo>
                  <a:pt x="152" y="0"/>
                </a:lnTo>
                <a:lnTo>
                  <a:pt x="173" y="0"/>
                </a:lnTo>
                <a:lnTo>
                  <a:pt x="195" y="0"/>
                </a:lnTo>
                <a:lnTo>
                  <a:pt x="217" y="0"/>
                </a:lnTo>
                <a:lnTo>
                  <a:pt x="238" y="0"/>
                </a:lnTo>
                <a:lnTo>
                  <a:pt x="260" y="0"/>
                </a:lnTo>
                <a:lnTo>
                  <a:pt x="282" y="0"/>
                </a:lnTo>
                <a:lnTo>
                  <a:pt x="303" y="0"/>
                </a:lnTo>
                <a:lnTo>
                  <a:pt x="325" y="0"/>
                </a:lnTo>
                <a:lnTo>
                  <a:pt x="347" y="0"/>
                </a:lnTo>
                <a:lnTo>
                  <a:pt x="368" y="0"/>
                </a:lnTo>
                <a:lnTo>
                  <a:pt x="390" y="0"/>
                </a:lnTo>
                <a:lnTo>
                  <a:pt x="412" y="0"/>
                </a:lnTo>
                <a:lnTo>
                  <a:pt x="433" y="0"/>
                </a:lnTo>
                <a:lnTo>
                  <a:pt x="455" y="0"/>
                </a:lnTo>
                <a:lnTo>
                  <a:pt x="477" y="0"/>
                </a:lnTo>
                <a:lnTo>
                  <a:pt x="498" y="0"/>
                </a:lnTo>
                <a:lnTo>
                  <a:pt x="520" y="0"/>
                </a:lnTo>
                <a:lnTo>
                  <a:pt x="542" y="0"/>
                </a:lnTo>
                <a:lnTo>
                  <a:pt x="563" y="0"/>
                </a:lnTo>
                <a:lnTo>
                  <a:pt x="585" y="0"/>
                </a:lnTo>
                <a:lnTo>
                  <a:pt x="607" y="0"/>
                </a:lnTo>
                <a:lnTo>
                  <a:pt x="628" y="0"/>
                </a:lnTo>
                <a:lnTo>
                  <a:pt x="650" y="0"/>
                </a:lnTo>
                <a:lnTo>
                  <a:pt x="672" y="0"/>
                </a:lnTo>
                <a:lnTo>
                  <a:pt x="693" y="0"/>
                </a:lnTo>
                <a:lnTo>
                  <a:pt x="715" y="0"/>
                </a:lnTo>
                <a:lnTo>
                  <a:pt x="737" y="0"/>
                </a:lnTo>
                <a:lnTo>
                  <a:pt x="758" y="0"/>
                </a:lnTo>
                <a:lnTo>
                  <a:pt x="780" y="0"/>
                </a:lnTo>
                <a:lnTo>
                  <a:pt x="802" y="0"/>
                </a:lnTo>
                <a:lnTo>
                  <a:pt x="823" y="0"/>
                </a:lnTo>
                <a:lnTo>
                  <a:pt x="845" y="0"/>
                </a:lnTo>
                <a:lnTo>
                  <a:pt x="867" y="0"/>
                </a:lnTo>
                <a:lnTo>
                  <a:pt x="888" y="0"/>
                </a:lnTo>
                <a:lnTo>
                  <a:pt x="910" y="0"/>
                </a:lnTo>
                <a:lnTo>
                  <a:pt x="932" y="0"/>
                </a:lnTo>
                <a:lnTo>
                  <a:pt x="953" y="0"/>
                </a:lnTo>
                <a:lnTo>
                  <a:pt x="975" y="0"/>
                </a:lnTo>
                <a:lnTo>
                  <a:pt x="997" y="0"/>
                </a:lnTo>
                <a:lnTo>
                  <a:pt x="1018" y="0"/>
                </a:lnTo>
                <a:lnTo>
                  <a:pt x="1040" y="0"/>
                </a:lnTo>
                <a:lnTo>
                  <a:pt x="1062" y="0"/>
                </a:lnTo>
                <a:lnTo>
                  <a:pt x="1083" y="0"/>
                </a:lnTo>
                <a:lnTo>
                  <a:pt x="1105" y="0"/>
                </a:lnTo>
                <a:lnTo>
                  <a:pt x="1127" y="0"/>
                </a:lnTo>
                <a:lnTo>
                  <a:pt x="1148" y="0"/>
                </a:lnTo>
                <a:lnTo>
                  <a:pt x="1170" y="0"/>
                </a:lnTo>
                <a:lnTo>
                  <a:pt x="1192" y="0"/>
                </a:lnTo>
                <a:lnTo>
                  <a:pt x="1213" y="0"/>
                </a:lnTo>
                <a:lnTo>
                  <a:pt x="1235" y="0"/>
                </a:lnTo>
                <a:lnTo>
                  <a:pt x="1257" y="0"/>
                </a:lnTo>
                <a:lnTo>
                  <a:pt x="1278" y="0"/>
                </a:lnTo>
                <a:lnTo>
                  <a:pt x="1300" y="600"/>
                </a:lnTo>
                <a:lnTo>
                  <a:pt x="1322" y="600"/>
                </a:lnTo>
                <a:lnTo>
                  <a:pt x="1343" y="600"/>
                </a:lnTo>
                <a:lnTo>
                  <a:pt x="1365" y="600"/>
                </a:lnTo>
                <a:lnTo>
                  <a:pt x="1387" y="600"/>
                </a:lnTo>
                <a:lnTo>
                  <a:pt x="1408" y="600"/>
                </a:lnTo>
                <a:lnTo>
                  <a:pt x="1430" y="600"/>
                </a:lnTo>
                <a:lnTo>
                  <a:pt x="1452" y="600"/>
                </a:lnTo>
                <a:lnTo>
                  <a:pt x="1473" y="600"/>
                </a:lnTo>
                <a:lnTo>
                  <a:pt x="1495" y="600"/>
                </a:lnTo>
                <a:lnTo>
                  <a:pt x="1517" y="600"/>
                </a:lnTo>
                <a:lnTo>
                  <a:pt x="1538" y="600"/>
                </a:lnTo>
                <a:lnTo>
                  <a:pt x="1560" y="600"/>
                </a:lnTo>
                <a:lnTo>
                  <a:pt x="1582" y="600"/>
                </a:lnTo>
                <a:lnTo>
                  <a:pt x="1603" y="600"/>
                </a:lnTo>
                <a:lnTo>
                  <a:pt x="1625" y="600"/>
                </a:lnTo>
                <a:lnTo>
                  <a:pt x="1647" y="600"/>
                </a:lnTo>
                <a:lnTo>
                  <a:pt x="1668" y="600"/>
                </a:lnTo>
                <a:lnTo>
                  <a:pt x="1690" y="600"/>
                </a:lnTo>
                <a:lnTo>
                  <a:pt x="1712" y="600"/>
                </a:lnTo>
                <a:lnTo>
                  <a:pt x="1733" y="600"/>
                </a:lnTo>
                <a:lnTo>
                  <a:pt x="1755" y="600"/>
                </a:lnTo>
                <a:lnTo>
                  <a:pt x="1777" y="600"/>
                </a:lnTo>
                <a:lnTo>
                  <a:pt x="1798" y="600"/>
                </a:lnTo>
                <a:lnTo>
                  <a:pt x="1820" y="600"/>
                </a:lnTo>
                <a:lnTo>
                  <a:pt x="1842" y="600"/>
                </a:lnTo>
                <a:lnTo>
                  <a:pt x="1863" y="600"/>
                </a:lnTo>
                <a:lnTo>
                  <a:pt x="1885" y="600"/>
                </a:lnTo>
                <a:lnTo>
                  <a:pt x="1907" y="600"/>
                </a:lnTo>
                <a:lnTo>
                  <a:pt x="1928" y="600"/>
                </a:lnTo>
                <a:lnTo>
                  <a:pt x="1950" y="600"/>
                </a:lnTo>
                <a:lnTo>
                  <a:pt x="1972" y="600"/>
                </a:lnTo>
                <a:lnTo>
                  <a:pt x="1993" y="600"/>
                </a:lnTo>
                <a:lnTo>
                  <a:pt x="2015" y="600"/>
                </a:lnTo>
                <a:lnTo>
                  <a:pt x="2037" y="600"/>
                </a:lnTo>
                <a:lnTo>
                  <a:pt x="2058" y="600"/>
                </a:lnTo>
                <a:lnTo>
                  <a:pt x="2080" y="600"/>
                </a:lnTo>
                <a:lnTo>
                  <a:pt x="2102" y="600"/>
                </a:lnTo>
                <a:lnTo>
                  <a:pt x="2123" y="600"/>
                </a:lnTo>
                <a:lnTo>
                  <a:pt x="2145" y="600"/>
                </a:lnTo>
                <a:lnTo>
                  <a:pt x="2167" y="600"/>
                </a:lnTo>
                <a:lnTo>
                  <a:pt x="2188" y="600"/>
                </a:lnTo>
                <a:lnTo>
                  <a:pt x="2210" y="600"/>
                </a:lnTo>
                <a:lnTo>
                  <a:pt x="2232" y="600"/>
                </a:lnTo>
                <a:lnTo>
                  <a:pt x="2253" y="600"/>
                </a:lnTo>
                <a:lnTo>
                  <a:pt x="2275" y="600"/>
                </a:lnTo>
                <a:lnTo>
                  <a:pt x="2297" y="600"/>
                </a:lnTo>
                <a:lnTo>
                  <a:pt x="2318" y="600"/>
                </a:lnTo>
                <a:lnTo>
                  <a:pt x="2340" y="600"/>
                </a:lnTo>
                <a:lnTo>
                  <a:pt x="2362" y="600"/>
                </a:lnTo>
                <a:lnTo>
                  <a:pt x="2383" y="600"/>
                </a:lnTo>
                <a:lnTo>
                  <a:pt x="2405" y="600"/>
                </a:lnTo>
                <a:lnTo>
                  <a:pt x="2427" y="600"/>
                </a:lnTo>
                <a:lnTo>
                  <a:pt x="2448" y="600"/>
                </a:lnTo>
                <a:lnTo>
                  <a:pt x="2470" y="600"/>
                </a:lnTo>
                <a:lnTo>
                  <a:pt x="2492" y="600"/>
                </a:lnTo>
                <a:lnTo>
                  <a:pt x="2513" y="600"/>
                </a:lnTo>
                <a:lnTo>
                  <a:pt x="2535" y="600"/>
                </a:lnTo>
                <a:lnTo>
                  <a:pt x="2557" y="600"/>
                </a:lnTo>
                <a:lnTo>
                  <a:pt x="2578" y="600"/>
                </a:lnTo>
                <a:lnTo>
                  <a:pt x="2600" y="0"/>
                </a:lnTo>
                <a:lnTo>
                  <a:pt x="2622" y="0"/>
                </a:lnTo>
                <a:lnTo>
                  <a:pt x="2643" y="0"/>
                </a:lnTo>
                <a:lnTo>
                  <a:pt x="2665" y="0"/>
                </a:lnTo>
                <a:lnTo>
                  <a:pt x="2687" y="0"/>
                </a:lnTo>
                <a:lnTo>
                  <a:pt x="2708" y="0"/>
                </a:lnTo>
                <a:lnTo>
                  <a:pt x="2730" y="0"/>
                </a:lnTo>
                <a:lnTo>
                  <a:pt x="2752" y="0"/>
                </a:lnTo>
                <a:lnTo>
                  <a:pt x="2773" y="0"/>
                </a:lnTo>
                <a:lnTo>
                  <a:pt x="2795" y="0"/>
                </a:lnTo>
                <a:lnTo>
                  <a:pt x="2817" y="0"/>
                </a:lnTo>
                <a:lnTo>
                  <a:pt x="2838" y="0"/>
                </a:lnTo>
                <a:lnTo>
                  <a:pt x="2860" y="0"/>
                </a:lnTo>
                <a:lnTo>
                  <a:pt x="2882" y="0"/>
                </a:lnTo>
                <a:lnTo>
                  <a:pt x="2903" y="0"/>
                </a:lnTo>
                <a:lnTo>
                  <a:pt x="2925" y="0"/>
                </a:lnTo>
                <a:lnTo>
                  <a:pt x="2947" y="0"/>
                </a:lnTo>
                <a:lnTo>
                  <a:pt x="2968" y="0"/>
                </a:lnTo>
                <a:lnTo>
                  <a:pt x="2990" y="0"/>
                </a:lnTo>
                <a:lnTo>
                  <a:pt x="3012" y="0"/>
                </a:lnTo>
                <a:lnTo>
                  <a:pt x="3033" y="0"/>
                </a:lnTo>
                <a:lnTo>
                  <a:pt x="3055" y="0"/>
                </a:lnTo>
                <a:lnTo>
                  <a:pt x="3077" y="0"/>
                </a:lnTo>
                <a:lnTo>
                  <a:pt x="3098" y="0"/>
                </a:lnTo>
                <a:lnTo>
                  <a:pt x="3120" y="0"/>
                </a:lnTo>
                <a:lnTo>
                  <a:pt x="3142" y="0"/>
                </a:lnTo>
                <a:lnTo>
                  <a:pt x="3163" y="0"/>
                </a:lnTo>
                <a:lnTo>
                  <a:pt x="3185" y="0"/>
                </a:lnTo>
                <a:lnTo>
                  <a:pt x="3207" y="0"/>
                </a:lnTo>
                <a:lnTo>
                  <a:pt x="3228" y="0"/>
                </a:lnTo>
                <a:lnTo>
                  <a:pt x="3250" y="0"/>
                </a:lnTo>
                <a:lnTo>
                  <a:pt x="3272" y="0"/>
                </a:lnTo>
                <a:lnTo>
                  <a:pt x="3293" y="0"/>
                </a:lnTo>
                <a:lnTo>
                  <a:pt x="3315" y="0"/>
                </a:lnTo>
                <a:lnTo>
                  <a:pt x="3337" y="0"/>
                </a:lnTo>
                <a:lnTo>
                  <a:pt x="3358" y="0"/>
                </a:lnTo>
                <a:lnTo>
                  <a:pt x="3380" y="0"/>
                </a:lnTo>
                <a:lnTo>
                  <a:pt x="3402" y="0"/>
                </a:lnTo>
                <a:lnTo>
                  <a:pt x="3423" y="0"/>
                </a:lnTo>
                <a:lnTo>
                  <a:pt x="3445" y="0"/>
                </a:lnTo>
                <a:lnTo>
                  <a:pt x="3467" y="0"/>
                </a:lnTo>
                <a:lnTo>
                  <a:pt x="3488" y="0"/>
                </a:lnTo>
                <a:lnTo>
                  <a:pt x="3510" y="0"/>
                </a:lnTo>
                <a:lnTo>
                  <a:pt x="3532" y="0"/>
                </a:lnTo>
                <a:lnTo>
                  <a:pt x="3553" y="0"/>
                </a:lnTo>
                <a:lnTo>
                  <a:pt x="3575" y="0"/>
                </a:lnTo>
                <a:lnTo>
                  <a:pt x="3597" y="0"/>
                </a:lnTo>
                <a:lnTo>
                  <a:pt x="3618" y="0"/>
                </a:lnTo>
                <a:lnTo>
                  <a:pt x="3640" y="0"/>
                </a:lnTo>
                <a:lnTo>
                  <a:pt x="3662" y="0"/>
                </a:lnTo>
                <a:lnTo>
                  <a:pt x="3683" y="0"/>
                </a:lnTo>
                <a:lnTo>
                  <a:pt x="3705" y="0"/>
                </a:lnTo>
                <a:lnTo>
                  <a:pt x="3727" y="0"/>
                </a:lnTo>
                <a:lnTo>
                  <a:pt x="3748" y="0"/>
                </a:lnTo>
                <a:lnTo>
                  <a:pt x="3770" y="0"/>
                </a:lnTo>
                <a:lnTo>
                  <a:pt x="3792" y="0"/>
                </a:lnTo>
                <a:lnTo>
                  <a:pt x="3813" y="0"/>
                </a:lnTo>
                <a:lnTo>
                  <a:pt x="3835" y="0"/>
                </a:lnTo>
                <a:lnTo>
                  <a:pt x="3857" y="0"/>
                </a:lnTo>
                <a:lnTo>
                  <a:pt x="3878" y="0"/>
                </a:lnTo>
                <a:lnTo>
                  <a:pt x="3900" y="600"/>
                </a:lnTo>
                <a:lnTo>
                  <a:pt x="3922" y="600"/>
                </a:lnTo>
                <a:lnTo>
                  <a:pt x="3943" y="600"/>
                </a:lnTo>
                <a:lnTo>
                  <a:pt x="3965" y="600"/>
                </a:lnTo>
                <a:lnTo>
                  <a:pt x="3987" y="600"/>
                </a:lnTo>
                <a:lnTo>
                  <a:pt x="4008" y="600"/>
                </a:lnTo>
                <a:lnTo>
                  <a:pt x="4030" y="600"/>
                </a:lnTo>
                <a:lnTo>
                  <a:pt x="4052" y="600"/>
                </a:lnTo>
                <a:lnTo>
                  <a:pt x="4073" y="600"/>
                </a:lnTo>
                <a:lnTo>
                  <a:pt x="4095" y="600"/>
                </a:lnTo>
                <a:lnTo>
                  <a:pt x="4117" y="600"/>
                </a:lnTo>
                <a:lnTo>
                  <a:pt x="4138" y="600"/>
                </a:lnTo>
                <a:lnTo>
                  <a:pt x="4160" y="600"/>
                </a:lnTo>
                <a:lnTo>
                  <a:pt x="4182" y="600"/>
                </a:lnTo>
                <a:lnTo>
                  <a:pt x="4203" y="600"/>
                </a:lnTo>
                <a:lnTo>
                  <a:pt x="4225" y="600"/>
                </a:lnTo>
                <a:lnTo>
                  <a:pt x="4247" y="600"/>
                </a:lnTo>
                <a:lnTo>
                  <a:pt x="4268" y="600"/>
                </a:lnTo>
                <a:lnTo>
                  <a:pt x="4290" y="600"/>
                </a:lnTo>
                <a:lnTo>
                  <a:pt x="4312" y="600"/>
                </a:lnTo>
                <a:lnTo>
                  <a:pt x="4333" y="600"/>
                </a:lnTo>
                <a:lnTo>
                  <a:pt x="4355" y="600"/>
                </a:lnTo>
                <a:lnTo>
                  <a:pt x="4377" y="600"/>
                </a:lnTo>
                <a:lnTo>
                  <a:pt x="4398" y="600"/>
                </a:lnTo>
                <a:lnTo>
                  <a:pt x="4420" y="600"/>
                </a:lnTo>
                <a:lnTo>
                  <a:pt x="4442" y="600"/>
                </a:lnTo>
                <a:lnTo>
                  <a:pt x="4463" y="600"/>
                </a:lnTo>
                <a:lnTo>
                  <a:pt x="4485" y="600"/>
                </a:lnTo>
                <a:lnTo>
                  <a:pt x="4507" y="600"/>
                </a:lnTo>
                <a:lnTo>
                  <a:pt x="4528" y="600"/>
                </a:lnTo>
                <a:lnTo>
                  <a:pt x="4550" y="600"/>
                </a:lnTo>
                <a:lnTo>
                  <a:pt x="4572" y="600"/>
                </a:lnTo>
                <a:lnTo>
                  <a:pt x="4593" y="600"/>
                </a:lnTo>
                <a:lnTo>
                  <a:pt x="4615" y="600"/>
                </a:lnTo>
                <a:lnTo>
                  <a:pt x="4637" y="600"/>
                </a:lnTo>
                <a:lnTo>
                  <a:pt x="4658" y="600"/>
                </a:lnTo>
                <a:lnTo>
                  <a:pt x="4680" y="600"/>
                </a:lnTo>
                <a:lnTo>
                  <a:pt x="4702" y="600"/>
                </a:lnTo>
                <a:lnTo>
                  <a:pt x="4723" y="600"/>
                </a:lnTo>
                <a:lnTo>
                  <a:pt x="4745" y="600"/>
                </a:lnTo>
                <a:lnTo>
                  <a:pt x="4767" y="600"/>
                </a:lnTo>
                <a:lnTo>
                  <a:pt x="4788" y="600"/>
                </a:lnTo>
                <a:lnTo>
                  <a:pt x="4810" y="600"/>
                </a:lnTo>
                <a:lnTo>
                  <a:pt x="4832" y="600"/>
                </a:lnTo>
                <a:lnTo>
                  <a:pt x="4853" y="600"/>
                </a:lnTo>
                <a:lnTo>
                  <a:pt x="4875" y="600"/>
                </a:lnTo>
                <a:lnTo>
                  <a:pt x="4897" y="600"/>
                </a:lnTo>
                <a:lnTo>
                  <a:pt x="4918" y="600"/>
                </a:lnTo>
                <a:lnTo>
                  <a:pt x="4940" y="600"/>
                </a:lnTo>
                <a:lnTo>
                  <a:pt x="4962" y="600"/>
                </a:lnTo>
                <a:lnTo>
                  <a:pt x="4983" y="600"/>
                </a:lnTo>
                <a:lnTo>
                  <a:pt x="5005" y="600"/>
                </a:lnTo>
                <a:lnTo>
                  <a:pt x="5027" y="600"/>
                </a:lnTo>
                <a:lnTo>
                  <a:pt x="5048" y="600"/>
                </a:lnTo>
                <a:lnTo>
                  <a:pt x="5070" y="600"/>
                </a:lnTo>
                <a:lnTo>
                  <a:pt x="5092" y="600"/>
                </a:lnTo>
                <a:lnTo>
                  <a:pt x="5113" y="600"/>
                </a:lnTo>
                <a:lnTo>
                  <a:pt x="5135" y="600"/>
                </a:lnTo>
                <a:lnTo>
                  <a:pt x="5157" y="600"/>
                </a:lnTo>
                <a:lnTo>
                  <a:pt x="5178" y="600"/>
                </a:lnTo>
                <a:lnTo>
                  <a:pt x="5200" y="600"/>
                </a:lnTo>
              </a:path>
            </a:pathLst>
          </a:custGeom>
          <a:noFill/>
          <a:ln w="2159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20239"/>
            <a:ext cx="4754880" cy="365760"/>
          </a:xfrm>
          <a:prstGeom prst="rect">
            <a:avLst/>
          </a:prstGeom>
          <a:noFill/>
        </p:spPr>
        <p:txBody>
          <a:bodyPr wrap="square" lIns="0" rIns="0" tIns="0" bIns="0" anchor="t">
            <a:spAutoFit/>
          </a:bodyPr>
          <a:lstStyle/>
          <a:p>
            <a:pPr algn="l"/>
            <a:r>
              <a:rPr sz="2100" b="1" i="0">
                <a:solidFill>
                  <a:srgbClr val="17324D"/>
                </a:solidFill>
                <a:latin typeface="Aptos"/>
              </a:rPr>
              <a:t>Bandwidth-limited edges</a:t>
            </a:r>
          </a:p>
        </p:txBody>
      </p:sp>
      <p:cxnSp>
        <p:nvCxnSpPr>
          <p:cNvPr id="17" name="Connector 16"/>
          <p:cNvCxnSpPr/>
          <p:nvPr/>
        </p:nvCxnSpPr>
        <p:spPr>
          <a:xfrm>
            <a:off x="6400800" y="3246120"/>
            <a:ext cx="4754880"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6400800" y="2700223"/>
            <a:ext cx="4754880" cy="545897"/>
          </a:xfrm>
          <a:custGeom>
            <a:avLst/>
            <a:gdLst/>
            <a:ahLst/>
            <a:cxnLst/>
            <a:rect l="l" t="t" r="r" b="b"/>
            <a:pathLst>
              <a:path w="5200" h="597">
                <a:moveTo>
                  <a:pt x="0" y="297"/>
                </a:moveTo>
                <a:lnTo>
                  <a:pt x="22" y="268"/>
                </a:lnTo>
                <a:lnTo>
                  <a:pt x="43" y="239"/>
                </a:lnTo>
                <a:lnTo>
                  <a:pt x="65" y="211"/>
                </a:lnTo>
                <a:lnTo>
                  <a:pt x="87" y="185"/>
                </a:lnTo>
                <a:lnTo>
                  <a:pt x="108" y="161"/>
                </a:lnTo>
                <a:lnTo>
                  <a:pt x="130" y="138"/>
                </a:lnTo>
                <a:lnTo>
                  <a:pt x="152" y="118"/>
                </a:lnTo>
                <a:lnTo>
                  <a:pt x="173" y="100"/>
                </a:lnTo>
                <a:lnTo>
                  <a:pt x="195" y="85"/>
                </a:lnTo>
                <a:lnTo>
                  <a:pt x="217" y="71"/>
                </a:lnTo>
                <a:lnTo>
                  <a:pt x="238" y="59"/>
                </a:lnTo>
                <a:lnTo>
                  <a:pt x="260" y="49"/>
                </a:lnTo>
                <a:lnTo>
                  <a:pt x="282" y="41"/>
                </a:lnTo>
                <a:lnTo>
                  <a:pt x="303" y="33"/>
                </a:lnTo>
                <a:lnTo>
                  <a:pt x="325" y="27"/>
                </a:lnTo>
                <a:lnTo>
                  <a:pt x="347" y="22"/>
                </a:lnTo>
                <a:lnTo>
                  <a:pt x="368" y="18"/>
                </a:lnTo>
                <a:lnTo>
                  <a:pt x="390" y="14"/>
                </a:lnTo>
                <a:lnTo>
                  <a:pt x="412" y="11"/>
                </a:lnTo>
                <a:lnTo>
                  <a:pt x="433" y="9"/>
                </a:lnTo>
                <a:lnTo>
                  <a:pt x="455" y="7"/>
                </a:lnTo>
                <a:lnTo>
                  <a:pt x="477" y="5"/>
                </a:lnTo>
                <a:lnTo>
                  <a:pt x="498" y="4"/>
                </a:lnTo>
                <a:lnTo>
                  <a:pt x="520" y="3"/>
                </a:lnTo>
                <a:lnTo>
                  <a:pt x="542" y="2"/>
                </a:lnTo>
                <a:lnTo>
                  <a:pt x="563" y="1"/>
                </a:lnTo>
                <a:lnTo>
                  <a:pt x="585" y="1"/>
                </a:lnTo>
                <a:lnTo>
                  <a:pt x="607" y="1"/>
                </a:lnTo>
                <a:lnTo>
                  <a:pt x="628" y="0"/>
                </a:lnTo>
                <a:lnTo>
                  <a:pt x="650" y="0"/>
                </a:lnTo>
                <a:lnTo>
                  <a:pt x="672" y="0"/>
                </a:lnTo>
                <a:lnTo>
                  <a:pt x="693" y="1"/>
                </a:lnTo>
                <a:lnTo>
                  <a:pt x="715" y="1"/>
                </a:lnTo>
                <a:lnTo>
                  <a:pt x="737" y="1"/>
                </a:lnTo>
                <a:lnTo>
                  <a:pt x="758" y="2"/>
                </a:lnTo>
                <a:lnTo>
                  <a:pt x="780" y="3"/>
                </a:lnTo>
                <a:lnTo>
                  <a:pt x="802" y="4"/>
                </a:lnTo>
                <a:lnTo>
                  <a:pt x="823" y="5"/>
                </a:lnTo>
                <a:lnTo>
                  <a:pt x="845" y="7"/>
                </a:lnTo>
                <a:lnTo>
                  <a:pt x="867" y="9"/>
                </a:lnTo>
                <a:lnTo>
                  <a:pt x="888" y="11"/>
                </a:lnTo>
                <a:lnTo>
                  <a:pt x="910" y="14"/>
                </a:lnTo>
                <a:lnTo>
                  <a:pt x="932" y="18"/>
                </a:lnTo>
                <a:lnTo>
                  <a:pt x="953" y="22"/>
                </a:lnTo>
                <a:lnTo>
                  <a:pt x="975" y="27"/>
                </a:lnTo>
                <a:lnTo>
                  <a:pt x="997" y="33"/>
                </a:lnTo>
                <a:lnTo>
                  <a:pt x="1018" y="41"/>
                </a:lnTo>
                <a:lnTo>
                  <a:pt x="1040" y="49"/>
                </a:lnTo>
                <a:lnTo>
                  <a:pt x="1062" y="59"/>
                </a:lnTo>
                <a:lnTo>
                  <a:pt x="1083" y="71"/>
                </a:lnTo>
                <a:lnTo>
                  <a:pt x="1105" y="85"/>
                </a:lnTo>
                <a:lnTo>
                  <a:pt x="1127" y="100"/>
                </a:lnTo>
                <a:lnTo>
                  <a:pt x="1148" y="118"/>
                </a:lnTo>
                <a:lnTo>
                  <a:pt x="1170" y="138"/>
                </a:lnTo>
                <a:lnTo>
                  <a:pt x="1192" y="161"/>
                </a:lnTo>
                <a:lnTo>
                  <a:pt x="1213" y="185"/>
                </a:lnTo>
                <a:lnTo>
                  <a:pt x="1235" y="211"/>
                </a:lnTo>
                <a:lnTo>
                  <a:pt x="1257" y="239"/>
                </a:lnTo>
                <a:lnTo>
                  <a:pt x="1278" y="268"/>
                </a:lnTo>
                <a:lnTo>
                  <a:pt x="1300" y="297"/>
                </a:lnTo>
                <a:lnTo>
                  <a:pt x="1322" y="326"/>
                </a:lnTo>
                <a:lnTo>
                  <a:pt x="1343" y="355"/>
                </a:lnTo>
                <a:lnTo>
                  <a:pt x="1365" y="383"/>
                </a:lnTo>
                <a:lnTo>
                  <a:pt x="1387" y="409"/>
                </a:lnTo>
                <a:lnTo>
                  <a:pt x="1408" y="433"/>
                </a:lnTo>
                <a:lnTo>
                  <a:pt x="1430" y="456"/>
                </a:lnTo>
                <a:lnTo>
                  <a:pt x="1452" y="476"/>
                </a:lnTo>
                <a:lnTo>
                  <a:pt x="1473" y="494"/>
                </a:lnTo>
                <a:lnTo>
                  <a:pt x="1495" y="509"/>
                </a:lnTo>
                <a:lnTo>
                  <a:pt x="1517" y="523"/>
                </a:lnTo>
                <a:lnTo>
                  <a:pt x="1538" y="535"/>
                </a:lnTo>
                <a:lnTo>
                  <a:pt x="1560" y="545"/>
                </a:lnTo>
                <a:lnTo>
                  <a:pt x="1582" y="553"/>
                </a:lnTo>
                <a:lnTo>
                  <a:pt x="1603" y="561"/>
                </a:lnTo>
                <a:lnTo>
                  <a:pt x="1625" y="567"/>
                </a:lnTo>
                <a:lnTo>
                  <a:pt x="1647" y="572"/>
                </a:lnTo>
                <a:lnTo>
                  <a:pt x="1668" y="576"/>
                </a:lnTo>
                <a:lnTo>
                  <a:pt x="1690" y="580"/>
                </a:lnTo>
                <a:lnTo>
                  <a:pt x="1712" y="583"/>
                </a:lnTo>
                <a:lnTo>
                  <a:pt x="1733" y="585"/>
                </a:lnTo>
                <a:lnTo>
                  <a:pt x="1755" y="587"/>
                </a:lnTo>
                <a:lnTo>
                  <a:pt x="1777" y="589"/>
                </a:lnTo>
                <a:lnTo>
                  <a:pt x="1798" y="590"/>
                </a:lnTo>
                <a:lnTo>
                  <a:pt x="1820" y="591"/>
                </a:lnTo>
                <a:lnTo>
                  <a:pt x="1842" y="592"/>
                </a:lnTo>
                <a:lnTo>
                  <a:pt x="1863" y="593"/>
                </a:lnTo>
                <a:lnTo>
                  <a:pt x="1885" y="593"/>
                </a:lnTo>
                <a:lnTo>
                  <a:pt x="1907" y="593"/>
                </a:lnTo>
                <a:lnTo>
                  <a:pt x="1928" y="594"/>
                </a:lnTo>
                <a:lnTo>
                  <a:pt x="1950" y="594"/>
                </a:lnTo>
                <a:lnTo>
                  <a:pt x="1972" y="594"/>
                </a:lnTo>
                <a:lnTo>
                  <a:pt x="1993" y="593"/>
                </a:lnTo>
                <a:lnTo>
                  <a:pt x="2015" y="593"/>
                </a:lnTo>
                <a:lnTo>
                  <a:pt x="2037" y="593"/>
                </a:lnTo>
                <a:lnTo>
                  <a:pt x="2058" y="592"/>
                </a:lnTo>
                <a:lnTo>
                  <a:pt x="2080" y="591"/>
                </a:lnTo>
                <a:lnTo>
                  <a:pt x="2102" y="590"/>
                </a:lnTo>
                <a:lnTo>
                  <a:pt x="2123" y="589"/>
                </a:lnTo>
                <a:lnTo>
                  <a:pt x="2145" y="587"/>
                </a:lnTo>
                <a:lnTo>
                  <a:pt x="2167" y="585"/>
                </a:lnTo>
                <a:lnTo>
                  <a:pt x="2188" y="583"/>
                </a:lnTo>
                <a:lnTo>
                  <a:pt x="2210" y="580"/>
                </a:lnTo>
                <a:lnTo>
                  <a:pt x="2232" y="576"/>
                </a:lnTo>
                <a:lnTo>
                  <a:pt x="2253" y="572"/>
                </a:lnTo>
                <a:lnTo>
                  <a:pt x="2275" y="567"/>
                </a:lnTo>
                <a:lnTo>
                  <a:pt x="2297" y="561"/>
                </a:lnTo>
                <a:lnTo>
                  <a:pt x="2318" y="553"/>
                </a:lnTo>
                <a:lnTo>
                  <a:pt x="2340" y="545"/>
                </a:lnTo>
                <a:lnTo>
                  <a:pt x="2362" y="535"/>
                </a:lnTo>
                <a:lnTo>
                  <a:pt x="2383" y="523"/>
                </a:lnTo>
                <a:lnTo>
                  <a:pt x="2405" y="509"/>
                </a:lnTo>
                <a:lnTo>
                  <a:pt x="2427" y="494"/>
                </a:lnTo>
                <a:lnTo>
                  <a:pt x="2448" y="476"/>
                </a:lnTo>
                <a:lnTo>
                  <a:pt x="2470" y="456"/>
                </a:lnTo>
                <a:lnTo>
                  <a:pt x="2492" y="433"/>
                </a:lnTo>
                <a:lnTo>
                  <a:pt x="2513" y="409"/>
                </a:lnTo>
                <a:lnTo>
                  <a:pt x="2535" y="383"/>
                </a:lnTo>
                <a:lnTo>
                  <a:pt x="2557" y="355"/>
                </a:lnTo>
                <a:lnTo>
                  <a:pt x="2578" y="326"/>
                </a:lnTo>
                <a:lnTo>
                  <a:pt x="2600" y="297"/>
                </a:lnTo>
                <a:lnTo>
                  <a:pt x="2622" y="268"/>
                </a:lnTo>
                <a:lnTo>
                  <a:pt x="2643" y="239"/>
                </a:lnTo>
                <a:lnTo>
                  <a:pt x="2665" y="211"/>
                </a:lnTo>
                <a:lnTo>
                  <a:pt x="2687" y="185"/>
                </a:lnTo>
                <a:lnTo>
                  <a:pt x="2708" y="161"/>
                </a:lnTo>
                <a:lnTo>
                  <a:pt x="2730" y="138"/>
                </a:lnTo>
                <a:lnTo>
                  <a:pt x="2752" y="118"/>
                </a:lnTo>
                <a:lnTo>
                  <a:pt x="2773" y="100"/>
                </a:lnTo>
                <a:lnTo>
                  <a:pt x="2795" y="85"/>
                </a:lnTo>
                <a:lnTo>
                  <a:pt x="2817" y="71"/>
                </a:lnTo>
                <a:lnTo>
                  <a:pt x="2838" y="59"/>
                </a:lnTo>
                <a:lnTo>
                  <a:pt x="2860" y="49"/>
                </a:lnTo>
                <a:lnTo>
                  <a:pt x="2882" y="41"/>
                </a:lnTo>
                <a:lnTo>
                  <a:pt x="2903" y="33"/>
                </a:lnTo>
                <a:lnTo>
                  <a:pt x="2925" y="27"/>
                </a:lnTo>
                <a:lnTo>
                  <a:pt x="2947" y="22"/>
                </a:lnTo>
                <a:lnTo>
                  <a:pt x="2968" y="18"/>
                </a:lnTo>
                <a:lnTo>
                  <a:pt x="2990" y="14"/>
                </a:lnTo>
                <a:lnTo>
                  <a:pt x="3012" y="11"/>
                </a:lnTo>
                <a:lnTo>
                  <a:pt x="3033" y="9"/>
                </a:lnTo>
                <a:lnTo>
                  <a:pt x="3055" y="7"/>
                </a:lnTo>
                <a:lnTo>
                  <a:pt x="3077" y="5"/>
                </a:lnTo>
                <a:lnTo>
                  <a:pt x="3098" y="4"/>
                </a:lnTo>
                <a:lnTo>
                  <a:pt x="3120" y="3"/>
                </a:lnTo>
                <a:lnTo>
                  <a:pt x="3142" y="2"/>
                </a:lnTo>
                <a:lnTo>
                  <a:pt x="3163" y="1"/>
                </a:lnTo>
                <a:lnTo>
                  <a:pt x="3185" y="1"/>
                </a:lnTo>
                <a:lnTo>
                  <a:pt x="3207" y="1"/>
                </a:lnTo>
                <a:lnTo>
                  <a:pt x="3228" y="0"/>
                </a:lnTo>
                <a:lnTo>
                  <a:pt x="3250" y="0"/>
                </a:lnTo>
                <a:lnTo>
                  <a:pt x="3272" y="0"/>
                </a:lnTo>
                <a:lnTo>
                  <a:pt x="3293" y="1"/>
                </a:lnTo>
                <a:lnTo>
                  <a:pt x="3315" y="1"/>
                </a:lnTo>
                <a:lnTo>
                  <a:pt x="3337" y="1"/>
                </a:lnTo>
                <a:lnTo>
                  <a:pt x="3358" y="2"/>
                </a:lnTo>
                <a:lnTo>
                  <a:pt x="3380" y="3"/>
                </a:lnTo>
                <a:lnTo>
                  <a:pt x="3402" y="4"/>
                </a:lnTo>
                <a:lnTo>
                  <a:pt x="3423" y="5"/>
                </a:lnTo>
                <a:lnTo>
                  <a:pt x="3445" y="7"/>
                </a:lnTo>
                <a:lnTo>
                  <a:pt x="3467" y="9"/>
                </a:lnTo>
                <a:lnTo>
                  <a:pt x="3488" y="11"/>
                </a:lnTo>
                <a:lnTo>
                  <a:pt x="3510" y="14"/>
                </a:lnTo>
                <a:lnTo>
                  <a:pt x="3532" y="18"/>
                </a:lnTo>
                <a:lnTo>
                  <a:pt x="3553" y="22"/>
                </a:lnTo>
                <a:lnTo>
                  <a:pt x="3575" y="27"/>
                </a:lnTo>
                <a:lnTo>
                  <a:pt x="3597" y="33"/>
                </a:lnTo>
                <a:lnTo>
                  <a:pt x="3618" y="41"/>
                </a:lnTo>
                <a:lnTo>
                  <a:pt x="3640" y="49"/>
                </a:lnTo>
                <a:lnTo>
                  <a:pt x="3662" y="59"/>
                </a:lnTo>
                <a:lnTo>
                  <a:pt x="3683" y="71"/>
                </a:lnTo>
                <a:lnTo>
                  <a:pt x="3705" y="85"/>
                </a:lnTo>
                <a:lnTo>
                  <a:pt x="3727" y="100"/>
                </a:lnTo>
                <a:lnTo>
                  <a:pt x="3748" y="118"/>
                </a:lnTo>
                <a:lnTo>
                  <a:pt x="3770" y="138"/>
                </a:lnTo>
                <a:lnTo>
                  <a:pt x="3792" y="161"/>
                </a:lnTo>
                <a:lnTo>
                  <a:pt x="3813" y="185"/>
                </a:lnTo>
                <a:lnTo>
                  <a:pt x="3835" y="211"/>
                </a:lnTo>
                <a:lnTo>
                  <a:pt x="3857" y="239"/>
                </a:lnTo>
                <a:lnTo>
                  <a:pt x="3878" y="268"/>
                </a:lnTo>
                <a:lnTo>
                  <a:pt x="3900" y="297"/>
                </a:lnTo>
                <a:lnTo>
                  <a:pt x="3922" y="326"/>
                </a:lnTo>
                <a:lnTo>
                  <a:pt x="3943" y="355"/>
                </a:lnTo>
                <a:lnTo>
                  <a:pt x="3965" y="383"/>
                </a:lnTo>
                <a:lnTo>
                  <a:pt x="3987" y="409"/>
                </a:lnTo>
                <a:lnTo>
                  <a:pt x="4008" y="433"/>
                </a:lnTo>
                <a:lnTo>
                  <a:pt x="4030" y="456"/>
                </a:lnTo>
                <a:lnTo>
                  <a:pt x="4052" y="476"/>
                </a:lnTo>
                <a:lnTo>
                  <a:pt x="4073" y="494"/>
                </a:lnTo>
                <a:lnTo>
                  <a:pt x="4095" y="509"/>
                </a:lnTo>
                <a:lnTo>
                  <a:pt x="4117" y="523"/>
                </a:lnTo>
                <a:lnTo>
                  <a:pt x="4138" y="535"/>
                </a:lnTo>
                <a:lnTo>
                  <a:pt x="4160" y="545"/>
                </a:lnTo>
                <a:lnTo>
                  <a:pt x="4182" y="554"/>
                </a:lnTo>
                <a:lnTo>
                  <a:pt x="4203" y="561"/>
                </a:lnTo>
                <a:lnTo>
                  <a:pt x="4225" y="567"/>
                </a:lnTo>
                <a:lnTo>
                  <a:pt x="4247" y="572"/>
                </a:lnTo>
                <a:lnTo>
                  <a:pt x="4268" y="576"/>
                </a:lnTo>
                <a:lnTo>
                  <a:pt x="4290" y="580"/>
                </a:lnTo>
                <a:lnTo>
                  <a:pt x="4312" y="583"/>
                </a:lnTo>
                <a:lnTo>
                  <a:pt x="4333" y="585"/>
                </a:lnTo>
                <a:lnTo>
                  <a:pt x="4355" y="587"/>
                </a:lnTo>
                <a:lnTo>
                  <a:pt x="4377" y="589"/>
                </a:lnTo>
                <a:lnTo>
                  <a:pt x="4398" y="590"/>
                </a:lnTo>
                <a:lnTo>
                  <a:pt x="4420" y="592"/>
                </a:lnTo>
                <a:lnTo>
                  <a:pt x="4442" y="593"/>
                </a:lnTo>
                <a:lnTo>
                  <a:pt x="4463" y="593"/>
                </a:lnTo>
                <a:lnTo>
                  <a:pt x="4485" y="594"/>
                </a:lnTo>
                <a:lnTo>
                  <a:pt x="4507" y="595"/>
                </a:lnTo>
                <a:lnTo>
                  <a:pt x="4528" y="595"/>
                </a:lnTo>
                <a:lnTo>
                  <a:pt x="4550" y="595"/>
                </a:lnTo>
                <a:lnTo>
                  <a:pt x="4572" y="596"/>
                </a:lnTo>
                <a:lnTo>
                  <a:pt x="4593" y="596"/>
                </a:lnTo>
                <a:lnTo>
                  <a:pt x="4615" y="596"/>
                </a:lnTo>
                <a:lnTo>
                  <a:pt x="4637" y="596"/>
                </a:lnTo>
                <a:lnTo>
                  <a:pt x="4658" y="596"/>
                </a:lnTo>
                <a:lnTo>
                  <a:pt x="4680" y="596"/>
                </a:lnTo>
                <a:lnTo>
                  <a:pt x="4702" y="597"/>
                </a:lnTo>
                <a:lnTo>
                  <a:pt x="4723" y="597"/>
                </a:lnTo>
                <a:lnTo>
                  <a:pt x="4745" y="597"/>
                </a:lnTo>
                <a:lnTo>
                  <a:pt x="4767" y="597"/>
                </a:lnTo>
                <a:lnTo>
                  <a:pt x="4788" y="597"/>
                </a:lnTo>
                <a:lnTo>
                  <a:pt x="4810" y="597"/>
                </a:lnTo>
                <a:lnTo>
                  <a:pt x="4832" y="597"/>
                </a:lnTo>
                <a:lnTo>
                  <a:pt x="4853" y="597"/>
                </a:lnTo>
                <a:lnTo>
                  <a:pt x="4875" y="597"/>
                </a:lnTo>
                <a:lnTo>
                  <a:pt x="4897" y="597"/>
                </a:lnTo>
                <a:lnTo>
                  <a:pt x="4918" y="597"/>
                </a:lnTo>
                <a:lnTo>
                  <a:pt x="4940" y="597"/>
                </a:lnTo>
                <a:lnTo>
                  <a:pt x="4962" y="597"/>
                </a:lnTo>
                <a:lnTo>
                  <a:pt x="4983" y="597"/>
                </a:lnTo>
                <a:lnTo>
                  <a:pt x="5005" y="597"/>
                </a:lnTo>
                <a:lnTo>
                  <a:pt x="5027" y="597"/>
                </a:lnTo>
                <a:lnTo>
                  <a:pt x="5048" y="597"/>
                </a:lnTo>
                <a:lnTo>
                  <a:pt x="5070" y="597"/>
                </a:lnTo>
                <a:lnTo>
                  <a:pt x="5092" y="597"/>
                </a:lnTo>
                <a:lnTo>
                  <a:pt x="5113" y="597"/>
                </a:lnTo>
                <a:lnTo>
                  <a:pt x="5135" y="597"/>
                </a:lnTo>
                <a:lnTo>
                  <a:pt x="5157" y="597"/>
                </a:lnTo>
                <a:lnTo>
                  <a:pt x="5178" y="597"/>
                </a:lnTo>
                <a:lnTo>
                  <a:pt x="5200" y="597"/>
                </a:lnTo>
              </a:path>
            </a:pathLst>
          </a:custGeom>
          <a:noFill/>
          <a:ln w="2159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11880"/>
            <a:ext cx="4754880" cy="365760"/>
          </a:xfrm>
          <a:prstGeom prst="rect">
            <a:avLst/>
          </a:prstGeom>
          <a:noFill/>
        </p:spPr>
        <p:txBody>
          <a:bodyPr wrap="square" lIns="0" rIns="0" tIns="0" bIns="0" anchor="t">
            <a:spAutoFit/>
          </a:bodyPr>
          <a:lstStyle/>
          <a:p>
            <a:pPr algn="l"/>
            <a:r>
              <a:rPr sz="2100" b="1" i="0">
                <a:solidFill>
                  <a:srgbClr val="17324D"/>
                </a:solidFill>
                <a:latin typeface="Aptos"/>
              </a:rPr>
              <a:t>Added voltage variation</a:t>
            </a:r>
          </a:p>
        </p:txBody>
      </p:sp>
      <p:cxnSp>
        <p:nvCxnSpPr>
          <p:cNvPr id="20" name="Connector 19"/>
          <p:cNvCxnSpPr/>
          <p:nvPr/>
        </p:nvCxnSpPr>
        <p:spPr>
          <a:xfrm>
            <a:off x="822960" y="4937760"/>
            <a:ext cx="4754880"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822960" y="4284878"/>
            <a:ext cx="4754880" cy="757123"/>
          </a:xfrm>
          <a:custGeom>
            <a:avLst/>
            <a:gdLst/>
            <a:ahLst/>
            <a:cxnLst/>
            <a:rect l="l" t="t" r="r" b="b"/>
            <a:pathLst>
              <a:path w="5200" h="828">
                <a:moveTo>
                  <a:pt x="0" y="114"/>
                </a:moveTo>
                <a:lnTo>
                  <a:pt x="22" y="31"/>
                </a:lnTo>
                <a:lnTo>
                  <a:pt x="43" y="14"/>
                </a:lnTo>
                <a:lnTo>
                  <a:pt x="65" y="62"/>
                </a:lnTo>
                <a:lnTo>
                  <a:pt x="87" y="119"/>
                </a:lnTo>
                <a:lnTo>
                  <a:pt x="108" y="142"/>
                </a:lnTo>
                <a:lnTo>
                  <a:pt x="130" y="147"/>
                </a:lnTo>
                <a:lnTo>
                  <a:pt x="152" y="163"/>
                </a:lnTo>
                <a:lnTo>
                  <a:pt x="173" y="182"/>
                </a:lnTo>
                <a:lnTo>
                  <a:pt x="195" y="160"/>
                </a:lnTo>
                <a:lnTo>
                  <a:pt x="217" y="87"/>
                </a:lnTo>
                <a:lnTo>
                  <a:pt x="238" y="14"/>
                </a:lnTo>
                <a:lnTo>
                  <a:pt x="260" y="8"/>
                </a:lnTo>
                <a:lnTo>
                  <a:pt x="282" y="78"/>
                </a:lnTo>
                <a:lnTo>
                  <a:pt x="303" y="160"/>
                </a:lnTo>
                <a:lnTo>
                  <a:pt x="325" y="192"/>
                </a:lnTo>
                <a:lnTo>
                  <a:pt x="347" y="171"/>
                </a:lnTo>
                <a:lnTo>
                  <a:pt x="368" y="143"/>
                </a:lnTo>
                <a:lnTo>
                  <a:pt x="390" y="131"/>
                </a:lnTo>
                <a:lnTo>
                  <a:pt x="412" y="115"/>
                </a:lnTo>
                <a:lnTo>
                  <a:pt x="433" y="70"/>
                </a:lnTo>
                <a:lnTo>
                  <a:pt x="455" y="23"/>
                </a:lnTo>
                <a:lnTo>
                  <a:pt x="477" y="29"/>
                </a:lnTo>
                <a:lnTo>
                  <a:pt x="498" y="104"/>
                </a:lnTo>
                <a:lnTo>
                  <a:pt x="520" y="193"/>
                </a:lnTo>
                <a:lnTo>
                  <a:pt x="542" y="221"/>
                </a:lnTo>
                <a:lnTo>
                  <a:pt x="563" y="175"/>
                </a:lnTo>
                <a:lnTo>
                  <a:pt x="585" y="109"/>
                </a:lnTo>
                <a:lnTo>
                  <a:pt x="607" y="75"/>
                </a:lnTo>
                <a:lnTo>
                  <a:pt x="628" y="74"/>
                </a:lnTo>
                <a:lnTo>
                  <a:pt x="650" y="70"/>
                </a:lnTo>
                <a:lnTo>
                  <a:pt x="672" y="57"/>
                </a:lnTo>
                <a:lnTo>
                  <a:pt x="693" y="70"/>
                </a:lnTo>
                <a:lnTo>
                  <a:pt x="715" y="132"/>
                </a:lnTo>
                <a:lnTo>
                  <a:pt x="737" y="206"/>
                </a:lnTo>
                <a:lnTo>
                  <a:pt x="758" y="223"/>
                </a:lnTo>
                <a:lnTo>
                  <a:pt x="780" y="160"/>
                </a:lnTo>
                <a:lnTo>
                  <a:pt x="802" y="71"/>
                </a:lnTo>
                <a:lnTo>
                  <a:pt x="823" y="28"/>
                </a:lnTo>
                <a:lnTo>
                  <a:pt x="845" y="48"/>
                </a:lnTo>
                <a:lnTo>
                  <a:pt x="867" y="87"/>
                </a:lnTo>
                <a:lnTo>
                  <a:pt x="888" y="108"/>
                </a:lnTo>
                <a:lnTo>
                  <a:pt x="910" y="120"/>
                </a:lnTo>
                <a:lnTo>
                  <a:pt x="932" y="152"/>
                </a:lnTo>
                <a:lnTo>
                  <a:pt x="953" y="195"/>
                </a:lnTo>
                <a:lnTo>
                  <a:pt x="975" y="197"/>
                </a:lnTo>
                <a:lnTo>
                  <a:pt x="997" y="132"/>
                </a:lnTo>
                <a:lnTo>
                  <a:pt x="1018" y="42"/>
                </a:lnTo>
                <a:lnTo>
                  <a:pt x="1040" y="3"/>
                </a:lnTo>
                <a:lnTo>
                  <a:pt x="1062" y="43"/>
                </a:lnTo>
                <a:lnTo>
                  <a:pt x="1083" y="117"/>
                </a:lnTo>
                <a:lnTo>
                  <a:pt x="1105" y="162"/>
                </a:lnTo>
                <a:lnTo>
                  <a:pt x="1127" y="163"/>
                </a:lnTo>
                <a:lnTo>
                  <a:pt x="1148" y="156"/>
                </a:lnTo>
                <a:lnTo>
                  <a:pt x="1170" y="160"/>
                </a:lnTo>
                <a:lnTo>
                  <a:pt x="1192" y="152"/>
                </a:lnTo>
                <a:lnTo>
                  <a:pt x="1213" y="102"/>
                </a:lnTo>
                <a:lnTo>
                  <a:pt x="1235" y="32"/>
                </a:lnTo>
                <a:lnTo>
                  <a:pt x="1257" y="5"/>
                </a:lnTo>
                <a:lnTo>
                  <a:pt x="1278" y="59"/>
                </a:lnTo>
                <a:lnTo>
                  <a:pt x="1300" y="751"/>
                </a:lnTo>
                <a:lnTo>
                  <a:pt x="1322" y="806"/>
                </a:lnTo>
                <a:lnTo>
                  <a:pt x="1343" y="791"/>
                </a:lnTo>
                <a:lnTo>
                  <a:pt x="1365" y="742"/>
                </a:lnTo>
                <a:lnTo>
                  <a:pt x="1387" y="711"/>
                </a:lnTo>
                <a:lnTo>
                  <a:pt x="1408" y="700"/>
                </a:lnTo>
                <a:lnTo>
                  <a:pt x="1430" y="679"/>
                </a:lnTo>
                <a:lnTo>
                  <a:pt x="1452" y="644"/>
                </a:lnTo>
                <a:lnTo>
                  <a:pt x="1473" y="635"/>
                </a:lnTo>
                <a:lnTo>
                  <a:pt x="1495" y="688"/>
                </a:lnTo>
                <a:lnTo>
                  <a:pt x="1517" y="777"/>
                </a:lnTo>
                <a:lnTo>
                  <a:pt x="1538" y="827"/>
                </a:lnTo>
                <a:lnTo>
                  <a:pt x="1560" y="795"/>
                </a:lnTo>
                <a:lnTo>
                  <a:pt x="1582" y="716"/>
                </a:lnTo>
                <a:lnTo>
                  <a:pt x="1603" y="659"/>
                </a:lnTo>
                <a:lnTo>
                  <a:pt x="1625" y="654"/>
                </a:lnTo>
                <a:lnTo>
                  <a:pt x="1647" y="672"/>
                </a:lnTo>
                <a:lnTo>
                  <a:pt x="1668" y="678"/>
                </a:lnTo>
                <a:lnTo>
                  <a:pt x="1690" y="684"/>
                </a:lnTo>
                <a:lnTo>
                  <a:pt x="1712" y="722"/>
                </a:lnTo>
                <a:lnTo>
                  <a:pt x="1733" y="786"/>
                </a:lnTo>
                <a:lnTo>
                  <a:pt x="1755" y="820"/>
                </a:lnTo>
                <a:lnTo>
                  <a:pt x="1777" y="777"/>
                </a:lnTo>
                <a:lnTo>
                  <a:pt x="1798" y="685"/>
                </a:lnTo>
                <a:lnTo>
                  <a:pt x="1820" y="620"/>
                </a:lnTo>
                <a:lnTo>
                  <a:pt x="1842" y="627"/>
                </a:lnTo>
                <a:lnTo>
                  <a:pt x="1863" y="681"/>
                </a:lnTo>
                <a:lnTo>
                  <a:pt x="1885" y="725"/>
                </a:lnTo>
                <a:lnTo>
                  <a:pt x="1907" y="738"/>
                </a:lnTo>
                <a:lnTo>
                  <a:pt x="1928" y="749"/>
                </a:lnTo>
                <a:lnTo>
                  <a:pt x="1950" y="774"/>
                </a:lnTo>
                <a:lnTo>
                  <a:pt x="1972" y="786"/>
                </a:lnTo>
                <a:lnTo>
                  <a:pt x="1993" y="744"/>
                </a:lnTo>
                <a:lnTo>
                  <a:pt x="2015" y="661"/>
                </a:lnTo>
                <a:lnTo>
                  <a:pt x="2037" y="603"/>
                </a:lnTo>
                <a:lnTo>
                  <a:pt x="2058" y="624"/>
                </a:lnTo>
                <a:lnTo>
                  <a:pt x="2080" y="705"/>
                </a:lnTo>
                <a:lnTo>
                  <a:pt x="2102" y="773"/>
                </a:lnTo>
                <a:lnTo>
                  <a:pt x="2123" y="785"/>
                </a:lnTo>
                <a:lnTo>
                  <a:pt x="2145" y="760"/>
                </a:lnTo>
                <a:lnTo>
                  <a:pt x="2167" y="742"/>
                </a:lnTo>
                <a:lnTo>
                  <a:pt x="2188" y="734"/>
                </a:lnTo>
                <a:lnTo>
                  <a:pt x="2210" y="707"/>
                </a:lnTo>
                <a:lnTo>
                  <a:pt x="2232" y="652"/>
                </a:lnTo>
                <a:lnTo>
                  <a:pt x="2253" y="614"/>
                </a:lnTo>
                <a:lnTo>
                  <a:pt x="2275" y="645"/>
                </a:lnTo>
                <a:lnTo>
                  <a:pt x="2297" y="733"/>
                </a:lnTo>
                <a:lnTo>
                  <a:pt x="2318" y="808"/>
                </a:lnTo>
                <a:lnTo>
                  <a:pt x="2340" y="811"/>
                </a:lnTo>
                <a:lnTo>
                  <a:pt x="2362" y="753"/>
                </a:lnTo>
                <a:lnTo>
                  <a:pt x="2383" y="698"/>
                </a:lnTo>
                <a:lnTo>
                  <a:pt x="2405" y="679"/>
                </a:lnTo>
                <a:lnTo>
                  <a:pt x="2427" y="677"/>
                </a:lnTo>
                <a:lnTo>
                  <a:pt x="2448" y="663"/>
                </a:lnTo>
                <a:lnTo>
                  <a:pt x="2470" y="651"/>
                </a:lnTo>
                <a:lnTo>
                  <a:pt x="2492" y="682"/>
                </a:lnTo>
                <a:lnTo>
                  <a:pt x="2513" y="757"/>
                </a:lnTo>
                <a:lnTo>
                  <a:pt x="2535" y="821"/>
                </a:lnTo>
                <a:lnTo>
                  <a:pt x="2557" y="811"/>
                </a:lnTo>
                <a:lnTo>
                  <a:pt x="2578" y="732"/>
                </a:lnTo>
                <a:lnTo>
                  <a:pt x="2600" y="54"/>
                </a:lnTo>
                <a:lnTo>
                  <a:pt x="2622" y="33"/>
                </a:lnTo>
                <a:lnTo>
                  <a:pt x="2643" y="62"/>
                </a:lnTo>
                <a:lnTo>
                  <a:pt x="2665" y="92"/>
                </a:lnTo>
                <a:lnTo>
                  <a:pt x="2687" y="104"/>
                </a:lnTo>
                <a:lnTo>
                  <a:pt x="2708" y="123"/>
                </a:lnTo>
                <a:lnTo>
                  <a:pt x="2730" y="167"/>
                </a:lnTo>
                <a:lnTo>
                  <a:pt x="2752" y="206"/>
                </a:lnTo>
                <a:lnTo>
                  <a:pt x="2773" y="186"/>
                </a:lnTo>
                <a:lnTo>
                  <a:pt x="2795" y="104"/>
                </a:lnTo>
                <a:lnTo>
                  <a:pt x="2817" y="23"/>
                </a:lnTo>
                <a:lnTo>
                  <a:pt x="2838" y="9"/>
                </a:lnTo>
                <a:lnTo>
                  <a:pt x="2860" y="66"/>
                </a:lnTo>
                <a:lnTo>
                  <a:pt x="2882" y="133"/>
                </a:lnTo>
                <a:lnTo>
                  <a:pt x="2903" y="160"/>
                </a:lnTo>
                <a:lnTo>
                  <a:pt x="2925" y="157"/>
                </a:lnTo>
                <a:lnTo>
                  <a:pt x="2947" y="158"/>
                </a:lnTo>
                <a:lnTo>
                  <a:pt x="2968" y="166"/>
                </a:lnTo>
                <a:lnTo>
                  <a:pt x="2990" y="145"/>
                </a:lnTo>
                <a:lnTo>
                  <a:pt x="3012" y="80"/>
                </a:lnTo>
                <a:lnTo>
                  <a:pt x="3033" y="14"/>
                </a:lnTo>
                <a:lnTo>
                  <a:pt x="3055" y="13"/>
                </a:lnTo>
                <a:lnTo>
                  <a:pt x="3077" y="86"/>
                </a:lnTo>
                <a:lnTo>
                  <a:pt x="3098" y="173"/>
                </a:lnTo>
                <a:lnTo>
                  <a:pt x="3120" y="204"/>
                </a:lnTo>
                <a:lnTo>
                  <a:pt x="3142" y="175"/>
                </a:lnTo>
                <a:lnTo>
                  <a:pt x="3163" y="132"/>
                </a:lnTo>
                <a:lnTo>
                  <a:pt x="3185" y="112"/>
                </a:lnTo>
                <a:lnTo>
                  <a:pt x="3207" y="100"/>
                </a:lnTo>
                <a:lnTo>
                  <a:pt x="3228" y="68"/>
                </a:lnTo>
                <a:lnTo>
                  <a:pt x="3250" y="32"/>
                </a:lnTo>
                <a:lnTo>
                  <a:pt x="3272" y="41"/>
                </a:lnTo>
                <a:lnTo>
                  <a:pt x="3293" y="114"/>
                </a:lnTo>
                <a:lnTo>
                  <a:pt x="3315" y="200"/>
                </a:lnTo>
                <a:lnTo>
                  <a:pt x="3337" y="225"/>
                </a:lnTo>
                <a:lnTo>
                  <a:pt x="3358" y="172"/>
                </a:lnTo>
                <a:lnTo>
                  <a:pt x="3380" y="96"/>
                </a:lnTo>
                <a:lnTo>
                  <a:pt x="3402" y="58"/>
                </a:lnTo>
                <a:lnTo>
                  <a:pt x="3423" y="63"/>
                </a:lnTo>
                <a:lnTo>
                  <a:pt x="3445" y="74"/>
                </a:lnTo>
                <a:lnTo>
                  <a:pt x="3467" y="73"/>
                </a:lnTo>
                <a:lnTo>
                  <a:pt x="3488" y="87"/>
                </a:lnTo>
                <a:lnTo>
                  <a:pt x="3510" y="141"/>
                </a:lnTo>
                <a:lnTo>
                  <a:pt x="3532" y="205"/>
                </a:lnTo>
                <a:lnTo>
                  <a:pt x="3553" y="217"/>
                </a:lnTo>
                <a:lnTo>
                  <a:pt x="3575" y="152"/>
                </a:lnTo>
                <a:lnTo>
                  <a:pt x="3597" y="60"/>
                </a:lnTo>
                <a:lnTo>
                  <a:pt x="3618" y="17"/>
                </a:lnTo>
                <a:lnTo>
                  <a:pt x="3640" y="44"/>
                </a:lnTo>
                <a:lnTo>
                  <a:pt x="3662" y="96"/>
                </a:lnTo>
                <a:lnTo>
                  <a:pt x="3683" y="126"/>
                </a:lnTo>
                <a:lnTo>
                  <a:pt x="3705" y="135"/>
                </a:lnTo>
                <a:lnTo>
                  <a:pt x="3727" y="155"/>
                </a:lnTo>
                <a:lnTo>
                  <a:pt x="3748" y="186"/>
                </a:lnTo>
                <a:lnTo>
                  <a:pt x="3770" y="184"/>
                </a:lnTo>
                <a:lnTo>
                  <a:pt x="3792" y="122"/>
                </a:lnTo>
                <a:lnTo>
                  <a:pt x="3813" y="36"/>
                </a:lnTo>
                <a:lnTo>
                  <a:pt x="3835" y="0"/>
                </a:lnTo>
                <a:lnTo>
                  <a:pt x="3857" y="46"/>
                </a:lnTo>
                <a:lnTo>
                  <a:pt x="3878" y="129"/>
                </a:lnTo>
                <a:lnTo>
                  <a:pt x="3900" y="778"/>
                </a:lnTo>
                <a:lnTo>
                  <a:pt x="3922" y="775"/>
                </a:lnTo>
                <a:lnTo>
                  <a:pt x="3943" y="753"/>
                </a:lnTo>
                <a:lnTo>
                  <a:pt x="3965" y="745"/>
                </a:lnTo>
                <a:lnTo>
                  <a:pt x="3987" y="735"/>
                </a:lnTo>
                <a:lnTo>
                  <a:pt x="4008" y="693"/>
                </a:lnTo>
                <a:lnTo>
                  <a:pt x="4030" y="633"/>
                </a:lnTo>
                <a:lnTo>
                  <a:pt x="4052" y="613"/>
                </a:lnTo>
                <a:lnTo>
                  <a:pt x="4073" y="668"/>
                </a:lnTo>
                <a:lnTo>
                  <a:pt x="4095" y="761"/>
                </a:lnTo>
                <a:lnTo>
                  <a:pt x="4117" y="816"/>
                </a:lnTo>
                <a:lnTo>
                  <a:pt x="4138" y="795"/>
                </a:lnTo>
                <a:lnTo>
                  <a:pt x="4160" y="735"/>
                </a:lnTo>
                <a:lnTo>
                  <a:pt x="4182" y="693"/>
                </a:lnTo>
                <a:lnTo>
                  <a:pt x="4203" y="683"/>
                </a:lnTo>
                <a:lnTo>
                  <a:pt x="4225" y="675"/>
                </a:lnTo>
                <a:lnTo>
                  <a:pt x="4247" y="653"/>
                </a:lnTo>
                <a:lnTo>
                  <a:pt x="4268" y="650"/>
                </a:lnTo>
                <a:lnTo>
                  <a:pt x="4290" y="700"/>
                </a:lnTo>
                <a:lnTo>
                  <a:pt x="4312" y="782"/>
                </a:lnTo>
                <a:lnTo>
                  <a:pt x="4333" y="828"/>
                </a:lnTo>
                <a:lnTo>
                  <a:pt x="4355" y="791"/>
                </a:lnTo>
                <a:lnTo>
                  <a:pt x="4377" y="705"/>
                </a:lnTo>
                <a:lnTo>
                  <a:pt x="4398" y="644"/>
                </a:lnTo>
                <a:lnTo>
                  <a:pt x="4420" y="643"/>
                </a:lnTo>
                <a:lnTo>
                  <a:pt x="4442" y="673"/>
                </a:lnTo>
                <a:lnTo>
                  <a:pt x="4463" y="693"/>
                </a:lnTo>
                <a:lnTo>
                  <a:pt x="4485" y="702"/>
                </a:lnTo>
                <a:lnTo>
                  <a:pt x="4507" y="732"/>
                </a:lnTo>
                <a:lnTo>
                  <a:pt x="4528" y="785"/>
                </a:lnTo>
                <a:lnTo>
                  <a:pt x="4550" y="811"/>
                </a:lnTo>
                <a:lnTo>
                  <a:pt x="4572" y="767"/>
                </a:lnTo>
                <a:lnTo>
                  <a:pt x="4593" y="676"/>
                </a:lnTo>
                <a:lnTo>
                  <a:pt x="4615" y="611"/>
                </a:lnTo>
                <a:lnTo>
                  <a:pt x="4637" y="623"/>
                </a:lnTo>
                <a:lnTo>
                  <a:pt x="4658" y="688"/>
                </a:lnTo>
                <a:lnTo>
                  <a:pt x="4680" y="742"/>
                </a:lnTo>
                <a:lnTo>
                  <a:pt x="4702" y="755"/>
                </a:lnTo>
                <a:lnTo>
                  <a:pt x="4723" y="754"/>
                </a:lnTo>
                <a:lnTo>
                  <a:pt x="4745" y="765"/>
                </a:lnTo>
                <a:lnTo>
                  <a:pt x="4767" y="770"/>
                </a:lnTo>
                <a:lnTo>
                  <a:pt x="4788" y="732"/>
                </a:lnTo>
                <a:lnTo>
                  <a:pt x="4810" y="655"/>
                </a:lnTo>
                <a:lnTo>
                  <a:pt x="4832" y="603"/>
                </a:lnTo>
                <a:lnTo>
                  <a:pt x="4853" y="629"/>
                </a:lnTo>
                <a:lnTo>
                  <a:pt x="4875" y="714"/>
                </a:lnTo>
                <a:lnTo>
                  <a:pt x="4897" y="787"/>
                </a:lnTo>
                <a:lnTo>
                  <a:pt x="4918" y="796"/>
                </a:lnTo>
                <a:lnTo>
                  <a:pt x="4940" y="760"/>
                </a:lnTo>
                <a:lnTo>
                  <a:pt x="4962" y="728"/>
                </a:lnTo>
                <a:lnTo>
                  <a:pt x="4983" y="715"/>
                </a:lnTo>
                <a:lnTo>
                  <a:pt x="5005" y="695"/>
                </a:lnTo>
                <a:lnTo>
                  <a:pt x="5027" y="653"/>
                </a:lnTo>
                <a:lnTo>
                  <a:pt x="5048" y="624"/>
                </a:lnTo>
                <a:lnTo>
                  <a:pt x="5070" y="656"/>
                </a:lnTo>
                <a:lnTo>
                  <a:pt x="5092" y="743"/>
                </a:lnTo>
                <a:lnTo>
                  <a:pt x="5113" y="816"/>
                </a:lnTo>
                <a:lnTo>
                  <a:pt x="5135" y="814"/>
                </a:lnTo>
                <a:lnTo>
                  <a:pt x="5157" y="747"/>
                </a:lnTo>
                <a:lnTo>
                  <a:pt x="5178" y="682"/>
                </a:lnTo>
                <a:lnTo>
                  <a:pt x="5200" y="662"/>
                </a:lnTo>
              </a:path>
            </a:pathLst>
          </a:custGeom>
          <a:noFill/>
          <a:ln w="2159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11880"/>
            <a:ext cx="4754880" cy="365760"/>
          </a:xfrm>
          <a:prstGeom prst="rect">
            <a:avLst/>
          </a:prstGeom>
          <a:noFill/>
        </p:spPr>
        <p:txBody>
          <a:bodyPr wrap="square" lIns="0" rIns="0" tIns="0" bIns="0" anchor="t">
            <a:spAutoFit/>
          </a:bodyPr>
          <a:lstStyle/>
          <a:p>
            <a:pPr algn="l"/>
            <a:r>
              <a:rPr sz="2100" b="1" i="0">
                <a:solidFill>
                  <a:srgbClr val="17324D"/>
                </a:solidFill>
                <a:latin typeface="Aptos"/>
              </a:rPr>
              <a:t>Overshoot and ringing</a:t>
            </a:r>
          </a:p>
        </p:txBody>
      </p:sp>
      <p:cxnSp>
        <p:nvCxnSpPr>
          <p:cNvPr id="23" name="Connector 22"/>
          <p:cNvCxnSpPr/>
          <p:nvPr/>
        </p:nvCxnSpPr>
        <p:spPr>
          <a:xfrm>
            <a:off x="6400800" y="4937760"/>
            <a:ext cx="4754880"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24" name="Freeform 23"/>
          <p:cNvSpPr/>
          <p:nvPr/>
        </p:nvSpPr>
        <p:spPr>
          <a:xfrm>
            <a:off x="6400800" y="4132174"/>
            <a:ext cx="4754880" cy="1061618"/>
          </a:xfrm>
          <a:custGeom>
            <a:avLst/>
            <a:gdLst/>
            <a:ahLst/>
            <a:cxnLst/>
            <a:rect l="l" t="t" r="r" b="b"/>
            <a:pathLst>
              <a:path w="5200" h="1161">
                <a:moveTo>
                  <a:pt x="0" y="881"/>
                </a:moveTo>
                <a:lnTo>
                  <a:pt x="22" y="803"/>
                </a:lnTo>
                <a:lnTo>
                  <a:pt x="43" y="680"/>
                </a:lnTo>
                <a:lnTo>
                  <a:pt x="65" y="533"/>
                </a:lnTo>
                <a:lnTo>
                  <a:pt x="87" y="382"/>
                </a:lnTo>
                <a:lnTo>
                  <a:pt x="108" y="243"/>
                </a:lnTo>
                <a:lnTo>
                  <a:pt x="130" y="130"/>
                </a:lnTo>
                <a:lnTo>
                  <a:pt x="152" y="50"/>
                </a:lnTo>
                <a:lnTo>
                  <a:pt x="173" y="7"/>
                </a:lnTo>
                <a:lnTo>
                  <a:pt x="195" y="0"/>
                </a:lnTo>
                <a:lnTo>
                  <a:pt x="217" y="25"/>
                </a:lnTo>
                <a:lnTo>
                  <a:pt x="238" y="73"/>
                </a:lnTo>
                <a:lnTo>
                  <a:pt x="260" y="137"/>
                </a:lnTo>
                <a:lnTo>
                  <a:pt x="282" y="206"/>
                </a:lnTo>
                <a:lnTo>
                  <a:pt x="303" y="272"/>
                </a:lnTo>
                <a:lnTo>
                  <a:pt x="325" y="330"/>
                </a:lnTo>
                <a:lnTo>
                  <a:pt x="347" y="373"/>
                </a:lnTo>
                <a:lnTo>
                  <a:pt x="368" y="400"/>
                </a:lnTo>
                <a:lnTo>
                  <a:pt x="390" y="410"/>
                </a:lnTo>
                <a:lnTo>
                  <a:pt x="412" y="404"/>
                </a:lnTo>
                <a:lnTo>
                  <a:pt x="433" y="386"/>
                </a:lnTo>
                <a:lnTo>
                  <a:pt x="455" y="360"/>
                </a:lnTo>
                <a:lnTo>
                  <a:pt x="477" y="329"/>
                </a:lnTo>
                <a:lnTo>
                  <a:pt x="498" y="297"/>
                </a:lnTo>
                <a:lnTo>
                  <a:pt x="520" y="269"/>
                </a:lnTo>
                <a:lnTo>
                  <a:pt x="542" y="247"/>
                </a:lnTo>
                <a:lnTo>
                  <a:pt x="563" y="231"/>
                </a:lnTo>
                <a:lnTo>
                  <a:pt x="585" y="223"/>
                </a:lnTo>
                <a:lnTo>
                  <a:pt x="607" y="223"/>
                </a:lnTo>
                <a:lnTo>
                  <a:pt x="628" y="229"/>
                </a:lnTo>
                <a:lnTo>
                  <a:pt x="650" y="240"/>
                </a:lnTo>
                <a:lnTo>
                  <a:pt x="672" y="253"/>
                </a:lnTo>
                <a:lnTo>
                  <a:pt x="693" y="268"/>
                </a:lnTo>
                <a:lnTo>
                  <a:pt x="715" y="281"/>
                </a:lnTo>
                <a:lnTo>
                  <a:pt x="737" y="293"/>
                </a:lnTo>
                <a:lnTo>
                  <a:pt x="758" y="301"/>
                </a:lnTo>
                <a:lnTo>
                  <a:pt x="780" y="306"/>
                </a:lnTo>
                <a:lnTo>
                  <a:pt x="802" y="308"/>
                </a:lnTo>
                <a:lnTo>
                  <a:pt x="823" y="306"/>
                </a:lnTo>
                <a:lnTo>
                  <a:pt x="845" y="302"/>
                </a:lnTo>
                <a:lnTo>
                  <a:pt x="867" y="296"/>
                </a:lnTo>
                <a:lnTo>
                  <a:pt x="888" y="290"/>
                </a:lnTo>
                <a:lnTo>
                  <a:pt x="910" y="283"/>
                </a:lnTo>
                <a:lnTo>
                  <a:pt x="932" y="278"/>
                </a:lnTo>
                <a:lnTo>
                  <a:pt x="953" y="273"/>
                </a:lnTo>
                <a:lnTo>
                  <a:pt x="975" y="270"/>
                </a:lnTo>
                <a:lnTo>
                  <a:pt x="997" y="269"/>
                </a:lnTo>
                <a:lnTo>
                  <a:pt x="1018" y="269"/>
                </a:lnTo>
                <a:lnTo>
                  <a:pt x="1040" y="270"/>
                </a:lnTo>
                <a:lnTo>
                  <a:pt x="1062" y="273"/>
                </a:lnTo>
                <a:lnTo>
                  <a:pt x="1083" y="276"/>
                </a:lnTo>
                <a:lnTo>
                  <a:pt x="1105" y="279"/>
                </a:lnTo>
                <a:lnTo>
                  <a:pt x="1127" y="281"/>
                </a:lnTo>
                <a:lnTo>
                  <a:pt x="1148" y="284"/>
                </a:lnTo>
                <a:lnTo>
                  <a:pt x="1170" y="285"/>
                </a:lnTo>
                <a:lnTo>
                  <a:pt x="1192" y="286"/>
                </a:lnTo>
                <a:lnTo>
                  <a:pt x="1213" y="287"/>
                </a:lnTo>
                <a:lnTo>
                  <a:pt x="1235" y="286"/>
                </a:lnTo>
                <a:lnTo>
                  <a:pt x="1257" y="285"/>
                </a:lnTo>
                <a:lnTo>
                  <a:pt x="1278" y="284"/>
                </a:lnTo>
                <a:lnTo>
                  <a:pt x="1300" y="283"/>
                </a:lnTo>
                <a:lnTo>
                  <a:pt x="1322" y="360"/>
                </a:lnTo>
                <a:lnTo>
                  <a:pt x="1343" y="481"/>
                </a:lnTo>
                <a:lnTo>
                  <a:pt x="1365" y="627"/>
                </a:lnTo>
                <a:lnTo>
                  <a:pt x="1387" y="778"/>
                </a:lnTo>
                <a:lnTo>
                  <a:pt x="1408" y="916"/>
                </a:lnTo>
                <a:lnTo>
                  <a:pt x="1430" y="1030"/>
                </a:lnTo>
                <a:lnTo>
                  <a:pt x="1452" y="1110"/>
                </a:lnTo>
                <a:lnTo>
                  <a:pt x="1473" y="1153"/>
                </a:lnTo>
                <a:lnTo>
                  <a:pt x="1495" y="1161"/>
                </a:lnTo>
                <a:lnTo>
                  <a:pt x="1517" y="1137"/>
                </a:lnTo>
                <a:lnTo>
                  <a:pt x="1538" y="1089"/>
                </a:lnTo>
                <a:lnTo>
                  <a:pt x="1560" y="1026"/>
                </a:lnTo>
                <a:lnTo>
                  <a:pt x="1582" y="957"/>
                </a:lnTo>
                <a:lnTo>
                  <a:pt x="1603" y="891"/>
                </a:lnTo>
                <a:lnTo>
                  <a:pt x="1625" y="833"/>
                </a:lnTo>
                <a:lnTo>
                  <a:pt x="1647" y="790"/>
                </a:lnTo>
                <a:lnTo>
                  <a:pt x="1668" y="763"/>
                </a:lnTo>
                <a:lnTo>
                  <a:pt x="1690" y="753"/>
                </a:lnTo>
                <a:lnTo>
                  <a:pt x="1712" y="758"/>
                </a:lnTo>
                <a:lnTo>
                  <a:pt x="1733" y="776"/>
                </a:lnTo>
                <a:lnTo>
                  <a:pt x="1755" y="802"/>
                </a:lnTo>
                <a:lnTo>
                  <a:pt x="1777" y="833"/>
                </a:lnTo>
                <a:lnTo>
                  <a:pt x="1798" y="864"/>
                </a:lnTo>
                <a:lnTo>
                  <a:pt x="1820" y="892"/>
                </a:lnTo>
                <a:lnTo>
                  <a:pt x="1842" y="915"/>
                </a:lnTo>
                <a:lnTo>
                  <a:pt x="1863" y="930"/>
                </a:lnTo>
                <a:lnTo>
                  <a:pt x="1885" y="938"/>
                </a:lnTo>
                <a:lnTo>
                  <a:pt x="1907" y="939"/>
                </a:lnTo>
                <a:lnTo>
                  <a:pt x="1928" y="933"/>
                </a:lnTo>
                <a:lnTo>
                  <a:pt x="1950" y="922"/>
                </a:lnTo>
                <a:lnTo>
                  <a:pt x="1972" y="909"/>
                </a:lnTo>
                <a:lnTo>
                  <a:pt x="1993" y="895"/>
                </a:lnTo>
                <a:lnTo>
                  <a:pt x="2015" y="881"/>
                </a:lnTo>
                <a:lnTo>
                  <a:pt x="2037" y="870"/>
                </a:lnTo>
                <a:lnTo>
                  <a:pt x="2058" y="861"/>
                </a:lnTo>
                <a:lnTo>
                  <a:pt x="2080" y="856"/>
                </a:lnTo>
                <a:lnTo>
                  <a:pt x="2102" y="854"/>
                </a:lnTo>
                <a:lnTo>
                  <a:pt x="2123" y="856"/>
                </a:lnTo>
                <a:lnTo>
                  <a:pt x="2145" y="860"/>
                </a:lnTo>
                <a:lnTo>
                  <a:pt x="2167" y="866"/>
                </a:lnTo>
                <a:lnTo>
                  <a:pt x="2188" y="872"/>
                </a:lnTo>
                <a:lnTo>
                  <a:pt x="2210" y="878"/>
                </a:lnTo>
                <a:lnTo>
                  <a:pt x="2232" y="884"/>
                </a:lnTo>
                <a:lnTo>
                  <a:pt x="2253" y="889"/>
                </a:lnTo>
                <a:lnTo>
                  <a:pt x="2275" y="892"/>
                </a:lnTo>
                <a:lnTo>
                  <a:pt x="2297" y="893"/>
                </a:lnTo>
                <a:lnTo>
                  <a:pt x="2318" y="893"/>
                </a:lnTo>
                <a:lnTo>
                  <a:pt x="2340" y="892"/>
                </a:lnTo>
                <a:lnTo>
                  <a:pt x="2362" y="889"/>
                </a:lnTo>
                <a:lnTo>
                  <a:pt x="2383" y="886"/>
                </a:lnTo>
                <a:lnTo>
                  <a:pt x="2405" y="883"/>
                </a:lnTo>
                <a:lnTo>
                  <a:pt x="2427" y="881"/>
                </a:lnTo>
                <a:lnTo>
                  <a:pt x="2448" y="878"/>
                </a:lnTo>
                <a:lnTo>
                  <a:pt x="2470" y="877"/>
                </a:lnTo>
                <a:lnTo>
                  <a:pt x="2492" y="876"/>
                </a:lnTo>
                <a:lnTo>
                  <a:pt x="2513" y="875"/>
                </a:lnTo>
                <a:lnTo>
                  <a:pt x="2535" y="876"/>
                </a:lnTo>
                <a:lnTo>
                  <a:pt x="2557" y="877"/>
                </a:lnTo>
                <a:lnTo>
                  <a:pt x="2578" y="878"/>
                </a:lnTo>
                <a:lnTo>
                  <a:pt x="2600" y="879"/>
                </a:lnTo>
                <a:lnTo>
                  <a:pt x="2622" y="802"/>
                </a:lnTo>
                <a:lnTo>
                  <a:pt x="2643" y="681"/>
                </a:lnTo>
                <a:lnTo>
                  <a:pt x="2665" y="535"/>
                </a:lnTo>
                <a:lnTo>
                  <a:pt x="2687" y="384"/>
                </a:lnTo>
                <a:lnTo>
                  <a:pt x="2708" y="246"/>
                </a:lnTo>
                <a:lnTo>
                  <a:pt x="2730" y="132"/>
                </a:lnTo>
                <a:lnTo>
                  <a:pt x="2752" y="52"/>
                </a:lnTo>
                <a:lnTo>
                  <a:pt x="2773" y="9"/>
                </a:lnTo>
                <a:lnTo>
                  <a:pt x="2795" y="1"/>
                </a:lnTo>
                <a:lnTo>
                  <a:pt x="2817" y="25"/>
                </a:lnTo>
                <a:lnTo>
                  <a:pt x="2838" y="73"/>
                </a:lnTo>
                <a:lnTo>
                  <a:pt x="2860" y="136"/>
                </a:lnTo>
                <a:lnTo>
                  <a:pt x="2882" y="205"/>
                </a:lnTo>
                <a:lnTo>
                  <a:pt x="2903" y="271"/>
                </a:lnTo>
                <a:lnTo>
                  <a:pt x="2925" y="329"/>
                </a:lnTo>
                <a:lnTo>
                  <a:pt x="2947" y="372"/>
                </a:lnTo>
                <a:lnTo>
                  <a:pt x="2968" y="399"/>
                </a:lnTo>
                <a:lnTo>
                  <a:pt x="2990" y="409"/>
                </a:lnTo>
                <a:lnTo>
                  <a:pt x="3012" y="404"/>
                </a:lnTo>
                <a:lnTo>
                  <a:pt x="3033" y="386"/>
                </a:lnTo>
                <a:lnTo>
                  <a:pt x="3055" y="360"/>
                </a:lnTo>
                <a:lnTo>
                  <a:pt x="3077" y="329"/>
                </a:lnTo>
                <a:lnTo>
                  <a:pt x="3098" y="298"/>
                </a:lnTo>
                <a:lnTo>
                  <a:pt x="3120" y="270"/>
                </a:lnTo>
                <a:lnTo>
                  <a:pt x="3142" y="247"/>
                </a:lnTo>
                <a:lnTo>
                  <a:pt x="3163" y="232"/>
                </a:lnTo>
                <a:lnTo>
                  <a:pt x="3185" y="224"/>
                </a:lnTo>
                <a:lnTo>
                  <a:pt x="3207" y="223"/>
                </a:lnTo>
                <a:lnTo>
                  <a:pt x="3228" y="229"/>
                </a:lnTo>
                <a:lnTo>
                  <a:pt x="3250" y="240"/>
                </a:lnTo>
                <a:lnTo>
                  <a:pt x="3272" y="253"/>
                </a:lnTo>
                <a:lnTo>
                  <a:pt x="3293" y="267"/>
                </a:lnTo>
                <a:lnTo>
                  <a:pt x="3315" y="281"/>
                </a:lnTo>
                <a:lnTo>
                  <a:pt x="3337" y="292"/>
                </a:lnTo>
                <a:lnTo>
                  <a:pt x="3358" y="301"/>
                </a:lnTo>
                <a:lnTo>
                  <a:pt x="3380" y="306"/>
                </a:lnTo>
                <a:lnTo>
                  <a:pt x="3402" y="308"/>
                </a:lnTo>
                <a:lnTo>
                  <a:pt x="3423" y="306"/>
                </a:lnTo>
                <a:lnTo>
                  <a:pt x="3445" y="302"/>
                </a:lnTo>
                <a:lnTo>
                  <a:pt x="3467" y="296"/>
                </a:lnTo>
                <a:lnTo>
                  <a:pt x="3488" y="290"/>
                </a:lnTo>
                <a:lnTo>
                  <a:pt x="3510" y="284"/>
                </a:lnTo>
                <a:lnTo>
                  <a:pt x="3532" y="278"/>
                </a:lnTo>
                <a:lnTo>
                  <a:pt x="3553" y="273"/>
                </a:lnTo>
                <a:lnTo>
                  <a:pt x="3575" y="270"/>
                </a:lnTo>
                <a:lnTo>
                  <a:pt x="3597" y="269"/>
                </a:lnTo>
                <a:lnTo>
                  <a:pt x="3618" y="269"/>
                </a:lnTo>
                <a:lnTo>
                  <a:pt x="3640" y="270"/>
                </a:lnTo>
                <a:lnTo>
                  <a:pt x="3662" y="273"/>
                </a:lnTo>
                <a:lnTo>
                  <a:pt x="3683" y="276"/>
                </a:lnTo>
                <a:lnTo>
                  <a:pt x="3705" y="279"/>
                </a:lnTo>
                <a:lnTo>
                  <a:pt x="3727" y="281"/>
                </a:lnTo>
                <a:lnTo>
                  <a:pt x="3748" y="284"/>
                </a:lnTo>
                <a:lnTo>
                  <a:pt x="3770" y="285"/>
                </a:lnTo>
                <a:lnTo>
                  <a:pt x="3792" y="286"/>
                </a:lnTo>
                <a:lnTo>
                  <a:pt x="3813" y="287"/>
                </a:lnTo>
                <a:lnTo>
                  <a:pt x="3835" y="286"/>
                </a:lnTo>
                <a:lnTo>
                  <a:pt x="3857" y="285"/>
                </a:lnTo>
                <a:lnTo>
                  <a:pt x="3878" y="284"/>
                </a:lnTo>
                <a:lnTo>
                  <a:pt x="3900" y="283"/>
                </a:lnTo>
                <a:lnTo>
                  <a:pt x="3922" y="360"/>
                </a:lnTo>
                <a:lnTo>
                  <a:pt x="3943" y="481"/>
                </a:lnTo>
                <a:lnTo>
                  <a:pt x="3965" y="627"/>
                </a:lnTo>
                <a:lnTo>
                  <a:pt x="3987" y="778"/>
                </a:lnTo>
                <a:lnTo>
                  <a:pt x="4008" y="916"/>
                </a:lnTo>
                <a:lnTo>
                  <a:pt x="4030" y="1030"/>
                </a:lnTo>
                <a:lnTo>
                  <a:pt x="4052" y="1110"/>
                </a:lnTo>
                <a:lnTo>
                  <a:pt x="4073" y="1153"/>
                </a:lnTo>
                <a:lnTo>
                  <a:pt x="4095" y="1161"/>
                </a:lnTo>
                <a:lnTo>
                  <a:pt x="4117" y="1137"/>
                </a:lnTo>
                <a:lnTo>
                  <a:pt x="4138" y="1089"/>
                </a:lnTo>
                <a:lnTo>
                  <a:pt x="4160" y="1026"/>
                </a:lnTo>
                <a:lnTo>
                  <a:pt x="4182" y="957"/>
                </a:lnTo>
                <a:lnTo>
                  <a:pt x="4203" y="891"/>
                </a:lnTo>
                <a:lnTo>
                  <a:pt x="4225" y="833"/>
                </a:lnTo>
                <a:lnTo>
                  <a:pt x="4247" y="790"/>
                </a:lnTo>
                <a:lnTo>
                  <a:pt x="4268" y="763"/>
                </a:lnTo>
                <a:lnTo>
                  <a:pt x="4290" y="753"/>
                </a:lnTo>
                <a:lnTo>
                  <a:pt x="4312" y="758"/>
                </a:lnTo>
                <a:lnTo>
                  <a:pt x="4333" y="776"/>
                </a:lnTo>
                <a:lnTo>
                  <a:pt x="4355" y="802"/>
                </a:lnTo>
                <a:lnTo>
                  <a:pt x="4377" y="833"/>
                </a:lnTo>
                <a:lnTo>
                  <a:pt x="4398" y="864"/>
                </a:lnTo>
                <a:lnTo>
                  <a:pt x="4420" y="892"/>
                </a:lnTo>
                <a:lnTo>
                  <a:pt x="4442" y="915"/>
                </a:lnTo>
                <a:lnTo>
                  <a:pt x="4463" y="930"/>
                </a:lnTo>
                <a:lnTo>
                  <a:pt x="4485" y="938"/>
                </a:lnTo>
                <a:lnTo>
                  <a:pt x="4507" y="939"/>
                </a:lnTo>
                <a:lnTo>
                  <a:pt x="4528" y="933"/>
                </a:lnTo>
                <a:lnTo>
                  <a:pt x="4550" y="922"/>
                </a:lnTo>
                <a:lnTo>
                  <a:pt x="4572" y="909"/>
                </a:lnTo>
                <a:lnTo>
                  <a:pt x="4593" y="895"/>
                </a:lnTo>
                <a:lnTo>
                  <a:pt x="4615" y="881"/>
                </a:lnTo>
                <a:lnTo>
                  <a:pt x="4637" y="870"/>
                </a:lnTo>
                <a:lnTo>
                  <a:pt x="4658" y="861"/>
                </a:lnTo>
                <a:lnTo>
                  <a:pt x="4680" y="856"/>
                </a:lnTo>
                <a:lnTo>
                  <a:pt x="4702" y="854"/>
                </a:lnTo>
                <a:lnTo>
                  <a:pt x="4723" y="856"/>
                </a:lnTo>
                <a:lnTo>
                  <a:pt x="4745" y="860"/>
                </a:lnTo>
                <a:lnTo>
                  <a:pt x="4767" y="866"/>
                </a:lnTo>
                <a:lnTo>
                  <a:pt x="4788" y="872"/>
                </a:lnTo>
                <a:lnTo>
                  <a:pt x="4810" y="878"/>
                </a:lnTo>
                <a:lnTo>
                  <a:pt x="4832" y="884"/>
                </a:lnTo>
                <a:lnTo>
                  <a:pt x="4853" y="889"/>
                </a:lnTo>
                <a:lnTo>
                  <a:pt x="4875" y="892"/>
                </a:lnTo>
                <a:lnTo>
                  <a:pt x="4897" y="893"/>
                </a:lnTo>
                <a:lnTo>
                  <a:pt x="4918" y="893"/>
                </a:lnTo>
                <a:lnTo>
                  <a:pt x="4940" y="892"/>
                </a:lnTo>
                <a:lnTo>
                  <a:pt x="4962" y="889"/>
                </a:lnTo>
                <a:lnTo>
                  <a:pt x="4983" y="886"/>
                </a:lnTo>
                <a:lnTo>
                  <a:pt x="5005" y="883"/>
                </a:lnTo>
                <a:lnTo>
                  <a:pt x="5027" y="881"/>
                </a:lnTo>
                <a:lnTo>
                  <a:pt x="5048" y="878"/>
                </a:lnTo>
                <a:lnTo>
                  <a:pt x="5070" y="877"/>
                </a:lnTo>
                <a:lnTo>
                  <a:pt x="5092" y="876"/>
                </a:lnTo>
                <a:lnTo>
                  <a:pt x="5113" y="875"/>
                </a:lnTo>
                <a:lnTo>
                  <a:pt x="5135" y="876"/>
                </a:lnTo>
                <a:lnTo>
                  <a:pt x="5157" y="877"/>
                </a:lnTo>
                <a:lnTo>
                  <a:pt x="5178" y="878"/>
                </a:lnTo>
                <a:lnTo>
                  <a:pt x="5200" y="879"/>
                </a:lnTo>
              </a:path>
            </a:pathLst>
          </a:custGeom>
          <a:noFill/>
          <a:ln w="2159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760720"/>
            <a:ext cx="10698480" cy="320040"/>
          </a:xfrm>
          <a:prstGeom prst="rect">
            <a:avLst/>
          </a:prstGeom>
          <a:noFill/>
        </p:spPr>
        <p:txBody>
          <a:bodyPr wrap="square" lIns="0" rIns="0" tIns="0" bIns="0" anchor="t">
            <a:spAutoFit/>
          </a:bodyPr>
          <a:lstStyle/>
          <a:p>
            <a:pPr algn="ctr"/>
            <a:r>
              <a:rPr sz="1700" b="0" i="0">
                <a:solidFill>
                  <a:srgbClr val="17324D"/>
                </a:solidFill>
                <a:latin typeface="Aptos"/>
              </a:rPr>
              <a:t>Constructed examples. Appearance suggests tests; it does not uniquely identify a cause.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10</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CONSTRUCTED PATTERN-HISTORY EXAMPLE; THE SAME CURRENT ZERO CAN SAMPLE DIFFERENTLY</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700" b="1" i="0">
                <a:solidFill>
                  <a:srgbClr val="17324D"/>
                </a:solidFill>
                <a:latin typeface="Aptos Display"/>
              </a:rPr>
              <a:t>A previous bit can change the current decision</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1783080"/>
            <a:ext cx="10698480" cy="594360"/>
          </a:xfrm>
          <a:prstGeom prst="rect">
            <a:avLst/>
          </a:prstGeom>
          <a:noFill/>
        </p:spPr>
        <p:txBody>
          <a:bodyPr wrap="square" lIns="0" rIns="0" tIns="0" bIns="0" anchor="t">
            <a:spAutoFit/>
          </a:bodyPr>
          <a:lstStyle/>
          <a:p>
            <a:pPr algn="l"/>
            <a:r>
              <a:rPr sz="2200" b="1" i="0">
                <a:solidFill>
                  <a:srgbClr val="17324D"/>
                </a:solidFill>
                <a:latin typeface="Aptos"/>
              </a:rPr>
              <a:t>ISI = intersymbol interference. Nominal 0 / 1 V; threshold = 0.5 V.</a:t>
            </a:r>
          </a:p>
        </p:txBody>
      </p:sp>
      <p:graphicFrame>
        <p:nvGraphicFramePr>
          <p:cNvPr id="14" name="Table 13"/>
          <p:cNvGraphicFramePr>
            <a:graphicFrameLocks noGrp="1"/>
          </p:cNvGraphicFramePr>
          <p:nvPr/>
        </p:nvGraphicFramePr>
        <p:xfrm>
          <a:off x="658368" y="2606040"/>
          <a:ext cx="10881360" cy="3246120"/>
        </p:xfrm>
        <a:graphic>
          <a:graphicData uri="http://schemas.openxmlformats.org/drawingml/2006/table">
            <a:tbl>
              <a:tblPr firstRow="1" bandRow="1">
                <a:tableStyleId>{5C22544A-7EE6-4342-B048-85BDC9FD1C3A}</a:tableStyleId>
              </a:tblPr>
              <a:tblGrid>
                <a:gridCol w="2720340"/>
                <a:gridCol w="2720340"/>
                <a:gridCol w="2720340"/>
                <a:gridCol w="2720340"/>
              </a:tblGrid>
              <a:tr h="811530">
                <a:tc>
                  <a:txBody>
                    <a:bodyPr/>
                    <a:lstStyle/>
                    <a:p>
                      <a:r>
                        <a:rPr sz="1800" b="1">
                          <a:solidFill>
                            <a:srgbClr val="FFFFFF"/>
                          </a:solidFill>
                          <a:latin typeface="Aptos"/>
                        </a:rPr>
                        <a:t>Previous bit</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Current bit sent</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Sampled voltage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Decision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11530">
                <a:tc>
                  <a:txBody>
                    <a:bodyPr/>
                    <a:lstStyle/>
                    <a:p>
                      <a:r>
                        <a:rPr sz="1800">
                          <a:solidFill>
                            <a:srgbClr val="182028"/>
                          </a:solidFill>
                          <a:latin typeface="Aptos"/>
                        </a:rPr>
                        <a:t>0</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0</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0.1 V</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0: correct</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11530">
                <a:tc>
                  <a:txBody>
                    <a:bodyPr/>
                    <a:lstStyle/>
                    <a:p>
                      <a:r>
                        <a:rPr sz="1800">
                          <a:solidFill>
                            <a:srgbClr val="182028"/>
                          </a:solidFill>
                          <a:latin typeface="Aptos"/>
                        </a:rPr>
                        <a:t>0</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0.9 V</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 correct</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11530">
                <a:tc>
                  <a:txBody>
                    <a:bodyPr/>
                    <a:lstStyle/>
                    <a:p>
                      <a:r>
                        <a:rPr sz="1800">
                          <a:solidFill>
                            <a:srgbClr val="182028"/>
                          </a:solidFill>
                          <a:latin typeface="Aptos"/>
                        </a:rPr>
                        <a:t>1</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0</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0.6 V</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 wrong</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11</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IMPEDANCE DISCONTINUITIES CAN REFLECT PART OF A TRAVELING SIGNAL</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A mismatch can add an unwanted echo</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1874519"/>
            <a:ext cx="10698480" cy="411480"/>
          </a:xfrm>
          <a:prstGeom prst="rect">
            <a:avLst/>
          </a:prstGeom>
          <a:noFill/>
        </p:spPr>
        <p:txBody>
          <a:bodyPr wrap="square" lIns="0" rIns="0" tIns="0" bIns="0" anchor="t">
            <a:spAutoFit/>
          </a:bodyPr>
          <a:lstStyle/>
          <a:p>
            <a:pPr algn="l"/>
            <a:r>
              <a:rPr sz="2200" b="1" i="0">
                <a:solidFill>
                  <a:srgbClr val="17324D"/>
                </a:solidFill>
                <a:latin typeface="Aptos"/>
              </a:rPr>
              <a:t>Reference connection</a:t>
            </a:r>
          </a:p>
        </p:txBody>
      </p:sp>
      <p:sp>
        <p:nvSpPr>
          <p:cNvPr id="14" name="Rounded Rectangle 13"/>
          <p:cNvSpPr/>
          <p:nvPr/>
        </p:nvSpPr>
        <p:spPr>
          <a:xfrm>
            <a:off x="914400" y="2377440"/>
            <a:ext cx="2194560" cy="640080"/>
          </a:xfrm>
          <a:prstGeom prst="roundRect">
            <a:avLst/>
          </a:prstGeom>
          <a:solidFill>
            <a:srgbClr val="DDECEA"/>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542032"/>
            <a:ext cx="2194560" cy="320040"/>
          </a:xfrm>
          <a:prstGeom prst="rect">
            <a:avLst/>
          </a:prstGeom>
          <a:noFill/>
        </p:spPr>
        <p:txBody>
          <a:bodyPr wrap="square" lIns="0" rIns="0" tIns="0" bIns="0" anchor="t">
            <a:spAutoFit/>
          </a:bodyPr>
          <a:lstStyle/>
          <a:p>
            <a:pPr algn="ctr"/>
            <a:r>
              <a:rPr sz="2000" b="1" i="0">
                <a:solidFill>
                  <a:srgbClr val="17324D"/>
                </a:solidFill>
                <a:latin typeface="Aptos"/>
              </a:rPr>
              <a:t>Driver</a:t>
            </a:r>
          </a:p>
        </p:txBody>
      </p:sp>
      <p:sp>
        <p:nvSpPr>
          <p:cNvPr id="16" name="Rounded Rectangle 15"/>
          <p:cNvSpPr/>
          <p:nvPr/>
        </p:nvSpPr>
        <p:spPr>
          <a:xfrm>
            <a:off x="8869680" y="2377440"/>
            <a:ext cx="2194560" cy="640080"/>
          </a:xfrm>
          <a:prstGeom prst="roundRect">
            <a:avLst/>
          </a:prstGeom>
          <a:solidFill>
            <a:srgbClr val="DDECEA"/>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2542032"/>
            <a:ext cx="2194560" cy="320040"/>
          </a:xfrm>
          <a:prstGeom prst="rect">
            <a:avLst/>
          </a:prstGeom>
          <a:noFill/>
        </p:spPr>
        <p:txBody>
          <a:bodyPr wrap="square" lIns="0" rIns="0" tIns="0" bIns="0" anchor="t">
            <a:spAutoFit/>
          </a:bodyPr>
          <a:lstStyle/>
          <a:p>
            <a:pPr algn="ctr"/>
            <a:r>
              <a:rPr sz="2000" b="1" i="0">
                <a:solidFill>
                  <a:srgbClr val="17324D"/>
                </a:solidFill>
                <a:latin typeface="Aptos"/>
              </a:rPr>
              <a:t>Receiver</a:t>
            </a:r>
          </a:p>
        </p:txBody>
      </p:sp>
      <p:cxnSp>
        <p:nvCxnSpPr>
          <p:cNvPr id="18" name="Connector 17"/>
          <p:cNvCxnSpPr/>
          <p:nvPr/>
        </p:nvCxnSpPr>
        <p:spPr>
          <a:xfrm>
            <a:off x="3108960" y="2697480"/>
            <a:ext cx="5760720" cy="0"/>
          </a:xfrm>
          <a:prstGeom prst="line">
            <a:avLst/>
          </a:prstGeom>
          <a:ln w="38100">
            <a:solidFill>
              <a:srgbClr val="0F6D7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06240" y="2834640"/>
            <a:ext cx="3108960" cy="320040"/>
          </a:xfrm>
          <a:prstGeom prst="rect">
            <a:avLst/>
          </a:prstGeom>
          <a:noFill/>
        </p:spPr>
        <p:txBody>
          <a:bodyPr wrap="square" lIns="0" rIns="0" tIns="0" bIns="0" anchor="t">
            <a:spAutoFit/>
          </a:bodyPr>
          <a:lstStyle/>
          <a:p>
            <a:pPr algn="ctr"/>
            <a:r>
              <a:rPr sz="1700" b="0" i="0">
                <a:solidFill>
                  <a:srgbClr val="17324D"/>
                </a:solidFill>
                <a:latin typeface="Aptos"/>
              </a:rPr>
              <a:t>Cable / transmission path</a:t>
            </a:r>
          </a:p>
        </p:txBody>
      </p:sp>
      <p:sp>
        <p:nvSpPr>
          <p:cNvPr id="20" name="TextBox 19"/>
          <p:cNvSpPr txBox="1"/>
          <p:nvPr/>
        </p:nvSpPr>
        <p:spPr>
          <a:xfrm>
            <a:off x="777240" y="3474720"/>
            <a:ext cx="10698480" cy="411480"/>
          </a:xfrm>
          <a:prstGeom prst="rect">
            <a:avLst/>
          </a:prstGeom>
          <a:noFill/>
        </p:spPr>
        <p:txBody>
          <a:bodyPr wrap="square" lIns="0" rIns="0" tIns="0" bIns="0" anchor="t">
            <a:spAutoFit/>
          </a:bodyPr>
          <a:lstStyle/>
          <a:p>
            <a:pPr algn="l"/>
            <a:r>
              <a:rPr sz="2200" b="1" i="0">
                <a:solidFill>
                  <a:srgbClr val="17324D"/>
                </a:solidFill>
                <a:latin typeface="Aptos"/>
              </a:rPr>
              <a:t>Added branch / changed termination</a:t>
            </a:r>
          </a:p>
        </p:txBody>
      </p:sp>
      <p:sp>
        <p:nvSpPr>
          <p:cNvPr id="21" name="Rounded Rectangle 20"/>
          <p:cNvSpPr/>
          <p:nvPr/>
        </p:nvSpPr>
        <p:spPr>
          <a:xfrm>
            <a:off x="914400" y="3977639"/>
            <a:ext cx="2194560" cy="640080"/>
          </a:xfrm>
          <a:prstGeom prst="roundRect">
            <a:avLst/>
          </a:prstGeom>
          <a:solidFill>
            <a:srgbClr val="DDECEA"/>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42231"/>
            <a:ext cx="2194560" cy="320040"/>
          </a:xfrm>
          <a:prstGeom prst="rect">
            <a:avLst/>
          </a:prstGeom>
          <a:noFill/>
        </p:spPr>
        <p:txBody>
          <a:bodyPr wrap="square" lIns="0" rIns="0" tIns="0" bIns="0" anchor="t">
            <a:spAutoFit/>
          </a:bodyPr>
          <a:lstStyle/>
          <a:p>
            <a:pPr algn="ctr"/>
            <a:r>
              <a:rPr sz="2000" b="1" i="0">
                <a:solidFill>
                  <a:srgbClr val="17324D"/>
                </a:solidFill>
                <a:latin typeface="Aptos"/>
              </a:rPr>
              <a:t>Driver</a:t>
            </a:r>
          </a:p>
        </p:txBody>
      </p:sp>
      <p:sp>
        <p:nvSpPr>
          <p:cNvPr id="23" name="Rounded Rectangle 22"/>
          <p:cNvSpPr/>
          <p:nvPr/>
        </p:nvSpPr>
        <p:spPr>
          <a:xfrm>
            <a:off x="8869680" y="3977639"/>
            <a:ext cx="2194560" cy="640080"/>
          </a:xfrm>
          <a:prstGeom prst="roundRect">
            <a:avLst/>
          </a:prstGeom>
          <a:solidFill>
            <a:srgbClr val="DDECEA"/>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0" y="4142231"/>
            <a:ext cx="2194560" cy="320040"/>
          </a:xfrm>
          <a:prstGeom prst="rect">
            <a:avLst/>
          </a:prstGeom>
          <a:noFill/>
        </p:spPr>
        <p:txBody>
          <a:bodyPr wrap="square" lIns="0" rIns="0" tIns="0" bIns="0" anchor="t">
            <a:spAutoFit/>
          </a:bodyPr>
          <a:lstStyle/>
          <a:p>
            <a:pPr algn="ctr"/>
            <a:r>
              <a:rPr sz="2000" b="1" i="0">
                <a:solidFill>
                  <a:srgbClr val="17324D"/>
                </a:solidFill>
                <a:latin typeface="Aptos"/>
              </a:rPr>
              <a:t>Receiver</a:t>
            </a:r>
          </a:p>
        </p:txBody>
      </p:sp>
      <p:cxnSp>
        <p:nvCxnSpPr>
          <p:cNvPr id="25" name="Connector 24"/>
          <p:cNvCxnSpPr/>
          <p:nvPr/>
        </p:nvCxnSpPr>
        <p:spPr>
          <a:xfrm>
            <a:off x="3108960" y="4297679"/>
            <a:ext cx="5760720" cy="0"/>
          </a:xfrm>
          <a:prstGeom prst="line">
            <a:avLst/>
          </a:prstGeom>
          <a:ln w="38100">
            <a:solidFill>
              <a:srgbClr val="0F6D7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206240" y="4434840"/>
            <a:ext cx="3108960" cy="320040"/>
          </a:xfrm>
          <a:prstGeom prst="rect">
            <a:avLst/>
          </a:prstGeom>
          <a:noFill/>
        </p:spPr>
        <p:txBody>
          <a:bodyPr wrap="square" lIns="0" rIns="0" tIns="0" bIns="0" anchor="t">
            <a:spAutoFit/>
          </a:bodyPr>
          <a:lstStyle/>
          <a:p>
            <a:pPr algn="ctr"/>
            <a:r>
              <a:rPr sz="1700" b="0" i="0">
                <a:solidFill>
                  <a:srgbClr val="17324D"/>
                </a:solidFill>
                <a:latin typeface="Aptos"/>
              </a:rPr>
              <a:t>Cable / transmission path</a:t>
            </a:r>
          </a:p>
        </p:txBody>
      </p:sp>
      <p:cxnSp>
        <p:nvCxnSpPr>
          <p:cNvPr id="27" name="Connector 26"/>
          <p:cNvCxnSpPr/>
          <p:nvPr/>
        </p:nvCxnSpPr>
        <p:spPr>
          <a:xfrm flipV="1">
            <a:off x="5577840" y="3749039"/>
            <a:ext cx="0" cy="54864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577840" y="3749039"/>
            <a:ext cx="109728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0" y="3913631"/>
            <a:ext cx="2926080" cy="320040"/>
          </a:xfrm>
          <a:prstGeom prst="rect">
            <a:avLst/>
          </a:prstGeom>
          <a:noFill/>
        </p:spPr>
        <p:txBody>
          <a:bodyPr wrap="square" lIns="0" rIns="0" tIns="0" bIns="0" anchor="t">
            <a:spAutoFit/>
          </a:bodyPr>
          <a:lstStyle/>
          <a:p>
            <a:pPr algn="l"/>
            <a:r>
              <a:rPr sz="1700" b="0" i="0">
                <a:solidFill>
                  <a:srgbClr val="D96F32"/>
                </a:solidFill>
                <a:latin typeface="Aptos"/>
              </a:rPr>
              <a:t>Branch / discontinuity</a:t>
            </a:r>
          </a:p>
        </p:txBody>
      </p:sp>
      <p:sp>
        <p:nvSpPr>
          <p:cNvPr id="30" name="TextBox 29"/>
          <p:cNvSpPr txBox="1"/>
          <p:nvPr/>
        </p:nvSpPr>
        <p:spPr>
          <a:xfrm>
            <a:off x="3383280" y="4873752"/>
            <a:ext cx="5852160" cy="457200"/>
          </a:xfrm>
          <a:prstGeom prst="rect">
            <a:avLst/>
          </a:prstGeom>
          <a:noFill/>
        </p:spPr>
        <p:txBody>
          <a:bodyPr wrap="square" lIns="0" rIns="0" tIns="0" bIns="0" anchor="t">
            <a:spAutoFit/>
          </a:bodyPr>
          <a:lstStyle/>
          <a:p>
            <a:pPr algn="ctr"/>
            <a:r>
              <a:rPr sz="1900" b="0" i="0">
                <a:solidFill>
                  <a:srgbClr val="D96F32"/>
                </a:solidFill>
                <a:latin typeface="Aptos"/>
              </a:rPr>
              <a:t>Some energy reflects: a delayed copy can distort later pulses.</a:t>
            </a:r>
          </a:p>
        </p:txBody>
      </p:sp>
      <p:sp>
        <p:nvSpPr>
          <p:cNvPr id="31" name="TextBox 30"/>
          <p:cNvSpPr txBox="1"/>
          <p:nvPr/>
        </p:nvSpPr>
        <p:spPr>
          <a:xfrm>
            <a:off x="777240" y="5806440"/>
            <a:ext cx="10698480" cy="320040"/>
          </a:xfrm>
          <a:prstGeom prst="rect">
            <a:avLst/>
          </a:prstGeom>
          <a:noFill/>
        </p:spPr>
        <p:txBody>
          <a:bodyPr wrap="square" lIns="0" rIns="0" tIns="0" bIns="0" anchor="t">
            <a:spAutoFit/>
          </a:bodyPr>
          <a:lstStyle/>
          <a:p>
            <a:pPr algn="ctr"/>
            <a:r>
              <a:rPr sz="1700" b="0" i="0">
                <a:solidFill>
                  <a:srgbClr val="17324D"/>
                </a:solidFill>
                <a:latin typeface="Aptos"/>
              </a:rPr>
              <a:t>Effect depends on edge speed, impedances and delay. DC continuity alone does not test these effects.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12</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A TIME-DOMAIN DISPLAY, NOT A CONSTELLATION OR FREQUENCY SPECTRUM</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Build an eye by overlaying aligned windows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 y="1920240"/>
            <a:ext cx="4389120" cy="9601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039112"/>
            <a:ext cx="3931920" cy="320040"/>
          </a:xfrm>
          <a:prstGeom prst="rect">
            <a:avLst/>
          </a:prstGeom>
          <a:noFill/>
        </p:spPr>
        <p:txBody>
          <a:bodyPr wrap="square" lIns="0" rIns="0" tIns="0" bIns="0" anchor="t">
            <a:spAutoFit/>
          </a:bodyPr>
          <a:lstStyle/>
          <a:p>
            <a:pPr algn="l"/>
            <a:r>
              <a:rPr sz="2100" b="1" i="0">
                <a:solidFill>
                  <a:srgbClr val="17324D"/>
                </a:solidFill>
                <a:latin typeface="Aptos"/>
              </a:rPr>
              <a:t>1. Align</a:t>
            </a:r>
          </a:p>
        </p:txBody>
      </p:sp>
      <p:sp>
        <p:nvSpPr>
          <p:cNvPr id="15" name="TextBox 14"/>
          <p:cNvSpPr txBox="1"/>
          <p:nvPr/>
        </p:nvSpPr>
        <p:spPr>
          <a:xfrm>
            <a:off x="960120" y="2423160"/>
            <a:ext cx="3931920" cy="365760"/>
          </a:xfrm>
          <a:prstGeom prst="rect">
            <a:avLst/>
          </a:prstGeom>
          <a:noFill/>
        </p:spPr>
        <p:txBody>
          <a:bodyPr wrap="square" lIns="0" rIns="0" tIns="0" bIns="0" anchor="t">
            <a:spAutoFit/>
          </a:bodyPr>
          <a:lstStyle/>
          <a:p>
            <a:pPr algn="l"/>
            <a:r>
              <a:rPr sz="1800" b="0" i="0">
                <a:solidFill>
                  <a:srgbClr val="17324D"/>
                </a:solidFill>
                <a:latin typeface="Aptos"/>
              </a:rPr>
              <a:t>Use the symbol timing reference.</a:t>
            </a:r>
          </a:p>
        </p:txBody>
      </p:sp>
      <p:sp>
        <p:nvSpPr>
          <p:cNvPr id="16" name="Rounded Rectangle 15"/>
          <p:cNvSpPr/>
          <p:nvPr/>
        </p:nvSpPr>
        <p:spPr>
          <a:xfrm>
            <a:off x="777240" y="3154680"/>
            <a:ext cx="4389120" cy="9601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273552"/>
            <a:ext cx="3931920" cy="320040"/>
          </a:xfrm>
          <a:prstGeom prst="rect">
            <a:avLst/>
          </a:prstGeom>
          <a:noFill/>
        </p:spPr>
        <p:txBody>
          <a:bodyPr wrap="square" lIns="0" rIns="0" tIns="0" bIns="0" anchor="t">
            <a:spAutoFit/>
          </a:bodyPr>
          <a:lstStyle/>
          <a:p>
            <a:pPr algn="l"/>
            <a:r>
              <a:rPr sz="2100" b="1" i="0">
                <a:solidFill>
                  <a:srgbClr val="17324D"/>
                </a:solidFill>
                <a:latin typeface="Aptos"/>
              </a:rPr>
              <a:t>2. Cut</a:t>
            </a:r>
          </a:p>
        </p:txBody>
      </p:sp>
      <p:sp>
        <p:nvSpPr>
          <p:cNvPr id="18" name="TextBox 17"/>
          <p:cNvSpPr txBox="1"/>
          <p:nvPr/>
        </p:nvSpPr>
        <p:spPr>
          <a:xfrm>
            <a:off x="960120" y="3657600"/>
            <a:ext cx="3931920" cy="365760"/>
          </a:xfrm>
          <a:prstGeom prst="rect">
            <a:avLst/>
          </a:prstGeom>
          <a:noFill/>
        </p:spPr>
        <p:txBody>
          <a:bodyPr wrap="square" lIns="0" rIns="0" tIns="0" bIns="0" anchor="t">
            <a:spAutoFit/>
          </a:bodyPr>
          <a:lstStyle/>
          <a:p>
            <a:pPr algn="l"/>
            <a:r>
              <a:rPr sz="1800" b="0" i="0">
                <a:solidFill>
                  <a:srgbClr val="17324D"/>
                </a:solidFill>
                <a:latin typeface="Aptos"/>
              </a:rPr>
              <a:t>Take equal time windows.</a:t>
            </a:r>
          </a:p>
        </p:txBody>
      </p:sp>
      <p:sp>
        <p:nvSpPr>
          <p:cNvPr id="19" name="Rounded Rectangle 18"/>
          <p:cNvSpPr/>
          <p:nvPr/>
        </p:nvSpPr>
        <p:spPr>
          <a:xfrm>
            <a:off x="777240" y="4389120"/>
            <a:ext cx="4389120" cy="9601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507992"/>
            <a:ext cx="3931920" cy="320040"/>
          </a:xfrm>
          <a:prstGeom prst="rect">
            <a:avLst/>
          </a:prstGeom>
          <a:noFill/>
        </p:spPr>
        <p:txBody>
          <a:bodyPr wrap="square" lIns="0" rIns="0" tIns="0" bIns="0" anchor="t">
            <a:spAutoFit/>
          </a:bodyPr>
          <a:lstStyle/>
          <a:p>
            <a:pPr algn="l"/>
            <a:r>
              <a:rPr sz="2100" b="1" i="0">
                <a:solidFill>
                  <a:srgbClr val="17324D"/>
                </a:solidFill>
                <a:latin typeface="Aptos"/>
              </a:rPr>
              <a:t>3. Overlay</a:t>
            </a:r>
          </a:p>
        </p:txBody>
      </p:sp>
      <p:sp>
        <p:nvSpPr>
          <p:cNvPr id="21" name="TextBox 20"/>
          <p:cNvSpPr txBox="1"/>
          <p:nvPr/>
        </p:nvSpPr>
        <p:spPr>
          <a:xfrm>
            <a:off x="960120" y="4892040"/>
            <a:ext cx="3931920" cy="365760"/>
          </a:xfrm>
          <a:prstGeom prst="rect">
            <a:avLst/>
          </a:prstGeom>
          <a:noFill/>
        </p:spPr>
        <p:txBody>
          <a:bodyPr wrap="square" lIns="0" rIns="0" tIns="0" bIns="0" anchor="t">
            <a:spAutoFit/>
          </a:bodyPr>
          <a:lstStyle/>
          <a:p>
            <a:pPr algn="l"/>
            <a:r>
              <a:rPr sz="1800" b="0" i="0">
                <a:solidFill>
                  <a:srgbClr val="17324D"/>
                </a:solidFill>
                <a:latin typeface="Aptos"/>
              </a:rPr>
              <a:t>Overlay windows on identical axes.</a:t>
            </a:r>
          </a:p>
        </p:txBody>
      </p:sp>
      <p:cxnSp>
        <p:nvCxnSpPr>
          <p:cNvPr id="22" name="Connector 21"/>
          <p:cNvCxnSpPr/>
          <p:nvPr/>
        </p:nvCxnSpPr>
        <p:spPr>
          <a:xfrm>
            <a:off x="5943600" y="2514600"/>
            <a:ext cx="0" cy="256032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596128" y="2813304"/>
            <a:ext cx="274320" cy="274320"/>
          </a:xfrm>
          <a:prstGeom prst="rect">
            <a:avLst/>
          </a:prstGeom>
          <a:noFill/>
        </p:spPr>
        <p:txBody>
          <a:bodyPr wrap="square" lIns="0" rIns="0" tIns="0" bIns="0" anchor="t">
            <a:spAutoFit/>
          </a:bodyPr>
          <a:lstStyle/>
          <a:p>
            <a:pPr algn="l"/>
            <a:r>
              <a:rPr sz="1400" b="0" i="0">
                <a:solidFill>
                  <a:srgbClr val="5F6B73"/>
                </a:solidFill>
                <a:latin typeface="Aptos"/>
              </a:rPr>
              <a:t>H</a:t>
            </a:r>
          </a:p>
        </p:txBody>
      </p:sp>
      <p:sp>
        <p:nvSpPr>
          <p:cNvPr id="24" name="TextBox 23"/>
          <p:cNvSpPr txBox="1"/>
          <p:nvPr/>
        </p:nvSpPr>
        <p:spPr>
          <a:xfrm>
            <a:off x="5596128" y="4520184"/>
            <a:ext cx="274320" cy="274320"/>
          </a:xfrm>
          <a:prstGeom prst="rect">
            <a:avLst/>
          </a:prstGeom>
          <a:noFill/>
        </p:spPr>
        <p:txBody>
          <a:bodyPr wrap="square" lIns="0" rIns="0" tIns="0" bIns="0" anchor="t">
            <a:spAutoFit/>
          </a:bodyPr>
          <a:lstStyle/>
          <a:p>
            <a:pPr algn="l"/>
            <a:r>
              <a:rPr sz="1400" b="0" i="0">
                <a:solidFill>
                  <a:srgbClr val="5F6B73"/>
                </a:solidFill>
                <a:latin typeface="Aptos"/>
              </a:rPr>
              <a:t>L</a:t>
            </a:r>
          </a:p>
        </p:txBody>
      </p:sp>
      <p:cxnSp>
        <p:nvCxnSpPr>
          <p:cNvPr id="25" name="Connector 24"/>
          <p:cNvCxnSpPr/>
          <p:nvPr/>
        </p:nvCxnSpPr>
        <p:spPr>
          <a:xfrm>
            <a:off x="5943600" y="3794760"/>
            <a:ext cx="5166360"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5943600" y="4647895"/>
            <a:ext cx="5166360" cy="0"/>
          </a:xfrm>
          <a:custGeom>
            <a:avLst/>
            <a:gdLst/>
            <a:ahLst/>
            <a:cxnLst/>
            <a:rect l="l" t="t" r="r" b="b"/>
            <a:pathLst>
              <a:path w="5650" h="0">
                <a:moveTo>
                  <a:pt x="0" y="0"/>
                </a:moveTo>
                <a:lnTo>
                  <a:pt x="71" y="0"/>
                </a:lnTo>
                <a:lnTo>
                  <a:pt x="141" y="0"/>
                </a:lnTo>
                <a:lnTo>
                  <a:pt x="212" y="0"/>
                </a:lnTo>
                <a:lnTo>
                  <a:pt x="282" y="0"/>
                </a:lnTo>
                <a:lnTo>
                  <a:pt x="353" y="0"/>
                </a:lnTo>
                <a:lnTo>
                  <a:pt x="424" y="0"/>
                </a:lnTo>
                <a:lnTo>
                  <a:pt x="494" y="0"/>
                </a:lnTo>
                <a:lnTo>
                  <a:pt x="565" y="0"/>
                </a:lnTo>
                <a:lnTo>
                  <a:pt x="636" y="0"/>
                </a:lnTo>
                <a:lnTo>
                  <a:pt x="706" y="0"/>
                </a:lnTo>
                <a:lnTo>
                  <a:pt x="777" y="0"/>
                </a:lnTo>
                <a:lnTo>
                  <a:pt x="848" y="0"/>
                </a:lnTo>
                <a:lnTo>
                  <a:pt x="918" y="0"/>
                </a:lnTo>
                <a:lnTo>
                  <a:pt x="989" y="0"/>
                </a:lnTo>
                <a:lnTo>
                  <a:pt x="1059" y="0"/>
                </a:lnTo>
                <a:lnTo>
                  <a:pt x="1130" y="0"/>
                </a:lnTo>
                <a:lnTo>
                  <a:pt x="1201" y="0"/>
                </a:lnTo>
                <a:lnTo>
                  <a:pt x="1271" y="0"/>
                </a:lnTo>
                <a:lnTo>
                  <a:pt x="1342" y="0"/>
                </a:lnTo>
                <a:lnTo>
                  <a:pt x="1412" y="0"/>
                </a:lnTo>
                <a:lnTo>
                  <a:pt x="1483" y="0"/>
                </a:lnTo>
                <a:lnTo>
                  <a:pt x="1554" y="0"/>
                </a:lnTo>
                <a:lnTo>
                  <a:pt x="1624" y="0"/>
                </a:lnTo>
                <a:lnTo>
                  <a:pt x="1695" y="0"/>
                </a:lnTo>
                <a:lnTo>
                  <a:pt x="1766" y="0"/>
                </a:lnTo>
                <a:lnTo>
                  <a:pt x="1836" y="0"/>
                </a:lnTo>
                <a:lnTo>
                  <a:pt x="1907" y="0"/>
                </a:lnTo>
                <a:lnTo>
                  <a:pt x="1978" y="0"/>
                </a:lnTo>
                <a:lnTo>
                  <a:pt x="2048" y="0"/>
                </a:lnTo>
                <a:lnTo>
                  <a:pt x="2119" y="0"/>
                </a:lnTo>
                <a:lnTo>
                  <a:pt x="2189" y="0"/>
                </a:lnTo>
                <a:lnTo>
                  <a:pt x="2260" y="0"/>
                </a:lnTo>
                <a:lnTo>
                  <a:pt x="2331" y="0"/>
                </a:lnTo>
                <a:lnTo>
                  <a:pt x="2401" y="0"/>
                </a:lnTo>
                <a:lnTo>
                  <a:pt x="2472" y="0"/>
                </a:lnTo>
                <a:lnTo>
                  <a:pt x="2542" y="0"/>
                </a:lnTo>
                <a:lnTo>
                  <a:pt x="2613" y="0"/>
                </a:lnTo>
                <a:lnTo>
                  <a:pt x="2684" y="0"/>
                </a:lnTo>
                <a:lnTo>
                  <a:pt x="2754" y="0"/>
                </a:lnTo>
                <a:lnTo>
                  <a:pt x="2825" y="0"/>
                </a:lnTo>
                <a:lnTo>
                  <a:pt x="2896" y="0"/>
                </a:lnTo>
                <a:lnTo>
                  <a:pt x="2966" y="0"/>
                </a:lnTo>
                <a:lnTo>
                  <a:pt x="3037" y="0"/>
                </a:lnTo>
                <a:lnTo>
                  <a:pt x="3108" y="0"/>
                </a:lnTo>
                <a:lnTo>
                  <a:pt x="3178" y="0"/>
                </a:lnTo>
                <a:lnTo>
                  <a:pt x="3249" y="0"/>
                </a:lnTo>
                <a:lnTo>
                  <a:pt x="3319" y="0"/>
                </a:lnTo>
                <a:lnTo>
                  <a:pt x="3390" y="0"/>
                </a:lnTo>
                <a:lnTo>
                  <a:pt x="3461" y="0"/>
                </a:lnTo>
                <a:lnTo>
                  <a:pt x="3531" y="0"/>
                </a:lnTo>
                <a:lnTo>
                  <a:pt x="3602" y="0"/>
                </a:lnTo>
                <a:lnTo>
                  <a:pt x="3673" y="0"/>
                </a:lnTo>
                <a:lnTo>
                  <a:pt x="3743" y="0"/>
                </a:lnTo>
                <a:lnTo>
                  <a:pt x="3814" y="0"/>
                </a:lnTo>
                <a:lnTo>
                  <a:pt x="3884" y="0"/>
                </a:lnTo>
                <a:lnTo>
                  <a:pt x="3955" y="0"/>
                </a:lnTo>
                <a:lnTo>
                  <a:pt x="4026" y="0"/>
                </a:lnTo>
                <a:lnTo>
                  <a:pt x="4096" y="0"/>
                </a:lnTo>
                <a:lnTo>
                  <a:pt x="4167" y="0"/>
                </a:lnTo>
                <a:lnTo>
                  <a:pt x="4238" y="0"/>
                </a:lnTo>
                <a:lnTo>
                  <a:pt x="4308" y="0"/>
                </a:lnTo>
                <a:lnTo>
                  <a:pt x="4379" y="0"/>
                </a:lnTo>
                <a:lnTo>
                  <a:pt x="4449" y="0"/>
                </a:lnTo>
                <a:lnTo>
                  <a:pt x="4520" y="0"/>
                </a:lnTo>
                <a:lnTo>
                  <a:pt x="4591" y="0"/>
                </a:lnTo>
                <a:lnTo>
                  <a:pt x="4661" y="0"/>
                </a:lnTo>
                <a:lnTo>
                  <a:pt x="4732" y="0"/>
                </a:lnTo>
                <a:lnTo>
                  <a:pt x="4802" y="0"/>
                </a:lnTo>
                <a:lnTo>
                  <a:pt x="4873" y="0"/>
                </a:lnTo>
                <a:lnTo>
                  <a:pt x="4944" y="0"/>
                </a:lnTo>
                <a:lnTo>
                  <a:pt x="5014" y="0"/>
                </a:lnTo>
                <a:lnTo>
                  <a:pt x="5085" y="0"/>
                </a:lnTo>
                <a:lnTo>
                  <a:pt x="5156" y="0"/>
                </a:lnTo>
                <a:lnTo>
                  <a:pt x="5226" y="0"/>
                </a:lnTo>
                <a:lnTo>
                  <a:pt x="5297" y="0"/>
                </a:lnTo>
                <a:lnTo>
                  <a:pt x="5368" y="0"/>
                </a:lnTo>
                <a:lnTo>
                  <a:pt x="5438" y="0"/>
                </a:lnTo>
                <a:lnTo>
                  <a:pt x="5509" y="0"/>
                </a:lnTo>
                <a:lnTo>
                  <a:pt x="5579" y="0"/>
                </a:lnTo>
                <a:lnTo>
                  <a:pt x="56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5943600" y="2943454"/>
            <a:ext cx="5166360" cy="1704442"/>
          </a:xfrm>
          <a:custGeom>
            <a:avLst/>
            <a:gdLst/>
            <a:ahLst/>
            <a:cxnLst/>
            <a:rect l="l" t="t" r="r" b="b"/>
            <a:pathLst>
              <a:path w="5650" h="1864">
                <a:moveTo>
                  <a:pt x="0" y="1864"/>
                </a:moveTo>
                <a:lnTo>
                  <a:pt x="71" y="1864"/>
                </a:lnTo>
                <a:lnTo>
                  <a:pt x="141" y="1864"/>
                </a:lnTo>
                <a:lnTo>
                  <a:pt x="212" y="1864"/>
                </a:lnTo>
                <a:lnTo>
                  <a:pt x="282" y="1864"/>
                </a:lnTo>
                <a:lnTo>
                  <a:pt x="353" y="1864"/>
                </a:lnTo>
                <a:lnTo>
                  <a:pt x="424" y="1864"/>
                </a:lnTo>
                <a:lnTo>
                  <a:pt x="494" y="1864"/>
                </a:lnTo>
                <a:lnTo>
                  <a:pt x="565" y="1864"/>
                </a:lnTo>
                <a:lnTo>
                  <a:pt x="636" y="1864"/>
                </a:lnTo>
                <a:lnTo>
                  <a:pt x="706" y="1864"/>
                </a:lnTo>
                <a:lnTo>
                  <a:pt x="777" y="1864"/>
                </a:lnTo>
                <a:lnTo>
                  <a:pt x="848" y="1864"/>
                </a:lnTo>
                <a:lnTo>
                  <a:pt x="918" y="1864"/>
                </a:lnTo>
                <a:lnTo>
                  <a:pt x="989" y="1864"/>
                </a:lnTo>
                <a:lnTo>
                  <a:pt x="1059" y="1864"/>
                </a:lnTo>
                <a:lnTo>
                  <a:pt x="1130" y="1864"/>
                </a:lnTo>
                <a:lnTo>
                  <a:pt x="1201" y="1864"/>
                </a:lnTo>
                <a:lnTo>
                  <a:pt x="1271" y="1864"/>
                </a:lnTo>
                <a:lnTo>
                  <a:pt x="1342" y="1864"/>
                </a:lnTo>
                <a:lnTo>
                  <a:pt x="1412" y="1864"/>
                </a:lnTo>
                <a:lnTo>
                  <a:pt x="1483" y="1864"/>
                </a:lnTo>
                <a:lnTo>
                  <a:pt x="1554" y="1864"/>
                </a:lnTo>
                <a:lnTo>
                  <a:pt x="1624" y="1864"/>
                </a:lnTo>
                <a:lnTo>
                  <a:pt x="1695" y="1864"/>
                </a:lnTo>
                <a:lnTo>
                  <a:pt x="1766" y="1864"/>
                </a:lnTo>
                <a:lnTo>
                  <a:pt x="1836" y="1864"/>
                </a:lnTo>
                <a:lnTo>
                  <a:pt x="1907" y="1864"/>
                </a:lnTo>
                <a:lnTo>
                  <a:pt x="1978" y="1864"/>
                </a:lnTo>
                <a:lnTo>
                  <a:pt x="2048" y="1864"/>
                </a:lnTo>
                <a:lnTo>
                  <a:pt x="2119" y="1864"/>
                </a:lnTo>
                <a:lnTo>
                  <a:pt x="2189" y="1864"/>
                </a:lnTo>
                <a:lnTo>
                  <a:pt x="2260" y="1864"/>
                </a:lnTo>
                <a:lnTo>
                  <a:pt x="2331" y="1864"/>
                </a:lnTo>
                <a:lnTo>
                  <a:pt x="2401" y="1864"/>
                </a:lnTo>
                <a:lnTo>
                  <a:pt x="2472" y="1864"/>
                </a:lnTo>
                <a:lnTo>
                  <a:pt x="2542" y="1864"/>
                </a:lnTo>
                <a:lnTo>
                  <a:pt x="2613" y="1864"/>
                </a:lnTo>
                <a:lnTo>
                  <a:pt x="2684" y="1864"/>
                </a:lnTo>
                <a:lnTo>
                  <a:pt x="2754" y="1864"/>
                </a:lnTo>
                <a:lnTo>
                  <a:pt x="2825" y="1864"/>
                </a:lnTo>
                <a:lnTo>
                  <a:pt x="2896" y="1864"/>
                </a:lnTo>
                <a:lnTo>
                  <a:pt x="2966" y="1864"/>
                </a:lnTo>
                <a:lnTo>
                  <a:pt x="3037" y="1864"/>
                </a:lnTo>
                <a:lnTo>
                  <a:pt x="3108" y="1864"/>
                </a:lnTo>
                <a:lnTo>
                  <a:pt x="3178" y="1864"/>
                </a:lnTo>
                <a:lnTo>
                  <a:pt x="3249" y="1864"/>
                </a:lnTo>
                <a:lnTo>
                  <a:pt x="3319" y="1864"/>
                </a:lnTo>
                <a:lnTo>
                  <a:pt x="3390" y="1864"/>
                </a:lnTo>
                <a:lnTo>
                  <a:pt x="3461" y="1864"/>
                </a:lnTo>
                <a:lnTo>
                  <a:pt x="3531" y="1864"/>
                </a:lnTo>
                <a:lnTo>
                  <a:pt x="3602" y="1864"/>
                </a:lnTo>
                <a:lnTo>
                  <a:pt x="3673" y="1864"/>
                </a:lnTo>
                <a:lnTo>
                  <a:pt x="3743" y="1864"/>
                </a:lnTo>
                <a:lnTo>
                  <a:pt x="3814" y="1864"/>
                </a:lnTo>
                <a:lnTo>
                  <a:pt x="3884" y="1864"/>
                </a:lnTo>
                <a:lnTo>
                  <a:pt x="3955" y="1864"/>
                </a:lnTo>
                <a:lnTo>
                  <a:pt x="4026" y="1864"/>
                </a:lnTo>
                <a:lnTo>
                  <a:pt x="4096" y="1864"/>
                </a:lnTo>
                <a:lnTo>
                  <a:pt x="4167" y="1864"/>
                </a:lnTo>
                <a:lnTo>
                  <a:pt x="4238" y="1864"/>
                </a:lnTo>
                <a:lnTo>
                  <a:pt x="4308" y="1863"/>
                </a:lnTo>
                <a:lnTo>
                  <a:pt x="4379" y="1861"/>
                </a:lnTo>
                <a:lnTo>
                  <a:pt x="4449" y="1858"/>
                </a:lnTo>
                <a:lnTo>
                  <a:pt x="4520" y="1850"/>
                </a:lnTo>
                <a:lnTo>
                  <a:pt x="4591" y="1836"/>
                </a:lnTo>
                <a:lnTo>
                  <a:pt x="4661" y="1807"/>
                </a:lnTo>
                <a:lnTo>
                  <a:pt x="4732" y="1749"/>
                </a:lnTo>
                <a:lnTo>
                  <a:pt x="4802" y="1642"/>
                </a:lnTo>
                <a:lnTo>
                  <a:pt x="4873" y="1458"/>
                </a:lnTo>
                <a:lnTo>
                  <a:pt x="4944" y="1184"/>
                </a:lnTo>
                <a:lnTo>
                  <a:pt x="5014" y="853"/>
                </a:lnTo>
                <a:lnTo>
                  <a:pt x="5085" y="541"/>
                </a:lnTo>
                <a:lnTo>
                  <a:pt x="5156" y="308"/>
                </a:lnTo>
                <a:lnTo>
                  <a:pt x="5226" y="163"/>
                </a:lnTo>
                <a:lnTo>
                  <a:pt x="5297" y="82"/>
                </a:lnTo>
                <a:lnTo>
                  <a:pt x="5368" y="39"/>
                </a:lnTo>
                <a:lnTo>
                  <a:pt x="5438" y="18"/>
                </a:lnTo>
                <a:lnTo>
                  <a:pt x="5509" y="8"/>
                </a:lnTo>
                <a:lnTo>
                  <a:pt x="5579" y="3"/>
                </a:lnTo>
                <a:lnTo>
                  <a:pt x="56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5943600" y="2941625"/>
            <a:ext cx="5166360" cy="1704442"/>
          </a:xfrm>
          <a:custGeom>
            <a:avLst/>
            <a:gdLst/>
            <a:ahLst/>
            <a:cxnLst/>
            <a:rect l="l" t="t" r="r" b="b"/>
            <a:pathLst>
              <a:path w="5650" h="1864">
                <a:moveTo>
                  <a:pt x="0" y="1864"/>
                </a:moveTo>
                <a:lnTo>
                  <a:pt x="71" y="1861"/>
                </a:lnTo>
                <a:lnTo>
                  <a:pt x="141" y="1856"/>
                </a:lnTo>
                <a:lnTo>
                  <a:pt x="212" y="1846"/>
                </a:lnTo>
                <a:lnTo>
                  <a:pt x="282" y="1825"/>
                </a:lnTo>
                <a:lnTo>
                  <a:pt x="353" y="1782"/>
                </a:lnTo>
                <a:lnTo>
                  <a:pt x="424" y="1701"/>
                </a:lnTo>
                <a:lnTo>
                  <a:pt x="494" y="1556"/>
                </a:lnTo>
                <a:lnTo>
                  <a:pt x="565" y="1323"/>
                </a:lnTo>
                <a:lnTo>
                  <a:pt x="636" y="1011"/>
                </a:lnTo>
                <a:lnTo>
                  <a:pt x="706" y="680"/>
                </a:lnTo>
                <a:lnTo>
                  <a:pt x="777" y="406"/>
                </a:lnTo>
                <a:lnTo>
                  <a:pt x="848" y="222"/>
                </a:lnTo>
                <a:lnTo>
                  <a:pt x="918" y="115"/>
                </a:lnTo>
                <a:lnTo>
                  <a:pt x="989" y="57"/>
                </a:lnTo>
                <a:lnTo>
                  <a:pt x="1059" y="28"/>
                </a:lnTo>
                <a:lnTo>
                  <a:pt x="1130" y="14"/>
                </a:lnTo>
                <a:lnTo>
                  <a:pt x="1201" y="6"/>
                </a:lnTo>
                <a:lnTo>
                  <a:pt x="1271" y="3"/>
                </a:lnTo>
                <a:lnTo>
                  <a:pt x="1342" y="1"/>
                </a:lnTo>
                <a:lnTo>
                  <a:pt x="1412" y="0"/>
                </a:lnTo>
                <a:lnTo>
                  <a:pt x="1483" y="0"/>
                </a:lnTo>
                <a:lnTo>
                  <a:pt x="1554" y="0"/>
                </a:lnTo>
                <a:lnTo>
                  <a:pt x="1624" y="0"/>
                </a:lnTo>
                <a:lnTo>
                  <a:pt x="1695" y="0"/>
                </a:lnTo>
                <a:lnTo>
                  <a:pt x="1766" y="0"/>
                </a:lnTo>
                <a:lnTo>
                  <a:pt x="1836" y="0"/>
                </a:lnTo>
                <a:lnTo>
                  <a:pt x="1907" y="0"/>
                </a:lnTo>
                <a:lnTo>
                  <a:pt x="1978" y="0"/>
                </a:lnTo>
                <a:lnTo>
                  <a:pt x="2048" y="0"/>
                </a:lnTo>
                <a:lnTo>
                  <a:pt x="2119" y="0"/>
                </a:lnTo>
                <a:lnTo>
                  <a:pt x="2189" y="0"/>
                </a:lnTo>
                <a:lnTo>
                  <a:pt x="2260" y="0"/>
                </a:lnTo>
                <a:lnTo>
                  <a:pt x="2331" y="0"/>
                </a:lnTo>
                <a:lnTo>
                  <a:pt x="2401" y="0"/>
                </a:lnTo>
                <a:lnTo>
                  <a:pt x="2472" y="0"/>
                </a:lnTo>
                <a:lnTo>
                  <a:pt x="2542" y="0"/>
                </a:lnTo>
                <a:lnTo>
                  <a:pt x="2613" y="0"/>
                </a:lnTo>
                <a:lnTo>
                  <a:pt x="2684" y="0"/>
                </a:lnTo>
                <a:lnTo>
                  <a:pt x="2754" y="0"/>
                </a:lnTo>
                <a:lnTo>
                  <a:pt x="2825" y="0"/>
                </a:lnTo>
                <a:lnTo>
                  <a:pt x="2896" y="0"/>
                </a:lnTo>
                <a:lnTo>
                  <a:pt x="2966" y="0"/>
                </a:lnTo>
                <a:lnTo>
                  <a:pt x="3037" y="0"/>
                </a:lnTo>
                <a:lnTo>
                  <a:pt x="3108" y="0"/>
                </a:lnTo>
                <a:lnTo>
                  <a:pt x="3178" y="0"/>
                </a:lnTo>
                <a:lnTo>
                  <a:pt x="3249" y="0"/>
                </a:lnTo>
                <a:lnTo>
                  <a:pt x="3319" y="0"/>
                </a:lnTo>
                <a:lnTo>
                  <a:pt x="3390" y="0"/>
                </a:lnTo>
                <a:lnTo>
                  <a:pt x="3461" y="0"/>
                </a:lnTo>
                <a:lnTo>
                  <a:pt x="3531" y="0"/>
                </a:lnTo>
                <a:lnTo>
                  <a:pt x="3602" y="0"/>
                </a:lnTo>
                <a:lnTo>
                  <a:pt x="3673" y="0"/>
                </a:lnTo>
                <a:lnTo>
                  <a:pt x="3743" y="0"/>
                </a:lnTo>
                <a:lnTo>
                  <a:pt x="3814" y="0"/>
                </a:lnTo>
                <a:lnTo>
                  <a:pt x="3884" y="0"/>
                </a:lnTo>
                <a:lnTo>
                  <a:pt x="3955" y="0"/>
                </a:lnTo>
                <a:lnTo>
                  <a:pt x="4026" y="0"/>
                </a:lnTo>
                <a:lnTo>
                  <a:pt x="4096" y="0"/>
                </a:lnTo>
                <a:lnTo>
                  <a:pt x="4167" y="0"/>
                </a:lnTo>
                <a:lnTo>
                  <a:pt x="4238" y="0"/>
                </a:lnTo>
                <a:lnTo>
                  <a:pt x="4308" y="1"/>
                </a:lnTo>
                <a:lnTo>
                  <a:pt x="4379" y="3"/>
                </a:lnTo>
                <a:lnTo>
                  <a:pt x="4449" y="6"/>
                </a:lnTo>
                <a:lnTo>
                  <a:pt x="4520" y="14"/>
                </a:lnTo>
                <a:lnTo>
                  <a:pt x="4591" y="28"/>
                </a:lnTo>
                <a:lnTo>
                  <a:pt x="4661" y="57"/>
                </a:lnTo>
                <a:lnTo>
                  <a:pt x="4732" y="115"/>
                </a:lnTo>
                <a:lnTo>
                  <a:pt x="4802" y="222"/>
                </a:lnTo>
                <a:lnTo>
                  <a:pt x="4873" y="406"/>
                </a:lnTo>
                <a:lnTo>
                  <a:pt x="4944" y="680"/>
                </a:lnTo>
                <a:lnTo>
                  <a:pt x="5014" y="1011"/>
                </a:lnTo>
                <a:lnTo>
                  <a:pt x="5085" y="1323"/>
                </a:lnTo>
                <a:lnTo>
                  <a:pt x="5156" y="1556"/>
                </a:lnTo>
                <a:lnTo>
                  <a:pt x="5226" y="1701"/>
                </a:lnTo>
                <a:lnTo>
                  <a:pt x="5297" y="1782"/>
                </a:lnTo>
                <a:lnTo>
                  <a:pt x="5368" y="1825"/>
                </a:lnTo>
                <a:lnTo>
                  <a:pt x="5438" y="1846"/>
                </a:lnTo>
                <a:lnTo>
                  <a:pt x="5509" y="1856"/>
                </a:lnTo>
                <a:lnTo>
                  <a:pt x="5579" y="1861"/>
                </a:lnTo>
                <a:lnTo>
                  <a:pt x="5650" y="1864"/>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5943600" y="2941625"/>
            <a:ext cx="5166360" cy="1704442"/>
          </a:xfrm>
          <a:custGeom>
            <a:avLst/>
            <a:gdLst/>
            <a:ahLst/>
            <a:cxnLst/>
            <a:rect l="l" t="t" r="r" b="b"/>
            <a:pathLst>
              <a:path w="5650" h="1864">
                <a:moveTo>
                  <a:pt x="0" y="1864"/>
                </a:moveTo>
                <a:lnTo>
                  <a:pt x="71" y="1861"/>
                </a:lnTo>
                <a:lnTo>
                  <a:pt x="141" y="1856"/>
                </a:lnTo>
                <a:lnTo>
                  <a:pt x="212" y="1846"/>
                </a:lnTo>
                <a:lnTo>
                  <a:pt x="282" y="1825"/>
                </a:lnTo>
                <a:lnTo>
                  <a:pt x="353" y="1782"/>
                </a:lnTo>
                <a:lnTo>
                  <a:pt x="424" y="1701"/>
                </a:lnTo>
                <a:lnTo>
                  <a:pt x="494" y="1556"/>
                </a:lnTo>
                <a:lnTo>
                  <a:pt x="565" y="1323"/>
                </a:lnTo>
                <a:lnTo>
                  <a:pt x="636" y="1011"/>
                </a:lnTo>
                <a:lnTo>
                  <a:pt x="706" y="680"/>
                </a:lnTo>
                <a:lnTo>
                  <a:pt x="777" y="406"/>
                </a:lnTo>
                <a:lnTo>
                  <a:pt x="848" y="222"/>
                </a:lnTo>
                <a:lnTo>
                  <a:pt x="918" y="115"/>
                </a:lnTo>
                <a:lnTo>
                  <a:pt x="989" y="57"/>
                </a:lnTo>
                <a:lnTo>
                  <a:pt x="1059" y="28"/>
                </a:lnTo>
                <a:lnTo>
                  <a:pt x="1130" y="14"/>
                </a:lnTo>
                <a:lnTo>
                  <a:pt x="1201" y="6"/>
                </a:lnTo>
                <a:lnTo>
                  <a:pt x="1271" y="3"/>
                </a:lnTo>
                <a:lnTo>
                  <a:pt x="1342" y="1"/>
                </a:lnTo>
                <a:lnTo>
                  <a:pt x="1412" y="0"/>
                </a:lnTo>
                <a:lnTo>
                  <a:pt x="1483" y="0"/>
                </a:lnTo>
                <a:lnTo>
                  <a:pt x="1554" y="0"/>
                </a:lnTo>
                <a:lnTo>
                  <a:pt x="1624" y="0"/>
                </a:lnTo>
                <a:lnTo>
                  <a:pt x="1695" y="0"/>
                </a:lnTo>
                <a:lnTo>
                  <a:pt x="1766" y="0"/>
                </a:lnTo>
                <a:lnTo>
                  <a:pt x="1836" y="0"/>
                </a:lnTo>
                <a:lnTo>
                  <a:pt x="1907" y="0"/>
                </a:lnTo>
                <a:lnTo>
                  <a:pt x="1978" y="0"/>
                </a:lnTo>
                <a:lnTo>
                  <a:pt x="2048" y="0"/>
                </a:lnTo>
                <a:lnTo>
                  <a:pt x="2119" y="0"/>
                </a:lnTo>
                <a:lnTo>
                  <a:pt x="2189" y="0"/>
                </a:lnTo>
                <a:lnTo>
                  <a:pt x="2260" y="0"/>
                </a:lnTo>
                <a:lnTo>
                  <a:pt x="2331" y="0"/>
                </a:lnTo>
                <a:lnTo>
                  <a:pt x="2401" y="0"/>
                </a:lnTo>
                <a:lnTo>
                  <a:pt x="2472" y="0"/>
                </a:lnTo>
                <a:lnTo>
                  <a:pt x="2542" y="0"/>
                </a:lnTo>
                <a:lnTo>
                  <a:pt x="2613" y="0"/>
                </a:lnTo>
                <a:lnTo>
                  <a:pt x="2684" y="0"/>
                </a:lnTo>
                <a:lnTo>
                  <a:pt x="2754" y="0"/>
                </a:lnTo>
                <a:lnTo>
                  <a:pt x="2825" y="0"/>
                </a:lnTo>
                <a:lnTo>
                  <a:pt x="2896" y="0"/>
                </a:lnTo>
                <a:lnTo>
                  <a:pt x="2966" y="0"/>
                </a:lnTo>
                <a:lnTo>
                  <a:pt x="3037" y="0"/>
                </a:lnTo>
                <a:lnTo>
                  <a:pt x="3108" y="0"/>
                </a:lnTo>
                <a:lnTo>
                  <a:pt x="3178" y="0"/>
                </a:lnTo>
                <a:lnTo>
                  <a:pt x="3249" y="0"/>
                </a:lnTo>
                <a:lnTo>
                  <a:pt x="3319" y="0"/>
                </a:lnTo>
                <a:lnTo>
                  <a:pt x="3390" y="0"/>
                </a:lnTo>
                <a:lnTo>
                  <a:pt x="3461" y="0"/>
                </a:lnTo>
                <a:lnTo>
                  <a:pt x="3531" y="0"/>
                </a:lnTo>
                <a:lnTo>
                  <a:pt x="3602" y="0"/>
                </a:lnTo>
                <a:lnTo>
                  <a:pt x="3673" y="0"/>
                </a:lnTo>
                <a:lnTo>
                  <a:pt x="3743" y="0"/>
                </a:lnTo>
                <a:lnTo>
                  <a:pt x="3814" y="0"/>
                </a:lnTo>
                <a:lnTo>
                  <a:pt x="3884" y="0"/>
                </a:lnTo>
                <a:lnTo>
                  <a:pt x="3955" y="0"/>
                </a:lnTo>
                <a:lnTo>
                  <a:pt x="4026" y="0"/>
                </a:lnTo>
                <a:lnTo>
                  <a:pt x="4096" y="0"/>
                </a:lnTo>
                <a:lnTo>
                  <a:pt x="4167" y="0"/>
                </a:lnTo>
                <a:lnTo>
                  <a:pt x="4238" y="0"/>
                </a:lnTo>
                <a:lnTo>
                  <a:pt x="4308" y="0"/>
                </a:lnTo>
                <a:lnTo>
                  <a:pt x="4379" y="0"/>
                </a:lnTo>
                <a:lnTo>
                  <a:pt x="4449" y="0"/>
                </a:lnTo>
                <a:lnTo>
                  <a:pt x="4520" y="0"/>
                </a:lnTo>
                <a:lnTo>
                  <a:pt x="4591" y="0"/>
                </a:lnTo>
                <a:lnTo>
                  <a:pt x="4661" y="0"/>
                </a:lnTo>
                <a:lnTo>
                  <a:pt x="4732" y="0"/>
                </a:lnTo>
                <a:lnTo>
                  <a:pt x="4802" y="0"/>
                </a:lnTo>
                <a:lnTo>
                  <a:pt x="4873" y="0"/>
                </a:lnTo>
                <a:lnTo>
                  <a:pt x="4944" y="0"/>
                </a:lnTo>
                <a:lnTo>
                  <a:pt x="5014" y="0"/>
                </a:lnTo>
                <a:lnTo>
                  <a:pt x="5085" y="0"/>
                </a:lnTo>
                <a:lnTo>
                  <a:pt x="5156" y="0"/>
                </a:lnTo>
                <a:lnTo>
                  <a:pt x="5226" y="0"/>
                </a:lnTo>
                <a:lnTo>
                  <a:pt x="5297" y="0"/>
                </a:lnTo>
                <a:lnTo>
                  <a:pt x="5368" y="0"/>
                </a:lnTo>
                <a:lnTo>
                  <a:pt x="5438" y="0"/>
                </a:lnTo>
                <a:lnTo>
                  <a:pt x="5509" y="0"/>
                </a:lnTo>
                <a:lnTo>
                  <a:pt x="5579" y="0"/>
                </a:lnTo>
                <a:lnTo>
                  <a:pt x="56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5943600" y="2943454"/>
            <a:ext cx="5166360" cy="1704442"/>
          </a:xfrm>
          <a:custGeom>
            <a:avLst/>
            <a:gdLst/>
            <a:ahLst/>
            <a:cxnLst/>
            <a:rect l="l" t="t" r="r" b="b"/>
            <a:pathLst>
              <a:path w="5650" h="1864">
                <a:moveTo>
                  <a:pt x="0" y="0"/>
                </a:moveTo>
                <a:lnTo>
                  <a:pt x="71" y="3"/>
                </a:lnTo>
                <a:lnTo>
                  <a:pt x="141" y="8"/>
                </a:lnTo>
                <a:lnTo>
                  <a:pt x="212" y="18"/>
                </a:lnTo>
                <a:lnTo>
                  <a:pt x="282" y="39"/>
                </a:lnTo>
                <a:lnTo>
                  <a:pt x="353" y="82"/>
                </a:lnTo>
                <a:lnTo>
                  <a:pt x="424" y="163"/>
                </a:lnTo>
                <a:lnTo>
                  <a:pt x="494" y="308"/>
                </a:lnTo>
                <a:lnTo>
                  <a:pt x="565" y="541"/>
                </a:lnTo>
                <a:lnTo>
                  <a:pt x="636" y="853"/>
                </a:lnTo>
                <a:lnTo>
                  <a:pt x="706" y="1184"/>
                </a:lnTo>
                <a:lnTo>
                  <a:pt x="777" y="1458"/>
                </a:lnTo>
                <a:lnTo>
                  <a:pt x="848" y="1642"/>
                </a:lnTo>
                <a:lnTo>
                  <a:pt x="918" y="1749"/>
                </a:lnTo>
                <a:lnTo>
                  <a:pt x="989" y="1807"/>
                </a:lnTo>
                <a:lnTo>
                  <a:pt x="1059" y="1836"/>
                </a:lnTo>
                <a:lnTo>
                  <a:pt x="1130" y="1850"/>
                </a:lnTo>
                <a:lnTo>
                  <a:pt x="1201" y="1858"/>
                </a:lnTo>
                <a:lnTo>
                  <a:pt x="1271" y="1861"/>
                </a:lnTo>
                <a:lnTo>
                  <a:pt x="1342" y="1863"/>
                </a:lnTo>
                <a:lnTo>
                  <a:pt x="1412" y="1864"/>
                </a:lnTo>
                <a:lnTo>
                  <a:pt x="1483" y="1864"/>
                </a:lnTo>
                <a:lnTo>
                  <a:pt x="1554" y="1864"/>
                </a:lnTo>
                <a:lnTo>
                  <a:pt x="1624" y="1864"/>
                </a:lnTo>
                <a:lnTo>
                  <a:pt x="1695" y="1864"/>
                </a:lnTo>
                <a:lnTo>
                  <a:pt x="1766" y="1864"/>
                </a:lnTo>
                <a:lnTo>
                  <a:pt x="1836" y="1864"/>
                </a:lnTo>
                <a:lnTo>
                  <a:pt x="1907" y="1864"/>
                </a:lnTo>
                <a:lnTo>
                  <a:pt x="1978" y="1864"/>
                </a:lnTo>
                <a:lnTo>
                  <a:pt x="2048" y="1864"/>
                </a:lnTo>
                <a:lnTo>
                  <a:pt x="2119" y="1864"/>
                </a:lnTo>
                <a:lnTo>
                  <a:pt x="2189" y="1864"/>
                </a:lnTo>
                <a:lnTo>
                  <a:pt x="2260" y="1864"/>
                </a:lnTo>
                <a:lnTo>
                  <a:pt x="2331" y="1864"/>
                </a:lnTo>
                <a:lnTo>
                  <a:pt x="2401" y="1864"/>
                </a:lnTo>
                <a:lnTo>
                  <a:pt x="2472" y="1864"/>
                </a:lnTo>
                <a:lnTo>
                  <a:pt x="2542" y="1864"/>
                </a:lnTo>
                <a:lnTo>
                  <a:pt x="2613" y="1864"/>
                </a:lnTo>
                <a:lnTo>
                  <a:pt x="2684" y="1864"/>
                </a:lnTo>
                <a:lnTo>
                  <a:pt x="2754" y="1864"/>
                </a:lnTo>
                <a:lnTo>
                  <a:pt x="2825" y="1864"/>
                </a:lnTo>
                <a:lnTo>
                  <a:pt x="2896" y="1864"/>
                </a:lnTo>
                <a:lnTo>
                  <a:pt x="2966" y="1864"/>
                </a:lnTo>
                <a:lnTo>
                  <a:pt x="3037" y="1864"/>
                </a:lnTo>
                <a:lnTo>
                  <a:pt x="3108" y="1864"/>
                </a:lnTo>
                <a:lnTo>
                  <a:pt x="3178" y="1864"/>
                </a:lnTo>
                <a:lnTo>
                  <a:pt x="3249" y="1864"/>
                </a:lnTo>
                <a:lnTo>
                  <a:pt x="3319" y="1864"/>
                </a:lnTo>
                <a:lnTo>
                  <a:pt x="3390" y="1864"/>
                </a:lnTo>
                <a:lnTo>
                  <a:pt x="3461" y="1864"/>
                </a:lnTo>
                <a:lnTo>
                  <a:pt x="3531" y="1864"/>
                </a:lnTo>
                <a:lnTo>
                  <a:pt x="3602" y="1864"/>
                </a:lnTo>
                <a:lnTo>
                  <a:pt x="3673" y="1864"/>
                </a:lnTo>
                <a:lnTo>
                  <a:pt x="3743" y="1864"/>
                </a:lnTo>
                <a:lnTo>
                  <a:pt x="3814" y="1864"/>
                </a:lnTo>
                <a:lnTo>
                  <a:pt x="3884" y="1864"/>
                </a:lnTo>
                <a:lnTo>
                  <a:pt x="3955" y="1864"/>
                </a:lnTo>
                <a:lnTo>
                  <a:pt x="4026" y="1864"/>
                </a:lnTo>
                <a:lnTo>
                  <a:pt x="4096" y="1864"/>
                </a:lnTo>
                <a:lnTo>
                  <a:pt x="4167" y="1864"/>
                </a:lnTo>
                <a:lnTo>
                  <a:pt x="4238" y="1864"/>
                </a:lnTo>
                <a:lnTo>
                  <a:pt x="4308" y="1864"/>
                </a:lnTo>
                <a:lnTo>
                  <a:pt x="4379" y="1864"/>
                </a:lnTo>
                <a:lnTo>
                  <a:pt x="4449" y="1864"/>
                </a:lnTo>
                <a:lnTo>
                  <a:pt x="4520" y="1864"/>
                </a:lnTo>
                <a:lnTo>
                  <a:pt x="4591" y="1864"/>
                </a:lnTo>
                <a:lnTo>
                  <a:pt x="4661" y="1864"/>
                </a:lnTo>
                <a:lnTo>
                  <a:pt x="4732" y="1864"/>
                </a:lnTo>
                <a:lnTo>
                  <a:pt x="4802" y="1864"/>
                </a:lnTo>
                <a:lnTo>
                  <a:pt x="4873" y="1864"/>
                </a:lnTo>
                <a:lnTo>
                  <a:pt x="4944" y="1864"/>
                </a:lnTo>
                <a:lnTo>
                  <a:pt x="5014" y="1864"/>
                </a:lnTo>
                <a:lnTo>
                  <a:pt x="5085" y="1864"/>
                </a:lnTo>
                <a:lnTo>
                  <a:pt x="5156" y="1864"/>
                </a:lnTo>
                <a:lnTo>
                  <a:pt x="5226" y="1864"/>
                </a:lnTo>
                <a:lnTo>
                  <a:pt x="5297" y="1864"/>
                </a:lnTo>
                <a:lnTo>
                  <a:pt x="5368" y="1864"/>
                </a:lnTo>
                <a:lnTo>
                  <a:pt x="5438" y="1864"/>
                </a:lnTo>
                <a:lnTo>
                  <a:pt x="5509" y="1864"/>
                </a:lnTo>
                <a:lnTo>
                  <a:pt x="5579" y="1864"/>
                </a:lnTo>
                <a:lnTo>
                  <a:pt x="5650" y="1864"/>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5943600" y="2943454"/>
            <a:ext cx="5166360" cy="1704442"/>
          </a:xfrm>
          <a:custGeom>
            <a:avLst/>
            <a:gdLst/>
            <a:ahLst/>
            <a:cxnLst/>
            <a:rect l="l" t="t" r="r" b="b"/>
            <a:pathLst>
              <a:path w="5650" h="1864">
                <a:moveTo>
                  <a:pt x="0" y="0"/>
                </a:moveTo>
                <a:lnTo>
                  <a:pt x="71" y="3"/>
                </a:lnTo>
                <a:lnTo>
                  <a:pt x="141" y="8"/>
                </a:lnTo>
                <a:lnTo>
                  <a:pt x="212" y="18"/>
                </a:lnTo>
                <a:lnTo>
                  <a:pt x="282" y="39"/>
                </a:lnTo>
                <a:lnTo>
                  <a:pt x="353" y="82"/>
                </a:lnTo>
                <a:lnTo>
                  <a:pt x="424" y="163"/>
                </a:lnTo>
                <a:lnTo>
                  <a:pt x="494" y="308"/>
                </a:lnTo>
                <a:lnTo>
                  <a:pt x="565" y="541"/>
                </a:lnTo>
                <a:lnTo>
                  <a:pt x="636" y="853"/>
                </a:lnTo>
                <a:lnTo>
                  <a:pt x="706" y="1184"/>
                </a:lnTo>
                <a:lnTo>
                  <a:pt x="777" y="1458"/>
                </a:lnTo>
                <a:lnTo>
                  <a:pt x="848" y="1642"/>
                </a:lnTo>
                <a:lnTo>
                  <a:pt x="918" y="1749"/>
                </a:lnTo>
                <a:lnTo>
                  <a:pt x="989" y="1807"/>
                </a:lnTo>
                <a:lnTo>
                  <a:pt x="1059" y="1836"/>
                </a:lnTo>
                <a:lnTo>
                  <a:pt x="1130" y="1850"/>
                </a:lnTo>
                <a:lnTo>
                  <a:pt x="1201" y="1858"/>
                </a:lnTo>
                <a:lnTo>
                  <a:pt x="1271" y="1861"/>
                </a:lnTo>
                <a:lnTo>
                  <a:pt x="1342" y="1863"/>
                </a:lnTo>
                <a:lnTo>
                  <a:pt x="1412" y="1864"/>
                </a:lnTo>
                <a:lnTo>
                  <a:pt x="1483" y="1864"/>
                </a:lnTo>
                <a:lnTo>
                  <a:pt x="1554" y="1864"/>
                </a:lnTo>
                <a:lnTo>
                  <a:pt x="1624" y="1864"/>
                </a:lnTo>
                <a:lnTo>
                  <a:pt x="1695" y="1864"/>
                </a:lnTo>
                <a:lnTo>
                  <a:pt x="1766" y="1864"/>
                </a:lnTo>
                <a:lnTo>
                  <a:pt x="1836" y="1864"/>
                </a:lnTo>
                <a:lnTo>
                  <a:pt x="1907" y="1864"/>
                </a:lnTo>
                <a:lnTo>
                  <a:pt x="1978" y="1864"/>
                </a:lnTo>
                <a:lnTo>
                  <a:pt x="2048" y="1864"/>
                </a:lnTo>
                <a:lnTo>
                  <a:pt x="2119" y="1864"/>
                </a:lnTo>
                <a:lnTo>
                  <a:pt x="2189" y="1864"/>
                </a:lnTo>
                <a:lnTo>
                  <a:pt x="2260" y="1864"/>
                </a:lnTo>
                <a:lnTo>
                  <a:pt x="2331" y="1864"/>
                </a:lnTo>
                <a:lnTo>
                  <a:pt x="2401" y="1864"/>
                </a:lnTo>
                <a:lnTo>
                  <a:pt x="2472" y="1864"/>
                </a:lnTo>
                <a:lnTo>
                  <a:pt x="2542" y="1864"/>
                </a:lnTo>
                <a:lnTo>
                  <a:pt x="2613" y="1864"/>
                </a:lnTo>
                <a:lnTo>
                  <a:pt x="2684" y="1864"/>
                </a:lnTo>
                <a:lnTo>
                  <a:pt x="2754" y="1864"/>
                </a:lnTo>
                <a:lnTo>
                  <a:pt x="2825" y="1864"/>
                </a:lnTo>
                <a:lnTo>
                  <a:pt x="2896" y="1864"/>
                </a:lnTo>
                <a:lnTo>
                  <a:pt x="2966" y="1864"/>
                </a:lnTo>
                <a:lnTo>
                  <a:pt x="3037" y="1864"/>
                </a:lnTo>
                <a:lnTo>
                  <a:pt x="3108" y="1864"/>
                </a:lnTo>
                <a:lnTo>
                  <a:pt x="3178" y="1864"/>
                </a:lnTo>
                <a:lnTo>
                  <a:pt x="3249" y="1864"/>
                </a:lnTo>
                <a:lnTo>
                  <a:pt x="3319" y="1864"/>
                </a:lnTo>
                <a:lnTo>
                  <a:pt x="3390" y="1864"/>
                </a:lnTo>
                <a:lnTo>
                  <a:pt x="3461" y="1864"/>
                </a:lnTo>
                <a:lnTo>
                  <a:pt x="3531" y="1864"/>
                </a:lnTo>
                <a:lnTo>
                  <a:pt x="3602" y="1864"/>
                </a:lnTo>
                <a:lnTo>
                  <a:pt x="3673" y="1864"/>
                </a:lnTo>
                <a:lnTo>
                  <a:pt x="3743" y="1864"/>
                </a:lnTo>
                <a:lnTo>
                  <a:pt x="3814" y="1864"/>
                </a:lnTo>
                <a:lnTo>
                  <a:pt x="3884" y="1864"/>
                </a:lnTo>
                <a:lnTo>
                  <a:pt x="3955" y="1864"/>
                </a:lnTo>
                <a:lnTo>
                  <a:pt x="4026" y="1864"/>
                </a:lnTo>
                <a:lnTo>
                  <a:pt x="4096" y="1864"/>
                </a:lnTo>
                <a:lnTo>
                  <a:pt x="4167" y="1864"/>
                </a:lnTo>
                <a:lnTo>
                  <a:pt x="4238" y="1864"/>
                </a:lnTo>
                <a:lnTo>
                  <a:pt x="4308" y="1863"/>
                </a:lnTo>
                <a:lnTo>
                  <a:pt x="4379" y="1861"/>
                </a:lnTo>
                <a:lnTo>
                  <a:pt x="4449" y="1858"/>
                </a:lnTo>
                <a:lnTo>
                  <a:pt x="4520" y="1850"/>
                </a:lnTo>
                <a:lnTo>
                  <a:pt x="4591" y="1836"/>
                </a:lnTo>
                <a:lnTo>
                  <a:pt x="4661" y="1807"/>
                </a:lnTo>
                <a:lnTo>
                  <a:pt x="4732" y="1749"/>
                </a:lnTo>
                <a:lnTo>
                  <a:pt x="4802" y="1642"/>
                </a:lnTo>
                <a:lnTo>
                  <a:pt x="4873" y="1458"/>
                </a:lnTo>
                <a:lnTo>
                  <a:pt x="4944" y="1184"/>
                </a:lnTo>
                <a:lnTo>
                  <a:pt x="5014" y="853"/>
                </a:lnTo>
                <a:lnTo>
                  <a:pt x="5085" y="541"/>
                </a:lnTo>
                <a:lnTo>
                  <a:pt x="5156" y="308"/>
                </a:lnTo>
                <a:lnTo>
                  <a:pt x="5226" y="163"/>
                </a:lnTo>
                <a:lnTo>
                  <a:pt x="5297" y="82"/>
                </a:lnTo>
                <a:lnTo>
                  <a:pt x="5368" y="39"/>
                </a:lnTo>
                <a:lnTo>
                  <a:pt x="5438" y="18"/>
                </a:lnTo>
                <a:lnTo>
                  <a:pt x="5509" y="8"/>
                </a:lnTo>
                <a:lnTo>
                  <a:pt x="5579" y="3"/>
                </a:lnTo>
                <a:lnTo>
                  <a:pt x="56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5943600" y="2941625"/>
            <a:ext cx="5166360" cy="1704442"/>
          </a:xfrm>
          <a:custGeom>
            <a:avLst/>
            <a:gdLst/>
            <a:ahLst/>
            <a:cxnLst/>
            <a:rect l="l" t="t" r="r" b="b"/>
            <a:pathLst>
              <a:path w="5650" h="1864">
                <a:moveTo>
                  <a:pt x="0" y="0"/>
                </a:moveTo>
                <a:lnTo>
                  <a:pt x="71" y="0"/>
                </a:lnTo>
                <a:lnTo>
                  <a:pt x="141" y="0"/>
                </a:lnTo>
                <a:lnTo>
                  <a:pt x="212" y="0"/>
                </a:lnTo>
                <a:lnTo>
                  <a:pt x="282" y="0"/>
                </a:lnTo>
                <a:lnTo>
                  <a:pt x="353" y="0"/>
                </a:lnTo>
                <a:lnTo>
                  <a:pt x="424" y="0"/>
                </a:lnTo>
                <a:lnTo>
                  <a:pt x="494" y="0"/>
                </a:lnTo>
                <a:lnTo>
                  <a:pt x="565" y="0"/>
                </a:lnTo>
                <a:lnTo>
                  <a:pt x="636" y="0"/>
                </a:lnTo>
                <a:lnTo>
                  <a:pt x="706" y="0"/>
                </a:lnTo>
                <a:lnTo>
                  <a:pt x="777" y="0"/>
                </a:lnTo>
                <a:lnTo>
                  <a:pt x="848" y="0"/>
                </a:lnTo>
                <a:lnTo>
                  <a:pt x="918" y="0"/>
                </a:lnTo>
                <a:lnTo>
                  <a:pt x="989" y="0"/>
                </a:lnTo>
                <a:lnTo>
                  <a:pt x="1059" y="0"/>
                </a:lnTo>
                <a:lnTo>
                  <a:pt x="1130" y="0"/>
                </a:lnTo>
                <a:lnTo>
                  <a:pt x="1201" y="0"/>
                </a:lnTo>
                <a:lnTo>
                  <a:pt x="1271" y="0"/>
                </a:lnTo>
                <a:lnTo>
                  <a:pt x="1342" y="0"/>
                </a:lnTo>
                <a:lnTo>
                  <a:pt x="1412" y="0"/>
                </a:lnTo>
                <a:lnTo>
                  <a:pt x="1483" y="0"/>
                </a:lnTo>
                <a:lnTo>
                  <a:pt x="1554" y="0"/>
                </a:lnTo>
                <a:lnTo>
                  <a:pt x="1624" y="0"/>
                </a:lnTo>
                <a:lnTo>
                  <a:pt x="1695" y="0"/>
                </a:lnTo>
                <a:lnTo>
                  <a:pt x="1766" y="0"/>
                </a:lnTo>
                <a:lnTo>
                  <a:pt x="1836" y="0"/>
                </a:lnTo>
                <a:lnTo>
                  <a:pt x="1907" y="0"/>
                </a:lnTo>
                <a:lnTo>
                  <a:pt x="1978" y="0"/>
                </a:lnTo>
                <a:lnTo>
                  <a:pt x="2048" y="0"/>
                </a:lnTo>
                <a:lnTo>
                  <a:pt x="2119" y="0"/>
                </a:lnTo>
                <a:lnTo>
                  <a:pt x="2189" y="0"/>
                </a:lnTo>
                <a:lnTo>
                  <a:pt x="2260" y="0"/>
                </a:lnTo>
                <a:lnTo>
                  <a:pt x="2331" y="0"/>
                </a:lnTo>
                <a:lnTo>
                  <a:pt x="2401" y="0"/>
                </a:lnTo>
                <a:lnTo>
                  <a:pt x="2472" y="0"/>
                </a:lnTo>
                <a:lnTo>
                  <a:pt x="2542" y="0"/>
                </a:lnTo>
                <a:lnTo>
                  <a:pt x="2613" y="0"/>
                </a:lnTo>
                <a:lnTo>
                  <a:pt x="2684" y="0"/>
                </a:lnTo>
                <a:lnTo>
                  <a:pt x="2754" y="0"/>
                </a:lnTo>
                <a:lnTo>
                  <a:pt x="2825" y="0"/>
                </a:lnTo>
                <a:lnTo>
                  <a:pt x="2896" y="0"/>
                </a:lnTo>
                <a:lnTo>
                  <a:pt x="2966" y="0"/>
                </a:lnTo>
                <a:lnTo>
                  <a:pt x="3037" y="0"/>
                </a:lnTo>
                <a:lnTo>
                  <a:pt x="3108" y="0"/>
                </a:lnTo>
                <a:lnTo>
                  <a:pt x="3178" y="0"/>
                </a:lnTo>
                <a:lnTo>
                  <a:pt x="3249" y="0"/>
                </a:lnTo>
                <a:lnTo>
                  <a:pt x="3319" y="0"/>
                </a:lnTo>
                <a:lnTo>
                  <a:pt x="3390" y="0"/>
                </a:lnTo>
                <a:lnTo>
                  <a:pt x="3461" y="0"/>
                </a:lnTo>
                <a:lnTo>
                  <a:pt x="3531" y="0"/>
                </a:lnTo>
                <a:lnTo>
                  <a:pt x="3602" y="0"/>
                </a:lnTo>
                <a:lnTo>
                  <a:pt x="3673" y="0"/>
                </a:lnTo>
                <a:lnTo>
                  <a:pt x="3743" y="0"/>
                </a:lnTo>
                <a:lnTo>
                  <a:pt x="3814" y="0"/>
                </a:lnTo>
                <a:lnTo>
                  <a:pt x="3884" y="0"/>
                </a:lnTo>
                <a:lnTo>
                  <a:pt x="3955" y="0"/>
                </a:lnTo>
                <a:lnTo>
                  <a:pt x="4026" y="0"/>
                </a:lnTo>
                <a:lnTo>
                  <a:pt x="4096" y="0"/>
                </a:lnTo>
                <a:lnTo>
                  <a:pt x="4167" y="0"/>
                </a:lnTo>
                <a:lnTo>
                  <a:pt x="4238" y="0"/>
                </a:lnTo>
                <a:lnTo>
                  <a:pt x="4308" y="1"/>
                </a:lnTo>
                <a:lnTo>
                  <a:pt x="4379" y="3"/>
                </a:lnTo>
                <a:lnTo>
                  <a:pt x="4449" y="6"/>
                </a:lnTo>
                <a:lnTo>
                  <a:pt x="4520" y="14"/>
                </a:lnTo>
                <a:lnTo>
                  <a:pt x="4591" y="28"/>
                </a:lnTo>
                <a:lnTo>
                  <a:pt x="4661" y="57"/>
                </a:lnTo>
                <a:lnTo>
                  <a:pt x="4732" y="115"/>
                </a:lnTo>
                <a:lnTo>
                  <a:pt x="4802" y="222"/>
                </a:lnTo>
                <a:lnTo>
                  <a:pt x="4873" y="406"/>
                </a:lnTo>
                <a:lnTo>
                  <a:pt x="4944" y="680"/>
                </a:lnTo>
                <a:lnTo>
                  <a:pt x="5014" y="1011"/>
                </a:lnTo>
                <a:lnTo>
                  <a:pt x="5085" y="1323"/>
                </a:lnTo>
                <a:lnTo>
                  <a:pt x="5156" y="1556"/>
                </a:lnTo>
                <a:lnTo>
                  <a:pt x="5226" y="1701"/>
                </a:lnTo>
                <a:lnTo>
                  <a:pt x="5297" y="1782"/>
                </a:lnTo>
                <a:lnTo>
                  <a:pt x="5368" y="1825"/>
                </a:lnTo>
                <a:lnTo>
                  <a:pt x="5438" y="1846"/>
                </a:lnTo>
                <a:lnTo>
                  <a:pt x="5509" y="1856"/>
                </a:lnTo>
                <a:lnTo>
                  <a:pt x="5579" y="1861"/>
                </a:lnTo>
                <a:lnTo>
                  <a:pt x="5650" y="1864"/>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5943600" y="2941625"/>
            <a:ext cx="5166360" cy="0"/>
          </a:xfrm>
          <a:custGeom>
            <a:avLst/>
            <a:gdLst/>
            <a:ahLst/>
            <a:cxnLst/>
            <a:rect l="l" t="t" r="r" b="b"/>
            <a:pathLst>
              <a:path w="5650" h="0">
                <a:moveTo>
                  <a:pt x="0" y="0"/>
                </a:moveTo>
                <a:lnTo>
                  <a:pt x="71" y="0"/>
                </a:lnTo>
                <a:lnTo>
                  <a:pt x="141" y="0"/>
                </a:lnTo>
                <a:lnTo>
                  <a:pt x="212" y="0"/>
                </a:lnTo>
                <a:lnTo>
                  <a:pt x="282" y="0"/>
                </a:lnTo>
                <a:lnTo>
                  <a:pt x="353" y="0"/>
                </a:lnTo>
                <a:lnTo>
                  <a:pt x="424" y="0"/>
                </a:lnTo>
                <a:lnTo>
                  <a:pt x="494" y="0"/>
                </a:lnTo>
                <a:lnTo>
                  <a:pt x="565" y="0"/>
                </a:lnTo>
                <a:lnTo>
                  <a:pt x="636" y="0"/>
                </a:lnTo>
                <a:lnTo>
                  <a:pt x="706" y="0"/>
                </a:lnTo>
                <a:lnTo>
                  <a:pt x="777" y="0"/>
                </a:lnTo>
                <a:lnTo>
                  <a:pt x="848" y="0"/>
                </a:lnTo>
                <a:lnTo>
                  <a:pt x="918" y="0"/>
                </a:lnTo>
                <a:lnTo>
                  <a:pt x="989" y="0"/>
                </a:lnTo>
                <a:lnTo>
                  <a:pt x="1059" y="0"/>
                </a:lnTo>
                <a:lnTo>
                  <a:pt x="1130" y="0"/>
                </a:lnTo>
                <a:lnTo>
                  <a:pt x="1201" y="0"/>
                </a:lnTo>
                <a:lnTo>
                  <a:pt x="1271" y="0"/>
                </a:lnTo>
                <a:lnTo>
                  <a:pt x="1342" y="0"/>
                </a:lnTo>
                <a:lnTo>
                  <a:pt x="1412" y="0"/>
                </a:lnTo>
                <a:lnTo>
                  <a:pt x="1483" y="0"/>
                </a:lnTo>
                <a:lnTo>
                  <a:pt x="1554" y="0"/>
                </a:lnTo>
                <a:lnTo>
                  <a:pt x="1624" y="0"/>
                </a:lnTo>
                <a:lnTo>
                  <a:pt x="1695" y="0"/>
                </a:lnTo>
                <a:lnTo>
                  <a:pt x="1766" y="0"/>
                </a:lnTo>
                <a:lnTo>
                  <a:pt x="1836" y="0"/>
                </a:lnTo>
                <a:lnTo>
                  <a:pt x="1907" y="0"/>
                </a:lnTo>
                <a:lnTo>
                  <a:pt x="1978" y="0"/>
                </a:lnTo>
                <a:lnTo>
                  <a:pt x="2048" y="0"/>
                </a:lnTo>
                <a:lnTo>
                  <a:pt x="2119" y="0"/>
                </a:lnTo>
                <a:lnTo>
                  <a:pt x="2189" y="0"/>
                </a:lnTo>
                <a:lnTo>
                  <a:pt x="2260" y="0"/>
                </a:lnTo>
                <a:lnTo>
                  <a:pt x="2331" y="0"/>
                </a:lnTo>
                <a:lnTo>
                  <a:pt x="2401" y="0"/>
                </a:lnTo>
                <a:lnTo>
                  <a:pt x="2472" y="0"/>
                </a:lnTo>
                <a:lnTo>
                  <a:pt x="2542" y="0"/>
                </a:lnTo>
                <a:lnTo>
                  <a:pt x="2613" y="0"/>
                </a:lnTo>
                <a:lnTo>
                  <a:pt x="2684" y="0"/>
                </a:lnTo>
                <a:lnTo>
                  <a:pt x="2754" y="0"/>
                </a:lnTo>
                <a:lnTo>
                  <a:pt x="2825" y="0"/>
                </a:lnTo>
                <a:lnTo>
                  <a:pt x="2896" y="0"/>
                </a:lnTo>
                <a:lnTo>
                  <a:pt x="2966" y="0"/>
                </a:lnTo>
                <a:lnTo>
                  <a:pt x="3037" y="0"/>
                </a:lnTo>
                <a:lnTo>
                  <a:pt x="3108" y="0"/>
                </a:lnTo>
                <a:lnTo>
                  <a:pt x="3178" y="0"/>
                </a:lnTo>
                <a:lnTo>
                  <a:pt x="3249" y="0"/>
                </a:lnTo>
                <a:lnTo>
                  <a:pt x="3319" y="0"/>
                </a:lnTo>
                <a:lnTo>
                  <a:pt x="3390" y="0"/>
                </a:lnTo>
                <a:lnTo>
                  <a:pt x="3461" y="0"/>
                </a:lnTo>
                <a:lnTo>
                  <a:pt x="3531" y="0"/>
                </a:lnTo>
                <a:lnTo>
                  <a:pt x="3602" y="0"/>
                </a:lnTo>
                <a:lnTo>
                  <a:pt x="3673" y="0"/>
                </a:lnTo>
                <a:lnTo>
                  <a:pt x="3743" y="0"/>
                </a:lnTo>
                <a:lnTo>
                  <a:pt x="3814" y="0"/>
                </a:lnTo>
                <a:lnTo>
                  <a:pt x="3884" y="0"/>
                </a:lnTo>
                <a:lnTo>
                  <a:pt x="3955" y="0"/>
                </a:lnTo>
                <a:lnTo>
                  <a:pt x="4026" y="0"/>
                </a:lnTo>
                <a:lnTo>
                  <a:pt x="4096" y="0"/>
                </a:lnTo>
                <a:lnTo>
                  <a:pt x="4167" y="0"/>
                </a:lnTo>
                <a:lnTo>
                  <a:pt x="4238" y="0"/>
                </a:lnTo>
                <a:lnTo>
                  <a:pt x="4308" y="0"/>
                </a:lnTo>
                <a:lnTo>
                  <a:pt x="4379" y="0"/>
                </a:lnTo>
                <a:lnTo>
                  <a:pt x="4449" y="0"/>
                </a:lnTo>
                <a:lnTo>
                  <a:pt x="4520" y="0"/>
                </a:lnTo>
                <a:lnTo>
                  <a:pt x="4591" y="0"/>
                </a:lnTo>
                <a:lnTo>
                  <a:pt x="4661" y="0"/>
                </a:lnTo>
                <a:lnTo>
                  <a:pt x="4732" y="0"/>
                </a:lnTo>
                <a:lnTo>
                  <a:pt x="4802" y="0"/>
                </a:lnTo>
                <a:lnTo>
                  <a:pt x="4873" y="0"/>
                </a:lnTo>
                <a:lnTo>
                  <a:pt x="4944" y="0"/>
                </a:lnTo>
                <a:lnTo>
                  <a:pt x="5014" y="0"/>
                </a:lnTo>
                <a:lnTo>
                  <a:pt x="5085" y="0"/>
                </a:lnTo>
                <a:lnTo>
                  <a:pt x="5156" y="0"/>
                </a:lnTo>
                <a:lnTo>
                  <a:pt x="5226" y="0"/>
                </a:lnTo>
                <a:lnTo>
                  <a:pt x="5297" y="0"/>
                </a:lnTo>
                <a:lnTo>
                  <a:pt x="5368" y="0"/>
                </a:lnTo>
                <a:lnTo>
                  <a:pt x="5438" y="0"/>
                </a:lnTo>
                <a:lnTo>
                  <a:pt x="5509" y="0"/>
                </a:lnTo>
                <a:lnTo>
                  <a:pt x="5579" y="0"/>
                </a:lnTo>
                <a:lnTo>
                  <a:pt x="56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7110" y="5120640"/>
            <a:ext cx="640080" cy="274320"/>
          </a:xfrm>
          <a:prstGeom prst="rect">
            <a:avLst/>
          </a:prstGeom>
          <a:noFill/>
        </p:spPr>
        <p:txBody>
          <a:bodyPr wrap="square" lIns="0" rIns="0" tIns="0" bIns="0" anchor="t">
            <a:spAutoFit/>
          </a:bodyPr>
          <a:lstStyle/>
          <a:p>
            <a:pPr algn="ctr"/>
            <a:r>
              <a:rPr sz="1500" b="0" i="0">
                <a:solidFill>
                  <a:srgbClr val="17324D"/>
                </a:solidFill>
                <a:latin typeface="Aptos"/>
              </a:rPr>
              <a:t>0</a:t>
            </a:r>
          </a:p>
        </p:txBody>
      </p:sp>
      <p:sp>
        <p:nvSpPr>
          <p:cNvPr id="35" name="TextBox 34"/>
          <p:cNvSpPr txBox="1"/>
          <p:nvPr/>
        </p:nvSpPr>
        <p:spPr>
          <a:xfrm>
            <a:off x="8234171" y="5120640"/>
            <a:ext cx="640080" cy="274320"/>
          </a:xfrm>
          <a:prstGeom prst="rect">
            <a:avLst/>
          </a:prstGeom>
          <a:noFill/>
        </p:spPr>
        <p:txBody>
          <a:bodyPr wrap="square" lIns="0" rIns="0" tIns="0" bIns="0" anchor="t">
            <a:spAutoFit/>
          </a:bodyPr>
          <a:lstStyle/>
          <a:p>
            <a:pPr algn="ctr"/>
            <a:r>
              <a:rPr sz="1500" b="0" i="0">
                <a:solidFill>
                  <a:srgbClr val="17324D"/>
                </a:solidFill>
                <a:latin typeface="Aptos"/>
              </a:rPr>
              <a:t>0.5</a:t>
            </a:r>
          </a:p>
        </p:txBody>
      </p:sp>
      <p:sp>
        <p:nvSpPr>
          <p:cNvPr id="36" name="TextBox 35"/>
          <p:cNvSpPr txBox="1"/>
          <p:nvPr/>
        </p:nvSpPr>
        <p:spPr>
          <a:xfrm>
            <a:off x="10221233" y="5120640"/>
            <a:ext cx="640080" cy="274320"/>
          </a:xfrm>
          <a:prstGeom prst="rect">
            <a:avLst/>
          </a:prstGeom>
          <a:noFill/>
        </p:spPr>
        <p:txBody>
          <a:bodyPr wrap="square" lIns="0" rIns="0" tIns="0" bIns="0" anchor="t">
            <a:spAutoFit/>
          </a:bodyPr>
          <a:lstStyle/>
          <a:p>
            <a:pPr algn="ctr"/>
            <a:r>
              <a:rPr sz="1500" b="0" i="0">
                <a:solidFill>
                  <a:srgbClr val="17324D"/>
                </a:solidFill>
                <a:latin typeface="Aptos"/>
              </a:rPr>
              <a:t>1 UI</a:t>
            </a:r>
          </a:p>
        </p:txBody>
      </p:sp>
      <p:cxnSp>
        <p:nvCxnSpPr>
          <p:cNvPr id="37" name="Connector 36"/>
          <p:cNvCxnSpPr/>
          <p:nvPr/>
        </p:nvCxnSpPr>
        <p:spPr>
          <a:xfrm>
            <a:off x="8526780" y="2514600"/>
            <a:ext cx="0" cy="2560320"/>
          </a:xfrm>
          <a:prstGeom prst="line">
            <a:avLst/>
          </a:prstGeom>
          <a:ln w="15240">
            <a:solidFill>
              <a:srgbClr val="D96F32"/>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0" y="1828800"/>
            <a:ext cx="5166360" cy="457200"/>
          </a:xfrm>
          <a:prstGeom prst="rect">
            <a:avLst/>
          </a:prstGeom>
          <a:noFill/>
        </p:spPr>
        <p:txBody>
          <a:bodyPr wrap="square" lIns="0" rIns="0" tIns="0" bIns="0" anchor="t">
            <a:spAutoFit/>
          </a:bodyPr>
          <a:lstStyle/>
          <a:p>
            <a:pPr algn="ctr"/>
            <a:r>
              <a:rPr sz="2100" b="1" i="0">
                <a:solidFill>
                  <a:srgbClr val="17324D"/>
                </a:solidFill>
                <a:latin typeface="Aptos"/>
              </a:rPr>
              <a:t>Many bit histories, one timing reference</a:t>
            </a:r>
          </a:p>
        </p:txBody>
      </p:sp>
      <p:sp>
        <p:nvSpPr>
          <p:cNvPr id="39" name="TextBox 38"/>
          <p:cNvSpPr txBox="1"/>
          <p:nvPr/>
        </p:nvSpPr>
        <p:spPr>
          <a:xfrm>
            <a:off x="777240" y="5806440"/>
            <a:ext cx="10698480" cy="320040"/>
          </a:xfrm>
          <a:prstGeom prst="rect">
            <a:avLst/>
          </a:prstGeom>
          <a:noFill/>
        </p:spPr>
        <p:txBody>
          <a:bodyPr wrap="square" lIns="0" rIns="0" tIns="0" bIns="0" anchor="t">
            <a:spAutoFit/>
          </a:bodyPr>
          <a:lstStyle/>
          <a:p>
            <a:pPr algn="ctr"/>
            <a:r>
              <a:rPr sz="1700" b="0" i="0">
                <a:solidFill>
                  <a:srgbClr val="17324D"/>
                </a:solidFill>
                <a:latin typeface="Aptos"/>
              </a:rPr>
              <a:t>UI = unit interval. The overlay summarizes decision conditions; it is not a readable message.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13</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USE STATED SAMPLE TIMING, THRESHOLD AND MEASUREMENT CRITERIA</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An open eye leaves voltage and timing room</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4400" y="2468880"/>
            <a:ext cx="0" cy="260604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66928" y="2775203"/>
            <a:ext cx="274320" cy="274320"/>
          </a:xfrm>
          <a:prstGeom prst="rect">
            <a:avLst/>
          </a:prstGeom>
          <a:noFill/>
        </p:spPr>
        <p:txBody>
          <a:bodyPr wrap="square" lIns="0" rIns="0" tIns="0" bIns="0" anchor="t">
            <a:spAutoFit/>
          </a:bodyPr>
          <a:lstStyle/>
          <a:p>
            <a:pPr algn="l"/>
            <a:r>
              <a:rPr sz="1400" b="0" i="0">
                <a:solidFill>
                  <a:srgbClr val="5F6B73"/>
                </a:solidFill>
                <a:latin typeface="Aptos"/>
              </a:rPr>
              <a:t>H</a:t>
            </a:r>
          </a:p>
        </p:txBody>
      </p:sp>
      <p:sp>
        <p:nvSpPr>
          <p:cNvPr id="15" name="TextBox 14"/>
          <p:cNvSpPr txBox="1"/>
          <p:nvPr/>
        </p:nvSpPr>
        <p:spPr>
          <a:xfrm>
            <a:off x="566928" y="4512564"/>
            <a:ext cx="274320" cy="274320"/>
          </a:xfrm>
          <a:prstGeom prst="rect">
            <a:avLst/>
          </a:prstGeom>
          <a:noFill/>
        </p:spPr>
        <p:txBody>
          <a:bodyPr wrap="square" lIns="0" rIns="0" tIns="0" bIns="0" anchor="t">
            <a:spAutoFit/>
          </a:bodyPr>
          <a:lstStyle/>
          <a:p>
            <a:pPr algn="l"/>
            <a:r>
              <a:rPr sz="1400" b="0" i="0">
                <a:solidFill>
                  <a:srgbClr val="5F6B73"/>
                </a:solidFill>
                <a:latin typeface="Aptos"/>
              </a:rPr>
              <a:t>L</a:t>
            </a:r>
          </a:p>
        </p:txBody>
      </p:sp>
      <p:cxnSp>
        <p:nvCxnSpPr>
          <p:cNvPr id="16" name="Connector 15"/>
          <p:cNvCxnSpPr/>
          <p:nvPr/>
        </p:nvCxnSpPr>
        <p:spPr>
          <a:xfrm>
            <a:off x="914400" y="3771900"/>
            <a:ext cx="6309360"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914400" y="4640580"/>
            <a:ext cx="6309360" cy="0"/>
          </a:xfrm>
          <a:custGeom>
            <a:avLst/>
            <a:gdLst/>
            <a:ahLst/>
            <a:cxnLst/>
            <a:rect l="l" t="t" r="r" b="b"/>
            <a:pathLst>
              <a:path w="6900" h="0">
                <a:moveTo>
                  <a:pt x="0" y="0"/>
                </a:moveTo>
                <a:lnTo>
                  <a:pt x="86" y="0"/>
                </a:lnTo>
                <a:lnTo>
                  <a:pt x="172" y="0"/>
                </a:lnTo>
                <a:lnTo>
                  <a:pt x="259" y="0"/>
                </a:lnTo>
                <a:lnTo>
                  <a:pt x="345" y="0"/>
                </a:lnTo>
                <a:lnTo>
                  <a:pt x="431" y="0"/>
                </a:lnTo>
                <a:lnTo>
                  <a:pt x="518" y="0"/>
                </a:lnTo>
                <a:lnTo>
                  <a:pt x="604" y="0"/>
                </a:lnTo>
                <a:lnTo>
                  <a:pt x="690" y="0"/>
                </a:lnTo>
                <a:lnTo>
                  <a:pt x="776" y="0"/>
                </a:lnTo>
                <a:lnTo>
                  <a:pt x="862" y="0"/>
                </a:lnTo>
                <a:lnTo>
                  <a:pt x="949" y="0"/>
                </a:lnTo>
                <a:lnTo>
                  <a:pt x="1035" y="0"/>
                </a:lnTo>
                <a:lnTo>
                  <a:pt x="1121" y="0"/>
                </a:lnTo>
                <a:lnTo>
                  <a:pt x="1208" y="0"/>
                </a:lnTo>
                <a:lnTo>
                  <a:pt x="1294" y="0"/>
                </a:lnTo>
                <a:lnTo>
                  <a:pt x="1380" y="0"/>
                </a:lnTo>
                <a:lnTo>
                  <a:pt x="1466" y="0"/>
                </a:lnTo>
                <a:lnTo>
                  <a:pt x="1552" y="0"/>
                </a:lnTo>
                <a:lnTo>
                  <a:pt x="1639" y="0"/>
                </a:lnTo>
                <a:lnTo>
                  <a:pt x="1725" y="0"/>
                </a:lnTo>
                <a:lnTo>
                  <a:pt x="1811" y="0"/>
                </a:lnTo>
                <a:lnTo>
                  <a:pt x="1898" y="0"/>
                </a:lnTo>
                <a:lnTo>
                  <a:pt x="1984" y="0"/>
                </a:lnTo>
                <a:lnTo>
                  <a:pt x="2070" y="0"/>
                </a:lnTo>
                <a:lnTo>
                  <a:pt x="2156" y="0"/>
                </a:lnTo>
                <a:lnTo>
                  <a:pt x="2243" y="0"/>
                </a:lnTo>
                <a:lnTo>
                  <a:pt x="2329" y="0"/>
                </a:lnTo>
                <a:lnTo>
                  <a:pt x="2415" y="0"/>
                </a:lnTo>
                <a:lnTo>
                  <a:pt x="2501" y="0"/>
                </a:lnTo>
                <a:lnTo>
                  <a:pt x="2588" y="0"/>
                </a:lnTo>
                <a:lnTo>
                  <a:pt x="2674" y="0"/>
                </a:lnTo>
                <a:lnTo>
                  <a:pt x="2760" y="0"/>
                </a:lnTo>
                <a:lnTo>
                  <a:pt x="2846" y="0"/>
                </a:lnTo>
                <a:lnTo>
                  <a:pt x="2932" y="0"/>
                </a:lnTo>
                <a:lnTo>
                  <a:pt x="3019" y="0"/>
                </a:lnTo>
                <a:lnTo>
                  <a:pt x="3105" y="0"/>
                </a:lnTo>
                <a:lnTo>
                  <a:pt x="3191" y="0"/>
                </a:lnTo>
                <a:lnTo>
                  <a:pt x="3278" y="0"/>
                </a:lnTo>
                <a:lnTo>
                  <a:pt x="3364" y="0"/>
                </a:lnTo>
                <a:lnTo>
                  <a:pt x="3450" y="0"/>
                </a:lnTo>
                <a:lnTo>
                  <a:pt x="3536" y="0"/>
                </a:lnTo>
                <a:lnTo>
                  <a:pt x="3622" y="0"/>
                </a:lnTo>
                <a:lnTo>
                  <a:pt x="3709" y="0"/>
                </a:lnTo>
                <a:lnTo>
                  <a:pt x="3795" y="0"/>
                </a:lnTo>
                <a:lnTo>
                  <a:pt x="3881" y="0"/>
                </a:lnTo>
                <a:lnTo>
                  <a:pt x="3968" y="0"/>
                </a:lnTo>
                <a:lnTo>
                  <a:pt x="4054" y="0"/>
                </a:lnTo>
                <a:lnTo>
                  <a:pt x="4140" y="0"/>
                </a:lnTo>
                <a:lnTo>
                  <a:pt x="4226" y="0"/>
                </a:lnTo>
                <a:lnTo>
                  <a:pt x="4312" y="0"/>
                </a:lnTo>
                <a:lnTo>
                  <a:pt x="4399" y="0"/>
                </a:lnTo>
                <a:lnTo>
                  <a:pt x="4485" y="0"/>
                </a:lnTo>
                <a:lnTo>
                  <a:pt x="4571" y="0"/>
                </a:lnTo>
                <a:lnTo>
                  <a:pt x="4658" y="0"/>
                </a:lnTo>
                <a:lnTo>
                  <a:pt x="4744" y="0"/>
                </a:lnTo>
                <a:lnTo>
                  <a:pt x="4830" y="0"/>
                </a:lnTo>
                <a:lnTo>
                  <a:pt x="4916" y="0"/>
                </a:lnTo>
                <a:lnTo>
                  <a:pt x="5002" y="0"/>
                </a:lnTo>
                <a:lnTo>
                  <a:pt x="5089" y="0"/>
                </a:lnTo>
                <a:lnTo>
                  <a:pt x="5175" y="0"/>
                </a:lnTo>
                <a:lnTo>
                  <a:pt x="5261" y="0"/>
                </a:lnTo>
                <a:lnTo>
                  <a:pt x="5348" y="0"/>
                </a:lnTo>
                <a:lnTo>
                  <a:pt x="5434" y="0"/>
                </a:lnTo>
                <a:lnTo>
                  <a:pt x="5520" y="0"/>
                </a:lnTo>
                <a:lnTo>
                  <a:pt x="5606" y="0"/>
                </a:lnTo>
                <a:lnTo>
                  <a:pt x="5692" y="0"/>
                </a:lnTo>
                <a:lnTo>
                  <a:pt x="5779" y="0"/>
                </a:lnTo>
                <a:lnTo>
                  <a:pt x="5865" y="0"/>
                </a:lnTo>
                <a:lnTo>
                  <a:pt x="5951" y="0"/>
                </a:lnTo>
                <a:lnTo>
                  <a:pt x="6038" y="0"/>
                </a:lnTo>
                <a:lnTo>
                  <a:pt x="6124" y="0"/>
                </a:lnTo>
                <a:lnTo>
                  <a:pt x="6210" y="0"/>
                </a:lnTo>
                <a:lnTo>
                  <a:pt x="6296" y="0"/>
                </a:lnTo>
                <a:lnTo>
                  <a:pt x="6383" y="0"/>
                </a:lnTo>
                <a:lnTo>
                  <a:pt x="6469" y="0"/>
                </a:lnTo>
                <a:lnTo>
                  <a:pt x="6555" y="0"/>
                </a:lnTo>
                <a:lnTo>
                  <a:pt x="6641" y="0"/>
                </a:lnTo>
                <a:lnTo>
                  <a:pt x="6728" y="0"/>
                </a:lnTo>
                <a:lnTo>
                  <a:pt x="6814" y="0"/>
                </a:lnTo>
                <a:lnTo>
                  <a:pt x="690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914400" y="2905049"/>
            <a:ext cx="6309360" cy="1735531"/>
          </a:xfrm>
          <a:custGeom>
            <a:avLst/>
            <a:gdLst/>
            <a:ahLst/>
            <a:cxnLst/>
            <a:rect l="l" t="t" r="r" b="b"/>
            <a:pathLst>
              <a:path w="6900" h="1898">
                <a:moveTo>
                  <a:pt x="0" y="1898"/>
                </a:moveTo>
                <a:lnTo>
                  <a:pt x="86" y="1898"/>
                </a:lnTo>
                <a:lnTo>
                  <a:pt x="172" y="1898"/>
                </a:lnTo>
                <a:lnTo>
                  <a:pt x="259" y="1898"/>
                </a:lnTo>
                <a:lnTo>
                  <a:pt x="345" y="1898"/>
                </a:lnTo>
                <a:lnTo>
                  <a:pt x="431" y="1898"/>
                </a:lnTo>
                <a:lnTo>
                  <a:pt x="518" y="1898"/>
                </a:lnTo>
                <a:lnTo>
                  <a:pt x="604" y="1898"/>
                </a:lnTo>
                <a:lnTo>
                  <a:pt x="690" y="1898"/>
                </a:lnTo>
                <a:lnTo>
                  <a:pt x="776" y="1898"/>
                </a:lnTo>
                <a:lnTo>
                  <a:pt x="862" y="1898"/>
                </a:lnTo>
                <a:lnTo>
                  <a:pt x="949" y="1898"/>
                </a:lnTo>
                <a:lnTo>
                  <a:pt x="1035" y="1898"/>
                </a:lnTo>
                <a:lnTo>
                  <a:pt x="1121" y="1898"/>
                </a:lnTo>
                <a:lnTo>
                  <a:pt x="1208" y="1898"/>
                </a:lnTo>
                <a:lnTo>
                  <a:pt x="1294" y="1898"/>
                </a:lnTo>
                <a:lnTo>
                  <a:pt x="1380" y="1898"/>
                </a:lnTo>
                <a:lnTo>
                  <a:pt x="1466" y="1898"/>
                </a:lnTo>
                <a:lnTo>
                  <a:pt x="1552" y="1898"/>
                </a:lnTo>
                <a:lnTo>
                  <a:pt x="1639" y="1898"/>
                </a:lnTo>
                <a:lnTo>
                  <a:pt x="1725" y="1898"/>
                </a:lnTo>
                <a:lnTo>
                  <a:pt x="1811" y="1898"/>
                </a:lnTo>
                <a:lnTo>
                  <a:pt x="1898" y="1898"/>
                </a:lnTo>
                <a:lnTo>
                  <a:pt x="1984" y="1898"/>
                </a:lnTo>
                <a:lnTo>
                  <a:pt x="2070" y="1898"/>
                </a:lnTo>
                <a:lnTo>
                  <a:pt x="2156" y="1898"/>
                </a:lnTo>
                <a:lnTo>
                  <a:pt x="2243" y="1898"/>
                </a:lnTo>
                <a:lnTo>
                  <a:pt x="2329" y="1898"/>
                </a:lnTo>
                <a:lnTo>
                  <a:pt x="2415" y="1898"/>
                </a:lnTo>
                <a:lnTo>
                  <a:pt x="2501" y="1898"/>
                </a:lnTo>
                <a:lnTo>
                  <a:pt x="2588" y="1898"/>
                </a:lnTo>
                <a:lnTo>
                  <a:pt x="2674" y="1898"/>
                </a:lnTo>
                <a:lnTo>
                  <a:pt x="2760" y="1898"/>
                </a:lnTo>
                <a:lnTo>
                  <a:pt x="2846" y="1898"/>
                </a:lnTo>
                <a:lnTo>
                  <a:pt x="2932" y="1898"/>
                </a:lnTo>
                <a:lnTo>
                  <a:pt x="3019" y="1898"/>
                </a:lnTo>
                <a:lnTo>
                  <a:pt x="3105" y="1898"/>
                </a:lnTo>
                <a:lnTo>
                  <a:pt x="3191" y="1898"/>
                </a:lnTo>
                <a:lnTo>
                  <a:pt x="3278" y="1898"/>
                </a:lnTo>
                <a:lnTo>
                  <a:pt x="3364" y="1898"/>
                </a:lnTo>
                <a:lnTo>
                  <a:pt x="3450" y="1898"/>
                </a:lnTo>
                <a:lnTo>
                  <a:pt x="3536" y="1898"/>
                </a:lnTo>
                <a:lnTo>
                  <a:pt x="3622" y="1898"/>
                </a:lnTo>
                <a:lnTo>
                  <a:pt x="3709" y="1898"/>
                </a:lnTo>
                <a:lnTo>
                  <a:pt x="3795" y="1898"/>
                </a:lnTo>
                <a:lnTo>
                  <a:pt x="3881" y="1898"/>
                </a:lnTo>
                <a:lnTo>
                  <a:pt x="3968" y="1898"/>
                </a:lnTo>
                <a:lnTo>
                  <a:pt x="4054" y="1898"/>
                </a:lnTo>
                <a:lnTo>
                  <a:pt x="4140" y="1898"/>
                </a:lnTo>
                <a:lnTo>
                  <a:pt x="4226" y="1898"/>
                </a:lnTo>
                <a:lnTo>
                  <a:pt x="4312" y="1898"/>
                </a:lnTo>
                <a:lnTo>
                  <a:pt x="4399" y="1898"/>
                </a:lnTo>
                <a:lnTo>
                  <a:pt x="4485" y="1898"/>
                </a:lnTo>
                <a:lnTo>
                  <a:pt x="4571" y="1898"/>
                </a:lnTo>
                <a:lnTo>
                  <a:pt x="4658" y="1898"/>
                </a:lnTo>
                <a:lnTo>
                  <a:pt x="4744" y="1898"/>
                </a:lnTo>
                <a:lnTo>
                  <a:pt x="4830" y="1898"/>
                </a:lnTo>
                <a:lnTo>
                  <a:pt x="4916" y="1898"/>
                </a:lnTo>
                <a:lnTo>
                  <a:pt x="5002" y="1898"/>
                </a:lnTo>
                <a:lnTo>
                  <a:pt x="5089" y="1898"/>
                </a:lnTo>
                <a:lnTo>
                  <a:pt x="5175" y="1897"/>
                </a:lnTo>
                <a:lnTo>
                  <a:pt x="5261" y="1896"/>
                </a:lnTo>
                <a:lnTo>
                  <a:pt x="5348" y="1895"/>
                </a:lnTo>
                <a:lnTo>
                  <a:pt x="5434" y="1891"/>
                </a:lnTo>
                <a:lnTo>
                  <a:pt x="5520" y="1884"/>
                </a:lnTo>
                <a:lnTo>
                  <a:pt x="5606" y="1869"/>
                </a:lnTo>
                <a:lnTo>
                  <a:pt x="5692" y="1839"/>
                </a:lnTo>
                <a:lnTo>
                  <a:pt x="5779" y="1781"/>
                </a:lnTo>
                <a:lnTo>
                  <a:pt x="5865" y="1672"/>
                </a:lnTo>
                <a:lnTo>
                  <a:pt x="5951" y="1484"/>
                </a:lnTo>
                <a:lnTo>
                  <a:pt x="6038" y="1205"/>
                </a:lnTo>
                <a:lnTo>
                  <a:pt x="6124" y="869"/>
                </a:lnTo>
                <a:lnTo>
                  <a:pt x="6210" y="552"/>
                </a:lnTo>
                <a:lnTo>
                  <a:pt x="6296" y="314"/>
                </a:lnTo>
                <a:lnTo>
                  <a:pt x="6383" y="166"/>
                </a:lnTo>
                <a:lnTo>
                  <a:pt x="6469" y="83"/>
                </a:lnTo>
                <a:lnTo>
                  <a:pt x="6555" y="40"/>
                </a:lnTo>
                <a:lnTo>
                  <a:pt x="6641" y="19"/>
                </a:lnTo>
                <a:lnTo>
                  <a:pt x="6728" y="8"/>
                </a:lnTo>
                <a:lnTo>
                  <a:pt x="6814" y="3"/>
                </a:lnTo>
                <a:lnTo>
                  <a:pt x="690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914400" y="2903220"/>
            <a:ext cx="6309360" cy="1735531"/>
          </a:xfrm>
          <a:custGeom>
            <a:avLst/>
            <a:gdLst/>
            <a:ahLst/>
            <a:cxnLst/>
            <a:rect l="l" t="t" r="r" b="b"/>
            <a:pathLst>
              <a:path w="6900" h="1898">
                <a:moveTo>
                  <a:pt x="0" y="1898"/>
                </a:moveTo>
                <a:lnTo>
                  <a:pt x="86" y="1895"/>
                </a:lnTo>
                <a:lnTo>
                  <a:pt x="172" y="1890"/>
                </a:lnTo>
                <a:lnTo>
                  <a:pt x="259" y="1879"/>
                </a:lnTo>
                <a:lnTo>
                  <a:pt x="345" y="1858"/>
                </a:lnTo>
                <a:lnTo>
                  <a:pt x="431" y="1815"/>
                </a:lnTo>
                <a:lnTo>
                  <a:pt x="518" y="1732"/>
                </a:lnTo>
                <a:lnTo>
                  <a:pt x="604" y="1584"/>
                </a:lnTo>
                <a:lnTo>
                  <a:pt x="690" y="1346"/>
                </a:lnTo>
                <a:lnTo>
                  <a:pt x="776" y="1029"/>
                </a:lnTo>
                <a:lnTo>
                  <a:pt x="862" y="693"/>
                </a:lnTo>
                <a:lnTo>
                  <a:pt x="949" y="414"/>
                </a:lnTo>
                <a:lnTo>
                  <a:pt x="1035" y="226"/>
                </a:lnTo>
                <a:lnTo>
                  <a:pt x="1121" y="117"/>
                </a:lnTo>
                <a:lnTo>
                  <a:pt x="1208" y="59"/>
                </a:lnTo>
                <a:lnTo>
                  <a:pt x="1294" y="29"/>
                </a:lnTo>
                <a:lnTo>
                  <a:pt x="1380" y="14"/>
                </a:lnTo>
                <a:lnTo>
                  <a:pt x="1466" y="7"/>
                </a:lnTo>
                <a:lnTo>
                  <a:pt x="1552" y="3"/>
                </a:lnTo>
                <a:lnTo>
                  <a:pt x="1639" y="2"/>
                </a:lnTo>
                <a:lnTo>
                  <a:pt x="1725" y="1"/>
                </a:lnTo>
                <a:lnTo>
                  <a:pt x="1811" y="0"/>
                </a:lnTo>
                <a:lnTo>
                  <a:pt x="1898" y="0"/>
                </a:lnTo>
                <a:lnTo>
                  <a:pt x="1984" y="0"/>
                </a:lnTo>
                <a:lnTo>
                  <a:pt x="2070" y="0"/>
                </a:lnTo>
                <a:lnTo>
                  <a:pt x="2156" y="0"/>
                </a:lnTo>
                <a:lnTo>
                  <a:pt x="2243" y="0"/>
                </a:lnTo>
                <a:lnTo>
                  <a:pt x="2329" y="0"/>
                </a:lnTo>
                <a:lnTo>
                  <a:pt x="2415" y="0"/>
                </a:lnTo>
                <a:lnTo>
                  <a:pt x="2501" y="0"/>
                </a:lnTo>
                <a:lnTo>
                  <a:pt x="2588" y="0"/>
                </a:lnTo>
                <a:lnTo>
                  <a:pt x="2674" y="0"/>
                </a:lnTo>
                <a:lnTo>
                  <a:pt x="2760" y="0"/>
                </a:lnTo>
                <a:lnTo>
                  <a:pt x="2846" y="0"/>
                </a:lnTo>
                <a:lnTo>
                  <a:pt x="2932" y="0"/>
                </a:lnTo>
                <a:lnTo>
                  <a:pt x="3019" y="0"/>
                </a:lnTo>
                <a:lnTo>
                  <a:pt x="3105" y="0"/>
                </a:lnTo>
                <a:lnTo>
                  <a:pt x="3191" y="0"/>
                </a:lnTo>
                <a:lnTo>
                  <a:pt x="3278" y="0"/>
                </a:lnTo>
                <a:lnTo>
                  <a:pt x="3364" y="0"/>
                </a:lnTo>
                <a:lnTo>
                  <a:pt x="3450" y="0"/>
                </a:lnTo>
                <a:lnTo>
                  <a:pt x="3536" y="0"/>
                </a:lnTo>
                <a:lnTo>
                  <a:pt x="3622" y="0"/>
                </a:lnTo>
                <a:lnTo>
                  <a:pt x="3709" y="0"/>
                </a:lnTo>
                <a:lnTo>
                  <a:pt x="3795" y="0"/>
                </a:lnTo>
                <a:lnTo>
                  <a:pt x="3881" y="0"/>
                </a:lnTo>
                <a:lnTo>
                  <a:pt x="3968" y="0"/>
                </a:lnTo>
                <a:lnTo>
                  <a:pt x="4054" y="0"/>
                </a:lnTo>
                <a:lnTo>
                  <a:pt x="4140" y="0"/>
                </a:lnTo>
                <a:lnTo>
                  <a:pt x="4226" y="0"/>
                </a:lnTo>
                <a:lnTo>
                  <a:pt x="4312" y="0"/>
                </a:lnTo>
                <a:lnTo>
                  <a:pt x="4399" y="0"/>
                </a:lnTo>
                <a:lnTo>
                  <a:pt x="4485" y="0"/>
                </a:lnTo>
                <a:lnTo>
                  <a:pt x="4571" y="0"/>
                </a:lnTo>
                <a:lnTo>
                  <a:pt x="4658" y="0"/>
                </a:lnTo>
                <a:lnTo>
                  <a:pt x="4744" y="0"/>
                </a:lnTo>
                <a:lnTo>
                  <a:pt x="4830" y="0"/>
                </a:lnTo>
                <a:lnTo>
                  <a:pt x="4916" y="0"/>
                </a:lnTo>
                <a:lnTo>
                  <a:pt x="5002" y="0"/>
                </a:lnTo>
                <a:lnTo>
                  <a:pt x="5089" y="0"/>
                </a:lnTo>
                <a:lnTo>
                  <a:pt x="5175" y="1"/>
                </a:lnTo>
                <a:lnTo>
                  <a:pt x="5261" y="2"/>
                </a:lnTo>
                <a:lnTo>
                  <a:pt x="5348" y="3"/>
                </a:lnTo>
                <a:lnTo>
                  <a:pt x="5434" y="7"/>
                </a:lnTo>
                <a:lnTo>
                  <a:pt x="5520" y="14"/>
                </a:lnTo>
                <a:lnTo>
                  <a:pt x="5606" y="29"/>
                </a:lnTo>
                <a:lnTo>
                  <a:pt x="5692" y="59"/>
                </a:lnTo>
                <a:lnTo>
                  <a:pt x="5779" y="117"/>
                </a:lnTo>
                <a:lnTo>
                  <a:pt x="5865" y="226"/>
                </a:lnTo>
                <a:lnTo>
                  <a:pt x="5951" y="414"/>
                </a:lnTo>
                <a:lnTo>
                  <a:pt x="6038" y="693"/>
                </a:lnTo>
                <a:lnTo>
                  <a:pt x="6124" y="1029"/>
                </a:lnTo>
                <a:lnTo>
                  <a:pt x="6210" y="1346"/>
                </a:lnTo>
                <a:lnTo>
                  <a:pt x="6296" y="1584"/>
                </a:lnTo>
                <a:lnTo>
                  <a:pt x="6383" y="1732"/>
                </a:lnTo>
                <a:lnTo>
                  <a:pt x="6469" y="1815"/>
                </a:lnTo>
                <a:lnTo>
                  <a:pt x="6555" y="1858"/>
                </a:lnTo>
                <a:lnTo>
                  <a:pt x="6641" y="1879"/>
                </a:lnTo>
                <a:lnTo>
                  <a:pt x="6728" y="1890"/>
                </a:lnTo>
                <a:lnTo>
                  <a:pt x="6814" y="1895"/>
                </a:lnTo>
                <a:lnTo>
                  <a:pt x="6900" y="189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914400" y="2903220"/>
            <a:ext cx="6309360" cy="1735531"/>
          </a:xfrm>
          <a:custGeom>
            <a:avLst/>
            <a:gdLst/>
            <a:ahLst/>
            <a:cxnLst/>
            <a:rect l="l" t="t" r="r" b="b"/>
            <a:pathLst>
              <a:path w="6900" h="1898">
                <a:moveTo>
                  <a:pt x="0" y="1898"/>
                </a:moveTo>
                <a:lnTo>
                  <a:pt x="86" y="1895"/>
                </a:lnTo>
                <a:lnTo>
                  <a:pt x="172" y="1890"/>
                </a:lnTo>
                <a:lnTo>
                  <a:pt x="259" y="1879"/>
                </a:lnTo>
                <a:lnTo>
                  <a:pt x="345" y="1858"/>
                </a:lnTo>
                <a:lnTo>
                  <a:pt x="431" y="1815"/>
                </a:lnTo>
                <a:lnTo>
                  <a:pt x="518" y="1732"/>
                </a:lnTo>
                <a:lnTo>
                  <a:pt x="604" y="1584"/>
                </a:lnTo>
                <a:lnTo>
                  <a:pt x="690" y="1346"/>
                </a:lnTo>
                <a:lnTo>
                  <a:pt x="776" y="1029"/>
                </a:lnTo>
                <a:lnTo>
                  <a:pt x="862" y="693"/>
                </a:lnTo>
                <a:lnTo>
                  <a:pt x="949" y="414"/>
                </a:lnTo>
                <a:lnTo>
                  <a:pt x="1035" y="226"/>
                </a:lnTo>
                <a:lnTo>
                  <a:pt x="1121" y="117"/>
                </a:lnTo>
                <a:lnTo>
                  <a:pt x="1208" y="59"/>
                </a:lnTo>
                <a:lnTo>
                  <a:pt x="1294" y="29"/>
                </a:lnTo>
                <a:lnTo>
                  <a:pt x="1380" y="14"/>
                </a:lnTo>
                <a:lnTo>
                  <a:pt x="1466" y="7"/>
                </a:lnTo>
                <a:lnTo>
                  <a:pt x="1552" y="3"/>
                </a:lnTo>
                <a:lnTo>
                  <a:pt x="1639" y="2"/>
                </a:lnTo>
                <a:lnTo>
                  <a:pt x="1725" y="1"/>
                </a:lnTo>
                <a:lnTo>
                  <a:pt x="1811" y="0"/>
                </a:lnTo>
                <a:lnTo>
                  <a:pt x="1898" y="0"/>
                </a:lnTo>
                <a:lnTo>
                  <a:pt x="1984" y="0"/>
                </a:lnTo>
                <a:lnTo>
                  <a:pt x="2070" y="0"/>
                </a:lnTo>
                <a:lnTo>
                  <a:pt x="2156" y="0"/>
                </a:lnTo>
                <a:lnTo>
                  <a:pt x="2243" y="0"/>
                </a:lnTo>
                <a:lnTo>
                  <a:pt x="2329" y="0"/>
                </a:lnTo>
                <a:lnTo>
                  <a:pt x="2415" y="0"/>
                </a:lnTo>
                <a:lnTo>
                  <a:pt x="2501" y="0"/>
                </a:lnTo>
                <a:lnTo>
                  <a:pt x="2588" y="0"/>
                </a:lnTo>
                <a:lnTo>
                  <a:pt x="2674" y="0"/>
                </a:lnTo>
                <a:lnTo>
                  <a:pt x="2760" y="0"/>
                </a:lnTo>
                <a:lnTo>
                  <a:pt x="2846" y="0"/>
                </a:lnTo>
                <a:lnTo>
                  <a:pt x="2932" y="0"/>
                </a:lnTo>
                <a:lnTo>
                  <a:pt x="3019" y="0"/>
                </a:lnTo>
                <a:lnTo>
                  <a:pt x="3105" y="0"/>
                </a:lnTo>
                <a:lnTo>
                  <a:pt x="3191" y="0"/>
                </a:lnTo>
                <a:lnTo>
                  <a:pt x="3278" y="0"/>
                </a:lnTo>
                <a:lnTo>
                  <a:pt x="3364" y="0"/>
                </a:lnTo>
                <a:lnTo>
                  <a:pt x="3450" y="0"/>
                </a:lnTo>
                <a:lnTo>
                  <a:pt x="3536" y="0"/>
                </a:lnTo>
                <a:lnTo>
                  <a:pt x="3622" y="0"/>
                </a:lnTo>
                <a:lnTo>
                  <a:pt x="3709" y="0"/>
                </a:lnTo>
                <a:lnTo>
                  <a:pt x="3795" y="0"/>
                </a:lnTo>
                <a:lnTo>
                  <a:pt x="3881" y="0"/>
                </a:lnTo>
                <a:lnTo>
                  <a:pt x="3968" y="0"/>
                </a:lnTo>
                <a:lnTo>
                  <a:pt x="4054" y="0"/>
                </a:lnTo>
                <a:lnTo>
                  <a:pt x="4140" y="0"/>
                </a:lnTo>
                <a:lnTo>
                  <a:pt x="4226" y="0"/>
                </a:lnTo>
                <a:lnTo>
                  <a:pt x="4312" y="0"/>
                </a:lnTo>
                <a:lnTo>
                  <a:pt x="4399" y="0"/>
                </a:lnTo>
                <a:lnTo>
                  <a:pt x="4485" y="0"/>
                </a:lnTo>
                <a:lnTo>
                  <a:pt x="4571" y="0"/>
                </a:lnTo>
                <a:lnTo>
                  <a:pt x="4658" y="0"/>
                </a:lnTo>
                <a:lnTo>
                  <a:pt x="4744" y="0"/>
                </a:lnTo>
                <a:lnTo>
                  <a:pt x="4830" y="0"/>
                </a:lnTo>
                <a:lnTo>
                  <a:pt x="4916" y="0"/>
                </a:lnTo>
                <a:lnTo>
                  <a:pt x="5002" y="0"/>
                </a:lnTo>
                <a:lnTo>
                  <a:pt x="5089" y="0"/>
                </a:lnTo>
                <a:lnTo>
                  <a:pt x="5175" y="0"/>
                </a:lnTo>
                <a:lnTo>
                  <a:pt x="5261" y="0"/>
                </a:lnTo>
                <a:lnTo>
                  <a:pt x="5348" y="0"/>
                </a:lnTo>
                <a:lnTo>
                  <a:pt x="5434" y="0"/>
                </a:lnTo>
                <a:lnTo>
                  <a:pt x="5520" y="0"/>
                </a:lnTo>
                <a:lnTo>
                  <a:pt x="5606" y="0"/>
                </a:lnTo>
                <a:lnTo>
                  <a:pt x="5692" y="0"/>
                </a:lnTo>
                <a:lnTo>
                  <a:pt x="5779" y="0"/>
                </a:lnTo>
                <a:lnTo>
                  <a:pt x="5865" y="0"/>
                </a:lnTo>
                <a:lnTo>
                  <a:pt x="5951" y="0"/>
                </a:lnTo>
                <a:lnTo>
                  <a:pt x="6038" y="0"/>
                </a:lnTo>
                <a:lnTo>
                  <a:pt x="6124" y="0"/>
                </a:lnTo>
                <a:lnTo>
                  <a:pt x="6210" y="0"/>
                </a:lnTo>
                <a:lnTo>
                  <a:pt x="6296" y="0"/>
                </a:lnTo>
                <a:lnTo>
                  <a:pt x="6383" y="0"/>
                </a:lnTo>
                <a:lnTo>
                  <a:pt x="6469" y="0"/>
                </a:lnTo>
                <a:lnTo>
                  <a:pt x="6555" y="0"/>
                </a:lnTo>
                <a:lnTo>
                  <a:pt x="6641" y="0"/>
                </a:lnTo>
                <a:lnTo>
                  <a:pt x="6728" y="0"/>
                </a:lnTo>
                <a:lnTo>
                  <a:pt x="6814" y="0"/>
                </a:lnTo>
                <a:lnTo>
                  <a:pt x="690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914400" y="2905049"/>
            <a:ext cx="6309360" cy="1735531"/>
          </a:xfrm>
          <a:custGeom>
            <a:avLst/>
            <a:gdLst/>
            <a:ahLst/>
            <a:cxnLst/>
            <a:rect l="l" t="t" r="r" b="b"/>
            <a:pathLst>
              <a:path w="6900" h="1898">
                <a:moveTo>
                  <a:pt x="0" y="0"/>
                </a:moveTo>
                <a:lnTo>
                  <a:pt x="86" y="3"/>
                </a:lnTo>
                <a:lnTo>
                  <a:pt x="172" y="8"/>
                </a:lnTo>
                <a:lnTo>
                  <a:pt x="259" y="19"/>
                </a:lnTo>
                <a:lnTo>
                  <a:pt x="345" y="40"/>
                </a:lnTo>
                <a:lnTo>
                  <a:pt x="431" y="83"/>
                </a:lnTo>
                <a:lnTo>
                  <a:pt x="518" y="166"/>
                </a:lnTo>
                <a:lnTo>
                  <a:pt x="604" y="314"/>
                </a:lnTo>
                <a:lnTo>
                  <a:pt x="690" y="552"/>
                </a:lnTo>
                <a:lnTo>
                  <a:pt x="776" y="869"/>
                </a:lnTo>
                <a:lnTo>
                  <a:pt x="862" y="1205"/>
                </a:lnTo>
                <a:lnTo>
                  <a:pt x="949" y="1484"/>
                </a:lnTo>
                <a:lnTo>
                  <a:pt x="1035" y="1672"/>
                </a:lnTo>
                <a:lnTo>
                  <a:pt x="1121" y="1781"/>
                </a:lnTo>
                <a:lnTo>
                  <a:pt x="1208" y="1839"/>
                </a:lnTo>
                <a:lnTo>
                  <a:pt x="1294" y="1869"/>
                </a:lnTo>
                <a:lnTo>
                  <a:pt x="1380" y="1884"/>
                </a:lnTo>
                <a:lnTo>
                  <a:pt x="1466" y="1891"/>
                </a:lnTo>
                <a:lnTo>
                  <a:pt x="1552" y="1895"/>
                </a:lnTo>
                <a:lnTo>
                  <a:pt x="1639" y="1896"/>
                </a:lnTo>
                <a:lnTo>
                  <a:pt x="1725" y="1897"/>
                </a:lnTo>
                <a:lnTo>
                  <a:pt x="1811" y="1898"/>
                </a:lnTo>
                <a:lnTo>
                  <a:pt x="1898" y="1898"/>
                </a:lnTo>
                <a:lnTo>
                  <a:pt x="1984" y="1898"/>
                </a:lnTo>
                <a:lnTo>
                  <a:pt x="2070" y="1898"/>
                </a:lnTo>
                <a:lnTo>
                  <a:pt x="2156" y="1898"/>
                </a:lnTo>
                <a:lnTo>
                  <a:pt x="2243" y="1898"/>
                </a:lnTo>
                <a:lnTo>
                  <a:pt x="2329" y="1898"/>
                </a:lnTo>
                <a:lnTo>
                  <a:pt x="2415" y="1898"/>
                </a:lnTo>
                <a:lnTo>
                  <a:pt x="2501" y="1898"/>
                </a:lnTo>
                <a:lnTo>
                  <a:pt x="2588" y="1898"/>
                </a:lnTo>
                <a:lnTo>
                  <a:pt x="2674" y="1898"/>
                </a:lnTo>
                <a:lnTo>
                  <a:pt x="2760" y="1898"/>
                </a:lnTo>
                <a:lnTo>
                  <a:pt x="2846" y="1898"/>
                </a:lnTo>
                <a:lnTo>
                  <a:pt x="2932" y="1898"/>
                </a:lnTo>
                <a:lnTo>
                  <a:pt x="3019" y="1898"/>
                </a:lnTo>
                <a:lnTo>
                  <a:pt x="3105" y="1898"/>
                </a:lnTo>
                <a:lnTo>
                  <a:pt x="3191" y="1898"/>
                </a:lnTo>
                <a:lnTo>
                  <a:pt x="3278" y="1898"/>
                </a:lnTo>
                <a:lnTo>
                  <a:pt x="3364" y="1898"/>
                </a:lnTo>
                <a:lnTo>
                  <a:pt x="3450" y="1898"/>
                </a:lnTo>
                <a:lnTo>
                  <a:pt x="3536" y="1898"/>
                </a:lnTo>
                <a:lnTo>
                  <a:pt x="3622" y="1898"/>
                </a:lnTo>
                <a:lnTo>
                  <a:pt x="3709" y="1898"/>
                </a:lnTo>
                <a:lnTo>
                  <a:pt x="3795" y="1898"/>
                </a:lnTo>
                <a:lnTo>
                  <a:pt x="3881" y="1898"/>
                </a:lnTo>
                <a:lnTo>
                  <a:pt x="3968" y="1898"/>
                </a:lnTo>
                <a:lnTo>
                  <a:pt x="4054" y="1898"/>
                </a:lnTo>
                <a:lnTo>
                  <a:pt x="4140" y="1898"/>
                </a:lnTo>
                <a:lnTo>
                  <a:pt x="4226" y="1898"/>
                </a:lnTo>
                <a:lnTo>
                  <a:pt x="4312" y="1898"/>
                </a:lnTo>
                <a:lnTo>
                  <a:pt x="4399" y="1898"/>
                </a:lnTo>
                <a:lnTo>
                  <a:pt x="4485" y="1898"/>
                </a:lnTo>
                <a:lnTo>
                  <a:pt x="4571" y="1898"/>
                </a:lnTo>
                <a:lnTo>
                  <a:pt x="4658" y="1898"/>
                </a:lnTo>
                <a:lnTo>
                  <a:pt x="4744" y="1898"/>
                </a:lnTo>
                <a:lnTo>
                  <a:pt x="4830" y="1898"/>
                </a:lnTo>
                <a:lnTo>
                  <a:pt x="4916" y="1898"/>
                </a:lnTo>
                <a:lnTo>
                  <a:pt x="5002" y="1898"/>
                </a:lnTo>
                <a:lnTo>
                  <a:pt x="5089" y="1898"/>
                </a:lnTo>
                <a:lnTo>
                  <a:pt x="5175" y="1898"/>
                </a:lnTo>
                <a:lnTo>
                  <a:pt x="5261" y="1898"/>
                </a:lnTo>
                <a:lnTo>
                  <a:pt x="5348" y="1898"/>
                </a:lnTo>
                <a:lnTo>
                  <a:pt x="5434" y="1898"/>
                </a:lnTo>
                <a:lnTo>
                  <a:pt x="5520" y="1898"/>
                </a:lnTo>
                <a:lnTo>
                  <a:pt x="5606" y="1898"/>
                </a:lnTo>
                <a:lnTo>
                  <a:pt x="5692" y="1898"/>
                </a:lnTo>
                <a:lnTo>
                  <a:pt x="5779" y="1898"/>
                </a:lnTo>
                <a:lnTo>
                  <a:pt x="5865" y="1898"/>
                </a:lnTo>
                <a:lnTo>
                  <a:pt x="5951" y="1898"/>
                </a:lnTo>
                <a:lnTo>
                  <a:pt x="6038" y="1898"/>
                </a:lnTo>
                <a:lnTo>
                  <a:pt x="6124" y="1898"/>
                </a:lnTo>
                <a:lnTo>
                  <a:pt x="6210" y="1898"/>
                </a:lnTo>
                <a:lnTo>
                  <a:pt x="6296" y="1898"/>
                </a:lnTo>
                <a:lnTo>
                  <a:pt x="6383" y="1898"/>
                </a:lnTo>
                <a:lnTo>
                  <a:pt x="6469" y="1898"/>
                </a:lnTo>
                <a:lnTo>
                  <a:pt x="6555" y="1898"/>
                </a:lnTo>
                <a:lnTo>
                  <a:pt x="6641" y="1898"/>
                </a:lnTo>
                <a:lnTo>
                  <a:pt x="6728" y="1898"/>
                </a:lnTo>
                <a:lnTo>
                  <a:pt x="6814" y="1898"/>
                </a:lnTo>
                <a:lnTo>
                  <a:pt x="6900" y="189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914400" y="2905049"/>
            <a:ext cx="6309360" cy="1735531"/>
          </a:xfrm>
          <a:custGeom>
            <a:avLst/>
            <a:gdLst/>
            <a:ahLst/>
            <a:cxnLst/>
            <a:rect l="l" t="t" r="r" b="b"/>
            <a:pathLst>
              <a:path w="6900" h="1898">
                <a:moveTo>
                  <a:pt x="0" y="0"/>
                </a:moveTo>
                <a:lnTo>
                  <a:pt x="86" y="3"/>
                </a:lnTo>
                <a:lnTo>
                  <a:pt x="172" y="8"/>
                </a:lnTo>
                <a:lnTo>
                  <a:pt x="259" y="19"/>
                </a:lnTo>
                <a:lnTo>
                  <a:pt x="345" y="40"/>
                </a:lnTo>
                <a:lnTo>
                  <a:pt x="431" y="83"/>
                </a:lnTo>
                <a:lnTo>
                  <a:pt x="518" y="166"/>
                </a:lnTo>
                <a:lnTo>
                  <a:pt x="604" y="314"/>
                </a:lnTo>
                <a:lnTo>
                  <a:pt x="690" y="552"/>
                </a:lnTo>
                <a:lnTo>
                  <a:pt x="776" y="869"/>
                </a:lnTo>
                <a:lnTo>
                  <a:pt x="862" y="1205"/>
                </a:lnTo>
                <a:lnTo>
                  <a:pt x="949" y="1484"/>
                </a:lnTo>
                <a:lnTo>
                  <a:pt x="1035" y="1672"/>
                </a:lnTo>
                <a:lnTo>
                  <a:pt x="1121" y="1781"/>
                </a:lnTo>
                <a:lnTo>
                  <a:pt x="1208" y="1839"/>
                </a:lnTo>
                <a:lnTo>
                  <a:pt x="1294" y="1869"/>
                </a:lnTo>
                <a:lnTo>
                  <a:pt x="1380" y="1884"/>
                </a:lnTo>
                <a:lnTo>
                  <a:pt x="1466" y="1891"/>
                </a:lnTo>
                <a:lnTo>
                  <a:pt x="1552" y="1895"/>
                </a:lnTo>
                <a:lnTo>
                  <a:pt x="1639" y="1896"/>
                </a:lnTo>
                <a:lnTo>
                  <a:pt x="1725" y="1897"/>
                </a:lnTo>
                <a:lnTo>
                  <a:pt x="1811" y="1898"/>
                </a:lnTo>
                <a:lnTo>
                  <a:pt x="1898" y="1898"/>
                </a:lnTo>
                <a:lnTo>
                  <a:pt x="1984" y="1898"/>
                </a:lnTo>
                <a:lnTo>
                  <a:pt x="2070" y="1898"/>
                </a:lnTo>
                <a:lnTo>
                  <a:pt x="2156" y="1898"/>
                </a:lnTo>
                <a:lnTo>
                  <a:pt x="2243" y="1898"/>
                </a:lnTo>
                <a:lnTo>
                  <a:pt x="2329" y="1898"/>
                </a:lnTo>
                <a:lnTo>
                  <a:pt x="2415" y="1898"/>
                </a:lnTo>
                <a:lnTo>
                  <a:pt x="2501" y="1898"/>
                </a:lnTo>
                <a:lnTo>
                  <a:pt x="2588" y="1898"/>
                </a:lnTo>
                <a:lnTo>
                  <a:pt x="2674" y="1898"/>
                </a:lnTo>
                <a:lnTo>
                  <a:pt x="2760" y="1898"/>
                </a:lnTo>
                <a:lnTo>
                  <a:pt x="2846" y="1898"/>
                </a:lnTo>
                <a:lnTo>
                  <a:pt x="2932" y="1898"/>
                </a:lnTo>
                <a:lnTo>
                  <a:pt x="3019" y="1898"/>
                </a:lnTo>
                <a:lnTo>
                  <a:pt x="3105" y="1898"/>
                </a:lnTo>
                <a:lnTo>
                  <a:pt x="3191" y="1898"/>
                </a:lnTo>
                <a:lnTo>
                  <a:pt x="3278" y="1898"/>
                </a:lnTo>
                <a:lnTo>
                  <a:pt x="3364" y="1898"/>
                </a:lnTo>
                <a:lnTo>
                  <a:pt x="3450" y="1898"/>
                </a:lnTo>
                <a:lnTo>
                  <a:pt x="3536" y="1898"/>
                </a:lnTo>
                <a:lnTo>
                  <a:pt x="3622" y="1898"/>
                </a:lnTo>
                <a:lnTo>
                  <a:pt x="3709" y="1898"/>
                </a:lnTo>
                <a:lnTo>
                  <a:pt x="3795" y="1898"/>
                </a:lnTo>
                <a:lnTo>
                  <a:pt x="3881" y="1898"/>
                </a:lnTo>
                <a:lnTo>
                  <a:pt x="3968" y="1898"/>
                </a:lnTo>
                <a:lnTo>
                  <a:pt x="4054" y="1898"/>
                </a:lnTo>
                <a:lnTo>
                  <a:pt x="4140" y="1898"/>
                </a:lnTo>
                <a:lnTo>
                  <a:pt x="4226" y="1898"/>
                </a:lnTo>
                <a:lnTo>
                  <a:pt x="4312" y="1898"/>
                </a:lnTo>
                <a:lnTo>
                  <a:pt x="4399" y="1898"/>
                </a:lnTo>
                <a:lnTo>
                  <a:pt x="4485" y="1898"/>
                </a:lnTo>
                <a:lnTo>
                  <a:pt x="4571" y="1898"/>
                </a:lnTo>
                <a:lnTo>
                  <a:pt x="4658" y="1898"/>
                </a:lnTo>
                <a:lnTo>
                  <a:pt x="4744" y="1898"/>
                </a:lnTo>
                <a:lnTo>
                  <a:pt x="4830" y="1898"/>
                </a:lnTo>
                <a:lnTo>
                  <a:pt x="4916" y="1898"/>
                </a:lnTo>
                <a:lnTo>
                  <a:pt x="5002" y="1898"/>
                </a:lnTo>
                <a:lnTo>
                  <a:pt x="5089" y="1898"/>
                </a:lnTo>
                <a:lnTo>
                  <a:pt x="5175" y="1897"/>
                </a:lnTo>
                <a:lnTo>
                  <a:pt x="5261" y="1896"/>
                </a:lnTo>
                <a:lnTo>
                  <a:pt x="5348" y="1895"/>
                </a:lnTo>
                <a:lnTo>
                  <a:pt x="5434" y="1891"/>
                </a:lnTo>
                <a:lnTo>
                  <a:pt x="5520" y="1884"/>
                </a:lnTo>
                <a:lnTo>
                  <a:pt x="5606" y="1869"/>
                </a:lnTo>
                <a:lnTo>
                  <a:pt x="5692" y="1839"/>
                </a:lnTo>
                <a:lnTo>
                  <a:pt x="5779" y="1781"/>
                </a:lnTo>
                <a:lnTo>
                  <a:pt x="5865" y="1672"/>
                </a:lnTo>
                <a:lnTo>
                  <a:pt x="5951" y="1484"/>
                </a:lnTo>
                <a:lnTo>
                  <a:pt x="6038" y="1205"/>
                </a:lnTo>
                <a:lnTo>
                  <a:pt x="6124" y="869"/>
                </a:lnTo>
                <a:lnTo>
                  <a:pt x="6210" y="552"/>
                </a:lnTo>
                <a:lnTo>
                  <a:pt x="6296" y="314"/>
                </a:lnTo>
                <a:lnTo>
                  <a:pt x="6383" y="166"/>
                </a:lnTo>
                <a:lnTo>
                  <a:pt x="6469" y="83"/>
                </a:lnTo>
                <a:lnTo>
                  <a:pt x="6555" y="40"/>
                </a:lnTo>
                <a:lnTo>
                  <a:pt x="6641" y="19"/>
                </a:lnTo>
                <a:lnTo>
                  <a:pt x="6728" y="8"/>
                </a:lnTo>
                <a:lnTo>
                  <a:pt x="6814" y="3"/>
                </a:lnTo>
                <a:lnTo>
                  <a:pt x="690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914400" y="2903220"/>
            <a:ext cx="6309360" cy="1735531"/>
          </a:xfrm>
          <a:custGeom>
            <a:avLst/>
            <a:gdLst/>
            <a:ahLst/>
            <a:cxnLst/>
            <a:rect l="l" t="t" r="r" b="b"/>
            <a:pathLst>
              <a:path w="6900" h="1898">
                <a:moveTo>
                  <a:pt x="0" y="0"/>
                </a:moveTo>
                <a:lnTo>
                  <a:pt x="86" y="0"/>
                </a:lnTo>
                <a:lnTo>
                  <a:pt x="172" y="0"/>
                </a:lnTo>
                <a:lnTo>
                  <a:pt x="259" y="0"/>
                </a:lnTo>
                <a:lnTo>
                  <a:pt x="345" y="0"/>
                </a:lnTo>
                <a:lnTo>
                  <a:pt x="431" y="0"/>
                </a:lnTo>
                <a:lnTo>
                  <a:pt x="518" y="0"/>
                </a:lnTo>
                <a:lnTo>
                  <a:pt x="604" y="0"/>
                </a:lnTo>
                <a:lnTo>
                  <a:pt x="690" y="0"/>
                </a:lnTo>
                <a:lnTo>
                  <a:pt x="776" y="0"/>
                </a:lnTo>
                <a:lnTo>
                  <a:pt x="862" y="0"/>
                </a:lnTo>
                <a:lnTo>
                  <a:pt x="949" y="0"/>
                </a:lnTo>
                <a:lnTo>
                  <a:pt x="1035" y="0"/>
                </a:lnTo>
                <a:lnTo>
                  <a:pt x="1121" y="0"/>
                </a:lnTo>
                <a:lnTo>
                  <a:pt x="1208" y="0"/>
                </a:lnTo>
                <a:lnTo>
                  <a:pt x="1294" y="0"/>
                </a:lnTo>
                <a:lnTo>
                  <a:pt x="1380" y="0"/>
                </a:lnTo>
                <a:lnTo>
                  <a:pt x="1466" y="0"/>
                </a:lnTo>
                <a:lnTo>
                  <a:pt x="1552" y="0"/>
                </a:lnTo>
                <a:lnTo>
                  <a:pt x="1639" y="0"/>
                </a:lnTo>
                <a:lnTo>
                  <a:pt x="1725" y="0"/>
                </a:lnTo>
                <a:lnTo>
                  <a:pt x="1811" y="0"/>
                </a:lnTo>
                <a:lnTo>
                  <a:pt x="1898" y="0"/>
                </a:lnTo>
                <a:lnTo>
                  <a:pt x="1984" y="0"/>
                </a:lnTo>
                <a:lnTo>
                  <a:pt x="2070" y="0"/>
                </a:lnTo>
                <a:lnTo>
                  <a:pt x="2156" y="0"/>
                </a:lnTo>
                <a:lnTo>
                  <a:pt x="2243" y="0"/>
                </a:lnTo>
                <a:lnTo>
                  <a:pt x="2329" y="0"/>
                </a:lnTo>
                <a:lnTo>
                  <a:pt x="2415" y="0"/>
                </a:lnTo>
                <a:lnTo>
                  <a:pt x="2501" y="0"/>
                </a:lnTo>
                <a:lnTo>
                  <a:pt x="2588" y="0"/>
                </a:lnTo>
                <a:lnTo>
                  <a:pt x="2674" y="0"/>
                </a:lnTo>
                <a:lnTo>
                  <a:pt x="2760" y="0"/>
                </a:lnTo>
                <a:lnTo>
                  <a:pt x="2846" y="0"/>
                </a:lnTo>
                <a:lnTo>
                  <a:pt x="2932" y="0"/>
                </a:lnTo>
                <a:lnTo>
                  <a:pt x="3019" y="0"/>
                </a:lnTo>
                <a:lnTo>
                  <a:pt x="3105" y="0"/>
                </a:lnTo>
                <a:lnTo>
                  <a:pt x="3191" y="0"/>
                </a:lnTo>
                <a:lnTo>
                  <a:pt x="3278" y="0"/>
                </a:lnTo>
                <a:lnTo>
                  <a:pt x="3364" y="0"/>
                </a:lnTo>
                <a:lnTo>
                  <a:pt x="3450" y="0"/>
                </a:lnTo>
                <a:lnTo>
                  <a:pt x="3536" y="0"/>
                </a:lnTo>
                <a:lnTo>
                  <a:pt x="3622" y="0"/>
                </a:lnTo>
                <a:lnTo>
                  <a:pt x="3709" y="0"/>
                </a:lnTo>
                <a:lnTo>
                  <a:pt x="3795" y="0"/>
                </a:lnTo>
                <a:lnTo>
                  <a:pt x="3881" y="0"/>
                </a:lnTo>
                <a:lnTo>
                  <a:pt x="3968" y="0"/>
                </a:lnTo>
                <a:lnTo>
                  <a:pt x="4054" y="0"/>
                </a:lnTo>
                <a:lnTo>
                  <a:pt x="4140" y="0"/>
                </a:lnTo>
                <a:lnTo>
                  <a:pt x="4226" y="0"/>
                </a:lnTo>
                <a:lnTo>
                  <a:pt x="4312" y="0"/>
                </a:lnTo>
                <a:lnTo>
                  <a:pt x="4399" y="0"/>
                </a:lnTo>
                <a:lnTo>
                  <a:pt x="4485" y="0"/>
                </a:lnTo>
                <a:lnTo>
                  <a:pt x="4571" y="0"/>
                </a:lnTo>
                <a:lnTo>
                  <a:pt x="4658" y="0"/>
                </a:lnTo>
                <a:lnTo>
                  <a:pt x="4744" y="0"/>
                </a:lnTo>
                <a:lnTo>
                  <a:pt x="4830" y="0"/>
                </a:lnTo>
                <a:lnTo>
                  <a:pt x="4916" y="0"/>
                </a:lnTo>
                <a:lnTo>
                  <a:pt x="5002" y="0"/>
                </a:lnTo>
                <a:lnTo>
                  <a:pt x="5089" y="0"/>
                </a:lnTo>
                <a:lnTo>
                  <a:pt x="5175" y="1"/>
                </a:lnTo>
                <a:lnTo>
                  <a:pt x="5261" y="2"/>
                </a:lnTo>
                <a:lnTo>
                  <a:pt x="5348" y="3"/>
                </a:lnTo>
                <a:lnTo>
                  <a:pt x="5434" y="7"/>
                </a:lnTo>
                <a:lnTo>
                  <a:pt x="5520" y="14"/>
                </a:lnTo>
                <a:lnTo>
                  <a:pt x="5606" y="29"/>
                </a:lnTo>
                <a:lnTo>
                  <a:pt x="5692" y="59"/>
                </a:lnTo>
                <a:lnTo>
                  <a:pt x="5779" y="117"/>
                </a:lnTo>
                <a:lnTo>
                  <a:pt x="5865" y="226"/>
                </a:lnTo>
                <a:lnTo>
                  <a:pt x="5951" y="414"/>
                </a:lnTo>
                <a:lnTo>
                  <a:pt x="6038" y="693"/>
                </a:lnTo>
                <a:lnTo>
                  <a:pt x="6124" y="1029"/>
                </a:lnTo>
                <a:lnTo>
                  <a:pt x="6210" y="1346"/>
                </a:lnTo>
                <a:lnTo>
                  <a:pt x="6296" y="1584"/>
                </a:lnTo>
                <a:lnTo>
                  <a:pt x="6383" y="1732"/>
                </a:lnTo>
                <a:lnTo>
                  <a:pt x="6469" y="1815"/>
                </a:lnTo>
                <a:lnTo>
                  <a:pt x="6555" y="1858"/>
                </a:lnTo>
                <a:lnTo>
                  <a:pt x="6641" y="1879"/>
                </a:lnTo>
                <a:lnTo>
                  <a:pt x="6728" y="1890"/>
                </a:lnTo>
                <a:lnTo>
                  <a:pt x="6814" y="1895"/>
                </a:lnTo>
                <a:lnTo>
                  <a:pt x="6900" y="189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914400" y="2903220"/>
            <a:ext cx="6309360" cy="0"/>
          </a:xfrm>
          <a:custGeom>
            <a:avLst/>
            <a:gdLst/>
            <a:ahLst/>
            <a:cxnLst/>
            <a:rect l="l" t="t" r="r" b="b"/>
            <a:pathLst>
              <a:path w="6900" h="0">
                <a:moveTo>
                  <a:pt x="0" y="0"/>
                </a:moveTo>
                <a:lnTo>
                  <a:pt x="86" y="0"/>
                </a:lnTo>
                <a:lnTo>
                  <a:pt x="172" y="0"/>
                </a:lnTo>
                <a:lnTo>
                  <a:pt x="259" y="0"/>
                </a:lnTo>
                <a:lnTo>
                  <a:pt x="345" y="0"/>
                </a:lnTo>
                <a:lnTo>
                  <a:pt x="431" y="0"/>
                </a:lnTo>
                <a:lnTo>
                  <a:pt x="518" y="0"/>
                </a:lnTo>
                <a:lnTo>
                  <a:pt x="604" y="0"/>
                </a:lnTo>
                <a:lnTo>
                  <a:pt x="690" y="0"/>
                </a:lnTo>
                <a:lnTo>
                  <a:pt x="776" y="0"/>
                </a:lnTo>
                <a:lnTo>
                  <a:pt x="862" y="0"/>
                </a:lnTo>
                <a:lnTo>
                  <a:pt x="949" y="0"/>
                </a:lnTo>
                <a:lnTo>
                  <a:pt x="1035" y="0"/>
                </a:lnTo>
                <a:lnTo>
                  <a:pt x="1121" y="0"/>
                </a:lnTo>
                <a:lnTo>
                  <a:pt x="1208" y="0"/>
                </a:lnTo>
                <a:lnTo>
                  <a:pt x="1294" y="0"/>
                </a:lnTo>
                <a:lnTo>
                  <a:pt x="1380" y="0"/>
                </a:lnTo>
                <a:lnTo>
                  <a:pt x="1466" y="0"/>
                </a:lnTo>
                <a:lnTo>
                  <a:pt x="1552" y="0"/>
                </a:lnTo>
                <a:lnTo>
                  <a:pt x="1639" y="0"/>
                </a:lnTo>
                <a:lnTo>
                  <a:pt x="1725" y="0"/>
                </a:lnTo>
                <a:lnTo>
                  <a:pt x="1811" y="0"/>
                </a:lnTo>
                <a:lnTo>
                  <a:pt x="1898" y="0"/>
                </a:lnTo>
                <a:lnTo>
                  <a:pt x="1984" y="0"/>
                </a:lnTo>
                <a:lnTo>
                  <a:pt x="2070" y="0"/>
                </a:lnTo>
                <a:lnTo>
                  <a:pt x="2156" y="0"/>
                </a:lnTo>
                <a:lnTo>
                  <a:pt x="2243" y="0"/>
                </a:lnTo>
                <a:lnTo>
                  <a:pt x="2329" y="0"/>
                </a:lnTo>
                <a:lnTo>
                  <a:pt x="2415" y="0"/>
                </a:lnTo>
                <a:lnTo>
                  <a:pt x="2501" y="0"/>
                </a:lnTo>
                <a:lnTo>
                  <a:pt x="2588" y="0"/>
                </a:lnTo>
                <a:lnTo>
                  <a:pt x="2674" y="0"/>
                </a:lnTo>
                <a:lnTo>
                  <a:pt x="2760" y="0"/>
                </a:lnTo>
                <a:lnTo>
                  <a:pt x="2846" y="0"/>
                </a:lnTo>
                <a:lnTo>
                  <a:pt x="2932" y="0"/>
                </a:lnTo>
                <a:lnTo>
                  <a:pt x="3019" y="0"/>
                </a:lnTo>
                <a:lnTo>
                  <a:pt x="3105" y="0"/>
                </a:lnTo>
                <a:lnTo>
                  <a:pt x="3191" y="0"/>
                </a:lnTo>
                <a:lnTo>
                  <a:pt x="3278" y="0"/>
                </a:lnTo>
                <a:lnTo>
                  <a:pt x="3364" y="0"/>
                </a:lnTo>
                <a:lnTo>
                  <a:pt x="3450" y="0"/>
                </a:lnTo>
                <a:lnTo>
                  <a:pt x="3536" y="0"/>
                </a:lnTo>
                <a:lnTo>
                  <a:pt x="3622" y="0"/>
                </a:lnTo>
                <a:lnTo>
                  <a:pt x="3709" y="0"/>
                </a:lnTo>
                <a:lnTo>
                  <a:pt x="3795" y="0"/>
                </a:lnTo>
                <a:lnTo>
                  <a:pt x="3881" y="0"/>
                </a:lnTo>
                <a:lnTo>
                  <a:pt x="3968" y="0"/>
                </a:lnTo>
                <a:lnTo>
                  <a:pt x="4054" y="0"/>
                </a:lnTo>
                <a:lnTo>
                  <a:pt x="4140" y="0"/>
                </a:lnTo>
                <a:lnTo>
                  <a:pt x="4226" y="0"/>
                </a:lnTo>
                <a:lnTo>
                  <a:pt x="4312" y="0"/>
                </a:lnTo>
                <a:lnTo>
                  <a:pt x="4399" y="0"/>
                </a:lnTo>
                <a:lnTo>
                  <a:pt x="4485" y="0"/>
                </a:lnTo>
                <a:lnTo>
                  <a:pt x="4571" y="0"/>
                </a:lnTo>
                <a:lnTo>
                  <a:pt x="4658" y="0"/>
                </a:lnTo>
                <a:lnTo>
                  <a:pt x="4744" y="0"/>
                </a:lnTo>
                <a:lnTo>
                  <a:pt x="4830" y="0"/>
                </a:lnTo>
                <a:lnTo>
                  <a:pt x="4916" y="0"/>
                </a:lnTo>
                <a:lnTo>
                  <a:pt x="5002" y="0"/>
                </a:lnTo>
                <a:lnTo>
                  <a:pt x="5089" y="0"/>
                </a:lnTo>
                <a:lnTo>
                  <a:pt x="5175" y="0"/>
                </a:lnTo>
                <a:lnTo>
                  <a:pt x="5261" y="0"/>
                </a:lnTo>
                <a:lnTo>
                  <a:pt x="5348" y="0"/>
                </a:lnTo>
                <a:lnTo>
                  <a:pt x="5434" y="0"/>
                </a:lnTo>
                <a:lnTo>
                  <a:pt x="5520" y="0"/>
                </a:lnTo>
                <a:lnTo>
                  <a:pt x="5606" y="0"/>
                </a:lnTo>
                <a:lnTo>
                  <a:pt x="5692" y="0"/>
                </a:lnTo>
                <a:lnTo>
                  <a:pt x="5779" y="0"/>
                </a:lnTo>
                <a:lnTo>
                  <a:pt x="5865" y="0"/>
                </a:lnTo>
                <a:lnTo>
                  <a:pt x="5951" y="0"/>
                </a:lnTo>
                <a:lnTo>
                  <a:pt x="6038" y="0"/>
                </a:lnTo>
                <a:lnTo>
                  <a:pt x="6124" y="0"/>
                </a:lnTo>
                <a:lnTo>
                  <a:pt x="6210" y="0"/>
                </a:lnTo>
                <a:lnTo>
                  <a:pt x="6296" y="0"/>
                </a:lnTo>
                <a:lnTo>
                  <a:pt x="6383" y="0"/>
                </a:lnTo>
                <a:lnTo>
                  <a:pt x="6469" y="0"/>
                </a:lnTo>
                <a:lnTo>
                  <a:pt x="6555" y="0"/>
                </a:lnTo>
                <a:lnTo>
                  <a:pt x="6641" y="0"/>
                </a:lnTo>
                <a:lnTo>
                  <a:pt x="6728" y="0"/>
                </a:lnTo>
                <a:lnTo>
                  <a:pt x="6814" y="0"/>
                </a:lnTo>
                <a:lnTo>
                  <a:pt x="690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49795" y="5120640"/>
            <a:ext cx="640080" cy="274320"/>
          </a:xfrm>
          <a:prstGeom prst="rect">
            <a:avLst/>
          </a:prstGeom>
          <a:noFill/>
        </p:spPr>
        <p:txBody>
          <a:bodyPr wrap="square" lIns="0" rIns="0" tIns="0" bIns="0" anchor="t">
            <a:spAutoFit/>
          </a:bodyPr>
          <a:lstStyle/>
          <a:p>
            <a:pPr algn="ctr"/>
            <a:r>
              <a:rPr sz="1500" b="0" i="0">
                <a:solidFill>
                  <a:srgbClr val="17324D"/>
                </a:solidFill>
                <a:latin typeface="Aptos"/>
              </a:rPr>
              <a:t>0</a:t>
            </a:r>
          </a:p>
        </p:txBody>
      </p:sp>
      <p:sp>
        <p:nvSpPr>
          <p:cNvPr id="26" name="TextBox 25"/>
          <p:cNvSpPr txBox="1"/>
          <p:nvPr/>
        </p:nvSpPr>
        <p:spPr>
          <a:xfrm>
            <a:off x="3776472" y="5120640"/>
            <a:ext cx="640080" cy="274320"/>
          </a:xfrm>
          <a:prstGeom prst="rect">
            <a:avLst/>
          </a:prstGeom>
          <a:noFill/>
        </p:spPr>
        <p:txBody>
          <a:bodyPr wrap="square" lIns="0" rIns="0" tIns="0" bIns="0" anchor="t">
            <a:spAutoFit/>
          </a:bodyPr>
          <a:lstStyle/>
          <a:p>
            <a:pPr algn="ctr"/>
            <a:r>
              <a:rPr sz="1500" b="0" i="0">
                <a:solidFill>
                  <a:srgbClr val="17324D"/>
                </a:solidFill>
                <a:latin typeface="Aptos"/>
              </a:rPr>
              <a:t>0.5</a:t>
            </a:r>
          </a:p>
        </p:txBody>
      </p:sp>
      <p:sp>
        <p:nvSpPr>
          <p:cNvPr id="27" name="TextBox 26"/>
          <p:cNvSpPr txBox="1"/>
          <p:nvPr/>
        </p:nvSpPr>
        <p:spPr>
          <a:xfrm>
            <a:off x="6203148" y="5120640"/>
            <a:ext cx="640080" cy="274320"/>
          </a:xfrm>
          <a:prstGeom prst="rect">
            <a:avLst/>
          </a:prstGeom>
          <a:noFill/>
        </p:spPr>
        <p:txBody>
          <a:bodyPr wrap="square" lIns="0" rIns="0" tIns="0" bIns="0" anchor="t">
            <a:spAutoFit/>
          </a:bodyPr>
          <a:lstStyle/>
          <a:p>
            <a:pPr algn="ctr"/>
            <a:r>
              <a:rPr sz="1500" b="0" i="0">
                <a:solidFill>
                  <a:srgbClr val="17324D"/>
                </a:solidFill>
                <a:latin typeface="Aptos"/>
              </a:rPr>
              <a:t>1 UI</a:t>
            </a:r>
          </a:p>
        </p:txBody>
      </p:sp>
      <p:cxnSp>
        <p:nvCxnSpPr>
          <p:cNvPr id="28" name="Connector 27"/>
          <p:cNvCxnSpPr/>
          <p:nvPr/>
        </p:nvCxnSpPr>
        <p:spPr>
          <a:xfrm>
            <a:off x="4069080" y="2468880"/>
            <a:ext cx="0" cy="2606040"/>
          </a:xfrm>
          <a:prstGeom prst="line">
            <a:avLst/>
          </a:prstGeom>
          <a:ln w="15240">
            <a:solidFill>
              <a:srgbClr val="D96F3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069080" y="2903220"/>
            <a:ext cx="0" cy="1737360"/>
          </a:xfrm>
          <a:prstGeom prst="line">
            <a:avLst/>
          </a:prstGeom>
          <a:ln w="25400">
            <a:solidFill>
              <a:srgbClr val="D96F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950208" y="4640580"/>
            <a:ext cx="237744" cy="0"/>
          </a:xfrm>
          <a:prstGeom prst="line">
            <a:avLst/>
          </a:prstGeom>
          <a:ln w="25400">
            <a:solidFill>
              <a:srgbClr val="D96F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950208" y="2903220"/>
            <a:ext cx="237744" cy="0"/>
          </a:xfrm>
          <a:prstGeom prst="line">
            <a:avLst/>
          </a:prstGeom>
          <a:ln w="25400">
            <a:solidFill>
              <a:srgbClr val="D96F3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18939" y="3771900"/>
            <a:ext cx="3300281" cy="0"/>
          </a:xfrm>
          <a:prstGeom prst="line">
            <a:avLst/>
          </a:prstGeom>
          <a:ln w="25400">
            <a:solidFill>
              <a:srgbClr val="D96F32"/>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418939" y="3653028"/>
            <a:ext cx="0" cy="237744"/>
          </a:xfrm>
          <a:prstGeom prst="line">
            <a:avLst/>
          </a:prstGeom>
          <a:ln w="25400">
            <a:solidFill>
              <a:srgbClr val="D96F3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719220" y="3653028"/>
            <a:ext cx="0" cy="237744"/>
          </a:xfrm>
          <a:prstGeom prst="line">
            <a:avLst/>
          </a:prstGeom>
          <a:ln w="25400">
            <a:solidFill>
              <a:srgbClr val="D96F32"/>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772400" y="2286000"/>
            <a:ext cx="3566160" cy="502920"/>
          </a:xfrm>
          <a:prstGeom prst="rect">
            <a:avLst/>
          </a:prstGeom>
          <a:noFill/>
        </p:spPr>
        <p:txBody>
          <a:bodyPr wrap="square" lIns="0" rIns="0" tIns="0" bIns="0" anchor="t">
            <a:spAutoFit/>
          </a:bodyPr>
          <a:lstStyle/>
          <a:p>
            <a:pPr algn="l"/>
            <a:r>
              <a:rPr sz="2200" b="1" i="0">
                <a:solidFill>
                  <a:srgbClr val="17324D"/>
                </a:solidFill>
                <a:latin typeface="Aptos"/>
              </a:rPr>
              <a:t>Height: voltage opening</a:t>
            </a:r>
          </a:p>
        </p:txBody>
      </p:sp>
      <p:sp>
        <p:nvSpPr>
          <p:cNvPr id="36" name="TextBox 35"/>
          <p:cNvSpPr txBox="1"/>
          <p:nvPr/>
        </p:nvSpPr>
        <p:spPr>
          <a:xfrm>
            <a:off x="7772400" y="2971800"/>
            <a:ext cx="3566160" cy="822960"/>
          </a:xfrm>
          <a:prstGeom prst="rect">
            <a:avLst/>
          </a:prstGeom>
          <a:noFill/>
        </p:spPr>
        <p:txBody>
          <a:bodyPr wrap="square" lIns="0" rIns="0" tIns="0" bIns="0" anchor="t">
            <a:spAutoFit/>
          </a:bodyPr>
          <a:lstStyle/>
          <a:p>
            <a:pPr algn="l"/>
            <a:r>
              <a:rPr sz="2000" b="0" i="0">
                <a:solidFill>
                  <a:srgbClr val="17324D"/>
                </a:solidFill>
                <a:latin typeface="Aptos"/>
              </a:rPr>
              <a:t>At the stated sampling instant: how far apart are the observed level bands?</a:t>
            </a:r>
          </a:p>
        </p:txBody>
      </p:sp>
      <p:sp>
        <p:nvSpPr>
          <p:cNvPr id="37" name="TextBox 36"/>
          <p:cNvSpPr txBox="1"/>
          <p:nvPr/>
        </p:nvSpPr>
        <p:spPr>
          <a:xfrm>
            <a:off x="7772400" y="4069080"/>
            <a:ext cx="3566160" cy="502920"/>
          </a:xfrm>
          <a:prstGeom prst="rect">
            <a:avLst/>
          </a:prstGeom>
          <a:noFill/>
        </p:spPr>
        <p:txBody>
          <a:bodyPr wrap="square" lIns="0" rIns="0" tIns="0" bIns="0" anchor="t">
            <a:spAutoFit/>
          </a:bodyPr>
          <a:lstStyle/>
          <a:p>
            <a:pPr algn="l"/>
            <a:r>
              <a:rPr sz="2200" b="1" i="0">
                <a:solidFill>
                  <a:srgbClr val="17324D"/>
                </a:solidFill>
                <a:latin typeface="Aptos"/>
              </a:rPr>
              <a:t>Width: timing window</a:t>
            </a:r>
          </a:p>
        </p:txBody>
      </p:sp>
      <p:sp>
        <p:nvSpPr>
          <p:cNvPr id="38" name="TextBox 37"/>
          <p:cNvSpPr txBox="1"/>
          <p:nvPr/>
        </p:nvSpPr>
        <p:spPr>
          <a:xfrm>
            <a:off x="7772400" y="4754880"/>
            <a:ext cx="3566160" cy="822960"/>
          </a:xfrm>
          <a:prstGeom prst="rect">
            <a:avLst/>
          </a:prstGeom>
          <a:noFill/>
        </p:spPr>
        <p:txBody>
          <a:bodyPr wrap="square" lIns="0" rIns="0" tIns="0" bIns="0" anchor="t">
            <a:spAutoFit/>
          </a:bodyPr>
          <a:lstStyle/>
          <a:p>
            <a:pPr algn="l"/>
            <a:r>
              <a:rPr sz="2000" b="0" i="0">
                <a:solidFill>
                  <a:srgbClr val="17324D"/>
                </a:solidFill>
                <a:latin typeface="Aptos"/>
              </a:rPr>
              <a:t>At the stated decision criterion: when can you sample with margin?</a:t>
            </a:r>
          </a:p>
        </p:txBody>
      </p:sp>
      <p:sp>
        <p:nvSpPr>
          <p:cNvPr id="39" name="TextBox 38"/>
          <p:cNvSpPr txBox="1"/>
          <p:nvPr/>
        </p:nvSpPr>
        <p:spPr>
          <a:xfrm>
            <a:off x="777240" y="5806440"/>
            <a:ext cx="10698480" cy="320040"/>
          </a:xfrm>
          <a:prstGeom prst="rect">
            <a:avLst/>
          </a:prstGeom>
          <a:noFill/>
        </p:spPr>
        <p:txBody>
          <a:bodyPr wrap="square" lIns="0" rIns="0" tIns="0" bIns="0" anchor="t">
            <a:spAutoFit/>
          </a:bodyPr>
          <a:lstStyle/>
          <a:p>
            <a:pPr algn="ctr"/>
            <a:r>
              <a:rPr sz="1600" b="0" i="0">
                <a:solidFill>
                  <a:srgbClr val="17324D"/>
                </a:solidFill>
                <a:latin typeface="Aptos"/>
              </a:rPr>
              <a:t>Conceptual opening only. Record the measurement definition, scales, clock reference and sample count.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14</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TIMING JITTER = TRANSITION-TIME VARIATION RELATIVE TO A REFERENCE</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Look at which direction the eye closes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1828800"/>
            <a:ext cx="3246120" cy="457200"/>
          </a:xfrm>
          <a:prstGeom prst="rect">
            <a:avLst/>
          </a:prstGeom>
          <a:noFill/>
        </p:spPr>
        <p:txBody>
          <a:bodyPr wrap="square" lIns="0" rIns="0" tIns="0" bIns="0" anchor="t">
            <a:spAutoFit/>
          </a:bodyPr>
          <a:lstStyle/>
          <a:p>
            <a:pPr algn="ctr"/>
            <a:r>
              <a:rPr sz="2200" b="1" i="0">
                <a:solidFill>
                  <a:srgbClr val="17324D"/>
                </a:solidFill>
                <a:latin typeface="Aptos"/>
              </a:rPr>
              <a:t>Open reference</a:t>
            </a:r>
          </a:p>
        </p:txBody>
      </p:sp>
      <p:cxnSp>
        <p:nvCxnSpPr>
          <p:cNvPr id="14" name="Connector 13"/>
          <p:cNvCxnSpPr/>
          <p:nvPr/>
        </p:nvCxnSpPr>
        <p:spPr>
          <a:xfrm>
            <a:off x="777240" y="2651760"/>
            <a:ext cx="0" cy="219456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9768" y="2889503"/>
            <a:ext cx="274320" cy="274320"/>
          </a:xfrm>
          <a:prstGeom prst="rect">
            <a:avLst/>
          </a:prstGeom>
          <a:noFill/>
        </p:spPr>
        <p:txBody>
          <a:bodyPr wrap="square" lIns="0" rIns="0" tIns="0" bIns="0" anchor="t">
            <a:spAutoFit/>
          </a:bodyPr>
          <a:lstStyle/>
          <a:p>
            <a:pPr algn="l"/>
            <a:r>
              <a:rPr sz="1400" b="0" i="0">
                <a:solidFill>
                  <a:srgbClr val="5F6B73"/>
                </a:solidFill>
                <a:latin typeface="Aptos"/>
              </a:rPr>
              <a:t>H</a:t>
            </a:r>
          </a:p>
        </p:txBody>
      </p:sp>
      <p:sp>
        <p:nvSpPr>
          <p:cNvPr id="16" name="TextBox 15"/>
          <p:cNvSpPr txBox="1"/>
          <p:nvPr/>
        </p:nvSpPr>
        <p:spPr>
          <a:xfrm>
            <a:off x="429768" y="4352544"/>
            <a:ext cx="274320" cy="274320"/>
          </a:xfrm>
          <a:prstGeom prst="rect">
            <a:avLst/>
          </a:prstGeom>
          <a:noFill/>
        </p:spPr>
        <p:txBody>
          <a:bodyPr wrap="square" lIns="0" rIns="0" tIns="0" bIns="0" anchor="t">
            <a:spAutoFit/>
          </a:bodyPr>
          <a:lstStyle/>
          <a:p>
            <a:pPr algn="l"/>
            <a:r>
              <a:rPr sz="1400" b="0" i="0">
                <a:solidFill>
                  <a:srgbClr val="5F6B73"/>
                </a:solidFill>
                <a:latin typeface="Aptos"/>
              </a:rPr>
              <a:t>L</a:t>
            </a:r>
          </a:p>
        </p:txBody>
      </p:sp>
      <p:cxnSp>
        <p:nvCxnSpPr>
          <p:cNvPr id="17" name="Connector 16"/>
          <p:cNvCxnSpPr/>
          <p:nvPr/>
        </p:nvCxnSpPr>
        <p:spPr>
          <a:xfrm>
            <a:off x="777240" y="3749039"/>
            <a:ext cx="3246119"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777240" y="4480560"/>
            <a:ext cx="3246120" cy="0"/>
          </a:xfrm>
          <a:custGeom>
            <a:avLst/>
            <a:gdLst/>
            <a:ahLst/>
            <a:cxnLst/>
            <a:rect l="l" t="t" r="r" b="b"/>
            <a:pathLst>
              <a:path w="3550" h="0">
                <a:moveTo>
                  <a:pt x="0" y="0"/>
                </a:moveTo>
                <a:lnTo>
                  <a:pt x="44" y="0"/>
                </a:lnTo>
                <a:lnTo>
                  <a:pt x="89" y="0"/>
                </a:lnTo>
                <a:lnTo>
                  <a:pt x="133" y="0"/>
                </a:lnTo>
                <a:lnTo>
                  <a:pt x="177" y="0"/>
                </a:lnTo>
                <a:lnTo>
                  <a:pt x="222" y="0"/>
                </a:lnTo>
                <a:lnTo>
                  <a:pt x="266" y="0"/>
                </a:lnTo>
                <a:lnTo>
                  <a:pt x="311" y="0"/>
                </a:lnTo>
                <a:lnTo>
                  <a:pt x="355" y="0"/>
                </a:lnTo>
                <a:lnTo>
                  <a:pt x="399" y="0"/>
                </a:lnTo>
                <a:lnTo>
                  <a:pt x="444" y="0"/>
                </a:lnTo>
                <a:lnTo>
                  <a:pt x="488" y="0"/>
                </a:lnTo>
                <a:lnTo>
                  <a:pt x="532" y="0"/>
                </a:lnTo>
                <a:lnTo>
                  <a:pt x="577" y="0"/>
                </a:lnTo>
                <a:lnTo>
                  <a:pt x="621" y="0"/>
                </a:lnTo>
                <a:lnTo>
                  <a:pt x="666" y="0"/>
                </a:lnTo>
                <a:lnTo>
                  <a:pt x="710" y="0"/>
                </a:lnTo>
                <a:lnTo>
                  <a:pt x="754" y="0"/>
                </a:lnTo>
                <a:lnTo>
                  <a:pt x="799" y="0"/>
                </a:lnTo>
                <a:lnTo>
                  <a:pt x="843" y="0"/>
                </a:lnTo>
                <a:lnTo>
                  <a:pt x="887"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2"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7"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777240" y="3019349"/>
            <a:ext cx="3246120" cy="1461211"/>
          </a:xfrm>
          <a:custGeom>
            <a:avLst/>
            <a:gdLst/>
            <a:ahLst/>
            <a:cxnLst/>
            <a:rect l="l" t="t" r="r" b="b"/>
            <a:pathLst>
              <a:path w="3550" h="1598">
                <a:moveTo>
                  <a:pt x="0" y="1598"/>
                </a:moveTo>
                <a:lnTo>
                  <a:pt x="44" y="1598"/>
                </a:lnTo>
                <a:lnTo>
                  <a:pt x="89" y="1598"/>
                </a:lnTo>
                <a:lnTo>
                  <a:pt x="133" y="1598"/>
                </a:lnTo>
                <a:lnTo>
                  <a:pt x="177" y="1598"/>
                </a:lnTo>
                <a:lnTo>
                  <a:pt x="222" y="1598"/>
                </a:lnTo>
                <a:lnTo>
                  <a:pt x="266" y="1598"/>
                </a:lnTo>
                <a:lnTo>
                  <a:pt x="311" y="1598"/>
                </a:lnTo>
                <a:lnTo>
                  <a:pt x="355" y="1598"/>
                </a:lnTo>
                <a:lnTo>
                  <a:pt x="399" y="1598"/>
                </a:lnTo>
                <a:lnTo>
                  <a:pt x="444" y="1598"/>
                </a:lnTo>
                <a:lnTo>
                  <a:pt x="488" y="1598"/>
                </a:lnTo>
                <a:lnTo>
                  <a:pt x="532" y="1598"/>
                </a:lnTo>
                <a:lnTo>
                  <a:pt x="577" y="1598"/>
                </a:lnTo>
                <a:lnTo>
                  <a:pt x="621" y="1598"/>
                </a:lnTo>
                <a:lnTo>
                  <a:pt x="666" y="1598"/>
                </a:lnTo>
                <a:lnTo>
                  <a:pt x="710" y="1598"/>
                </a:lnTo>
                <a:lnTo>
                  <a:pt x="754" y="1598"/>
                </a:lnTo>
                <a:lnTo>
                  <a:pt x="799" y="1598"/>
                </a:lnTo>
                <a:lnTo>
                  <a:pt x="843" y="1598"/>
                </a:lnTo>
                <a:lnTo>
                  <a:pt x="887" y="1598"/>
                </a:lnTo>
                <a:lnTo>
                  <a:pt x="932" y="1598"/>
                </a:lnTo>
                <a:lnTo>
                  <a:pt x="976" y="1598"/>
                </a:lnTo>
                <a:lnTo>
                  <a:pt x="1021" y="1598"/>
                </a:lnTo>
                <a:lnTo>
                  <a:pt x="1065" y="1598"/>
                </a:lnTo>
                <a:lnTo>
                  <a:pt x="1109" y="1598"/>
                </a:lnTo>
                <a:lnTo>
                  <a:pt x="1154" y="1598"/>
                </a:lnTo>
                <a:lnTo>
                  <a:pt x="1198" y="1598"/>
                </a:lnTo>
                <a:lnTo>
                  <a:pt x="1242" y="1598"/>
                </a:lnTo>
                <a:lnTo>
                  <a:pt x="1287" y="1598"/>
                </a:lnTo>
                <a:lnTo>
                  <a:pt x="1331" y="1598"/>
                </a:lnTo>
                <a:lnTo>
                  <a:pt x="1376" y="1598"/>
                </a:lnTo>
                <a:lnTo>
                  <a:pt x="1420" y="1598"/>
                </a:lnTo>
                <a:lnTo>
                  <a:pt x="1464" y="1598"/>
                </a:lnTo>
                <a:lnTo>
                  <a:pt x="1509" y="1598"/>
                </a:lnTo>
                <a:lnTo>
                  <a:pt x="1553" y="1598"/>
                </a:lnTo>
                <a:lnTo>
                  <a:pt x="1598" y="1598"/>
                </a:lnTo>
                <a:lnTo>
                  <a:pt x="1642" y="1598"/>
                </a:lnTo>
                <a:lnTo>
                  <a:pt x="1686" y="1598"/>
                </a:lnTo>
                <a:lnTo>
                  <a:pt x="1731" y="1598"/>
                </a:lnTo>
                <a:lnTo>
                  <a:pt x="1775" y="1598"/>
                </a:lnTo>
                <a:lnTo>
                  <a:pt x="1819" y="1598"/>
                </a:lnTo>
                <a:lnTo>
                  <a:pt x="1864" y="1598"/>
                </a:lnTo>
                <a:lnTo>
                  <a:pt x="1908" y="1598"/>
                </a:lnTo>
                <a:lnTo>
                  <a:pt x="1952" y="1598"/>
                </a:lnTo>
                <a:lnTo>
                  <a:pt x="1997" y="1598"/>
                </a:lnTo>
                <a:lnTo>
                  <a:pt x="2041" y="1598"/>
                </a:lnTo>
                <a:lnTo>
                  <a:pt x="2086" y="1598"/>
                </a:lnTo>
                <a:lnTo>
                  <a:pt x="2130" y="1598"/>
                </a:lnTo>
                <a:lnTo>
                  <a:pt x="2174" y="1598"/>
                </a:lnTo>
                <a:lnTo>
                  <a:pt x="2219" y="1598"/>
                </a:lnTo>
                <a:lnTo>
                  <a:pt x="2263" y="1598"/>
                </a:lnTo>
                <a:lnTo>
                  <a:pt x="2308" y="1598"/>
                </a:lnTo>
                <a:lnTo>
                  <a:pt x="2352" y="1598"/>
                </a:lnTo>
                <a:lnTo>
                  <a:pt x="2396" y="1598"/>
                </a:lnTo>
                <a:lnTo>
                  <a:pt x="2441" y="1598"/>
                </a:lnTo>
                <a:lnTo>
                  <a:pt x="2485" y="1598"/>
                </a:lnTo>
                <a:lnTo>
                  <a:pt x="2529" y="1598"/>
                </a:lnTo>
                <a:lnTo>
                  <a:pt x="2574" y="1598"/>
                </a:lnTo>
                <a:lnTo>
                  <a:pt x="2618" y="1598"/>
                </a:lnTo>
                <a:lnTo>
                  <a:pt x="2662" y="1597"/>
                </a:lnTo>
                <a:lnTo>
                  <a:pt x="2707" y="1597"/>
                </a:lnTo>
                <a:lnTo>
                  <a:pt x="2751" y="1595"/>
                </a:lnTo>
                <a:lnTo>
                  <a:pt x="2796" y="1592"/>
                </a:lnTo>
                <a:lnTo>
                  <a:pt x="2840" y="1586"/>
                </a:lnTo>
                <a:lnTo>
                  <a:pt x="2884" y="1574"/>
                </a:lnTo>
                <a:lnTo>
                  <a:pt x="2929" y="1549"/>
                </a:lnTo>
                <a:lnTo>
                  <a:pt x="2973" y="1499"/>
                </a:lnTo>
                <a:lnTo>
                  <a:pt x="3017" y="1407"/>
                </a:lnTo>
                <a:lnTo>
                  <a:pt x="3062" y="1249"/>
                </a:lnTo>
                <a:lnTo>
                  <a:pt x="3106" y="1015"/>
                </a:lnTo>
                <a:lnTo>
                  <a:pt x="3151" y="731"/>
                </a:lnTo>
                <a:lnTo>
                  <a:pt x="3195" y="464"/>
                </a:lnTo>
                <a:lnTo>
                  <a:pt x="3239" y="264"/>
                </a:lnTo>
                <a:lnTo>
                  <a:pt x="3284" y="139"/>
                </a:lnTo>
                <a:lnTo>
                  <a:pt x="3328" y="70"/>
                </a:lnTo>
                <a:lnTo>
                  <a:pt x="3372" y="34"/>
                </a:lnTo>
                <a:lnTo>
                  <a:pt x="3417" y="16"/>
                </a:lnTo>
                <a:lnTo>
                  <a:pt x="3461" y="7"/>
                </a:lnTo>
                <a:lnTo>
                  <a:pt x="3506" y="2"/>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777240" y="3017520"/>
            <a:ext cx="3246120" cy="1461211"/>
          </a:xfrm>
          <a:custGeom>
            <a:avLst/>
            <a:gdLst/>
            <a:ahLst/>
            <a:cxnLst/>
            <a:rect l="l" t="t" r="r" b="b"/>
            <a:pathLst>
              <a:path w="3550" h="1598">
                <a:moveTo>
                  <a:pt x="0" y="1598"/>
                </a:moveTo>
                <a:lnTo>
                  <a:pt x="44" y="1596"/>
                </a:lnTo>
                <a:lnTo>
                  <a:pt x="89" y="1591"/>
                </a:lnTo>
                <a:lnTo>
                  <a:pt x="133" y="1582"/>
                </a:lnTo>
                <a:lnTo>
                  <a:pt x="177" y="1564"/>
                </a:lnTo>
                <a:lnTo>
                  <a:pt x="222" y="1528"/>
                </a:lnTo>
                <a:lnTo>
                  <a:pt x="266" y="1459"/>
                </a:lnTo>
                <a:lnTo>
                  <a:pt x="311" y="1334"/>
                </a:lnTo>
                <a:lnTo>
                  <a:pt x="355" y="1134"/>
                </a:lnTo>
                <a:lnTo>
                  <a:pt x="399" y="867"/>
                </a:lnTo>
                <a:lnTo>
                  <a:pt x="444" y="583"/>
                </a:lnTo>
                <a:lnTo>
                  <a:pt x="488" y="349"/>
                </a:lnTo>
                <a:lnTo>
                  <a:pt x="532" y="191"/>
                </a:lnTo>
                <a:lnTo>
                  <a:pt x="577" y="99"/>
                </a:lnTo>
                <a:lnTo>
                  <a:pt x="621" y="49"/>
                </a:lnTo>
                <a:lnTo>
                  <a:pt x="666" y="24"/>
                </a:lnTo>
                <a:lnTo>
                  <a:pt x="710" y="12"/>
                </a:lnTo>
                <a:lnTo>
                  <a:pt x="754" y="6"/>
                </a:lnTo>
                <a:lnTo>
                  <a:pt x="799" y="3"/>
                </a:lnTo>
                <a:lnTo>
                  <a:pt x="843" y="1"/>
                </a:lnTo>
                <a:lnTo>
                  <a:pt x="887" y="1"/>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2"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1"/>
                </a:lnTo>
                <a:lnTo>
                  <a:pt x="2707" y="1"/>
                </a:lnTo>
                <a:lnTo>
                  <a:pt x="2751" y="3"/>
                </a:lnTo>
                <a:lnTo>
                  <a:pt x="2796" y="6"/>
                </a:lnTo>
                <a:lnTo>
                  <a:pt x="2840" y="12"/>
                </a:lnTo>
                <a:lnTo>
                  <a:pt x="2884" y="24"/>
                </a:lnTo>
                <a:lnTo>
                  <a:pt x="2929" y="49"/>
                </a:lnTo>
                <a:lnTo>
                  <a:pt x="2973" y="99"/>
                </a:lnTo>
                <a:lnTo>
                  <a:pt x="3017" y="191"/>
                </a:lnTo>
                <a:lnTo>
                  <a:pt x="3062" y="349"/>
                </a:lnTo>
                <a:lnTo>
                  <a:pt x="3106" y="583"/>
                </a:lnTo>
                <a:lnTo>
                  <a:pt x="3151" y="867"/>
                </a:lnTo>
                <a:lnTo>
                  <a:pt x="3195" y="1134"/>
                </a:lnTo>
                <a:lnTo>
                  <a:pt x="3239" y="1334"/>
                </a:lnTo>
                <a:lnTo>
                  <a:pt x="3284" y="1459"/>
                </a:lnTo>
                <a:lnTo>
                  <a:pt x="3328" y="1528"/>
                </a:lnTo>
                <a:lnTo>
                  <a:pt x="3372" y="1564"/>
                </a:lnTo>
                <a:lnTo>
                  <a:pt x="3417" y="1582"/>
                </a:lnTo>
                <a:lnTo>
                  <a:pt x="3461" y="1591"/>
                </a:lnTo>
                <a:lnTo>
                  <a:pt x="3506" y="1596"/>
                </a:lnTo>
                <a:lnTo>
                  <a:pt x="3550" y="159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777240" y="3017520"/>
            <a:ext cx="3246120" cy="1461211"/>
          </a:xfrm>
          <a:custGeom>
            <a:avLst/>
            <a:gdLst/>
            <a:ahLst/>
            <a:cxnLst/>
            <a:rect l="l" t="t" r="r" b="b"/>
            <a:pathLst>
              <a:path w="3550" h="1598">
                <a:moveTo>
                  <a:pt x="0" y="1598"/>
                </a:moveTo>
                <a:lnTo>
                  <a:pt x="44" y="1596"/>
                </a:lnTo>
                <a:lnTo>
                  <a:pt x="89" y="1591"/>
                </a:lnTo>
                <a:lnTo>
                  <a:pt x="133" y="1582"/>
                </a:lnTo>
                <a:lnTo>
                  <a:pt x="177" y="1564"/>
                </a:lnTo>
                <a:lnTo>
                  <a:pt x="222" y="1528"/>
                </a:lnTo>
                <a:lnTo>
                  <a:pt x="266" y="1459"/>
                </a:lnTo>
                <a:lnTo>
                  <a:pt x="311" y="1334"/>
                </a:lnTo>
                <a:lnTo>
                  <a:pt x="355" y="1134"/>
                </a:lnTo>
                <a:lnTo>
                  <a:pt x="399" y="867"/>
                </a:lnTo>
                <a:lnTo>
                  <a:pt x="444" y="583"/>
                </a:lnTo>
                <a:lnTo>
                  <a:pt x="488" y="349"/>
                </a:lnTo>
                <a:lnTo>
                  <a:pt x="532" y="191"/>
                </a:lnTo>
                <a:lnTo>
                  <a:pt x="577" y="99"/>
                </a:lnTo>
                <a:lnTo>
                  <a:pt x="621" y="49"/>
                </a:lnTo>
                <a:lnTo>
                  <a:pt x="666" y="24"/>
                </a:lnTo>
                <a:lnTo>
                  <a:pt x="710" y="12"/>
                </a:lnTo>
                <a:lnTo>
                  <a:pt x="754" y="6"/>
                </a:lnTo>
                <a:lnTo>
                  <a:pt x="799" y="3"/>
                </a:lnTo>
                <a:lnTo>
                  <a:pt x="843" y="1"/>
                </a:lnTo>
                <a:lnTo>
                  <a:pt x="887" y="1"/>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2"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7"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777240" y="3019349"/>
            <a:ext cx="3246120" cy="1461211"/>
          </a:xfrm>
          <a:custGeom>
            <a:avLst/>
            <a:gdLst/>
            <a:ahLst/>
            <a:cxnLst/>
            <a:rect l="l" t="t" r="r" b="b"/>
            <a:pathLst>
              <a:path w="3550" h="1598">
                <a:moveTo>
                  <a:pt x="0" y="0"/>
                </a:moveTo>
                <a:lnTo>
                  <a:pt x="44" y="2"/>
                </a:lnTo>
                <a:lnTo>
                  <a:pt x="89" y="7"/>
                </a:lnTo>
                <a:lnTo>
                  <a:pt x="133" y="16"/>
                </a:lnTo>
                <a:lnTo>
                  <a:pt x="177" y="34"/>
                </a:lnTo>
                <a:lnTo>
                  <a:pt x="222" y="70"/>
                </a:lnTo>
                <a:lnTo>
                  <a:pt x="266" y="139"/>
                </a:lnTo>
                <a:lnTo>
                  <a:pt x="311" y="264"/>
                </a:lnTo>
                <a:lnTo>
                  <a:pt x="355" y="464"/>
                </a:lnTo>
                <a:lnTo>
                  <a:pt x="399" y="731"/>
                </a:lnTo>
                <a:lnTo>
                  <a:pt x="444" y="1015"/>
                </a:lnTo>
                <a:lnTo>
                  <a:pt x="488" y="1249"/>
                </a:lnTo>
                <a:lnTo>
                  <a:pt x="532" y="1407"/>
                </a:lnTo>
                <a:lnTo>
                  <a:pt x="577" y="1499"/>
                </a:lnTo>
                <a:lnTo>
                  <a:pt x="621" y="1549"/>
                </a:lnTo>
                <a:lnTo>
                  <a:pt x="666" y="1574"/>
                </a:lnTo>
                <a:lnTo>
                  <a:pt x="710" y="1586"/>
                </a:lnTo>
                <a:lnTo>
                  <a:pt x="754" y="1592"/>
                </a:lnTo>
                <a:lnTo>
                  <a:pt x="799" y="1595"/>
                </a:lnTo>
                <a:lnTo>
                  <a:pt x="843" y="1597"/>
                </a:lnTo>
                <a:lnTo>
                  <a:pt x="887" y="1597"/>
                </a:lnTo>
                <a:lnTo>
                  <a:pt x="932" y="1598"/>
                </a:lnTo>
                <a:lnTo>
                  <a:pt x="976" y="1598"/>
                </a:lnTo>
                <a:lnTo>
                  <a:pt x="1021" y="1598"/>
                </a:lnTo>
                <a:lnTo>
                  <a:pt x="1065" y="1598"/>
                </a:lnTo>
                <a:lnTo>
                  <a:pt x="1109" y="1598"/>
                </a:lnTo>
                <a:lnTo>
                  <a:pt x="1154" y="1598"/>
                </a:lnTo>
                <a:lnTo>
                  <a:pt x="1198" y="1598"/>
                </a:lnTo>
                <a:lnTo>
                  <a:pt x="1242" y="1598"/>
                </a:lnTo>
                <a:lnTo>
                  <a:pt x="1287" y="1598"/>
                </a:lnTo>
                <a:lnTo>
                  <a:pt x="1331" y="1598"/>
                </a:lnTo>
                <a:lnTo>
                  <a:pt x="1376" y="1598"/>
                </a:lnTo>
                <a:lnTo>
                  <a:pt x="1420" y="1598"/>
                </a:lnTo>
                <a:lnTo>
                  <a:pt x="1464" y="1598"/>
                </a:lnTo>
                <a:lnTo>
                  <a:pt x="1509" y="1598"/>
                </a:lnTo>
                <a:lnTo>
                  <a:pt x="1553" y="1598"/>
                </a:lnTo>
                <a:lnTo>
                  <a:pt x="1598" y="1598"/>
                </a:lnTo>
                <a:lnTo>
                  <a:pt x="1642" y="1598"/>
                </a:lnTo>
                <a:lnTo>
                  <a:pt x="1686" y="1598"/>
                </a:lnTo>
                <a:lnTo>
                  <a:pt x="1731" y="1598"/>
                </a:lnTo>
                <a:lnTo>
                  <a:pt x="1775" y="1598"/>
                </a:lnTo>
                <a:lnTo>
                  <a:pt x="1819" y="1598"/>
                </a:lnTo>
                <a:lnTo>
                  <a:pt x="1864" y="1598"/>
                </a:lnTo>
                <a:lnTo>
                  <a:pt x="1908" y="1598"/>
                </a:lnTo>
                <a:lnTo>
                  <a:pt x="1952" y="1598"/>
                </a:lnTo>
                <a:lnTo>
                  <a:pt x="1997" y="1598"/>
                </a:lnTo>
                <a:lnTo>
                  <a:pt x="2041" y="1598"/>
                </a:lnTo>
                <a:lnTo>
                  <a:pt x="2086" y="1598"/>
                </a:lnTo>
                <a:lnTo>
                  <a:pt x="2130" y="1598"/>
                </a:lnTo>
                <a:lnTo>
                  <a:pt x="2174" y="1598"/>
                </a:lnTo>
                <a:lnTo>
                  <a:pt x="2219" y="1598"/>
                </a:lnTo>
                <a:lnTo>
                  <a:pt x="2263" y="1598"/>
                </a:lnTo>
                <a:lnTo>
                  <a:pt x="2308" y="1598"/>
                </a:lnTo>
                <a:lnTo>
                  <a:pt x="2352" y="1598"/>
                </a:lnTo>
                <a:lnTo>
                  <a:pt x="2396" y="1598"/>
                </a:lnTo>
                <a:lnTo>
                  <a:pt x="2441" y="1598"/>
                </a:lnTo>
                <a:lnTo>
                  <a:pt x="2485" y="1598"/>
                </a:lnTo>
                <a:lnTo>
                  <a:pt x="2529" y="1598"/>
                </a:lnTo>
                <a:lnTo>
                  <a:pt x="2574" y="1598"/>
                </a:lnTo>
                <a:lnTo>
                  <a:pt x="2618" y="1598"/>
                </a:lnTo>
                <a:lnTo>
                  <a:pt x="2662" y="1598"/>
                </a:lnTo>
                <a:lnTo>
                  <a:pt x="2707" y="1598"/>
                </a:lnTo>
                <a:lnTo>
                  <a:pt x="2751" y="1598"/>
                </a:lnTo>
                <a:lnTo>
                  <a:pt x="2796" y="1598"/>
                </a:lnTo>
                <a:lnTo>
                  <a:pt x="2840" y="1598"/>
                </a:lnTo>
                <a:lnTo>
                  <a:pt x="2884" y="1598"/>
                </a:lnTo>
                <a:lnTo>
                  <a:pt x="2929" y="1598"/>
                </a:lnTo>
                <a:lnTo>
                  <a:pt x="2973" y="1598"/>
                </a:lnTo>
                <a:lnTo>
                  <a:pt x="3017" y="1598"/>
                </a:lnTo>
                <a:lnTo>
                  <a:pt x="3062" y="1598"/>
                </a:lnTo>
                <a:lnTo>
                  <a:pt x="3106" y="1598"/>
                </a:lnTo>
                <a:lnTo>
                  <a:pt x="3151" y="1598"/>
                </a:lnTo>
                <a:lnTo>
                  <a:pt x="3195" y="1598"/>
                </a:lnTo>
                <a:lnTo>
                  <a:pt x="3239" y="1598"/>
                </a:lnTo>
                <a:lnTo>
                  <a:pt x="3284" y="1598"/>
                </a:lnTo>
                <a:lnTo>
                  <a:pt x="3328" y="1598"/>
                </a:lnTo>
                <a:lnTo>
                  <a:pt x="3372" y="1598"/>
                </a:lnTo>
                <a:lnTo>
                  <a:pt x="3417" y="1598"/>
                </a:lnTo>
                <a:lnTo>
                  <a:pt x="3461" y="1598"/>
                </a:lnTo>
                <a:lnTo>
                  <a:pt x="3506" y="1598"/>
                </a:lnTo>
                <a:lnTo>
                  <a:pt x="3550" y="159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777240" y="3019349"/>
            <a:ext cx="3246120" cy="1461211"/>
          </a:xfrm>
          <a:custGeom>
            <a:avLst/>
            <a:gdLst/>
            <a:ahLst/>
            <a:cxnLst/>
            <a:rect l="l" t="t" r="r" b="b"/>
            <a:pathLst>
              <a:path w="3550" h="1598">
                <a:moveTo>
                  <a:pt x="0" y="0"/>
                </a:moveTo>
                <a:lnTo>
                  <a:pt x="44" y="2"/>
                </a:lnTo>
                <a:lnTo>
                  <a:pt x="89" y="7"/>
                </a:lnTo>
                <a:lnTo>
                  <a:pt x="133" y="16"/>
                </a:lnTo>
                <a:lnTo>
                  <a:pt x="177" y="34"/>
                </a:lnTo>
                <a:lnTo>
                  <a:pt x="222" y="70"/>
                </a:lnTo>
                <a:lnTo>
                  <a:pt x="266" y="139"/>
                </a:lnTo>
                <a:lnTo>
                  <a:pt x="311" y="264"/>
                </a:lnTo>
                <a:lnTo>
                  <a:pt x="355" y="464"/>
                </a:lnTo>
                <a:lnTo>
                  <a:pt x="399" y="731"/>
                </a:lnTo>
                <a:lnTo>
                  <a:pt x="444" y="1015"/>
                </a:lnTo>
                <a:lnTo>
                  <a:pt x="488" y="1249"/>
                </a:lnTo>
                <a:lnTo>
                  <a:pt x="532" y="1407"/>
                </a:lnTo>
                <a:lnTo>
                  <a:pt x="577" y="1499"/>
                </a:lnTo>
                <a:lnTo>
                  <a:pt x="621" y="1549"/>
                </a:lnTo>
                <a:lnTo>
                  <a:pt x="666" y="1574"/>
                </a:lnTo>
                <a:lnTo>
                  <a:pt x="710" y="1586"/>
                </a:lnTo>
                <a:lnTo>
                  <a:pt x="754" y="1592"/>
                </a:lnTo>
                <a:lnTo>
                  <a:pt x="799" y="1595"/>
                </a:lnTo>
                <a:lnTo>
                  <a:pt x="843" y="1597"/>
                </a:lnTo>
                <a:lnTo>
                  <a:pt x="887" y="1597"/>
                </a:lnTo>
                <a:lnTo>
                  <a:pt x="932" y="1598"/>
                </a:lnTo>
                <a:lnTo>
                  <a:pt x="976" y="1598"/>
                </a:lnTo>
                <a:lnTo>
                  <a:pt x="1021" y="1598"/>
                </a:lnTo>
                <a:lnTo>
                  <a:pt x="1065" y="1598"/>
                </a:lnTo>
                <a:lnTo>
                  <a:pt x="1109" y="1598"/>
                </a:lnTo>
                <a:lnTo>
                  <a:pt x="1154" y="1598"/>
                </a:lnTo>
                <a:lnTo>
                  <a:pt x="1198" y="1598"/>
                </a:lnTo>
                <a:lnTo>
                  <a:pt x="1242" y="1598"/>
                </a:lnTo>
                <a:lnTo>
                  <a:pt x="1287" y="1598"/>
                </a:lnTo>
                <a:lnTo>
                  <a:pt x="1331" y="1598"/>
                </a:lnTo>
                <a:lnTo>
                  <a:pt x="1376" y="1598"/>
                </a:lnTo>
                <a:lnTo>
                  <a:pt x="1420" y="1598"/>
                </a:lnTo>
                <a:lnTo>
                  <a:pt x="1464" y="1598"/>
                </a:lnTo>
                <a:lnTo>
                  <a:pt x="1509" y="1598"/>
                </a:lnTo>
                <a:lnTo>
                  <a:pt x="1553" y="1598"/>
                </a:lnTo>
                <a:lnTo>
                  <a:pt x="1598" y="1598"/>
                </a:lnTo>
                <a:lnTo>
                  <a:pt x="1642" y="1598"/>
                </a:lnTo>
                <a:lnTo>
                  <a:pt x="1686" y="1598"/>
                </a:lnTo>
                <a:lnTo>
                  <a:pt x="1731" y="1598"/>
                </a:lnTo>
                <a:lnTo>
                  <a:pt x="1775" y="1598"/>
                </a:lnTo>
                <a:lnTo>
                  <a:pt x="1819" y="1598"/>
                </a:lnTo>
                <a:lnTo>
                  <a:pt x="1864" y="1598"/>
                </a:lnTo>
                <a:lnTo>
                  <a:pt x="1908" y="1598"/>
                </a:lnTo>
                <a:lnTo>
                  <a:pt x="1952" y="1598"/>
                </a:lnTo>
                <a:lnTo>
                  <a:pt x="1997" y="1598"/>
                </a:lnTo>
                <a:lnTo>
                  <a:pt x="2041" y="1598"/>
                </a:lnTo>
                <a:lnTo>
                  <a:pt x="2086" y="1598"/>
                </a:lnTo>
                <a:lnTo>
                  <a:pt x="2130" y="1598"/>
                </a:lnTo>
                <a:lnTo>
                  <a:pt x="2174" y="1598"/>
                </a:lnTo>
                <a:lnTo>
                  <a:pt x="2219" y="1598"/>
                </a:lnTo>
                <a:lnTo>
                  <a:pt x="2263" y="1598"/>
                </a:lnTo>
                <a:lnTo>
                  <a:pt x="2308" y="1598"/>
                </a:lnTo>
                <a:lnTo>
                  <a:pt x="2352" y="1598"/>
                </a:lnTo>
                <a:lnTo>
                  <a:pt x="2396" y="1598"/>
                </a:lnTo>
                <a:lnTo>
                  <a:pt x="2441" y="1598"/>
                </a:lnTo>
                <a:lnTo>
                  <a:pt x="2485" y="1598"/>
                </a:lnTo>
                <a:lnTo>
                  <a:pt x="2529" y="1598"/>
                </a:lnTo>
                <a:lnTo>
                  <a:pt x="2574" y="1598"/>
                </a:lnTo>
                <a:lnTo>
                  <a:pt x="2618" y="1598"/>
                </a:lnTo>
                <a:lnTo>
                  <a:pt x="2662" y="1597"/>
                </a:lnTo>
                <a:lnTo>
                  <a:pt x="2707" y="1597"/>
                </a:lnTo>
                <a:lnTo>
                  <a:pt x="2751" y="1595"/>
                </a:lnTo>
                <a:lnTo>
                  <a:pt x="2796" y="1592"/>
                </a:lnTo>
                <a:lnTo>
                  <a:pt x="2840" y="1586"/>
                </a:lnTo>
                <a:lnTo>
                  <a:pt x="2884" y="1574"/>
                </a:lnTo>
                <a:lnTo>
                  <a:pt x="2929" y="1549"/>
                </a:lnTo>
                <a:lnTo>
                  <a:pt x="2973" y="1499"/>
                </a:lnTo>
                <a:lnTo>
                  <a:pt x="3017" y="1407"/>
                </a:lnTo>
                <a:lnTo>
                  <a:pt x="3062" y="1249"/>
                </a:lnTo>
                <a:lnTo>
                  <a:pt x="3106" y="1015"/>
                </a:lnTo>
                <a:lnTo>
                  <a:pt x="3151" y="731"/>
                </a:lnTo>
                <a:lnTo>
                  <a:pt x="3195" y="464"/>
                </a:lnTo>
                <a:lnTo>
                  <a:pt x="3239" y="264"/>
                </a:lnTo>
                <a:lnTo>
                  <a:pt x="3284" y="139"/>
                </a:lnTo>
                <a:lnTo>
                  <a:pt x="3328" y="70"/>
                </a:lnTo>
                <a:lnTo>
                  <a:pt x="3372" y="34"/>
                </a:lnTo>
                <a:lnTo>
                  <a:pt x="3417" y="16"/>
                </a:lnTo>
                <a:lnTo>
                  <a:pt x="3461" y="7"/>
                </a:lnTo>
                <a:lnTo>
                  <a:pt x="3506" y="2"/>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777240" y="3017520"/>
            <a:ext cx="3246120" cy="1461211"/>
          </a:xfrm>
          <a:custGeom>
            <a:avLst/>
            <a:gdLst/>
            <a:ahLst/>
            <a:cxnLst/>
            <a:rect l="l" t="t" r="r" b="b"/>
            <a:pathLst>
              <a:path w="3550" h="1598">
                <a:moveTo>
                  <a:pt x="0" y="0"/>
                </a:moveTo>
                <a:lnTo>
                  <a:pt x="44" y="0"/>
                </a:lnTo>
                <a:lnTo>
                  <a:pt x="89" y="0"/>
                </a:lnTo>
                <a:lnTo>
                  <a:pt x="133" y="0"/>
                </a:lnTo>
                <a:lnTo>
                  <a:pt x="177" y="0"/>
                </a:lnTo>
                <a:lnTo>
                  <a:pt x="222" y="0"/>
                </a:lnTo>
                <a:lnTo>
                  <a:pt x="266" y="0"/>
                </a:lnTo>
                <a:lnTo>
                  <a:pt x="311" y="0"/>
                </a:lnTo>
                <a:lnTo>
                  <a:pt x="355" y="0"/>
                </a:lnTo>
                <a:lnTo>
                  <a:pt x="399" y="0"/>
                </a:lnTo>
                <a:lnTo>
                  <a:pt x="444" y="0"/>
                </a:lnTo>
                <a:lnTo>
                  <a:pt x="488" y="0"/>
                </a:lnTo>
                <a:lnTo>
                  <a:pt x="532" y="0"/>
                </a:lnTo>
                <a:lnTo>
                  <a:pt x="577" y="0"/>
                </a:lnTo>
                <a:lnTo>
                  <a:pt x="621" y="0"/>
                </a:lnTo>
                <a:lnTo>
                  <a:pt x="666" y="0"/>
                </a:lnTo>
                <a:lnTo>
                  <a:pt x="710" y="0"/>
                </a:lnTo>
                <a:lnTo>
                  <a:pt x="754" y="0"/>
                </a:lnTo>
                <a:lnTo>
                  <a:pt x="799" y="0"/>
                </a:lnTo>
                <a:lnTo>
                  <a:pt x="843" y="0"/>
                </a:lnTo>
                <a:lnTo>
                  <a:pt x="887"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2"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1"/>
                </a:lnTo>
                <a:lnTo>
                  <a:pt x="2707" y="1"/>
                </a:lnTo>
                <a:lnTo>
                  <a:pt x="2751" y="3"/>
                </a:lnTo>
                <a:lnTo>
                  <a:pt x="2796" y="6"/>
                </a:lnTo>
                <a:lnTo>
                  <a:pt x="2840" y="12"/>
                </a:lnTo>
                <a:lnTo>
                  <a:pt x="2884" y="24"/>
                </a:lnTo>
                <a:lnTo>
                  <a:pt x="2929" y="49"/>
                </a:lnTo>
                <a:lnTo>
                  <a:pt x="2973" y="99"/>
                </a:lnTo>
                <a:lnTo>
                  <a:pt x="3017" y="191"/>
                </a:lnTo>
                <a:lnTo>
                  <a:pt x="3062" y="349"/>
                </a:lnTo>
                <a:lnTo>
                  <a:pt x="3106" y="583"/>
                </a:lnTo>
                <a:lnTo>
                  <a:pt x="3151" y="867"/>
                </a:lnTo>
                <a:lnTo>
                  <a:pt x="3195" y="1134"/>
                </a:lnTo>
                <a:lnTo>
                  <a:pt x="3239" y="1334"/>
                </a:lnTo>
                <a:lnTo>
                  <a:pt x="3284" y="1459"/>
                </a:lnTo>
                <a:lnTo>
                  <a:pt x="3328" y="1528"/>
                </a:lnTo>
                <a:lnTo>
                  <a:pt x="3372" y="1564"/>
                </a:lnTo>
                <a:lnTo>
                  <a:pt x="3417" y="1582"/>
                </a:lnTo>
                <a:lnTo>
                  <a:pt x="3461" y="1591"/>
                </a:lnTo>
                <a:lnTo>
                  <a:pt x="3506" y="1596"/>
                </a:lnTo>
                <a:lnTo>
                  <a:pt x="3550" y="159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777240" y="3017520"/>
            <a:ext cx="3246120" cy="0"/>
          </a:xfrm>
          <a:custGeom>
            <a:avLst/>
            <a:gdLst/>
            <a:ahLst/>
            <a:cxnLst/>
            <a:rect l="l" t="t" r="r" b="b"/>
            <a:pathLst>
              <a:path w="3550" h="0">
                <a:moveTo>
                  <a:pt x="0" y="0"/>
                </a:moveTo>
                <a:lnTo>
                  <a:pt x="44" y="0"/>
                </a:lnTo>
                <a:lnTo>
                  <a:pt x="89" y="0"/>
                </a:lnTo>
                <a:lnTo>
                  <a:pt x="133" y="0"/>
                </a:lnTo>
                <a:lnTo>
                  <a:pt x="177" y="0"/>
                </a:lnTo>
                <a:lnTo>
                  <a:pt x="222" y="0"/>
                </a:lnTo>
                <a:lnTo>
                  <a:pt x="266" y="0"/>
                </a:lnTo>
                <a:lnTo>
                  <a:pt x="311" y="0"/>
                </a:lnTo>
                <a:lnTo>
                  <a:pt x="355" y="0"/>
                </a:lnTo>
                <a:lnTo>
                  <a:pt x="399" y="0"/>
                </a:lnTo>
                <a:lnTo>
                  <a:pt x="444" y="0"/>
                </a:lnTo>
                <a:lnTo>
                  <a:pt x="488" y="0"/>
                </a:lnTo>
                <a:lnTo>
                  <a:pt x="532" y="0"/>
                </a:lnTo>
                <a:lnTo>
                  <a:pt x="577" y="0"/>
                </a:lnTo>
                <a:lnTo>
                  <a:pt x="621" y="0"/>
                </a:lnTo>
                <a:lnTo>
                  <a:pt x="666" y="0"/>
                </a:lnTo>
                <a:lnTo>
                  <a:pt x="710" y="0"/>
                </a:lnTo>
                <a:lnTo>
                  <a:pt x="754" y="0"/>
                </a:lnTo>
                <a:lnTo>
                  <a:pt x="799" y="0"/>
                </a:lnTo>
                <a:lnTo>
                  <a:pt x="843" y="0"/>
                </a:lnTo>
                <a:lnTo>
                  <a:pt x="887"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2"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7"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184" y="4892040"/>
            <a:ext cx="640080" cy="274320"/>
          </a:xfrm>
          <a:prstGeom prst="rect">
            <a:avLst/>
          </a:prstGeom>
          <a:noFill/>
        </p:spPr>
        <p:txBody>
          <a:bodyPr wrap="square" lIns="0" rIns="0" tIns="0" bIns="0" anchor="t">
            <a:spAutoFit/>
          </a:bodyPr>
          <a:lstStyle/>
          <a:p>
            <a:pPr algn="ctr"/>
            <a:r>
              <a:rPr sz="1500" b="0" i="0">
                <a:solidFill>
                  <a:srgbClr val="17324D"/>
                </a:solidFill>
                <a:latin typeface="Aptos"/>
              </a:rPr>
              <a:t>0</a:t>
            </a:r>
          </a:p>
        </p:txBody>
      </p:sp>
      <p:sp>
        <p:nvSpPr>
          <p:cNvPr id="27" name="TextBox 26"/>
          <p:cNvSpPr txBox="1"/>
          <p:nvPr/>
        </p:nvSpPr>
        <p:spPr>
          <a:xfrm>
            <a:off x="2107692" y="4892040"/>
            <a:ext cx="640080" cy="274320"/>
          </a:xfrm>
          <a:prstGeom prst="rect">
            <a:avLst/>
          </a:prstGeom>
          <a:noFill/>
        </p:spPr>
        <p:txBody>
          <a:bodyPr wrap="square" lIns="0" rIns="0" tIns="0" bIns="0" anchor="t">
            <a:spAutoFit/>
          </a:bodyPr>
          <a:lstStyle/>
          <a:p>
            <a:pPr algn="ctr"/>
            <a:r>
              <a:rPr sz="1500" b="0" i="0">
                <a:solidFill>
                  <a:srgbClr val="17324D"/>
                </a:solidFill>
                <a:latin typeface="Aptos"/>
              </a:rPr>
              <a:t>0.5</a:t>
            </a:r>
          </a:p>
        </p:txBody>
      </p:sp>
      <p:sp>
        <p:nvSpPr>
          <p:cNvPr id="28" name="TextBox 27"/>
          <p:cNvSpPr txBox="1"/>
          <p:nvPr/>
        </p:nvSpPr>
        <p:spPr>
          <a:xfrm>
            <a:off x="3356199" y="4892040"/>
            <a:ext cx="640080" cy="274320"/>
          </a:xfrm>
          <a:prstGeom prst="rect">
            <a:avLst/>
          </a:prstGeom>
          <a:noFill/>
        </p:spPr>
        <p:txBody>
          <a:bodyPr wrap="square" lIns="0" rIns="0" tIns="0" bIns="0" anchor="t">
            <a:spAutoFit/>
          </a:bodyPr>
          <a:lstStyle/>
          <a:p>
            <a:pPr algn="ctr"/>
            <a:r>
              <a:rPr sz="1500" b="0" i="0">
                <a:solidFill>
                  <a:srgbClr val="17324D"/>
                </a:solidFill>
                <a:latin typeface="Aptos"/>
              </a:rPr>
              <a:t>1 UI</a:t>
            </a:r>
          </a:p>
        </p:txBody>
      </p:sp>
      <p:sp>
        <p:nvSpPr>
          <p:cNvPr id="29" name="TextBox 28"/>
          <p:cNvSpPr txBox="1"/>
          <p:nvPr/>
        </p:nvSpPr>
        <p:spPr>
          <a:xfrm>
            <a:off x="777240" y="5394960"/>
            <a:ext cx="3246120" cy="502920"/>
          </a:xfrm>
          <a:prstGeom prst="rect">
            <a:avLst/>
          </a:prstGeom>
          <a:noFill/>
        </p:spPr>
        <p:txBody>
          <a:bodyPr wrap="square" lIns="0" rIns="0" tIns="0" bIns="0" anchor="t">
            <a:spAutoFit/>
          </a:bodyPr>
          <a:lstStyle/>
          <a:p>
            <a:pPr algn="ctr"/>
            <a:r>
              <a:rPr sz="1800" b="0" i="0">
                <a:solidFill>
                  <a:srgbClr val="17324D"/>
                </a:solidFill>
                <a:latin typeface="Aptos"/>
              </a:rPr>
              <a:t>Clear voltage and timing separation</a:t>
            </a:r>
          </a:p>
        </p:txBody>
      </p:sp>
      <p:sp>
        <p:nvSpPr>
          <p:cNvPr id="30" name="TextBox 29"/>
          <p:cNvSpPr txBox="1"/>
          <p:nvPr/>
        </p:nvSpPr>
        <p:spPr>
          <a:xfrm>
            <a:off x="4572000" y="1828800"/>
            <a:ext cx="3246120" cy="457200"/>
          </a:xfrm>
          <a:prstGeom prst="rect">
            <a:avLst/>
          </a:prstGeom>
          <a:noFill/>
        </p:spPr>
        <p:txBody>
          <a:bodyPr wrap="square" lIns="0" rIns="0" tIns="0" bIns="0" anchor="t">
            <a:spAutoFit/>
          </a:bodyPr>
          <a:lstStyle/>
          <a:p>
            <a:pPr algn="ctr"/>
            <a:r>
              <a:rPr sz="2200" b="1" i="0">
                <a:solidFill>
                  <a:srgbClr val="17324D"/>
                </a:solidFill>
                <a:latin typeface="Aptos"/>
              </a:rPr>
              <a:t>Voltage variation</a:t>
            </a:r>
          </a:p>
        </p:txBody>
      </p:sp>
      <p:cxnSp>
        <p:nvCxnSpPr>
          <p:cNvPr id="31" name="Connector 30"/>
          <p:cNvCxnSpPr/>
          <p:nvPr/>
        </p:nvCxnSpPr>
        <p:spPr>
          <a:xfrm>
            <a:off x="4572000" y="2651760"/>
            <a:ext cx="0" cy="219456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224528" y="2889503"/>
            <a:ext cx="274320" cy="274320"/>
          </a:xfrm>
          <a:prstGeom prst="rect">
            <a:avLst/>
          </a:prstGeom>
          <a:noFill/>
        </p:spPr>
        <p:txBody>
          <a:bodyPr wrap="square" lIns="0" rIns="0" tIns="0" bIns="0" anchor="t">
            <a:spAutoFit/>
          </a:bodyPr>
          <a:lstStyle/>
          <a:p>
            <a:pPr algn="l"/>
            <a:r>
              <a:rPr sz="1400" b="0" i="0">
                <a:solidFill>
                  <a:srgbClr val="5F6B73"/>
                </a:solidFill>
                <a:latin typeface="Aptos"/>
              </a:rPr>
              <a:t>H</a:t>
            </a:r>
          </a:p>
        </p:txBody>
      </p:sp>
      <p:sp>
        <p:nvSpPr>
          <p:cNvPr id="33" name="TextBox 32"/>
          <p:cNvSpPr txBox="1"/>
          <p:nvPr/>
        </p:nvSpPr>
        <p:spPr>
          <a:xfrm>
            <a:off x="4224528" y="4352544"/>
            <a:ext cx="274320" cy="274320"/>
          </a:xfrm>
          <a:prstGeom prst="rect">
            <a:avLst/>
          </a:prstGeom>
          <a:noFill/>
        </p:spPr>
        <p:txBody>
          <a:bodyPr wrap="square" lIns="0" rIns="0" tIns="0" bIns="0" anchor="t">
            <a:spAutoFit/>
          </a:bodyPr>
          <a:lstStyle/>
          <a:p>
            <a:pPr algn="l"/>
            <a:r>
              <a:rPr sz="1400" b="0" i="0">
                <a:solidFill>
                  <a:srgbClr val="5F6B73"/>
                </a:solidFill>
                <a:latin typeface="Aptos"/>
              </a:rPr>
              <a:t>L</a:t>
            </a:r>
          </a:p>
        </p:txBody>
      </p:sp>
      <p:cxnSp>
        <p:nvCxnSpPr>
          <p:cNvPr id="34" name="Connector 33"/>
          <p:cNvCxnSpPr/>
          <p:nvPr/>
        </p:nvCxnSpPr>
        <p:spPr>
          <a:xfrm>
            <a:off x="4572000" y="3749039"/>
            <a:ext cx="3246120"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4572000" y="4601261"/>
            <a:ext cx="3246120" cy="80467"/>
          </a:xfrm>
          <a:custGeom>
            <a:avLst/>
            <a:gdLst/>
            <a:ahLst/>
            <a:cxnLst/>
            <a:rect l="l" t="t" r="r" b="b"/>
            <a:pathLst>
              <a:path w="3550" h="88">
                <a:moveTo>
                  <a:pt x="0" y="76"/>
                </a:moveTo>
                <a:lnTo>
                  <a:pt x="44" y="88"/>
                </a:lnTo>
                <a:lnTo>
                  <a:pt x="89" y="78"/>
                </a:lnTo>
                <a:lnTo>
                  <a:pt x="133" y="51"/>
                </a:lnTo>
                <a:lnTo>
                  <a:pt x="178" y="21"/>
                </a:lnTo>
                <a:lnTo>
                  <a:pt x="222" y="2"/>
                </a:lnTo>
                <a:lnTo>
                  <a:pt x="266" y="4"/>
                </a:lnTo>
                <a:lnTo>
                  <a:pt x="311" y="25"/>
                </a:lnTo>
                <a:lnTo>
                  <a:pt x="355" y="55"/>
                </a:lnTo>
                <a:lnTo>
                  <a:pt x="399" y="80"/>
                </a:lnTo>
                <a:lnTo>
                  <a:pt x="444" y="88"/>
                </a:lnTo>
                <a:lnTo>
                  <a:pt x="488" y="74"/>
                </a:lnTo>
                <a:lnTo>
                  <a:pt x="532" y="45"/>
                </a:lnTo>
                <a:lnTo>
                  <a:pt x="577" y="16"/>
                </a:lnTo>
                <a:lnTo>
                  <a:pt x="621" y="1"/>
                </a:lnTo>
                <a:lnTo>
                  <a:pt x="666" y="7"/>
                </a:lnTo>
                <a:lnTo>
                  <a:pt x="710" y="31"/>
                </a:lnTo>
                <a:lnTo>
                  <a:pt x="754" y="62"/>
                </a:lnTo>
                <a:lnTo>
                  <a:pt x="799" y="84"/>
                </a:lnTo>
                <a:lnTo>
                  <a:pt x="843" y="86"/>
                </a:lnTo>
                <a:lnTo>
                  <a:pt x="888" y="68"/>
                </a:lnTo>
                <a:lnTo>
                  <a:pt x="932" y="38"/>
                </a:lnTo>
                <a:lnTo>
                  <a:pt x="976" y="11"/>
                </a:lnTo>
                <a:lnTo>
                  <a:pt x="1021" y="0"/>
                </a:lnTo>
                <a:lnTo>
                  <a:pt x="1065" y="10"/>
                </a:lnTo>
                <a:lnTo>
                  <a:pt x="1109" y="37"/>
                </a:lnTo>
                <a:lnTo>
                  <a:pt x="1154" y="67"/>
                </a:lnTo>
                <a:lnTo>
                  <a:pt x="1198" y="86"/>
                </a:lnTo>
                <a:lnTo>
                  <a:pt x="1242" y="84"/>
                </a:lnTo>
                <a:lnTo>
                  <a:pt x="1287" y="63"/>
                </a:lnTo>
                <a:lnTo>
                  <a:pt x="1331" y="32"/>
                </a:lnTo>
                <a:lnTo>
                  <a:pt x="1376" y="7"/>
                </a:lnTo>
                <a:lnTo>
                  <a:pt x="1420" y="0"/>
                </a:lnTo>
                <a:lnTo>
                  <a:pt x="1464" y="15"/>
                </a:lnTo>
                <a:lnTo>
                  <a:pt x="1509" y="44"/>
                </a:lnTo>
                <a:lnTo>
                  <a:pt x="1553" y="73"/>
                </a:lnTo>
                <a:lnTo>
                  <a:pt x="1598" y="88"/>
                </a:lnTo>
                <a:lnTo>
                  <a:pt x="1642" y="81"/>
                </a:lnTo>
                <a:lnTo>
                  <a:pt x="1686" y="56"/>
                </a:lnTo>
                <a:lnTo>
                  <a:pt x="1731" y="26"/>
                </a:lnTo>
                <a:lnTo>
                  <a:pt x="1775" y="4"/>
                </a:lnTo>
                <a:lnTo>
                  <a:pt x="1819" y="2"/>
                </a:lnTo>
                <a:lnTo>
                  <a:pt x="1864" y="20"/>
                </a:lnTo>
                <a:lnTo>
                  <a:pt x="1908" y="50"/>
                </a:lnTo>
                <a:lnTo>
                  <a:pt x="1953" y="77"/>
                </a:lnTo>
                <a:lnTo>
                  <a:pt x="1997" y="88"/>
                </a:lnTo>
                <a:lnTo>
                  <a:pt x="2041" y="77"/>
                </a:lnTo>
                <a:lnTo>
                  <a:pt x="2086" y="50"/>
                </a:lnTo>
                <a:lnTo>
                  <a:pt x="2130" y="20"/>
                </a:lnTo>
                <a:lnTo>
                  <a:pt x="2174" y="2"/>
                </a:lnTo>
                <a:lnTo>
                  <a:pt x="2219" y="4"/>
                </a:lnTo>
                <a:lnTo>
                  <a:pt x="2263" y="26"/>
                </a:lnTo>
                <a:lnTo>
                  <a:pt x="2308" y="57"/>
                </a:lnTo>
                <a:lnTo>
                  <a:pt x="2352" y="81"/>
                </a:lnTo>
                <a:lnTo>
                  <a:pt x="2396" y="87"/>
                </a:lnTo>
                <a:lnTo>
                  <a:pt x="2441" y="72"/>
                </a:lnTo>
                <a:lnTo>
                  <a:pt x="2485" y="44"/>
                </a:lnTo>
                <a:lnTo>
                  <a:pt x="2529" y="15"/>
                </a:lnTo>
                <a:lnTo>
                  <a:pt x="2574" y="0"/>
                </a:lnTo>
                <a:lnTo>
                  <a:pt x="2618" y="7"/>
                </a:lnTo>
                <a:lnTo>
                  <a:pt x="2662" y="32"/>
                </a:lnTo>
                <a:lnTo>
                  <a:pt x="2707" y="63"/>
                </a:lnTo>
                <a:lnTo>
                  <a:pt x="2751" y="84"/>
                </a:lnTo>
                <a:lnTo>
                  <a:pt x="2796" y="86"/>
                </a:lnTo>
                <a:lnTo>
                  <a:pt x="2840" y="67"/>
                </a:lnTo>
                <a:lnTo>
                  <a:pt x="2884" y="37"/>
                </a:lnTo>
                <a:lnTo>
                  <a:pt x="2929" y="10"/>
                </a:lnTo>
                <a:lnTo>
                  <a:pt x="2973" y="0"/>
                </a:lnTo>
                <a:lnTo>
                  <a:pt x="3018" y="11"/>
                </a:lnTo>
                <a:lnTo>
                  <a:pt x="3062" y="39"/>
                </a:lnTo>
                <a:lnTo>
                  <a:pt x="3106" y="69"/>
                </a:lnTo>
                <a:lnTo>
                  <a:pt x="3151" y="86"/>
                </a:lnTo>
                <a:lnTo>
                  <a:pt x="3195" y="84"/>
                </a:lnTo>
                <a:lnTo>
                  <a:pt x="3239" y="61"/>
                </a:lnTo>
                <a:lnTo>
                  <a:pt x="3284" y="31"/>
                </a:lnTo>
                <a:lnTo>
                  <a:pt x="3328" y="6"/>
                </a:lnTo>
                <a:lnTo>
                  <a:pt x="3372" y="1"/>
                </a:lnTo>
                <a:lnTo>
                  <a:pt x="3417" y="16"/>
                </a:lnTo>
                <a:lnTo>
                  <a:pt x="3461" y="45"/>
                </a:lnTo>
                <a:lnTo>
                  <a:pt x="3506" y="74"/>
                </a:lnTo>
                <a:lnTo>
                  <a:pt x="3550" y="8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4572000" y="4440326"/>
            <a:ext cx="3246120" cy="80467"/>
          </a:xfrm>
          <a:custGeom>
            <a:avLst/>
            <a:gdLst/>
            <a:ahLst/>
            <a:cxnLst/>
            <a:rect l="l" t="t" r="r" b="b"/>
            <a:pathLst>
              <a:path w="3550" h="88">
                <a:moveTo>
                  <a:pt x="0" y="76"/>
                </a:moveTo>
                <a:lnTo>
                  <a:pt x="44" y="88"/>
                </a:lnTo>
                <a:lnTo>
                  <a:pt x="89" y="78"/>
                </a:lnTo>
                <a:lnTo>
                  <a:pt x="133" y="51"/>
                </a:lnTo>
                <a:lnTo>
                  <a:pt x="178" y="21"/>
                </a:lnTo>
                <a:lnTo>
                  <a:pt x="222" y="2"/>
                </a:lnTo>
                <a:lnTo>
                  <a:pt x="266" y="4"/>
                </a:lnTo>
                <a:lnTo>
                  <a:pt x="311" y="25"/>
                </a:lnTo>
                <a:lnTo>
                  <a:pt x="355" y="55"/>
                </a:lnTo>
                <a:lnTo>
                  <a:pt x="399" y="80"/>
                </a:lnTo>
                <a:lnTo>
                  <a:pt x="444" y="88"/>
                </a:lnTo>
                <a:lnTo>
                  <a:pt x="488" y="74"/>
                </a:lnTo>
                <a:lnTo>
                  <a:pt x="532" y="45"/>
                </a:lnTo>
                <a:lnTo>
                  <a:pt x="577" y="16"/>
                </a:lnTo>
                <a:lnTo>
                  <a:pt x="621" y="1"/>
                </a:lnTo>
                <a:lnTo>
                  <a:pt x="666" y="7"/>
                </a:lnTo>
                <a:lnTo>
                  <a:pt x="710" y="31"/>
                </a:lnTo>
                <a:lnTo>
                  <a:pt x="754" y="62"/>
                </a:lnTo>
                <a:lnTo>
                  <a:pt x="799" y="84"/>
                </a:lnTo>
                <a:lnTo>
                  <a:pt x="843" y="86"/>
                </a:lnTo>
                <a:lnTo>
                  <a:pt x="888" y="68"/>
                </a:lnTo>
                <a:lnTo>
                  <a:pt x="932" y="38"/>
                </a:lnTo>
                <a:lnTo>
                  <a:pt x="976" y="11"/>
                </a:lnTo>
                <a:lnTo>
                  <a:pt x="1021" y="0"/>
                </a:lnTo>
                <a:lnTo>
                  <a:pt x="1065" y="10"/>
                </a:lnTo>
                <a:lnTo>
                  <a:pt x="1109" y="37"/>
                </a:lnTo>
                <a:lnTo>
                  <a:pt x="1154" y="67"/>
                </a:lnTo>
                <a:lnTo>
                  <a:pt x="1198" y="86"/>
                </a:lnTo>
                <a:lnTo>
                  <a:pt x="1242" y="84"/>
                </a:lnTo>
                <a:lnTo>
                  <a:pt x="1287" y="63"/>
                </a:lnTo>
                <a:lnTo>
                  <a:pt x="1331" y="32"/>
                </a:lnTo>
                <a:lnTo>
                  <a:pt x="1376" y="7"/>
                </a:lnTo>
                <a:lnTo>
                  <a:pt x="1420" y="0"/>
                </a:lnTo>
                <a:lnTo>
                  <a:pt x="1464" y="15"/>
                </a:lnTo>
                <a:lnTo>
                  <a:pt x="1509" y="44"/>
                </a:lnTo>
                <a:lnTo>
                  <a:pt x="1553" y="73"/>
                </a:lnTo>
                <a:lnTo>
                  <a:pt x="1598" y="88"/>
                </a:lnTo>
                <a:lnTo>
                  <a:pt x="1642" y="81"/>
                </a:lnTo>
                <a:lnTo>
                  <a:pt x="1686" y="56"/>
                </a:lnTo>
                <a:lnTo>
                  <a:pt x="1731" y="26"/>
                </a:lnTo>
                <a:lnTo>
                  <a:pt x="1775" y="4"/>
                </a:lnTo>
                <a:lnTo>
                  <a:pt x="1819" y="2"/>
                </a:lnTo>
                <a:lnTo>
                  <a:pt x="1864" y="20"/>
                </a:lnTo>
                <a:lnTo>
                  <a:pt x="1908" y="50"/>
                </a:lnTo>
                <a:lnTo>
                  <a:pt x="1953" y="77"/>
                </a:lnTo>
                <a:lnTo>
                  <a:pt x="1997" y="88"/>
                </a:lnTo>
                <a:lnTo>
                  <a:pt x="2041" y="77"/>
                </a:lnTo>
                <a:lnTo>
                  <a:pt x="2086" y="50"/>
                </a:lnTo>
                <a:lnTo>
                  <a:pt x="2130" y="20"/>
                </a:lnTo>
                <a:lnTo>
                  <a:pt x="2174" y="2"/>
                </a:lnTo>
                <a:lnTo>
                  <a:pt x="2219" y="4"/>
                </a:lnTo>
                <a:lnTo>
                  <a:pt x="2263" y="26"/>
                </a:lnTo>
                <a:lnTo>
                  <a:pt x="2308" y="57"/>
                </a:lnTo>
                <a:lnTo>
                  <a:pt x="2352" y="81"/>
                </a:lnTo>
                <a:lnTo>
                  <a:pt x="2396" y="87"/>
                </a:lnTo>
                <a:lnTo>
                  <a:pt x="2441" y="72"/>
                </a:lnTo>
                <a:lnTo>
                  <a:pt x="2485" y="44"/>
                </a:lnTo>
                <a:lnTo>
                  <a:pt x="2529" y="15"/>
                </a:lnTo>
                <a:lnTo>
                  <a:pt x="2574" y="0"/>
                </a:lnTo>
                <a:lnTo>
                  <a:pt x="2618" y="7"/>
                </a:lnTo>
                <a:lnTo>
                  <a:pt x="2662" y="32"/>
                </a:lnTo>
                <a:lnTo>
                  <a:pt x="2707" y="63"/>
                </a:lnTo>
                <a:lnTo>
                  <a:pt x="2751" y="84"/>
                </a:lnTo>
                <a:lnTo>
                  <a:pt x="2796" y="86"/>
                </a:lnTo>
                <a:lnTo>
                  <a:pt x="2840" y="67"/>
                </a:lnTo>
                <a:lnTo>
                  <a:pt x="2884" y="37"/>
                </a:lnTo>
                <a:lnTo>
                  <a:pt x="2929" y="10"/>
                </a:lnTo>
                <a:lnTo>
                  <a:pt x="2973" y="0"/>
                </a:lnTo>
                <a:lnTo>
                  <a:pt x="3018" y="11"/>
                </a:lnTo>
                <a:lnTo>
                  <a:pt x="3062" y="39"/>
                </a:lnTo>
                <a:lnTo>
                  <a:pt x="3106" y="69"/>
                </a:lnTo>
                <a:lnTo>
                  <a:pt x="3151" y="86"/>
                </a:lnTo>
                <a:lnTo>
                  <a:pt x="3195" y="84"/>
                </a:lnTo>
                <a:lnTo>
                  <a:pt x="3239" y="61"/>
                </a:lnTo>
                <a:lnTo>
                  <a:pt x="3284" y="31"/>
                </a:lnTo>
                <a:lnTo>
                  <a:pt x="3328" y="6"/>
                </a:lnTo>
                <a:lnTo>
                  <a:pt x="3372" y="1"/>
                </a:lnTo>
                <a:lnTo>
                  <a:pt x="3417" y="16"/>
                </a:lnTo>
                <a:lnTo>
                  <a:pt x="3461" y="45"/>
                </a:lnTo>
                <a:lnTo>
                  <a:pt x="3506" y="74"/>
                </a:lnTo>
                <a:lnTo>
                  <a:pt x="3550" y="8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4572000" y="4279392"/>
            <a:ext cx="3246120" cy="80467"/>
          </a:xfrm>
          <a:custGeom>
            <a:avLst/>
            <a:gdLst/>
            <a:ahLst/>
            <a:cxnLst/>
            <a:rect l="l" t="t" r="r" b="b"/>
            <a:pathLst>
              <a:path w="3550" h="88">
                <a:moveTo>
                  <a:pt x="0" y="76"/>
                </a:moveTo>
                <a:lnTo>
                  <a:pt x="44" y="88"/>
                </a:lnTo>
                <a:lnTo>
                  <a:pt x="89" y="78"/>
                </a:lnTo>
                <a:lnTo>
                  <a:pt x="133" y="51"/>
                </a:lnTo>
                <a:lnTo>
                  <a:pt x="178" y="21"/>
                </a:lnTo>
                <a:lnTo>
                  <a:pt x="222" y="2"/>
                </a:lnTo>
                <a:lnTo>
                  <a:pt x="266" y="4"/>
                </a:lnTo>
                <a:lnTo>
                  <a:pt x="311" y="25"/>
                </a:lnTo>
                <a:lnTo>
                  <a:pt x="355" y="55"/>
                </a:lnTo>
                <a:lnTo>
                  <a:pt x="399" y="80"/>
                </a:lnTo>
                <a:lnTo>
                  <a:pt x="444" y="88"/>
                </a:lnTo>
                <a:lnTo>
                  <a:pt x="488" y="74"/>
                </a:lnTo>
                <a:lnTo>
                  <a:pt x="532" y="45"/>
                </a:lnTo>
                <a:lnTo>
                  <a:pt x="577" y="16"/>
                </a:lnTo>
                <a:lnTo>
                  <a:pt x="621" y="1"/>
                </a:lnTo>
                <a:lnTo>
                  <a:pt x="666" y="7"/>
                </a:lnTo>
                <a:lnTo>
                  <a:pt x="710" y="31"/>
                </a:lnTo>
                <a:lnTo>
                  <a:pt x="754" y="62"/>
                </a:lnTo>
                <a:lnTo>
                  <a:pt x="799" y="84"/>
                </a:lnTo>
                <a:lnTo>
                  <a:pt x="843" y="86"/>
                </a:lnTo>
                <a:lnTo>
                  <a:pt x="888" y="68"/>
                </a:lnTo>
                <a:lnTo>
                  <a:pt x="932" y="38"/>
                </a:lnTo>
                <a:lnTo>
                  <a:pt x="976" y="11"/>
                </a:lnTo>
                <a:lnTo>
                  <a:pt x="1021" y="0"/>
                </a:lnTo>
                <a:lnTo>
                  <a:pt x="1065" y="10"/>
                </a:lnTo>
                <a:lnTo>
                  <a:pt x="1109" y="37"/>
                </a:lnTo>
                <a:lnTo>
                  <a:pt x="1154" y="67"/>
                </a:lnTo>
                <a:lnTo>
                  <a:pt x="1198" y="86"/>
                </a:lnTo>
                <a:lnTo>
                  <a:pt x="1242" y="84"/>
                </a:lnTo>
                <a:lnTo>
                  <a:pt x="1287" y="63"/>
                </a:lnTo>
                <a:lnTo>
                  <a:pt x="1331" y="32"/>
                </a:lnTo>
                <a:lnTo>
                  <a:pt x="1376" y="7"/>
                </a:lnTo>
                <a:lnTo>
                  <a:pt x="1420" y="0"/>
                </a:lnTo>
                <a:lnTo>
                  <a:pt x="1464" y="15"/>
                </a:lnTo>
                <a:lnTo>
                  <a:pt x="1509" y="44"/>
                </a:lnTo>
                <a:lnTo>
                  <a:pt x="1553" y="73"/>
                </a:lnTo>
                <a:lnTo>
                  <a:pt x="1598" y="88"/>
                </a:lnTo>
                <a:lnTo>
                  <a:pt x="1642" y="81"/>
                </a:lnTo>
                <a:lnTo>
                  <a:pt x="1686" y="56"/>
                </a:lnTo>
                <a:lnTo>
                  <a:pt x="1731" y="26"/>
                </a:lnTo>
                <a:lnTo>
                  <a:pt x="1775" y="4"/>
                </a:lnTo>
                <a:lnTo>
                  <a:pt x="1819" y="2"/>
                </a:lnTo>
                <a:lnTo>
                  <a:pt x="1864" y="20"/>
                </a:lnTo>
                <a:lnTo>
                  <a:pt x="1908" y="50"/>
                </a:lnTo>
                <a:lnTo>
                  <a:pt x="1953" y="77"/>
                </a:lnTo>
                <a:lnTo>
                  <a:pt x="1997" y="88"/>
                </a:lnTo>
                <a:lnTo>
                  <a:pt x="2041" y="77"/>
                </a:lnTo>
                <a:lnTo>
                  <a:pt x="2086" y="50"/>
                </a:lnTo>
                <a:lnTo>
                  <a:pt x="2130" y="20"/>
                </a:lnTo>
                <a:lnTo>
                  <a:pt x="2174" y="2"/>
                </a:lnTo>
                <a:lnTo>
                  <a:pt x="2219" y="4"/>
                </a:lnTo>
                <a:lnTo>
                  <a:pt x="2263" y="26"/>
                </a:lnTo>
                <a:lnTo>
                  <a:pt x="2308" y="57"/>
                </a:lnTo>
                <a:lnTo>
                  <a:pt x="2352" y="81"/>
                </a:lnTo>
                <a:lnTo>
                  <a:pt x="2396" y="87"/>
                </a:lnTo>
                <a:lnTo>
                  <a:pt x="2441" y="72"/>
                </a:lnTo>
                <a:lnTo>
                  <a:pt x="2485" y="44"/>
                </a:lnTo>
                <a:lnTo>
                  <a:pt x="2529" y="15"/>
                </a:lnTo>
                <a:lnTo>
                  <a:pt x="2574" y="0"/>
                </a:lnTo>
                <a:lnTo>
                  <a:pt x="2618" y="7"/>
                </a:lnTo>
                <a:lnTo>
                  <a:pt x="2662" y="32"/>
                </a:lnTo>
                <a:lnTo>
                  <a:pt x="2707" y="63"/>
                </a:lnTo>
                <a:lnTo>
                  <a:pt x="2751" y="84"/>
                </a:lnTo>
                <a:lnTo>
                  <a:pt x="2796" y="86"/>
                </a:lnTo>
                <a:lnTo>
                  <a:pt x="2840" y="67"/>
                </a:lnTo>
                <a:lnTo>
                  <a:pt x="2884" y="37"/>
                </a:lnTo>
                <a:lnTo>
                  <a:pt x="2929" y="10"/>
                </a:lnTo>
                <a:lnTo>
                  <a:pt x="2973" y="0"/>
                </a:lnTo>
                <a:lnTo>
                  <a:pt x="3018" y="11"/>
                </a:lnTo>
                <a:lnTo>
                  <a:pt x="3062" y="39"/>
                </a:lnTo>
                <a:lnTo>
                  <a:pt x="3106" y="69"/>
                </a:lnTo>
                <a:lnTo>
                  <a:pt x="3151" y="86"/>
                </a:lnTo>
                <a:lnTo>
                  <a:pt x="3195" y="84"/>
                </a:lnTo>
                <a:lnTo>
                  <a:pt x="3239" y="61"/>
                </a:lnTo>
                <a:lnTo>
                  <a:pt x="3284" y="31"/>
                </a:lnTo>
                <a:lnTo>
                  <a:pt x="3328" y="6"/>
                </a:lnTo>
                <a:lnTo>
                  <a:pt x="3372" y="1"/>
                </a:lnTo>
                <a:lnTo>
                  <a:pt x="3417" y="16"/>
                </a:lnTo>
                <a:lnTo>
                  <a:pt x="3461" y="45"/>
                </a:lnTo>
                <a:lnTo>
                  <a:pt x="3506" y="74"/>
                </a:lnTo>
                <a:lnTo>
                  <a:pt x="3550" y="8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4572000" y="3167482"/>
            <a:ext cx="3246120" cy="1514246"/>
          </a:xfrm>
          <a:custGeom>
            <a:avLst/>
            <a:gdLst/>
            <a:ahLst/>
            <a:cxnLst/>
            <a:rect l="l" t="t" r="r" b="b"/>
            <a:pathLst>
              <a:path w="3550" h="1656">
                <a:moveTo>
                  <a:pt x="0" y="1626"/>
                </a:moveTo>
                <a:lnTo>
                  <a:pt x="44" y="1595"/>
                </a:lnTo>
                <a:lnTo>
                  <a:pt x="89" y="1572"/>
                </a:lnTo>
                <a:lnTo>
                  <a:pt x="133" y="1569"/>
                </a:lnTo>
                <a:lnTo>
                  <a:pt x="178" y="1587"/>
                </a:lnTo>
                <a:lnTo>
                  <a:pt x="222" y="1617"/>
                </a:lnTo>
                <a:lnTo>
                  <a:pt x="266" y="1645"/>
                </a:lnTo>
                <a:lnTo>
                  <a:pt x="311" y="1656"/>
                </a:lnTo>
                <a:lnTo>
                  <a:pt x="355" y="1646"/>
                </a:lnTo>
                <a:lnTo>
                  <a:pt x="399" y="1619"/>
                </a:lnTo>
                <a:lnTo>
                  <a:pt x="444" y="1589"/>
                </a:lnTo>
                <a:lnTo>
                  <a:pt x="488" y="1570"/>
                </a:lnTo>
                <a:lnTo>
                  <a:pt x="532" y="1572"/>
                </a:lnTo>
                <a:lnTo>
                  <a:pt x="577" y="1593"/>
                </a:lnTo>
                <a:lnTo>
                  <a:pt x="621" y="1624"/>
                </a:lnTo>
                <a:lnTo>
                  <a:pt x="666" y="1649"/>
                </a:lnTo>
                <a:lnTo>
                  <a:pt x="710" y="1656"/>
                </a:lnTo>
                <a:lnTo>
                  <a:pt x="754" y="1641"/>
                </a:lnTo>
                <a:lnTo>
                  <a:pt x="799" y="1613"/>
                </a:lnTo>
                <a:lnTo>
                  <a:pt x="843" y="1584"/>
                </a:lnTo>
                <a:lnTo>
                  <a:pt x="888" y="1569"/>
                </a:lnTo>
                <a:lnTo>
                  <a:pt x="932" y="1575"/>
                </a:lnTo>
                <a:lnTo>
                  <a:pt x="976" y="1599"/>
                </a:lnTo>
                <a:lnTo>
                  <a:pt x="1021" y="1630"/>
                </a:lnTo>
                <a:lnTo>
                  <a:pt x="1065" y="1652"/>
                </a:lnTo>
                <a:lnTo>
                  <a:pt x="1109" y="1654"/>
                </a:lnTo>
                <a:lnTo>
                  <a:pt x="1154" y="1636"/>
                </a:lnTo>
                <a:lnTo>
                  <a:pt x="1198" y="1606"/>
                </a:lnTo>
                <a:lnTo>
                  <a:pt x="1242" y="1579"/>
                </a:lnTo>
                <a:lnTo>
                  <a:pt x="1287" y="1568"/>
                </a:lnTo>
                <a:lnTo>
                  <a:pt x="1331" y="1579"/>
                </a:lnTo>
                <a:lnTo>
                  <a:pt x="1376" y="1605"/>
                </a:lnTo>
                <a:lnTo>
                  <a:pt x="1420" y="1636"/>
                </a:lnTo>
                <a:lnTo>
                  <a:pt x="1464" y="1654"/>
                </a:lnTo>
                <a:lnTo>
                  <a:pt x="1509" y="1652"/>
                </a:lnTo>
                <a:lnTo>
                  <a:pt x="1553" y="1630"/>
                </a:lnTo>
                <a:lnTo>
                  <a:pt x="1598" y="1600"/>
                </a:lnTo>
                <a:lnTo>
                  <a:pt x="1642" y="1575"/>
                </a:lnTo>
                <a:lnTo>
                  <a:pt x="1686" y="1568"/>
                </a:lnTo>
                <a:lnTo>
                  <a:pt x="1731" y="1583"/>
                </a:lnTo>
                <a:lnTo>
                  <a:pt x="1775" y="1612"/>
                </a:lnTo>
                <a:lnTo>
                  <a:pt x="1819" y="1641"/>
                </a:lnTo>
                <a:lnTo>
                  <a:pt x="1864" y="1656"/>
                </a:lnTo>
                <a:lnTo>
                  <a:pt x="1908" y="1649"/>
                </a:lnTo>
                <a:lnTo>
                  <a:pt x="1953" y="1624"/>
                </a:lnTo>
                <a:lnTo>
                  <a:pt x="1997" y="1594"/>
                </a:lnTo>
                <a:lnTo>
                  <a:pt x="2041" y="1572"/>
                </a:lnTo>
                <a:lnTo>
                  <a:pt x="2086" y="1570"/>
                </a:lnTo>
                <a:lnTo>
                  <a:pt x="2130" y="1588"/>
                </a:lnTo>
                <a:lnTo>
                  <a:pt x="2174" y="1619"/>
                </a:lnTo>
                <a:lnTo>
                  <a:pt x="2219" y="1645"/>
                </a:lnTo>
                <a:lnTo>
                  <a:pt x="2263" y="1656"/>
                </a:lnTo>
                <a:lnTo>
                  <a:pt x="2308" y="1645"/>
                </a:lnTo>
                <a:lnTo>
                  <a:pt x="2352" y="1618"/>
                </a:lnTo>
                <a:lnTo>
                  <a:pt x="2396" y="1588"/>
                </a:lnTo>
                <a:lnTo>
                  <a:pt x="2441" y="1570"/>
                </a:lnTo>
                <a:lnTo>
                  <a:pt x="2485" y="1572"/>
                </a:lnTo>
                <a:lnTo>
                  <a:pt x="2529" y="1594"/>
                </a:lnTo>
                <a:lnTo>
                  <a:pt x="2574" y="1625"/>
                </a:lnTo>
                <a:lnTo>
                  <a:pt x="2618" y="1649"/>
                </a:lnTo>
                <a:lnTo>
                  <a:pt x="2662" y="1655"/>
                </a:lnTo>
                <a:lnTo>
                  <a:pt x="2707" y="1639"/>
                </a:lnTo>
                <a:lnTo>
                  <a:pt x="2751" y="1608"/>
                </a:lnTo>
                <a:lnTo>
                  <a:pt x="2796" y="1577"/>
                </a:lnTo>
                <a:lnTo>
                  <a:pt x="2840" y="1556"/>
                </a:lnTo>
                <a:lnTo>
                  <a:pt x="2884" y="1551"/>
                </a:lnTo>
                <a:lnTo>
                  <a:pt x="2929" y="1551"/>
                </a:lnTo>
                <a:lnTo>
                  <a:pt x="2973" y="1532"/>
                </a:lnTo>
                <a:lnTo>
                  <a:pt x="3018" y="1462"/>
                </a:lnTo>
                <a:lnTo>
                  <a:pt x="3062" y="1305"/>
                </a:lnTo>
                <a:lnTo>
                  <a:pt x="3106" y="1052"/>
                </a:lnTo>
                <a:lnTo>
                  <a:pt x="3151" y="738"/>
                </a:lnTo>
                <a:lnTo>
                  <a:pt x="3195" y="444"/>
                </a:lnTo>
                <a:lnTo>
                  <a:pt x="3239" y="234"/>
                </a:lnTo>
                <a:lnTo>
                  <a:pt x="3284" y="121"/>
                </a:lnTo>
                <a:lnTo>
                  <a:pt x="3328" y="79"/>
                </a:lnTo>
                <a:lnTo>
                  <a:pt x="3372" y="73"/>
                </a:lnTo>
                <a:lnTo>
                  <a:pt x="3417" y="72"/>
                </a:lnTo>
                <a:lnTo>
                  <a:pt x="3461" y="60"/>
                </a:lnTo>
                <a:lnTo>
                  <a:pt x="3506" y="33"/>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4572000" y="3006547"/>
            <a:ext cx="3246120" cy="1514246"/>
          </a:xfrm>
          <a:custGeom>
            <a:avLst/>
            <a:gdLst/>
            <a:ahLst/>
            <a:cxnLst/>
            <a:rect l="l" t="t" r="r" b="b"/>
            <a:pathLst>
              <a:path w="3550" h="1656">
                <a:moveTo>
                  <a:pt x="0" y="1626"/>
                </a:moveTo>
                <a:lnTo>
                  <a:pt x="44" y="1595"/>
                </a:lnTo>
                <a:lnTo>
                  <a:pt x="89" y="1572"/>
                </a:lnTo>
                <a:lnTo>
                  <a:pt x="133" y="1569"/>
                </a:lnTo>
                <a:lnTo>
                  <a:pt x="178" y="1587"/>
                </a:lnTo>
                <a:lnTo>
                  <a:pt x="222" y="1617"/>
                </a:lnTo>
                <a:lnTo>
                  <a:pt x="266" y="1645"/>
                </a:lnTo>
                <a:lnTo>
                  <a:pt x="311" y="1656"/>
                </a:lnTo>
                <a:lnTo>
                  <a:pt x="355" y="1646"/>
                </a:lnTo>
                <a:lnTo>
                  <a:pt x="399" y="1619"/>
                </a:lnTo>
                <a:lnTo>
                  <a:pt x="444" y="1589"/>
                </a:lnTo>
                <a:lnTo>
                  <a:pt x="488" y="1570"/>
                </a:lnTo>
                <a:lnTo>
                  <a:pt x="532" y="1572"/>
                </a:lnTo>
                <a:lnTo>
                  <a:pt x="577" y="1593"/>
                </a:lnTo>
                <a:lnTo>
                  <a:pt x="621" y="1624"/>
                </a:lnTo>
                <a:lnTo>
                  <a:pt x="666" y="1649"/>
                </a:lnTo>
                <a:lnTo>
                  <a:pt x="710" y="1656"/>
                </a:lnTo>
                <a:lnTo>
                  <a:pt x="754" y="1641"/>
                </a:lnTo>
                <a:lnTo>
                  <a:pt x="799" y="1613"/>
                </a:lnTo>
                <a:lnTo>
                  <a:pt x="843" y="1584"/>
                </a:lnTo>
                <a:lnTo>
                  <a:pt x="888" y="1569"/>
                </a:lnTo>
                <a:lnTo>
                  <a:pt x="932" y="1575"/>
                </a:lnTo>
                <a:lnTo>
                  <a:pt x="976" y="1599"/>
                </a:lnTo>
                <a:lnTo>
                  <a:pt x="1021" y="1630"/>
                </a:lnTo>
                <a:lnTo>
                  <a:pt x="1065" y="1652"/>
                </a:lnTo>
                <a:lnTo>
                  <a:pt x="1109" y="1654"/>
                </a:lnTo>
                <a:lnTo>
                  <a:pt x="1154" y="1636"/>
                </a:lnTo>
                <a:lnTo>
                  <a:pt x="1198" y="1606"/>
                </a:lnTo>
                <a:lnTo>
                  <a:pt x="1242" y="1579"/>
                </a:lnTo>
                <a:lnTo>
                  <a:pt x="1287" y="1568"/>
                </a:lnTo>
                <a:lnTo>
                  <a:pt x="1331" y="1579"/>
                </a:lnTo>
                <a:lnTo>
                  <a:pt x="1376" y="1605"/>
                </a:lnTo>
                <a:lnTo>
                  <a:pt x="1420" y="1636"/>
                </a:lnTo>
                <a:lnTo>
                  <a:pt x="1464" y="1654"/>
                </a:lnTo>
                <a:lnTo>
                  <a:pt x="1509" y="1652"/>
                </a:lnTo>
                <a:lnTo>
                  <a:pt x="1553" y="1630"/>
                </a:lnTo>
                <a:lnTo>
                  <a:pt x="1598" y="1600"/>
                </a:lnTo>
                <a:lnTo>
                  <a:pt x="1642" y="1575"/>
                </a:lnTo>
                <a:lnTo>
                  <a:pt x="1686" y="1568"/>
                </a:lnTo>
                <a:lnTo>
                  <a:pt x="1731" y="1583"/>
                </a:lnTo>
                <a:lnTo>
                  <a:pt x="1775" y="1612"/>
                </a:lnTo>
                <a:lnTo>
                  <a:pt x="1819" y="1641"/>
                </a:lnTo>
                <a:lnTo>
                  <a:pt x="1864" y="1656"/>
                </a:lnTo>
                <a:lnTo>
                  <a:pt x="1908" y="1649"/>
                </a:lnTo>
                <a:lnTo>
                  <a:pt x="1953" y="1624"/>
                </a:lnTo>
                <a:lnTo>
                  <a:pt x="1997" y="1594"/>
                </a:lnTo>
                <a:lnTo>
                  <a:pt x="2041" y="1572"/>
                </a:lnTo>
                <a:lnTo>
                  <a:pt x="2086" y="1570"/>
                </a:lnTo>
                <a:lnTo>
                  <a:pt x="2130" y="1588"/>
                </a:lnTo>
                <a:lnTo>
                  <a:pt x="2174" y="1619"/>
                </a:lnTo>
                <a:lnTo>
                  <a:pt x="2219" y="1645"/>
                </a:lnTo>
                <a:lnTo>
                  <a:pt x="2263" y="1656"/>
                </a:lnTo>
                <a:lnTo>
                  <a:pt x="2308" y="1645"/>
                </a:lnTo>
                <a:lnTo>
                  <a:pt x="2352" y="1618"/>
                </a:lnTo>
                <a:lnTo>
                  <a:pt x="2396" y="1588"/>
                </a:lnTo>
                <a:lnTo>
                  <a:pt x="2441" y="1570"/>
                </a:lnTo>
                <a:lnTo>
                  <a:pt x="2485" y="1572"/>
                </a:lnTo>
                <a:lnTo>
                  <a:pt x="2529" y="1594"/>
                </a:lnTo>
                <a:lnTo>
                  <a:pt x="2574" y="1625"/>
                </a:lnTo>
                <a:lnTo>
                  <a:pt x="2618" y="1649"/>
                </a:lnTo>
                <a:lnTo>
                  <a:pt x="2662" y="1655"/>
                </a:lnTo>
                <a:lnTo>
                  <a:pt x="2707" y="1639"/>
                </a:lnTo>
                <a:lnTo>
                  <a:pt x="2751" y="1608"/>
                </a:lnTo>
                <a:lnTo>
                  <a:pt x="2796" y="1577"/>
                </a:lnTo>
                <a:lnTo>
                  <a:pt x="2840" y="1556"/>
                </a:lnTo>
                <a:lnTo>
                  <a:pt x="2884" y="1551"/>
                </a:lnTo>
                <a:lnTo>
                  <a:pt x="2929" y="1551"/>
                </a:lnTo>
                <a:lnTo>
                  <a:pt x="2973" y="1532"/>
                </a:lnTo>
                <a:lnTo>
                  <a:pt x="3018" y="1462"/>
                </a:lnTo>
                <a:lnTo>
                  <a:pt x="3062" y="1305"/>
                </a:lnTo>
                <a:lnTo>
                  <a:pt x="3106" y="1052"/>
                </a:lnTo>
                <a:lnTo>
                  <a:pt x="3151" y="738"/>
                </a:lnTo>
                <a:lnTo>
                  <a:pt x="3195" y="444"/>
                </a:lnTo>
                <a:lnTo>
                  <a:pt x="3239" y="234"/>
                </a:lnTo>
                <a:lnTo>
                  <a:pt x="3284" y="121"/>
                </a:lnTo>
                <a:lnTo>
                  <a:pt x="3328" y="79"/>
                </a:lnTo>
                <a:lnTo>
                  <a:pt x="3372" y="73"/>
                </a:lnTo>
                <a:lnTo>
                  <a:pt x="3417" y="72"/>
                </a:lnTo>
                <a:lnTo>
                  <a:pt x="3461" y="60"/>
                </a:lnTo>
                <a:lnTo>
                  <a:pt x="3506" y="33"/>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4572000" y="2845613"/>
            <a:ext cx="3246120" cy="1514246"/>
          </a:xfrm>
          <a:custGeom>
            <a:avLst/>
            <a:gdLst/>
            <a:ahLst/>
            <a:cxnLst/>
            <a:rect l="l" t="t" r="r" b="b"/>
            <a:pathLst>
              <a:path w="3550" h="1656">
                <a:moveTo>
                  <a:pt x="0" y="1626"/>
                </a:moveTo>
                <a:lnTo>
                  <a:pt x="44" y="1595"/>
                </a:lnTo>
                <a:lnTo>
                  <a:pt x="89" y="1572"/>
                </a:lnTo>
                <a:lnTo>
                  <a:pt x="133" y="1569"/>
                </a:lnTo>
                <a:lnTo>
                  <a:pt x="178" y="1587"/>
                </a:lnTo>
                <a:lnTo>
                  <a:pt x="222" y="1617"/>
                </a:lnTo>
                <a:lnTo>
                  <a:pt x="266" y="1645"/>
                </a:lnTo>
                <a:lnTo>
                  <a:pt x="311" y="1656"/>
                </a:lnTo>
                <a:lnTo>
                  <a:pt x="355" y="1646"/>
                </a:lnTo>
                <a:lnTo>
                  <a:pt x="399" y="1619"/>
                </a:lnTo>
                <a:lnTo>
                  <a:pt x="444" y="1589"/>
                </a:lnTo>
                <a:lnTo>
                  <a:pt x="488" y="1570"/>
                </a:lnTo>
                <a:lnTo>
                  <a:pt x="532" y="1572"/>
                </a:lnTo>
                <a:lnTo>
                  <a:pt x="577" y="1593"/>
                </a:lnTo>
                <a:lnTo>
                  <a:pt x="621" y="1624"/>
                </a:lnTo>
                <a:lnTo>
                  <a:pt x="666" y="1649"/>
                </a:lnTo>
                <a:lnTo>
                  <a:pt x="710" y="1656"/>
                </a:lnTo>
                <a:lnTo>
                  <a:pt x="754" y="1641"/>
                </a:lnTo>
                <a:lnTo>
                  <a:pt x="799" y="1613"/>
                </a:lnTo>
                <a:lnTo>
                  <a:pt x="843" y="1584"/>
                </a:lnTo>
                <a:lnTo>
                  <a:pt x="888" y="1569"/>
                </a:lnTo>
                <a:lnTo>
                  <a:pt x="932" y="1575"/>
                </a:lnTo>
                <a:lnTo>
                  <a:pt x="976" y="1599"/>
                </a:lnTo>
                <a:lnTo>
                  <a:pt x="1021" y="1630"/>
                </a:lnTo>
                <a:lnTo>
                  <a:pt x="1065" y="1652"/>
                </a:lnTo>
                <a:lnTo>
                  <a:pt x="1109" y="1654"/>
                </a:lnTo>
                <a:lnTo>
                  <a:pt x="1154" y="1636"/>
                </a:lnTo>
                <a:lnTo>
                  <a:pt x="1198" y="1606"/>
                </a:lnTo>
                <a:lnTo>
                  <a:pt x="1242" y="1579"/>
                </a:lnTo>
                <a:lnTo>
                  <a:pt x="1287" y="1568"/>
                </a:lnTo>
                <a:lnTo>
                  <a:pt x="1331" y="1579"/>
                </a:lnTo>
                <a:lnTo>
                  <a:pt x="1376" y="1605"/>
                </a:lnTo>
                <a:lnTo>
                  <a:pt x="1420" y="1636"/>
                </a:lnTo>
                <a:lnTo>
                  <a:pt x="1464" y="1654"/>
                </a:lnTo>
                <a:lnTo>
                  <a:pt x="1509" y="1652"/>
                </a:lnTo>
                <a:lnTo>
                  <a:pt x="1553" y="1630"/>
                </a:lnTo>
                <a:lnTo>
                  <a:pt x="1598" y="1600"/>
                </a:lnTo>
                <a:lnTo>
                  <a:pt x="1642" y="1575"/>
                </a:lnTo>
                <a:lnTo>
                  <a:pt x="1686" y="1568"/>
                </a:lnTo>
                <a:lnTo>
                  <a:pt x="1731" y="1583"/>
                </a:lnTo>
                <a:lnTo>
                  <a:pt x="1775" y="1612"/>
                </a:lnTo>
                <a:lnTo>
                  <a:pt x="1819" y="1641"/>
                </a:lnTo>
                <a:lnTo>
                  <a:pt x="1864" y="1656"/>
                </a:lnTo>
                <a:lnTo>
                  <a:pt x="1908" y="1649"/>
                </a:lnTo>
                <a:lnTo>
                  <a:pt x="1953" y="1624"/>
                </a:lnTo>
                <a:lnTo>
                  <a:pt x="1997" y="1594"/>
                </a:lnTo>
                <a:lnTo>
                  <a:pt x="2041" y="1572"/>
                </a:lnTo>
                <a:lnTo>
                  <a:pt x="2086" y="1570"/>
                </a:lnTo>
                <a:lnTo>
                  <a:pt x="2130" y="1588"/>
                </a:lnTo>
                <a:lnTo>
                  <a:pt x="2174" y="1619"/>
                </a:lnTo>
                <a:lnTo>
                  <a:pt x="2219" y="1645"/>
                </a:lnTo>
                <a:lnTo>
                  <a:pt x="2263" y="1656"/>
                </a:lnTo>
                <a:lnTo>
                  <a:pt x="2308" y="1645"/>
                </a:lnTo>
                <a:lnTo>
                  <a:pt x="2352" y="1618"/>
                </a:lnTo>
                <a:lnTo>
                  <a:pt x="2396" y="1588"/>
                </a:lnTo>
                <a:lnTo>
                  <a:pt x="2441" y="1570"/>
                </a:lnTo>
                <a:lnTo>
                  <a:pt x="2485" y="1572"/>
                </a:lnTo>
                <a:lnTo>
                  <a:pt x="2529" y="1594"/>
                </a:lnTo>
                <a:lnTo>
                  <a:pt x="2574" y="1625"/>
                </a:lnTo>
                <a:lnTo>
                  <a:pt x="2618" y="1649"/>
                </a:lnTo>
                <a:lnTo>
                  <a:pt x="2662" y="1655"/>
                </a:lnTo>
                <a:lnTo>
                  <a:pt x="2707" y="1639"/>
                </a:lnTo>
                <a:lnTo>
                  <a:pt x="2751" y="1608"/>
                </a:lnTo>
                <a:lnTo>
                  <a:pt x="2796" y="1577"/>
                </a:lnTo>
                <a:lnTo>
                  <a:pt x="2840" y="1556"/>
                </a:lnTo>
                <a:lnTo>
                  <a:pt x="2884" y="1551"/>
                </a:lnTo>
                <a:lnTo>
                  <a:pt x="2929" y="1551"/>
                </a:lnTo>
                <a:lnTo>
                  <a:pt x="2973" y="1532"/>
                </a:lnTo>
                <a:lnTo>
                  <a:pt x="3018" y="1462"/>
                </a:lnTo>
                <a:lnTo>
                  <a:pt x="3062" y="1305"/>
                </a:lnTo>
                <a:lnTo>
                  <a:pt x="3106" y="1052"/>
                </a:lnTo>
                <a:lnTo>
                  <a:pt x="3151" y="738"/>
                </a:lnTo>
                <a:lnTo>
                  <a:pt x="3195" y="444"/>
                </a:lnTo>
                <a:lnTo>
                  <a:pt x="3239" y="234"/>
                </a:lnTo>
                <a:lnTo>
                  <a:pt x="3284" y="121"/>
                </a:lnTo>
                <a:lnTo>
                  <a:pt x="3328" y="79"/>
                </a:lnTo>
                <a:lnTo>
                  <a:pt x="3372" y="73"/>
                </a:lnTo>
                <a:lnTo>
                  <a:pt x="3417" y="72"/>
                </a:lnTo>
                <a:lnTo>
                  <a:pt x="3461" y="60"/>
                </a:lnTo>
                <a:lnTo>
                  <a:pt x="3506" y="33"/>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4572000" y="3138221"/>
            <a:ext cx="3246120" cy="1541678"/>
          </a:xfrm>
          <a:custGeom>
            <a:avLst/>
            <a:gdLst/>
            <a:ahLst/>
            <a:cxnLst/>
            <a:rect l="l" t="t" r="r" b="b"/>
            <a:pathLst>
              <a:path w="3550" h="1686">
                <a:moveTo>
                  <a:pt x="0" y="1674"/>
                </a:moveTo>
                <a:lnTo>
                  <a:pt x="44" y="1684"/>
                </a:lnTo>
                <a:lnTo>
                  <a:pt x="89" y="1669"/>
                </a:lnTo>
                <a:lnTo>
                  <a:pt x="133" y="1634"/>
                </a:lnTo>
                <a:lnTo>
                  <a:pt x="178" y="1585"/>
                </a:lnTo>
                <a:lnTo>
                  <a:pt x="222" y="1530"/>
                </a:lnTo>
                <a:lnTo>
                  <a:pt x="266" y="1462"/>
                </a:lnTo>
                <a:lnTo>
                  <a:pt x="311" y="1358"/>
                </a:lnTo>
                <a:lnTo>
                  <a:pt x="355" y="1189"/>
                </a:lnTo>
                <a:lnTo>
                  <a:pt x="399" y="947"/>
                </a:lnTo>
                <a:lnTo>
                  <a:pt x="444" y="671"/>
                </a:lnTo>
                <a:lnTo>
                  <a:pt x="488" y="422"/>
                </a:lnTo>
                <a:lnTo>
                  <a:pt x="532" y="236"/>
                </a:lnTo>
                <a:lnTo>
                  <a:pt x="577" y="115"/>
                </a:lnTo>
                <a:lnTo>
                  <a:pt x="621" y="50"/>
                </a:lnTo>
                <a:lnTo>
                  <a:pt x="666" y="31"/>
                </a:lnTo>
                <a:lnTo>
                  <a:pt x="710" y="43"/>
                </a:lnTo>
                <a:lnTo>
                  <a:pt x="754" y="67"/>
                </a:lnTo>
                <a:lnTo>
                  <a:pt x="799" y="87"/>
                </a:lnTo>
                <a:lnTo>
                  <a:pt x="843" y="88"/>
                </a:lnTo>
                <a:lnTo>
                  <a:pt x="888" y="69"/>
                </a:lnTo>
                <a:lnTo>
                  <a:pt x="932" y="39"/>
                </a:lnTo>
                <a:lnTo>
                  <a:pt x="976" y="11"/>
                </a:lnTo>
                <a:lnTo>
                  <a:pt x="1021" y="0"/>
                </a:lnTo>
                <a:lnTo>
                  <a:pt x="1065" y="10"/>
                </a:lnTo>
                <a:lnTo>
                  <a:pt x="1109" y="37"/>
                </a:lnTo>
                <a:lnTo>
                  <a:pt x="1154" y="67"/>
                </a:lnTo>
                <a:lnTo>
                  <a:pt x="1198" y="86"/>
                </a:lnTo>
                <a:lnTo>
                  <a:pt x="1242" y="84"/>
                </a:lnTo>
                <a:lnTo>
                  <a:pt x="1287" y="63"/>
                </a:lnTo>
                <a:lnTo>
                  <a:pt x="1331" y="32"/>
                </a:lnTo>
                <a:lnTo>
                  <a:pt x="1376" y="7"/>
                </a:lnTo>
                <a:lnTo>
                  <a:pt x="1420" y="0"/>
                </a:lnTo>
                <a:lnTo>
                  <a:pt x="1464" y="15"/>
                </a:lnTo>
                <a:lnTo>
                  <a:pt x="1509" y="44"/>
                </a:lnTo>
                <a:lnTo>
                  <a:pt x="1553" y="73"/>
                </a:lnTo>
                <a:lnTo>
                  <a:pt x="1598" y="88"/>
                </a:lnTo>
                <a:lnTo>
                  <a:pt x="1642" y="81"/>
                </a:lnTo>
                <a:lnTo>
                  <a:pt x="1686" y="56"/>
                </a:lnTo>
                <a:lnTo>
                  <a:pt x="1731" y="26"/>
                </a:lnTo>
                <a:lnTo>
                  <a:pt x="1775" y="4"/>
                </a:lnTo>
                <a:lnTo>
                  <a:pt x="1819" y="2"/>
                </a:lnTo>
                <a:lnTo>
                  <a:pt x="1864" y="20"/>
                </a:lnTo>
                <a:lnTo>
                  <a:pt x="1908" y="50"/>
                </a:lnTo>
                <a:lnTo>
                  <a:pt x="1953" y="77"/>
                </a:lnTo>
                <a:lnTo>
                  <a:pt x="1997" y="88"/>
                </a:lnTo>
                <a:lnTo>
                  <a:pt x="2041" y="77"/>
                </a:lnTo>
                <a:lnTo>
                  <a:pt x="2086" y="50"/>
                </a:lnTo>
                <a:lnTo>
                  <a:pt x="2130" y="20"/>
                </a:lnTo>
                <a:lnTo>
                  <a:pt x="2174" y="2"/>
                </a:lnTo>
                <a:lnTo>
                  <a:pt x="2219" y="4"/>
                </a:lnTo>
                <a:lnTo>
                  <a:pt x="2263" y="26"/>
                </a:lnTo>
                <a:lnTo>
                  <a:pt x="2308" y="57"/>
                </a:lnTo>
                <a:lnTo>
                  <a:pt x="2352" y="81"/>
                </a:lnTo>
                <a:lnTo>
                  <a:pt x="2396" y="88"/>
                </a:lnTo>
                <a:lnTo>
                  <a:pt x="2441" y="73"/>
                </a:lnTo>
                <a:lnTo>
                  <a:pt x="2485" y="44"/>
                </a:lnTo>
                <a:lnTo>
                  <a:pt x="2529" y="15"/>
                </a:lnTo>
                <a:lnTo>
                  <a:pt x="2574" y="1"/>
                </a:lnTo>
                <a:lnTo>
                  <a:pt x="2618" y="8"/>
                </a:lnTo>
                <a:lnTo>
                  <a:pt x="2662" y="33"/>
                </a:lnTo>
                <a:lnTo>
                  <a:pt x="2707" y="64"/>
                </a:lnTo>
                <a:lnTo>
                  <a:pt x="2751" y="87"/>
                </a:lnTo>
                <a:lnTo>
                  <a:pt x="2796" y="92"/>
                </a:lnTo>
                <a:lnTo>
                  <a:pt x="2840" y="79"/>
                </a:lnTo>
                <a:lnTo>
                  <a:pt x="2884" y="61"/>
                </a:lnTo>
                <a:lnTo>
                  <a:pt x="2929" y="60"/>
                </a:lnTo>
                <a:lnTo>
                  <a:pt x="2973" y="99"/>
                </a:lnTo>
                <a:lnTo>
                  <a:pt x="3018" y="202"/>
                </a:lnTo>
                <a:lnTo>
                  <a:pt x="3062" y="387"/>
                </a:lnTo>
                <a:lnTo>
                  <a:pt x="3106" y="652"/>
                </a:lnTo>
                <a:lnTo>
                  <a:pt x="3151" y="953"/>
                </a:lnTo>
                <a:lnTo>
                  <a:pt x="3195" y="1217"/>
                </a:lnTo>
                <a:lnTo>
                  <a:pt x="3239" y="1395"/>
                </a:lnTo>
                <a:lnTo>
                  <a:pt x="3284" y="1489"/>
                </a:lnTo>
                <a:lnTo>
                  <a:pt x="3328" y="1534"/>
                </a:lnTo>
                <a:lnTo>
                  <a:pt x="3372" y="1565"/>
                </a:lnTo>
                <a:lnTo>
                  <a:pt x="3417" y="1598"/>
                </a:lnTo>
                <a:lnTo>
                  <a:pt x="3461" y="1637"/>
                </a:lnTo>
                <a:lnTo>
                  <a:pt x="3506" y="1670"/>
                </a:lnTo>
                <a:lnTo>
                  <a:pt x="3550" y="1686"/>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4572000" y="2977286"/>
            <a:ext cx="3246120" cy="1541678"/>
          </a:xfrm>
          <a:custGeom>
            <a:avLst/>
            <a:gdLst/>
            <a:ahLst/>
            <a:cxnLst/>
            <a:rect l="l" t="t" r="r" b="b"/>
            <a:pathLst>
              <a:path w="3550" h="1686">
                <a:moveTo>
                  <a:pt x="0" y="1674"/>
                </a:moveTo>
                <a:lnTo>
                  <a:pt x="44" y="1684"/>
                </a:lnTo>
                <a:lnTo>
                  <a:pt x="89" y="1669"/>
                </a:lnTo>
                <a:lnTo>
                  <a:pt x="133" y="1634"/>
                </a:lnTo>
                <a:lnTo>
                  <a:pt x="178" y="1585"/>
                </a:lnTo>
                <a:lnTo>
                  <a:pt x="222" y="1530"/>
                </a:lnTo>
                <a:lnTo>
                  <a:pt x="266" y="1462"/>
                </a:lnTo>
                <a:lnTo>
                  <a:pt x="311" y="1358"/>
                </a:lnTo>
                <a:lnTo>
                  <a:pt x="355" y="1189"/>
                </a:lnTo>
                <a:lnTo>
                  <a:pt x="399" y="947"/>
                </a:lnTo>
                <a:lnTo>
                  <a:pt x="444" y="671"/>
                </a:lnTo>
                <a:lnTo>
                  <a:pt x="488" y="422"/>
                </a:lnTo>
                <a:lnTo>
                  <a:pt x="532" y="236"/>
                </a:lnTo>
                <a:lnTo>
                  <a:pt x="577" y="115"/>
                </a:lnTo>
                <a:lnTo>
                  <a:pt x="621" y="50"/>
                </a:lnTo>
                <a:lnTo>
                  <a:pt x="666" y="31"/>
                </a:lnTo>
                <a:lnTo>
                  <a:pt x="710" y="43"/>
                </a:lnTo>
                <a:lnTo>
                  <a:pt x="754" y="67"/>
                </a:lnTo>
                <a:lnTo>
                  <a:pt x="799" y="87"/>
                </a:lnTo>
                <a:lnTo>
                  <a:pt x="843" y="88"/>
                </a:lnTo>
                <a:lnTo>
                  <a:pt x="888" y="69"/>
                </a:lnTo>
                <a:lnTo>
                  <a:pt x="932" y="39"/>
                </a:lnTo>
                <a:lnTo>
                  <a:pt x="976" y="11"/>
                </a:lnTo>
                <a:lnTo>
                  <a:pt x="1021" y="0"/>
                </a:lnTo>
                <a:lnTo>
                  <a:pt x="1065" y="10"/>
                </a:lnTo>
                <a:lnTo>
                  <a:pt x="1109" y="37"/>
                </a:lnTo>
                <a:lnTo>
                  <a:pt x="1154" y="67"/>
                </a:lnTo>
                <a:lnTo>
                  <a:pt x="1198" y="86"/>
                </a:lnTo>
                <a:lnTo>
                  <a:pt x="1242" y="84"/>
                </a:lnTo>
                <a:lnTo>
                  <a:pt x="1287" y="63"/>
                </a:lnTo>
                <a:lnTo>
                  <a:pt x="1331" y="32"/>
                </a:lnTo>
                <a:lnTo>
                  <a:pt x="1376" y="7"/>
                </a:lnTo>
                <a:lnTo>
                  <a:pt x="1420" y="0"/>
                </a:lnTo>
                <a:lnTo>
                  <a:pt x="1464" y="15"/>
                </a:lnTo>
                <a:lnTo>
                  <a:pt x="1509" y="44"/>
                </a:lnTo>
                <a:lnTo>
                  <a:pt x="1553" y="73"/>
                </a:lnTo>
                <a:lnTo>
                  <a:pt x="1598" y="88"/>
                </a:lnTo>
                <a:lnTo>
                  <a:pt x="1642" y="81"/>
                </a:lnTo>
                <a:lnTo>
                  <a:pt x="1686" y="56"/>
                </a:lnTo>
                <a:lnTo>
                  <a:pt x="1731" y="26"/>
                </a:lnTo>
                <a:lnTo>
                  <a:pt x="1775" y="4"/>
                </a:lnTo>
                <a:lnTo>
                  <a:pt x="1819" y="2"/>
                </a:lnTo>
                <a:lnTo>
                  <a:pt x="1864" y="20"/>
                </a:lnTo>
                <a:lnTo>
                  <a:pt x="1908" y="50"/>
                </a:lnTo>
                <a:lnTo>
                  <a:pt x="1953" y="77"/>
                </a:lnTo>
                <a:lnTo>
                  <a:pt x="1997" y="88"/>
                </a:lnTo>
                <a:lnTo>
                  <a:pt x="2041" y="77"/>
                </a:lnTo>
                <a:lnTo>
                  <a:pt x="2086" y="50"/>
                </a:lnTo>
                <a:lnTo>
                  <a:pt x="2130" y="20"/>
                </a:lnTo>
                <a:lnTo>
                  <a:pt x="2174" y="2"/>
                </a:lnTo>
                <a:lnTo>
                  <a:pt x="2219" y="4"/>
                </a:lnTo>
                <a:lnTo>
                  <a:pt x="2263" y="26"/>
                </a:lnTo>
                <a:lnTo>
                  <a:pt x="2308" y="57"/>
                </a:lnTo>
                <a:lnTo>
                  <a:pt x="2352" y="81"/>
                </a:lnTo>
                <a:lnTo>
                  <a:pt x="2396" y="88"/>
                </a:lnTo>
                <a:lnTo>
                  <a:pt x="2441" y="73"/>
                </a:lnTo>
                <a:lnTo>
                  <a:pt x="2485" y="44"/>
                </a:lnTo>
                <a:lnTo>
                  <a:pt x="2529" y="15"/>
                </a:lnTo>
                <a:lnTo>
                  <a:pt x="2574" y="1"/>
                </a:lnTo>
                <a:lnTo>
                  <a:pt x="2618" y="8"/>
                </a:lnTo>
                <a:lnTo>
                  <a:pt x="2662" y="33"/>
                </a:lnTo>
                <a:lnTo>
                  <a:pt x="2707" y="64"/>
                </a:lnTo>
                <a:lnTo>
                  <a:pt x="2751" y="87"/>
                </a:lnTo>
                <a:lnTo>
                  <a:pt x="2796" y="92"/>
                </a:lnTo>
                <a:lnTo>
                  <a:pt x="2840" y="79"/>
                </a:lnTo>
                <a:lnTo>
                  <a:pt x="2884" y="61"/>
                </a:lnTo>
                <a:lnTo>
                  <a:pt x="2929" y="60"/>
                </a:lnTo>
                <a:lnTo>
                  <a:pt x="2973" y="99"/>
                </a:lnTo>
                <a:lnTo>
                  <a:pt x="3018" y="202"/>
                </a:lnTo>
                <a:lnTo>
                  <a:pt x="3062" y="387"/>
                </a:lnTo>
                <a:lnTo>
                  <a:pt x="3106" y="652"/>
                </a:lnTo>
                <a:lnTo>
                  <a:pt x="3151" y="953"/>
                </a:lnTo>
                <a:lnTo>
                  <a:pt x="3195" y="1217"/>
                </a:lnTo>
                <a:lnTo>
                  <a:pt x="3239" y="1395"/>
                </a:lnTo>
                <a:lnTo>
                  <a:pt x="3284" y="1489"/>
                </a:lnTo>
                <a:lnTo>
                  <a:pt x="3328" y="1534"/>
                </a:lnTo>
                <a:lnTo>
                  <a:pt x="3372" y="1565"/>
                </a:lnTo>
                <a:lnTo>
                  <a:pt x="3417" y="1598"/>
                </a:lnTo>
                <a:lnTo>
                  <a:pt x="3461" y="1637"/>
                </a:lnTo>
                <a:lnTo>
                  <a:pt x="3506" y="1670"/>
                </a:lnTo>
                <a:lnTo>
                  <a:pt x="3550" y="1686"/>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4572000" y="2816352"/>
            <a:ext cx="3246120" cy="1541678"/>
          </a:xfrm>
          <a:custGeom>
            <a:avLst/>
            <a:gdLst/>
            <a:ahLst/>
            <a:cxnLst/>
            <a:rect l="l" t="t" r="r" b="b"/>
            <a:pathLst>
              <a:path w="3550" h="1686">
                <a:moveTo>
                  <a:pt x="0" y="1674"/>
                </a:moveTo>
                <a:lnTo>
                  <a:pt x="44" y="1684"/>
                </a:lnTo>
                <a:lnTo>
                  <a:pt x="89" y="1669"/>
                </a:lnTo>
                <a:lnTo>
                  <a:pt x="133" y="1634"/>
                </a:lnTo>
                <a:lnTo>
                  <a:pt x="178" y="1585"/>
                </a:lnTo>
                <a:lnTo>
                  <a:pt x="222" y="1530"/>
                </a:lnTo>
                <a:lnTo>
                  <a:pt x="266" y="1462"/>
                </a:lnTo>
                <a:lnTo>
                  <a:pt x="311" y="1358"/>
                </a:lnTo>
                <a:lnTo>
                  <a:pt x="355" y="1189"/>
                </a:lnTo>
                <a:lnTo>
                  <a:pt x="399" y="947"/>
                </a:lnTo>
                <a:lnTo>
                  <a:pt x="444" y="671"/>
                </a:lnTo>
                <a:lnTo>
                  <a:pt x="488" y="422"/>
                </a:lnTo>
                <a:lnTo>
                  <a:pt x="532" y="236"/>
                </a:lnTo>
                <a:lnTo>
                  <a:pt x="577" y="115"/>
                </a:lnTo>
                <a:lnTo>
                  <a:pt x="621" y="50"/>
                </a:lnTo>
                <a:lnTo>
                  <a:pt x="666" y="31"/>
                </a:lnTo>
                <a:lnTo>
                  <a:pt x="710" y="43"/>
                </a:lnTo>
                <a:lnTo>
                  <a:pt x="754" y="67"/>
                </a:lnTo>
                <a:lnTo>
                  <a:pt x="799" y="87"/>
                </a:lnTo>
                <a:lnTo>
                  <a:pt x="843" y="88"/>
                </a:lnTo>
                <a:lnTo>
                  <a:pt x="888" y="69"/>
                </a:lnTo>
                <a:lnTo>
                  <a:pt x="932" y="39"/>
                </a:lnTo>
                <a:lnTo>
                  <a:pt x="976" y="11"/>
                </a:lnTo>
                <a:lnTo>
                  <a:pt x="1021" y="0"/>
                </a:lnTo>
                <a:lnTo>
                  <a:pt x="1065" y="10"/>
                </a:lnTo>
                <a:lnTo>
                  <a:pt x="1109" y="37"/>
                </a:lnTo>
                <a:lnTo>
                  <a:pt x="1154" y="67"/>
                </a:lnTo>
                <a:lnTo>
                  <a:pt x="1198" y="86"/>
                </a:lnTo>
                <a:lnTo>
                  <a:pt x="1242" y="84"/>
                </a:lnTo>
                <a:lnTo>
                  <a:pt x="1287" y="63"/>
                </a:lnTo>
                <a:lnTo>
                  <a:pt x="1331" y="32"/>
                </a:lnTo>
                <a:lnTo>
                  <a:pt x="1376" y="7"/>
                </a:lnTo>
                <a:lnTo>
                  <a:pt x="1420" y="0"/>
                </a:lnTo>
                <a:lnTo>
                  <a:pt x="1464" y="15"/>
                </a:lnTo>
                <a:lnTo>
                  <a:pt x="1509" y="44"/>
                </a:lnTo>
                <a:lnTo>
                  <a:pt x="1553" y="73"/>
                </a:lnTo>
                <a:lnTo>
                  <a:pt x="1598" y="88"/>
                </a:lnTo>
                <a:lnTo>
                  <a:pt x="1642" y="81"/>
                </a:lnTo>
                <a:lnTo>
                  <a:pt x="1686" y="56"/>
                </a:lnTo>
                <a:lnTo>
                  <a:pt x="1731" y="26"/>
                </a:lnTo>
                <a:lnTo>
                  <a:pt x="1775" y="4"/>
                </a:lnTo>
                <a:lnTo>
                  <a:pt x="1819" y="2"/>
                </a:lnTo>
                <a:lnTo>
                  <a:pt x="1864" y="20"/>
                </a:lnTo>
                <a:lnTo>
                  <a:pt x="1908" y="50"/>
                </a:lnTo>
                <a:lnTo>
                  <a:pt x="1953" y="77"/>
                </a:lnTo>
                <a:lnTo>
                  <a:pt x="1997" y="88"/>
                </a:lnTo>
                <a:lnTo>
                  <a:pt x="2041" y="77"/>
                </a:lnTo>
                <a:lnTo>
                  <a:pt x="2086" y="50"/>
                </a:lnTo>
                <a:lnTo>
                  <a:pt x="2130" y="20"/>
                </a:lnTo>
                <a:lnTo>
                  <a:pt x="2174" y="2"/>
                </a:lnTo>
                <a:lnTo>
                  <a:pt x="2219" y="4"/>
                </a:lnTo>
                <a:lnTo>
                  <a:pt x="2263" y="26"/>
                </a:lnTo>
                <a:lnTo>
                  <a:pt x="2308" y="57"/>
                </a:lnTo>
                <a:lnTo>
                  <a:pt x="2352" y="81"/>
                </a:lnTo>
                <a:lnTo>
                  <a:pt x="2396" y="88"/>
                </a:lnTo>
                <a:lnTo>
                  <a:pt x="2441" y="73"/>
                </a:lnTo>
                <a:lnTo>
                  <a:pt x="2485" y="44"/>
                </a:lnTo>
                <a:lnTo>
                  <a:pt x="2529" y="15"/>
                </a:lnTo>
                <a:lnTo>
                  <a:pt x="2574" y="1"/>
                </a:lnTo>
                <a:lnTo>
                  <a:pt x="2618" y="8"/>
                </a:lnTo>
                <a:lnTo>
                  <a:pt x="2662" y="33"/>
                </a:lnTo>
                <a:lnTo>
                  <a:pt x="2707" y="64"/>
                </a:lnTo>
                <a:lnTo>
                  <a:pt x="2751" y="87"/>
                </a:lnTo>
                <a:lnTo>
                  <a:pt x="2796" y="92"/>
                </a:lnTo>
                <a:lnTo>
                  <a:pt x="2840" y="79"/>
                </a:lnTo>
                <a:lnTo>
                  <a:pt x="2884" y="61"/>
                </a:lnTo>
                <a:lnTo>
                  <a:pt x="2929" y="60"/>
                </a:lnTo>
                <a:lnTo>
                  <a:pt x="2973" y="99"/>
                </a:lnTo>
                <a:lnTo>
                  <a:pt x="3018" y="202"/>
                </a:lnTo>
                <a:lnTo>
                  <a:pt x="3062" y="387"/>
                </a:lnTo>
                <a:lnTo>
                  <a:pt x="3106" y="652"/>
                </a:lnTo>
                <a:lnTo>
                  <a:pt x="3151" y="953"/>
                </a:lnTo>
                <a:lnTo>
                  <a:pt x="3195" y="1217"/>
                </a:lnTo>
                <a:lnTo>
                  <a:pt x="3239" y="1395"/>
                </a:lnTo>
                <a:lnTo>
                  <a:pt x="3284" y="1489"/>
                </a:lnTo>
                <a:lnTo>
                  <a:pt x="3328" y="1534"/>
                </a:lnTo>
                <a:lnTo>
                  <a:pt x="3372" y="1565"/>
                </a:lnTo>
                <a:lnTo>
                  <a:pt x="3417" y="1598"/>
                </a:lnTo>
                <a:lnTo>
                  <a:pt x="3461" y="1637"/>
                </a:lnTo>
                <a:lnTo>
                  <a:pt x="3506" y="1670"/>
                </a:lnTo>
                <a:lnTo>
                  <a:pt x="3550" y="1686"/>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4572000" y="3138221"/>
            <a:ext cx="3246120" cy="1514246"/>
          </a:xfrm>
          <a:custGeom>
            <a:avLst/>
            <a:gdLst/>
            <a:ahLst/>
            <a:cxnLst/>
            <a:rect l="l" t="t" r="r" b="b"/>
            <a:pathLst>
              <a:path w="3550" h="1656">
                <a:moveTo>
                  <a:pt x="0" y="1656"/>
                </a:moveTo>
                <a:lnTo>
                  <a:pt x="44" y="1623"/>
                </a:lnTo>
                <a:lnTo>
                  <a:pt x="89" y="1596"/>
                </a:lnTo>
                <a:lnTo>
                  <a:pt x="133" y="1584"/>
                </a:lnTo>
                <a:lnTo>
                  <a:pt x="178" y="1583"/>
                </a:lnTo>
                <a:lnTo>
                  <a:pt x="222" y="1577"/>
                </a:lnTo>
                <a:lnTo>
                  <a:pt x="266" y="1535"/>
                </a:lnTo>
                <a:lnTo>
                  <a:pt x="311" y="1422"/>
                </a:lnTo>
                <a:lnTo>
                  <a:pt x="355" y="1212"/>
                </a:lnTo>
                <a:lnTo>
                  <a:pt x="399" y="918"/>
                </a:lnTo>
                <a:lnTo>
                  <a:pt x="444" y="604"/>
                </a:lnTo>
                <a:lnTo>
                  <a:pt x="488" y="351"/>
                </a:lnTo>
                <a:lnTo>
                  <a:pt x="532" y="194"/>
                </a:lnTo>
                <a:lnTo>
                  <a:pt x="577" y="124"/>
                </a:lnTo>
                <a:lnTo>
                  <a:pt x="621" y="105"/>
                </a:lnTo>
                <a:lnTo>
                  <a:pt x="666" y="105"/>
                </a:lnTo>
                <a:lnTo>
                  <a:pt x="710" y="100"/>
                </a:lnTo>
                <a:lnTo>
                  <a:pt x="754" y="79"/>
                </a:lnTo>
                <a:lnTo>
                  <a:pt x="799" y="48"/>
                </a:lnTo>
                <a:lnTo>
                  <a:pt x="843" y="17"/>
                </a:lnTo>
                <a:lnTo>
                  <a:pt x="888" y="1"/>
                </a:lnTo>
                <a:lnTo>
                  <a:pt x="932" y="7"/>
                </a:lnTo>
                <a:lnTo>
                  <a:pt x="976" y="31"/>
                </a:lnTo>
                <a:lnTo>
                  <a:pt x="1021" y="62"/>
                </a:lnTo>
                <a:lnTo>
                  <a:pt x="1065" y="84"/>
                </a:lnTo>
                <a:lnTo>
                  <a:pt x="1109" y="86"/>
                </a:lnTo>
                <a:lnTo>
                  <a:pt x="1154" y="68"/>
                </a:lnTo>
                <a:lnTo>
                  <a:pt x="1198" y="38"/>
                </a:lnTo>
                <a:lnTo>
                  <a:pt x="1242" y="11"/>
                </a:lnTo>
                <a:lnTo>
                  <a:pt x="1287" y="0"/>
                </a:lnTo>
                <a:lnTo>
                  <a:pt x="1331" y="11"/>
                </a:lnTo>
                <a:lnTo>
                  <a:pt x="1376" y="37"/>
                </a:lnTo>
                <a:lnTo>
                  <a:pt x="1420" y="68"/>
                </a:lnTo>
                <a:lnTo>
                  <a:pt x="1464" y="86"/>
                </a:lnTo>
                <a:lnTo>
                  <a:pt x="1509" y="84"/>
                </a:lnTo>
                <a:lnTo>
                  <a:pt x="1553" y="62"/>
                </a:lnTo>
                <a:lnTo>
                  <a:pt x="1598" y="32"/>
                </a:lnTo>
                <a:lnTo>
                  <a:pt x="1642" y="7"/>
                </a:lnTo>
                <a:lnTo>
                  <a:pt x="1686" y="0"/>
                </a:lnTo>
                <a:lnTo>
                  <a:pt x="1731" y="15"/>
                </a:lnTo>
                <a:lnTo>
                  <a:pt x="1775" y="44"/>
                </a:lnTo>
                <a:lnTo>
                  <a:pt x="1819" y="73"/>
                </a:lnTo>
                <a:lnTo>
                  <a:pt x="1864" y="88"/>
                </a:lnTo>
                <a:lnTo>
                  <a:pt x="1908" y="81"/>
                </a:lnTo>
                <a:lnTo>
                  <a:pt x="1953" y="56"/>
                </a:lnTo>
                <a:lnTo>
                  <a:pt x="1997" y="26"/>
                </a:lnTo>
                <a:lnTo>
                  <a:pt x="2041" y="4"/>
                </a:lnTo>
                <a:lnTo>
                  <a:pt x="2086" y="2"/>
                </a:lnTo>
                <a:lnTo>
                  <a:pt x="2130" y="20"/>
                </a:lnTo>
                <a:lnTo>
                  <a:pt x="2174" y="51"/>
                </a:lnTo>
                <a:lnTo>
                  <a:pt x="2219" y="77"/>
                </a:lnTo>
                <a:lnTo>
                  <a:pt x="2263" y="88"/>
                </a:lnTo>
                <a:lnTo>
                  <a:pt x="2308" y="77"/>
                </a:lnTo>
                <a:lnTo>
                  <a:pt x="2352" y="50"/>
                </a:lnTo>
                <a:lnTo>
                  <a:pt x="2396" y="20"/>
                </a:lnTo>
                <a:lnTo>
                  <a:pt x="2441" y="2"/>
                </a:lnTo>
                <a:lnTo>
                  <a:pt x="2485" y="4"/>
                </a:lnTo>
                <a:lnTo>
                  <a:pt x="2529" y="26"/>
                </a:lnTo>
                <a:lnTo>
                  <a:pt x="2574" y="57"/>
                </a:lnTo>
                <a:lnTo>
                  <a:pt x="2618" y="81"/>
                </a:lnTo>
                <a:lnTo>
                  <a:pt x="2662" y="87"/>
                </a:lnTo>
                <a:lnTo>
                  <a:pt x="2707" y="72"/>
                </a:lnTo>
                <a:lnTo>
                  <a:pt x="2751" y="43"/>
                </a:lnTo>
                <a:lnTo>
                  <a:pt x="2796" y="15"/>
                </a:lnTo>
                <a:lnTo>
                  <a:pt x="2840" y="0"/>
                </a:lnTo>
                <a:lnTo>
                  <a:pt x="2884" y="7"/>
                </a:lnTo>
                <a:lnTo>
                  <a:pt x="2929" y="32"/>
                </a:lnTo>
                <a:lnTo>
                  <a:pt x="2973" y="63"/>
                </a:lnTo>
                <a:lnTo>
                  <a:pt x="3018" y="84"/>
                </a:lnTo>
                <a:lnTo>
                  <a:pt x="3062" y="86"/>
                </a:lnTo>
                <a:lnTo>
                  <a:pt x="3106" y="67"/>
                </a:lnTo>
                <a:lnTo>
                  <a:pt x="3151" y="37"/>
                </a:lnTo>
                <a:lnTo>
                  <a:pt x="3195" y="10"/>
                </a:lnTo>
                <a:lnTo>
                  <a:pt x="3239" y="0"/>
                </a:lnTo>
                <a:lnTo>
                  <a:pt x="3284" y="11"/>
                </a:lnTo>
                <a:lnTo>
                  <a:pt x="3328" y="39"/>
                </a:lnTo>
                <a:lnTo>
                  <a:pt x="3372" y="69"/>
                </a:lnTo>
                <a:lnTo>
                  <a:pt x="3417" y="87"/>
                </a:lnTo>
                <a:lnTo>
                  <a:pt x="3461" y="84"/>
                </a:lnTo>
                <a:lnTo>
                  <a:pt x="3506" y="61"/>
                </a:lnTo>
                <a:lnTo>
                  <a:pt x="3550" y="3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4572000" y="2977286"/>
            <a:ext cx="3246120" cy="1514246"/>
          </a:xfrm>
          <a:custGeom>
            <a:avLst/>
            <a:gdLst/>
            <a:ahLst/>
            <a:cxnLst/>
            <a:rect l="l" t="t" r="r" b="b"/>
            <a:pathLst>
              <a:path w="3550" h="1656">
                <a:moveTo>
                  <a:pt x="0" y="1656"/>
                </a:moveTo>
                <a:lnTo>
                  <a:pt x="44" y="1623"/>
                </a:lnTo>
                <a:lnTo>
                  <a:pt x="89" y="1596"/>
                </a:lnTo>
                <a:lnTo>
                  <a:pt x="133" y="1584"/>
                </a:lnTo>
                <a:lnTo>
                  <a:pt x="178" y="1583"/>
                </a:lnTo>
                <a:lnTo>
                  <a:pt x="222" y="1577"/>
                </a:lnTo>
                <a:lnTo>
                  <a:pt x="266" y="1535"/>
                </a:lnTo>
                <a:lnTo>
                  <a:pt x="311" y="1422"/>
                </a:lnTo>
                <a:lnTo>
                  <a:pt x="355" y="1212"/>
                </a:lnTo>
                <a:lnTo>
                  <a:pt x="399" y="918"/>
                </a:lnTo>
                <a:lnTo>
                  <a:pt x="444" y="604"/>
                </a:lnTo>
                <a:lnTo>
                  <a:pt x="488" y="351"/>
                </a:lnTo>
                <a:lnTo>
                  <a:pt x="532" y="194"/>
                </a:lnTo>
                <a:lnTo>
                  <a:pt x="577" y="124"/>
                </a:lnTo>
                <a:lnTo>
                  <a:pt x="621" y="105"/>
                </a:lnTo>
                <a:lnTo>
                  <a:pt x="666" y="105"/>
                </a:lnTo>
                <a:lnTo>
                  <a:pt x="710" y="100"/>
                </a:lnTo>
                <a:lnTo>
                  <a:pt x="754" y="79"/>
                </a:lnTo>
                <a:lnTo>
                  <a:pt x="799" y="48"/>
                </a:lnTo>
                <a:lnTo>
                  <a:pt x="843" y="17"/>
                </a:lnTo>
                <a:lnTo>
                  <a:pt x="888" y="1"/>
                </a:lnTo>
                <a:lnTo>
                  <a:pt x="932" y="7"/>
                </a:lnTo>
                <a:lnTo>
                  <a:pt x="976" y="31"/>
                </a:lnTo>
                <a:lnTo>
                  <a:pt x="1021" y="62"/>
                </a:lnTo>
                <a:lnTo>
                  <a:pt x="1065" y="84"/>
                </a:lnTo>
                <a:lnTo>
                  <a:pt x="1109" y="86"/>
                </a:lnTo>
                <a:lnTo>
                  <a:pt x="1154" y="68"/>
                </a:lnTo>
                <a:lnTo>
                  <a:pt x="1198" y="38"/>
                </a:lnTo>
                <a:lnTo>
                  <a:pt x="1242" y="11"/>
                </a:lnTo>
                <a:lnTo>
                  <a:pt x="1287" y="0"/>
                </a:lnTo>
                <a:lnTo>
                  <a:pt x="1331" y="11"/>
                </a:lnTo>
                <a:lnTo>
                  <a:pt x="1376" y="37"/>
                </a:lnTo>
                <a:lnTo>
                  <a:pt x="1420" y="68"/>
                </a:lnTo>
                <a:lnTo>
                  <a:pt x="1464" y="86"/>
                </a:lnTo>
                <a:lnTo>
                  <a:pt x="1509" y="84"/>
                </a:lnTo>
                <a:lnTo>
                  <a:pt x="1553" y="62"/>
                </a:lnTo>
                <a:lnTo>
                  <a:pt x="1598" y="32"/>
                </a:lnTo>
                <a:lnTo>
                  <a:pt x="1642" y="7"/>
                </a:lnTo>
                <a:lnTo>
                  <a:pt x="1686" y="0"/>
                </a:lnTo>
                <a:lnTo>
                  <a:pt x="1731" y="15"/>
                </a:lnTo>
                <a:lnTo>
                  <a:pt x="1775" y="44"/>
                </a:lnTo>
                <a:lnTo>
                  <a:pt x="1819" y="73"/>
                </a:lnTo>
                <a:lnTo>
                  <a:pt x="1864" y="88"/>
                </a:lnTo>
                <a:lnTo>
                  <a:pt x="1908" y="81"/>
                </a:lnTo>
                <a:lnTo>
                  <a:pt x="1953" y="56"/>
                </a:lnTo>
                <a:lnTo>
                  <a:pt x="1997" y="26"/>
                </a:lnTo>
                <a:lnTo>
                  <a:pt x="2041" y="4"/>
                </a:lnTo>
                <a:lnTo>
                  <a:pt x="2086" y="2"/>
                </a:lnTo>
                <a:lnTo>
                  <a:pt x="2130" y="20"/>
                </a:lnTo>
                <a:lnTo>
                  <a:pt x="2174" y="51"/>
                </a:lnTo>
                <a:lnTo>
                  <a:pt x="2219" y="77"/>
                </a:lnTo>
                <a:lnTo>
                  <a:pt x="2263" y="88"/>
                </a:lnTo>
                <a:lnTo>
                  <a:pt x="2308" y="77"/>
                </a:lnTo>
                <a:lnTo>
                  <a:pt x="2352" y="50"/>
                </a:lnTo>
                <a:lnTo>
                  <a:pt x="2396" y="20"/>
                </a:lnTo>
                <a:lnTo>
                  <a:pt x="2441" y="2"/>
                </a:lnTo>
                <a:lnTo>
                  <a:pt x="2485" y="4"/>
                </a:lnTo>
                <a:lnTo>
                  <a:pt x="2529" y="26"/>
                </a:lnTo>
                <a:lnTo>
                  <a:pt x="2574" y="57"/>
                </a:lnTo>
                <a:lnTo>
                  <a:pt x="2618" y="81"/>
                </a:lnTo>
                <a:lnTo>
                  <a:pt x="2662" y="87"/>
                </a:lnTo>
                <a:lnTo>
                  <a:pt x="2707" y="72"/>
                </a:lnTo>
                <a:lnTo>
                  <a:pt x="2751" y="43"/>
                </a:lnTo>
                <a:lnTo>
                  <a:pt x="2796" y="15"/>
                </a:lnTo>
                <a:lnTo>
                  <a:pt x="2840" y="0"/>
                </a:lnTo>
                <a:lnTo>
                  <a:pt x="2884" y="7"/>
                </a:lnTo>
                <a:lnTo>
                  <a:pt x="2929" y="32"/>
                </a:lnTo>
                <a:lnTo>
                  <a:pt x="2973" y="63"/>
                </a:lnTo>
                <a:lnTo>
                  <a:pt x="3018" y="84"/>
                </a:lnTo>
                <a:lnTo>
                  <a:pt x="3062" y="86"/>
                </a:lnTo>
                <a:lnTo>
                  <a:pt x="3106" y="67"/>
                </a:lnTo>
                <a:lnTo>
                  <a:pt x="3151" y="37"/>
                </a:lnTo>
                <a:lnTo>
                  <a:pt x="3195" y="10"/>
                </a:lnTo>
                <a:lnTo>
                  <a:pt x="3239" y="0"/>
                </a:lnTo>
                <a:lnTo>
                  <a:pt x="3284" y="11"/>
                </a:lnTo>
                <a:lnTo>
                  <a:pt x="3328" y="39"/>
                </a:lnTo>
                <a:lnTo>
                  <a:pt x="3372" y="69"/>
                </a:lnTo>
                <a:lnTo>
                  <a:pt x="3417" y="87"/>
                </a:lnTo>
                <a:lnTo>
                  <a:pt x="3461" y="84"/>
                </a:lnTo>
                <a:lnTo>
                  <a:pt x="3506" y="61"/>
                </a:lnTo>
                <a:lnTo>
                  <a:pt x="3550" y="3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4572000" y="2816352"/>
            <a:ext cx="3246120" cy="1514246"/>
          </a:xfrm>
          <a:custGeom>
            <a:avLst/>
            <a:gdLst/>
            <a:ahLst/>
            <a:cxnLst/>
            <a:rect l="l" t="t" r="r" b="b"/>
            <a:pathLst>
              <a:path w="3550" h="1656">
                <a:moveTo>
                  <a:pt x="0" y="1656"/>
                </a:moveTo>
                <a:lnTo>
                  <a:pt x="44" y="1623"/>
                </a:lnTo>
                <a:lnTo>
                  <a:pt x="89" y="1596"/>
                </a:lnTo>
                <a:lnTo>
                  <a:pt x="133" y="1584"/>
                </a:lnTo>
                <a:lnTo>
                  <a:pt x="178" y="1583"/>
                </a:lnTo>
                <a:lnTo>
                  <a:pt x="222" y="1577"/>
                </a:lnTo>
                <a:lnTo>
                  <a:pt x="266" y="1535"/>
                </a:lnTo>
                <a:lnTo>
                  <a:pt x="311" y="1422"/>
                </a:lnTo>
                <a:lnTo>
                  <a:pt x="355" y="1212"/>
                </a:lnTo>
                <a:lnTo>
                  <a:pt x="399" y="918"/>
                </a:lnTo>
                <a:lnTo>
                  <a:pt x="444" y="604"/>
                </a:lnTo>
                <a:lnTo>
                  <a:pt x="488" y="351"/>
                </a:lnTo>
                <a:lnTo>
                  <a:pt x="532" y="194"/>
                </a:lnTo>
                <a:lnTo>
                  <a:pt x="577" y="124"/>
                </a:lnTo>
                <a:lnTo>
                  <a:pt x="621" y="105"/>
                </a:lnTo>
                <a:lnTo>
                  <a:pt x="666" y="105"/>
                </a:lnTo>
                <a:lnTo>
                  <a:pt x="710" y="100"/>
                </a:lnTo>
                <a:lnTo>
                  <a:pt x="754" y="79"/>
                </a:lnTo>
                <a:lnTo>
                  <a:pt x="799" y="48"/>
                </a:lnTo>
                <a:lnTo>
                  <a:pt x="843" y="17"/>
                </a:lnTo>
                <a:lnTo>
                  <a:pt x="888" y="1"/>
                </a:lnTo>
                <a:lnTo>
                  <a:pt x="932" y="7"/>
                </a:lnTo>
                <a:lnTo>
                  <a:pt x="976" y="31"/>
                </a:lnTo>
                <a:lnTo>
                  <a:pt x="1021" y="62"/>
                </a:lnTo>
                <a:lnTo>
                  <a:pt x="1065" y="84"/>
                </a:lnTo>
                <a:lnTo>
                  <a:pt x="1109" y="86"/>
                </a:lnTo>
                <a:lnTo>
                  <a:pt x="1154" y="68"/>
                </a:lnTo>
                <a:lnTo>
                  <a:pt x="1198" y="38"/>
                </a:lnTo>
                <a:lnTo>
                  <a:pt x="1242" y="11"/>
                </a:lnTo>
                <a:lnTo>
                  <a:pt x="1287" y="0"/>
                </a:lnTo>
                <a:lnTo>
                  <a:pt x="1331" y="11"/>
                </a:lnTo>
                <a:lnTo>
                  <a:pt x="1376" y="37"/>
                </a:lnTo>
                <a:lnTo>
                  <a:pt x="1420" y="68"/>
                </a:lnTo>
                <a:lnTo>
                  <a:pt x="1464" y="86"/>
                </a:lnTo>
                <a:lnTo>
                  <a:pt x="1509" y="84"/>
                </a:lnTo>
                <a:lnTo>
                  <a:pt x="1553" y="62"/>
                </a:lnTo>
                <a:lnTo>
                  <a:pt x="1598" y="32"/>
                </a:lnTo>
                <a:lnTo>
                  <a:pt x="1642" y="7"/>
                </a:lnTo>
                <a:lnTo>
                  <a:pt x="1686" y="0"/>
                </a:lnTo>
                <a:lnTo>
                  <a:pt x="1731" y="15"/>
                </a:lnTo>
                <a:lnTo>
                  <a:pt x="1775" y="44"/>
                </a:lnTo>
                <a:lnTo>
                  <a:pt x="1819" y="73"/>
                </a:lnTo>
                <a:lnTo>
                  <a:pt x="1864" y="88"/>
                </a:lnTo>
                <a:lnTo>
                  <a:pt x="1908" y="81"/>
                </a:lnTo>
                <a:lnTo>
                  <a:pt x="1953" y="56"/>
                </a:lnTo>
                <a:lnTo>
                  <a:pt x="1997" y="26"/>
                </a:lnTo>
                <a:lnTo>
                  <a:pt x="2041" y="4"/>
                </a:lnTo>
                <a:lnTo>
                  <a:pt x="2086" y="2"/>
                </a:lnTo>
                <a:lnTo>
                  <a:pt x="2130" y="20"/>
                </a:lnTo>
                <a:lnTo>
                  <a:pt x="2174" y="51"/>
                </a:lnTo>
                <a:lnTo>
                  <a:pt x="2219" y="77"/>
                </a:lnTo>
                <a:lnTo>
                  <a:pt x="2263" y="88"/>
                </a:lnTo>
                <a:lnTo>
                  <a:pt x="2308" y="77"/>
                </a:lnTo>
                <a:lnTo>
                  <a:pt x="2352" y="50"/>
                </a:lnTo>
                <a:lnTo>
                  <a:pt x="2396" y="20"/>
                </a:lnTo>
                <a:lnTo>
                  <a:pt x="2441" y="2"/>
                </a:lnTo>
                <a:lnTo>
                  <a:pt x="2485" y="4"/>
                </a:lnTo>
                <a:lnTo>
                  <a:pt x="2529" y="26"/>
                </a:lnTo>
                <a:lnTo>
                  <a:pt x="2574" y="57"/>
                </a:lnTo>
                <a:lnTo>
                  <a:pt x="2618" y="81"/>
                </a:lnTo>
                <a:lnTo>
                  <a:pt x="2662" y="87"/>
                </a:lnTo>
                <a:lnTo>
                  <a:pt x="2707" y="72"/>
                </a:lnTo>
                <a:lnTo>
                  <a:pt x="2751" y="43"/>
                </a:lnTo>
                <a:lnTo>
                  <a:pt x="2796" y="15"/>
                </a:lnTo>
                <a:lnTo>
                  <a:pt x="2840" y="0"/>
                </a:lnTo>
                <a:lnTo>
                  <a:pt x="2884" y="7"/>
                </a:lnTo>
                <a:lnTo>
                  <a:pt x="2929" y="32"/>
                </a:lnTo>
                <a:lnTo>
                  <a:pt x="2973" y="63"/>
                </a:lnTo>
                <a:lnTo>
                  <a:pt x="3018" y="84"/>
                </a:lnTo>
                <a:lnTo>
                  <a:pt x="3062" y="86"/>
                </a:lnTo>
                <a:lnTo>
                  <a:pt x="3106" y="67"/>
                </a:lnTo>
                <a:lnTo>
                  <a:pt x="3151" y="37"/>
                </a:lnTo>
                <a:lnTo>
                  <a:pt x="3195" y="10"/>
                </a:lnTo>
                <a:lnTo>
                  <a:pt x="3239" y="0"/>
                </a:lnTo>
                <a:lnTo>
                  <a:pt x="3284" y="11"/>
                </a:lnTo>
                <a:lnTo>
                  <a:pt x="3328" y="39"/>
                </a:lnTo>
                <a:lnTo>
                  <a:pt x="3372" y="69"/>
                </a:lnTo>
                <a:lnTo>
                  <a:pt x="3417" y="87"/>
                </a:lnTo>
                <a:lnTo>
                  <a:pt x="3461" y="84"/>
                </a:lnTo>
                <a:lnTo>
                  <a:pt x="3506" y="61"/>
                </a:lnTo>
                <a:lnTo>
                  <a:pt x="3550" y="3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4572000" y="3150108"/>
            <a:ext cx="3246120" cy="1531620"/>
          </a:xfrm>
          <a:custGeom>
            <a:avLst/>
            <a:gdLst/>
            <a:ahLst/>
            <a:cxnLst/>
            <a:rect l="l" t="t" r="r" b="b"/>
            <a:pathLst>
              <a:path w="3550" h="1675">
                <a:moveTo>
                  <a:pt x="0" y="47"/>
                </a:moveTo>
                <a:lnTo>
                  <a:pt x="44" y="18"/>
                </a:lnTo>
                <a:lnTo>
                  <a:pt x="89" y="0"/>
                </a:lnTo>
                <a:lnTo>
                  <a:pt x="133" y="6"/>
                </a:lnTo>
                <a:lnTo>
                  <a:pt x="178" y="42"/>
                </a:lnTo>
                <a:lnTo>
                  <a:pt x="222" y="108"/>
                </a:lnTo>
                <a:lnTo>
                  <a:pt x="266" y="205"/>
                </a:lnTo>
                <a:lnTo>
                  <a:pt x="311" y="341"/>
                </a:lnTo>
                <a:lnTo>
                  <a:pt x="355" y="531"/>
                </a:lnTo>
                <a:lnTo>
                  <a:pt x="399" y="772"/>
                </a:lnTo>
                <a:lnTo>
                  <a:pt x="444" y="1025"/>
                </a:lnTo>
                <a:lnTo>
                  <a:pt x="488" y="1240"/>
                </a:lnTo>
                <a:lnTo>
                  <a:pt x="532" y="1400"/>
                </a:lnTo>
                <a:lnTo>
                  <a:pt x="577" y="1513"/>
                </a:lnTo>
                <a:lnTo>
                  <a:pt x="621" y="1593"/>
                </a:lnTo>
                <a:lnTo>
                  <a:pt x="666" y="1643"/>
                </a:lnTo>
                <a:lnTo>
                  <a:pt x="710" y="1663"/>
                </a:lnTo>
                <a:lnTo>
                  <a:pt x="754" y="1655"/>
                </a:lnTo>
                <a:lnTo>
                  <a:pt x="799" y="1629"/>
                </a:lnTo>
                <a:lnTo>
                  <a:pt x="843" y="1601"/>
                </a:lnTo>
                <a:lnTo>
                  <a:pt x="888" y="1587"/>
                </a:lnTo>
                <a:lnTo>
                  <a:pt x="932" y="1593"/>
                </a:lnTo>
                <a:lnTo>
                  <a:pt x="976" y="1618"/>
                </a:lnTo>
                <a:lnTo>
                  <a:pt x="1021" y="1649"/>
                </a:lnTo>
                <a:lnTo>
                  <a:pt x="1065" y="1671"/>
                </a:lnTo>
                <a:lnTo>
                  <a:pt x="1109" y="1673"/>
                </a:lnTo>
                <a:lnTo>
                  <a:pt x="1154" y="1655"/>
                </a:lnTo>
                <a:lnTo>
                  <a:pt x="1198" y="1625"/>
                </a:lnTo>
                <a:lnTo>
                  <a:pt x="1242" y="1598"/>
                </a:lnTo>
                <a:lnTo>
                  <a:pt x="1287" y="1587"/>
                </a:lnTo>
                <a:lnTo>
                  <a:pt x="1331" y="1598"/>
                </a:lnTo>
                <a:lnTo>
                  <a:pt x="1376" y="1624"/>
                </a:lnTo>
                <a:lnTo>
                  <a:pt x="1420" y="1655"/>
                </a:lnTo>
                <a:lnTo>
                  <a:pt x="1464" y="1673"/>
                </a:lnTo>
                <a:lnTo>
                  <a:pt x="1509" y="1671"/>
                </a:lnTo>
                <a:lnTo>
                  <a:pt x="1553" y="1649"/>
                </a:lnTo>
                <a:lnTo>
                  <a:pt x="1598" y="1619"/>
                </a:lnTo>
                <a:lnTo>
                  <a:pt x="1642" y="1594"/>
                </a:lnTo>
                <a:lnTo>
                  <a:pt x="1686" y="1587"/>
                </a:lnTo>
                <a:lnTo>
                  <a:pt x="1731" y="1602"/>
                </a:lnTo>
                <a:lnTo>
                  <a:pt x="1775" y="1631"/>
                </a:lnTo>
                <a:lnTo>
                  <a:pt x="1819" y="1660"/>
                </a:lnTo>
                <a:lnTo>
                  <a:pt x="1864" y="1675"/>
                </a:lnTo>
                <a:lnTo>
                  <a:pt x="1908" y="1668"/>
                </a:lnTo>
                <a:lnTo>
                  <a:pt x="1953" y="1643"/>
                </a:lnTo>
                <a:lnTo>
                  <a:pt x="1997" y="1613"/>
                </a:lnTo>
                <a:lnTo>
                  <a:pt x="2041" y="1591"/>
                </a:lnTo>
                <a:lnTo>
                  <a:pt x="2086" y="1589"/>
                </a:lnTo>
                <a:lnTo>
                  <a:pt x="2130" y="1607"/>
                </a:lnTo>
                <a:lnTo>
                  <a:pt x="2174" y="1638"/>
                </a:lnTo>
                <a:lnTo>
                  <a:pt x="2219" y="1664"/>
                </a:lnTo>
                <a:lnTo>
                  <a:pt x="2263" y="1675"/>
                </a:lnTo>
                <a:lnTo>
                  <a:pt x="2308" y="1664"/>
                </a:lnTo>
                <a:lnTo>
                  <a:pt x="2352" y="1637"/>
                </a:lnTo>
                <a:lnTo>
                  <a:pt x="2396" y="1607"/>
                </a:lnTo>
                <a:lnTo>
                  <a:pt x="2441" y="1589"/>
                </a:lnTo>
                <a:lnTo>
                  <a:pt x="2485" y="1591"/>
                </a:lnTo>
                <a:lnTo>
                  <a:pt x="2529" y="1613"/>
                </a:lnTo>
                <a:lnTo>
                  <a:pt x="2574" y="1644"/>
                </a:lnTo>
                <a:lnTo>
                  <a:pt x="2618" y="1668"/>
                </a:lnTo>
                <a:lnTo>
                  <a:pt x="2662" y="1674"/>
                </a:lnTo>
                <a:lnTo>
                  <a:pt x="2707" y="1659"/>
                </a:lnTo>
                <a:lnTo>
                  <a:pt x="2751" y="1630"/>
                </a:lnTo>
                <a:lnTo>
                  <a:pt x="2796" y="1602"/>
                </a:lnTo>
                <a:lnTo>
                  <a:pt x="2840" y="1587"/>
                </a:lnTo>
                <a:lnTo>
                  <a:pt x="2884" y="1594"/>
                </a:lnTo>
                <a:lnTo>
                  <a:pt x="2929" y="1619"/>
                </a:lnTo>
                <a:lnTo>
                  <a:pt x="2973" y="1650"/>
                </a:lnTo>
                <a:lnTo>
                  <a:pt x="3018" y="1671"/>
                </a:lnTo>
                <a:lnTo>
                  <a:pt x="3062" y="1673"/>
                </a:lnTo>
                <a:lnTo>
                  <a:pt x="3106" y="1654"/>
                </a:lnTo>
                <a:lnTo>
                  <a:pt x="3151" y="1624"/>
                </a:lnTo>
                <a:lnTo>
                  <a:pt x="3195" y="1597"/>
                </a:lnTo>
                <a:lnTo>
                  <a:pt x="3239" y="1587"/>
                </a:lnTo>
                <a:lnTo>
                  <a:pt x="3284" y="1598"/>
                </a:lnTo>
                <a:lnTo>
                  <a:pt x="3328" y="1626"/>
                </a:lnTo>
                <a:lnTo>
                  <a:pt x="3372" y="1656"/>
                </a:lnTo>
                <a:lnTo>
                  <a:pt x="3417" y="1674"/>
                </a:lnTo>
                <a:lnTo>
                  <a:pt x="3461" y="1671"/>
                </a:lnTo>
                <a:lnTo>
                  <a:pt x="3506" y="1648"/>
                </a:lnTo>
                <a:lnTo>
                  <a:pt x="3550" y="1617"/>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4572000" y="2989174"/>
            <a:ext cx="3246120" cy="1531620"/>
          </a:xfrm>
          <a:custGeom>
            <a:avLst/>
            <a:gdLst/>
            <a:ahLst/>
            <a:cxnLst/>
            <a:rect l="l" t="t" r="r" b="b"/>
            <a:pathLst>
              <a:path w="3550" h="1675">
                <a:moveTo>
                  <a:pt x="0" y="47"/>
                </a:moveTo>
                <a:lnTo>
                  <a:pt x="44" y="18"/>
                </a:lnTo>
                <a:lnTo>
                  <a:pt x="89" y="0"/>
                </a:lnTo>
                <a:lnTo>
                  <a:pt x="133" y="6"/>
                </a:lnTo>
                <a:lnTo>
                  <a:pt x="178" y="42"/>
                </a:lnTo>
                <a:lnTo>
                  <a:pt x="222" y="108"/>
                </a:lnTo>
                <a:lnTo>
                  <a:pt x="266" y="205"/>
                </a:lnTo>
                <a:lnTo>
                  <a:pt x="311" y="341"/>
                </a:lnTo>
                <a:lnTo>
                  <a:pt x="355" y="531"/>
                </a:lnTo>
                <a:lnTo>
                  <a:pt x="399" y="772"/>
                </a:lnTo>
                <a:lnTo>
                  <a:pt x="444" y="1025"/>
                </a:lnTo>
                <a:lnTo>
                  <a:pt x="488" y="1240"/>
                </a:lnTo>
                <a:lnTo>
                  <a:pt x="532" y="1400"/>
                </a:lnTo>
                <a:lnTo>
                  <a:pt x="577" y="1513"/>
                </a:lnTo>
                <a:lnTo>
                  <a:pt x="621" y="1593"/>
                </a:lnTo>
                <a:lnTo>
                  <a:pt x="666" y="1643"/>
                </a:lnTo>
                <a:lnTo>
                  <a:pt x="710" y="1663"/>
                </a:lnTo>
                <a:lnTo>
                  <a:pt x="754" y="1655"/>
                </a:lnTo>
                <a:lnTo>
                  <a:pt x="799" y="1629"/>
                </a:lnTo>
                <a:lnTo>
                  <a:pt x="843" y="1601"/>
                </a:lnTo>
                <a:lnTo>
                  <a:pt x="888" y="1587"/>
                </a:lnTo>
                <a:lnTo>
                  <a:pt x="932" y="1593"/>
                </a:lnTo>
                <a:lnTo>
                  <a:pt x="976" y="1618"/>
                </a:lnTo>
                <a:lnTo>
                  <a:pt x="1021" y="1649"/>
                </a:lnTo>
                <a:lnTo>
                  <a:pt x="1065" y="1671"/>
                </a:lnTo>
                <a:lnTo>
                  <a:pt x="1109" y="1673"/>
                </a:lnTo>
                <a:lnTo>
                  <a:pt x="1154" y="1655"/>
                </a:lnTo>
                <a:lnTo>
                  <a:pt x="1198" y="1625"/>
                </a:lnTo>
                <a:lnTo>
                  <a:pt x="1242" y="1598"/>
                </a:lnTo>
                <a:lnTo>
                  <a:pt x="1287" y="1587"/>
                </a:lnTo>
                <a:lnTo>
                  <a:pt x="1331" y="1598"/>
                </a:lnTo>
                <a:lnTo>
                  <a:pt x="1376" y="1624"/>
                </a:lnTo>
                <a:lnTo>
                  <a:pt x="1420" y="1655"/>
                </a:lnTo>
                <a:lnTo>
                  <a:pt x="1464" y="1673"/>
                </a:lnTo>
                <a:lnTo>
                  <a:pt x="1509" y="1671"/>
                </a:lnTo>
                <a:lnTo>
                  <a:pt x="1553" y="1649"/>
                </a:lnTo>
                <a:lnTo>
                  <a:pt x="1598" y="1619"/>
                </a:lnTo>
                <a:lnTo>
                  <a:pt x="1642" y="1594"/>
                </a:lnTo>
                <a:lnTo>
                  <a:pt x="1686" y="1587"/>
                </a:lnTo>
                <a:lnTo>
                  <a:pt x="1731" y="1602"/>
                </a:lnTo>
                <a:lnTo>
                  <a:pt x="1775" y="1631"/>
                </a:lnTo>
                <a:lnTo>
                  <a:pt x="1819" y="1660"/>
                </a:lnTo>
                <a:lnTo>
                  <a:pt x="1864" y="1675"/>
                </a:lnTo>
                <a:lnTo>
                  <a:pt x="1908" y="1668"/>
                </a:lnTo>
                <a:lnTo>
                  <a:pt x="1953" y="1643"/>
                </a:lnTo>
                <a:lnTo>
                  <a:pt x="1997" y="1613"/>
                </a:lnTo>
                <a:lnTo>
                  <a:pt x="2041" y="1591"/>
                </a:lnTo>
                <a:lnTo>
                  <a:pt x="2086" y="1589"/>
                </a:lnTo>
                <a:lnTo>
                  <a:pt x="2130" y="1607"/>
                </a:lnTo>
                <a:lnTo>
                  <a:pt x="2174" y="1638"/>
                </a:lnTo>
                <a:lnTo>
                  <a:pt x="2219" y="1664"/>
                </a:lnTo>
                <a:lnTo>
                  <a:pt x="2263" y="1675"/>
                </a:lnTo>
                <a:lnTo>
                  <a:pt x="2308" y="1664"/>
                </a:lnTo>
                <a:lnTo>
                  <a:pt x="2352" y="1637"/>
                </a:lnTo>
                <a:lnTo>
                  <a:pt x="2396" y="1607"/>
                </a:lnTo>
                <a:lnTo>
                  <a:pt x="2441" y="1589"/>
                </a:lnTo>
                <a:lnTo>
                  <a:pt x="2485" y="1591"/>
                </a:lnTo>
                <a:lnTo>
                  <a:pt x="2529" y="1613"/>
                </a:lnTo>
                <a:lnTo>
                  <a:pt x="2574" y="1644"/>
                </a:lnTo>
                <a:lnTo>
                  <a:pt x="2618" y="1668"/>
                </a:lnTo>
                <a:lnTo>
                  <a:pt x="2662" y="1674"/>
                </a:lnTo>
                <a:lnTo>
                  <a:pt x="2707" y="1659"/>
                </a:lnTo>
                <a:lnTo>
                  <a:pt x="2751" y="1630"/>
                </a:lnTo>
                <a:lnTo>
                  <a:pt x="2796" y="1602"/>
                </a:lnTo>
                <a:lnTo>
                  <a:pt x="2840" y="1587"/>
                </a:lnTo>
                <a:lnTo>
                  <a:pt x="2884" y="1594"/>
                </a:lnTo>
                <a:lnTo>
                  <a:pt x="2929" y="1619"/>
                </a:lnTo>
                <a:lnTo>
                  <a:pt x="2973" y="1650"/>
                </a:lnTo>
                <a:lnTo>
                  <a:pt x="3018" y="1671"/>
                </a:lnTo>
                <a:lnTo>
                  <a:pt x="3062" y="1673"/>
                </a:lnTo>
                <a:lnTo>
                  <a:pt x="3106" y="1654"/>
                </a:lnTo>
                <a:lnTo>
                  <a:pt x="3151" y="1624"/>
                </a:lnTo>
                <a:lnTo>
                  <a:pt x="3195" y="1597"/>
                </a:lnTo>
                <a:lnTo>
                  <a:pt x="3239" y="1587"/>
                </a:lnTo>
                <a:lnTo>
                  <a:pt x="3284" y="1598"/>
                </a:lnTo>
                <a:lnTo>
                  <a:pt x="3328" y="1626"/>
                </a:lnTo>
                <a:lnTo>
                  <a:pt x="3372" y="1656"/>
                </a:lnTo>
                <a:lnTo>
                  <a:pt x="3417" y="1674"/>
                </a:lnTo>
                <a:lnTo>
                  <a:pt x="3461" y="1671"/>
                </a:lnTo>
                <a:lnTo>
                  <a:pt x="3506" y="1648"/>
                </a:lnTo>
                <a:lnTo>
                  <a:pt x="3550" y="1617"/>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4572000" y="2828239"/>
            <a:ext cx="3246120" cy="1531620"/>
          </a:xfrm>
          <a:custGeom>
            <a:avLst/>
            <a:gdLst/>
            <a:ahLst/>
            <a:cxnLst/>
            <a:rect l="l" t="t" r="r" b="b"/>
            <a:pathLst>
              <a:path w="3550" h="1675">
                <a:moveTo>
                  <a:pt x="0" y="47"/>
                </a:moveTo>
                <a:lnTo>
                  <a:pt x="44" y="18"/>
                </a:lnTo>
                <a:lnTo>
                  <a:pt x="89" y="0"/>
                </a:lnTo>
                <a:lnTo>
                  <a:pt x="133" y="6"/>
                </a:lnTo>
                <a:lnTo>
                  <a:pt x="178" y="42"/>
                </a:lnTo>
                <a:lnTo>
                  <a:pt x="222" y="108"/>
                </a:lnTo>
                <a:lnTo>
                  <a:pt x="266" y="205"/>
                </a:lnTo>
                <a:lnTo>
                  <a:pt x="311" y="341"/>
                </a:lnTo>
                <a:lnTo>
                  <a:pt x="355" y="531"/>
                </a:lnTo>
                <a:lnTo>
                  <a:pt x="399" y="772"/>
                </a:lnTo>
                <a:lnTo>
                  <a:pt x="444" y="1025"/>
                </a:lnTo>
                <a:lnTo>
                  <a:pt x="488" y="1240"/>
                </a:lnTo>
                <a:lnTo>
                  <a:pt x="532" y="1400"/>
                </a:lnTo>
                <a:lnTo>
                  <a:pt x="577" y="1513"/>
                </a:lnTo>
                <a:lnTo>
                  <a:pt x="621" y="1593"/>
                </a:lnTo>
                <a:lnTo>
                  <a:pt x="666" y="1643"/>
                </a:lnTo>
                <a:lnTo>
                  <a:pt x="710" y="1663"/>
                </a:lnTo>
                <a:lnTo>
                  <a:pt x="754" y="1655"/>
                </a:lnTo>
                <a:lnTo>
                  <a:pt x="799" y="1629"/>
                </a:lnTo>
                <a:lnTo>
                  <a:pt x="843" y="1601"/>
                </a:lnTo>
                <a:lnTo>
                  <a:pt x="888" y="1587"/>
                </a:lnTo>
                <a:lnTo>
                  <a:pt x="932" y="1593"/>
                </a:lnTo>
                <a:lnTo>
                  <a:pt x="976" y="1618"/>
                </a:lnTo>
                <a:lnTo>
                  <a:pt x="1021" y="1649"/>
                </a:lnTo>
                <a:lnTo>
                  <a:pt x="1065" y="1671"/>
                </a:lnTo>
                <a:lnTo>
                  <a:pt x="1109" y="1673"/>
                </a:lnTo>
                <a:lnTo>
                  <a:pt x="1154" y="1655"/>
                </a:lnTo>
                <a:lnTo>
                  <a:pt x="1198" y="1625"/>
                </a:lnTo>
                <a:lnTo>
                  <a:pt x="1242" y="1598"/>
                </a:lnTo>
                <a:lnTo>
                  <a:pt x="1287" y="1587"/>
                </a:lnTo>
                <a:lnTo>
                  <a:pt x="1331" y="1598"/>
                </a:lnTo>
                <a:lnTo>
                  <a:pt x="1376" y="1624"/>
                </a:lnTo>
                <a:lnTo>
                  <a:pt x="1420" y="1655"/>
                </a:lnTo>
                <a:lnTo>
                  <a:pt x="1464" y="1673"/>
                </a:lnTo>
                <a:lnTo>
                  <a:pt x="1509" y="1671"/>
                </a:lnTo>
                <a:lnTo>
                  <a:pt x="1553" y="1649"/>
                </a:lnTo>
                <a:lnTo>
                  <a:pt x="1598" y="1619"/>
                </a:lnTo>
                <a:lnTo>
                  <a:pt x="1642" y="1594"/>
                </a:lnTo>
                <a:lnTo>
                  <a:pt x="1686" y="1587"/>
                </a:lnTo>
                <a:lnTo>
                  <a:pt x="1731" y="1602"/>
                </a:lnTo>
                <a:lnTo>
                  <a:pt x="1775" y="1631"/>
                </a:lnTo>
                <a:lnTo>
                  <a:pt x="1819" y="1660"/>
                </a:lnTo>
                <a:lnTo>
                  <a:pt x="1864" y="1675"/>
                </a:lnTo>
                <a:lnTo>
                  <a:pt x="1908" y="1668"/>
                </a:lnTo>
                <a:lnTo>
                  <a:pt x="1953" y="1643"/>
                </a:lnTo>
                <a:lnTo>
                  <a:pt x="1997" y="1613"/>
                </a:lnTo>
                <a:lnTo>
                  <a:pt x="2041" y="1591"/>
                </a:lnTo>
                <a:lnTo>
                  <a:pt x="2086" y="1589"/>
                </a:lnTo>
                <a:lnTo>
                  <a:pt x="2130" y="1607"/>
                </a:lnTo>
                <a:lnTo>
                  <a:pt x="2174" y="1638"/>
                </a:lnTo>
                <a:lnTo>
                  <a:pt x="2219" y="1664"/>
                </a:lnTo>
                <a:lnTo>
                  <a:pt x="2263" y="1675"/>
                </a:lnTo>
                <a:lnTo>
                  <a:pt x="2308" y="1664"/>
                </a:lnTo>
                <a:lnTo>
                  <a:pt x="2352" y="1637"/>
                </a:lnTo>
                <a:lnTo>
                  <a:pt x="2396" y="1607"/>
                </a:lnTo>
                <a:lnTo>
                  <a:pt x="2441" y="1589"/>
                </a:lnTo>
                <a:lnTo>
                  <a:pt x="2485" y="1591"/>
                </a:lnTo>
                <a:lnTo>
                  <a:pt x="2529" y="1613"/>
                </a:lnTo>
                <a:lnTo>
                  <a:pt x="2574" y="1644"/>
                </a:lnTo>
                <a:lnTo>
                  <a:pt x="2618" y="1668"/>
                </a:lnTo>
                <a:lnTo>
                  <a:pt x="2662" y="1674"/>
                </a:lnTo>
                <a:lnTo>
                  <a:pt x="2707" y="1659"/>
                </a:lnTo>
                <a:lnTo>
                  <a:pt x="2751" y="1630"/>
                </a:lnTo>
                <a:lnTo>
                  <a:pt x="2796" y="1602"/>
                </a:lnTo>
                <a:lnTo>
                  <a:pt x="2840" y="1587"/>
                </a:lnTo>
                <a:lnTo>
                  <a:pt x="2884" y="1594"/>
                </a:lnTo>
                <a:lnTo>
                  <a:pt x="2929" y="1619"/>
                </a:lnTo>
                <a:lnTo>
                  <a:pt x="2973" y="1650"/>
                </a:lnTo>
                <a:lnTo>
                  <a:pt x="3018" y="1671"/>
                </a:lnTo>
                <a:lnTo>
                  <a:pt x="3062" y="1673"/>
                </a:lnTo>
                <a:lnTo>
                  <a:pt x="3106" y="1654"/>
                </a:lnTo>
                <a:lnTo>
                  <a:pt x="3151" y="1624"/>
                </a:lnTo>
                <a:lnTo>
                  <a:pt x="3195" y="1597"/>
                </a:lnTo>
                <a:lnTo>
                  <a:pt x="3239" y="1587"/>
                </a:lnTo>
                <a:lnTo>
                  <a:pt x="3284" y="1598"/>
                </a:lnTo>
                <a:lnTo>
                  <a:pt x="3328" y="1626"/>
                </a:lnTo>
                <a:lnTo>
                  <a:pt x="3372" y="1656"/>
                </a:lnTo>
                <a:lnTo>
                  <a:pt x="3417" y="1674"/>
                </a:lnTo>
                <a:lnTo>
                  <a:pt x="3461" y="1671"/>
                </a:lnTo>
                <a:lnTo>
                  <a:pt x="3506" y="1648"/>
                </a:lnTo>
                <a:lnTo>
                  <a:pt x="3550" y="1617"/>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4572000" y="3140050"/>
            <a:ext cx="3246120" cy="1541678"/>
          </a:xfrm>
          <a:custGeom>
            <a:avLst/>
            <a:gdLst/>
            <a:ahLst/>
            <a:cxnLst/>
            <a:rect l="l" t="t" r="r" b="b"/>
            <a:pathLst>
              <a:path w="3550" h="1686">
                <a:moveTo>
                  <a:pt x="0" y="0"/>
                </a:moveTo>
                <a:lnTo>
                  <a:pt x="44" y="16"/>
                </a:lnTo>
                <a:lnTo>
                  <a:pt x="89" y="49"/>
                </a:lnTo>
                <a:lnTo>
                  <a:pt x="133" y="88"/>
                </a:lnTo>
                <a:lnTo>
                  <a:pt x="178" y="121"/>
                </a:lnTo>
                <a:lnTo>
                  <a:pt x="222" y="152"/>
                </a:lnTo>
                <a:lnTo>
                  <a:pt x="266" y="197"/>
                </a:lnTo>
                <a:lnTo>
                  <a:pt x="311" y="291"/>
                </a:lnTo>
                <a:lnTo>
                  <a:pt x="355" y="469"/>
                </a:lnTo>
                <a:lnTo>
                  <a:pt x="399" y="733"/>
                </a:lnTo>
                <a:lnTo>
                  <a:pt x="444" y="1034"/>
                </a:lnTo>
                <a:lnTo>
                  <a:pt x="488" y="1299"/>
                </a:lnTo>
                <a:lnTo>
                  <a:pt x="532" y="1484"/>
                </a:lnTo>
                <a:lnTo>
                  <a:pt x="577" y="1587"/>
                </a:lnTo>
                <a:lnTo>
                  <a:pt x="621" y="1626"/>
                </a:lnTo>
                <a:lnTo>
                  <a:pt x="666" y="1625"/>
                </a:lnTo>
                <a:lnTo>
                  <a:pt x="710" y="1607"/>
                </a:lnTo>
                <a:lnTo>
                  <a:pt x="754" y="1594"/>
                </a:lnTo>
                <a:lnTo>
                  <a:pt x="799" y="1599"/>
                </a:lnTo>
                <a:lnTo>
                  <a:pt x="843" y="1622"/>
                </a:lnTo>
                <a:lnTo>
                  <a:pt x="888" y="1653"/>
                </a:lnTo>
                <a:lnTo>
                  <a:pt x="932" y="1678"/>
                </a:lnTo>
                <a:lnTo>
                  <a:pt x="976" y="1685"/>
                </a:lnTo>
                <a:lnTo>
                  <a:pt x="1021" y="1671"/>
                </a:lnTo>
                <a:lnTo>
                  <a:pt x="1065" y="1642"/>
                </a:lnTo>
                <a:lnTo>
                  <a:pt x="1109" y="1613"/>
                </a:lnTo>
                <a:lnTo>
                  <a:pt x="1154" y="1598"/>
                </a:lnTo>
                <a:lnTo>
                  <a:pt x="1198" y="1605"/>
                </a:lnTo>
                <a:lnTo>
                  <a:pt x="1242" y="1629"/>
                </a:lnTo>
                <a:lnTo>
                  <a:pt x="1287" y="1660"/>
                </a:lnTo>
                <a:lnTo>
                  <a:pt x="1331" y="1682"/>
                </a:lnTo>
                <a:lnTo>
                  <a:pt x="1376" y="1684"/>
                </a:lnTo>
                <a:lnTo>
                  <a:pt x="1420" y="1666"/>
                </a:lnTo>
                <a:lnTo>
                  <a:pt x="1464" y="1636"/>
                </a:lnTo>
                <a:lnTo>
                  <a:pt x="1509" y="1609"/>
                </a:lnTo>
                <a:lnTo>
                  <a:pt x="1553" y="1598"/>
                </a:lnTo>
                <a:lnTo>
                  <a:pt x="1598" y="1609"/>
                </a:lnTo>
                <a:lnTo>
                  <a:pt x="1642" y="1636"/>
                </a:lnTo>
                <a:lnTo>
                  <a:pt x="1686" y="1666"/>
                </a:lnTo>
                <a:lnTo>
                  <a:pt x="1731" y="1684"/>
                </a:lnTo>
                <a:lnTo>
                  <a:pt x="1775" y="1682"/>
                </a:lnTo>
                <a:lnTo>
                  <a:pt x="1819" y="1660"/>
                </a:lnTo>
                <a:lnTo>
                  <a:pt x="1864" y="1630"/>
                </a:lnTo>
                <a:lnTo>
                  <a:pt x="1908" y="1605"/>
                </a:lnTo>
                <a:lnTo>
                  <a:pt x="1953" y="1598"/>
                </a:lnTo>
                <a:lnTo>
                  <a:pt x="1997" y="1613"/>
                </a:lnTo>
                <a:lnTo>
                  <a:pt x="2041" y="1642"/>
                </a:lnTo>
                <a:lnTo>
                  <a:pt x="2086" y="1671"/>
                </a:lnTo>
                <a:lnTo>
                  <a:pt x="2130" y="1686"/>
                </a:lnTo>
                <a:lnTo>
                  <a:pt x="2174" y="1679"/>
                </a:lnTo>
                <a:lnTo>
                  <a:pt x="2219" y="1654"/>
                </a:lnTo>
                <a:lnTo>
                  <a:pt x="2263" y="1623"/>
                </a:lnTo>
                <a:lnTo>
                  <a:pt x="2308" y="1602"/>
                </a:lnTo>
                <a:lnTo>
                  <a:pt x="2352" y="1600"/>
                </a:lnTo>
                <a:lnTo>
                  <a:pt x="2396" y="1619"/>
                </a:lnTo>
                <a:lnTo>
                  <a:pt x="2441" y="1649"/>
                </a:lnTo>
                <a:lnTo>
                  <a:pt x="2485" y="1676"/>
                </a:lnTo>
                <a:lnTo>
                  <a:pt x="2529" y="1686"/>
                </a:lnTo>
                <a:lnTo>
                  <a:pt x="2574" y="1675"/>
                </a:lnTo>
                <a:lnTo>
                  <a:pt x="2618" y="1647"/>
                </a:lnTo>
                <a:lnTo>
                  <a:pt x="2662" y="1617"/>
                </a:lnTo>
                <a:lnTo>
                  <a:pt x="2707" y="1598"/>
                </a:lnTo>
                <a:lnTo>
                  <a:pt x="2751" y="1599"/>
                </a:lnTo>
                <a:lnTo>
                  <a:pt x="2796" y="1619"/>
                </a:lnTo>
                <a:lnTo>
                  <a:pt x="2840" y="1643"/>
                </a:lnTo>
                <a:lnTo>
                  <a:pt x="2884" y="1655"/>
                </a:lnTo>
                <a:lnTo>
                  <a:pt x="2929" y="1636"/>
                </a:lnTo>
                <a:lnTo>
                  <a:pt x="2973" y="1571"/>
                </a:lnTo>
                <a:lnTo>
                  <a:pt x="3018" y="1450"/>
                </a:lnTo>
                <a:lnTo>
                  <a:pt x="3062" y="1264"/>
                </a:lnTo>
                <a:lnTo>
                  <a:pt x="3106" y="1015"/>
                </a:lnTo>
                <a:lnTo>
                  <a:pt x="3151" y="739"/>
                </a:lnTo>
                <a:lnTo>
                  <a:pt x="3195" y="497"/>
                </a:lnTo>
                <a:lnTo>
                  <a:pt x="3239" y="328"/>
                </a:lnTo>
                <a:lnTo>
                  <a:pt x="3284" y="224"/>
                </a:lnTo>
                <a:lnTo>
                  <a:pt x="3328" y="156"/>
                </a:lnTo>
                <a:lnTo>
                  <a:pt x="3372" y="101"/>
                </a:lnTo>
                <a:lnTo>
                  <a:pt x="3417" y="52"/>
                </a:lnTo>
                <a:lnTo>
                  <a:pt x="3461" y="17"/>
                </a:lnTo>
                <a:lnTo>
                  <a:pt x="3506" y="2"/>
                </a:lnTo>
                <a:lnTo>
                  <a:pt x="3550" y="12"/>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4572000" y="2979115"/>
            <a:ext cx="3246120" cy="1541678"/>
          </a:xfrm>
          <a:custGeom>
            <a:avLst/>
            <a:gdLst/>
            <a:ahLst/>
            <a:cxnLst/>
            <a:rect l="l" t="t" r="r" b="b"/>
            <a:pathLst>
              <a:path w="3550" h="1686">
                <a:moveTo>
                  <a:pt x="0" y="0"/>
                </a:moveTo>
                <a:lnTo>
                  <a:pt x="44" y="16"/>
                </a:lnTo>
                <a:lnTo>
                  <a:pt x="89" y="49"/>
                </a:lnTo>
                <a:lnTo>
                  <a:pt x="133" y="88"/>
                </a:lnTo>
                <a:lnTo>
                  <a:pt x="178" y="121"/>
                </a:lnTo>
                <a:lnTo>
                  <a:pt x="222" y="152"/>
                </a:lnTo>
                <a:lnTo>
                  <a:pt x="266" y="197"/>
                </a:lnTo>
                <a:lnTo>
                  <a:pt x="311" y="291"/>
                </a:lnTo>
                <a:lnTo>
                  <a:pt x="355" y="469"/>
                </a:lnTo>
                <a:lnTo>
                  <a:pt x="399" y="733"/>
                </a:lnTo>
                <a:lnTo>
                  <a:pt x="444" y="1034"/>
                </a:lnTo>
                <a:lnTo>
                  <a:pt x="488" y="1299"/>
                </a:lnTo>
                <a:lnTo>
                  <a:pt x="532" y="1484"/>
                </a:lnTo>
                <a:lnTo>
                  <a:pt x="577" y="1587"/>
                </a:lnTo>
                <a:lnTo>
                  <a:pt x="621" y="1626"/>
                </a:lnTo>
                <a:lnTo>
                  <a:pt x="666" y="1625"/>
                </a:lnTo>
                <a:lnTo>
                  <a:pt x="710" y="1607"/>
                </a:lnTo>
                <a:lnTo>
                  <a:pt x="754" y="1594"/>
                </a:lnTo>
                <a:lnTo>
                  <a:pt x="799" y="1599"/>
                </a:lnTo>
                <a:lnTo>
                  <a:pt x="843" y="1622"/>
                </a:lnTo>
                <a:lnTo>
                  <a:pt x="888" y="1653"/>
                </a:lnTo>
                <a:lnTo>
                  <a:pt x="932" y="1678"/>
                </a:lnTo>
                <a:lnTo>
                  <a:pt x="976" y="1685"/>
                </a:lnTo>
                <a:lnTo>
                  <a:pt x="1021" y="1671"/>
                </a:lnTo>
                <a:lnTo>
                  <a:pt x="1065" y="1642"/>
                </a:lnTo>
                <a:lnTo>
                  <a:pt x="1109" y="1613"/>
                </a:lnTo>
                <a:lnTo>
                  <a:pt x="1154" y="1598"/>
                </a:lnTo>
                <a:lnTo>
                  <a:pt x="1198" y="1605"/>
                </a:lnTo>
                <a:lnTo>
                  <a:pt x="1242" y="1629"/>
                </a:lnTo>
                <a:lnTo>
                  <a:pt x="1287" y="1660"/>
                </a:lnTo>
                <a:lnTo>
                  <a:pt x="1331" y="1682"/>
                </a:lnTo>
                <a:lnTo>
                  <a:pt x="1376" y="1684"/>
                </a:lnTo>
                <a:lnTo>
                  <a:pt x="1420" y="1666"/>
                </a:lnTo>
                <a:lnTo>
                  <a:pt x="1464" y="1636"/>
                </a:lnTo>
                <a:lnTo>
                  <a:pt x="1509" y="1609"/>
                </a:lnTo>
                <a:lnTo>
                  <a:pt x="1553" y="1598"/>
                </a:lnTo>
                <a:lnTo>
                  <a:pt x="1598" y="1609"/>
                </a:lnTo>
                <a:lnTo>
                  <a:pt x="1642" y="1636"/>
                </a:lnTo>
                <a:lnTo>
                  <a:pt x="1686" y="1666"/>
                </a:lnTo>
                <a:lnTo>
                  <a:pt x="1731" y="1684"/>
                </a:lnTo>
                <a:lnTo>
                  <a:pt x="1775" y="1682"/>
                </a:lnTo>
                <a:lnTo>
                  <a:pt x="1819" y="1660"/>
                </a:lnTo>
                <a:lnTo>
                  <a:pt x="1864" y="1630"/>
                </a:lnTo>
                <a:lnTo>
                  <a:pt x="1908" y="1605"/>
                </a:lnTo>
                <a:lnTo>
                  <a:pt x="1953" y="1598"/>
                </a:lnTo>
                <a:lnTo>
                  <a:pt x="1997" y="1613"/>
                </a:lnTo>
                <a:lnTo>
                  <a:pt x="2041" y="1642"/>
                </a:lnTo>
                <a:lnTo>
                  <a:pt x="2086" y="1671"/>
                </a:lnTo>
                <a:lnTo>
                  <a:pt x="2130" y="1686"/>
                </a:lnTo>
                <a:lnTo>
                  <a:pt x="2174" y="1679"/>
                </a:lnTo>
                <a:lnTo>
                  <a:pt x="2219" y="1654"/>
                </a:lnTo>
                <a:lnTo>
                  <a:pt x="2263" y="1623"/>
                </a:lnTo>
                <a:lnTo>
                  <a:pt x="2308" y="1602"/>
                </a:lnTo>
                <a:lnTo>
                  <a:pt x="2352" y="1600"/>
                </a:lnTo>
                <a:lnTo>
                  <a:pt x="2396" y="1619"/>
                </a:lnTo>
                <a:lnTo>
                  <a:pt x="2441" y="1649"/>
                </a:lnTo>
                <a:lnTo>
                  <a:pt x="2485" y="1676"/>
                </a:lnTo>
                <a:lnTo>
                  <a:pt x="2529" y="1686"/>
                </a:lnTo>
                <a:lnTo>
                  <a:pt x="2574" y="1675"/>
                </a:lnTo>
                <a:lnTo>
                  <a:pt x="2618" y="1647"/>
                </a:lnTo>
                <a:lnTo>
                  <a:pt x="2662" y="1617"/>
                </a:lnTo>
                <a:lnTo>
                  <a:pt x="2707" y="1598"/>
                </a:lnTo>
                <a:lnTo>
                  <a:pt x="2751" y="1599"/>
                </a:lnTo>
                <a:lnTo>
                  <a:pt x="2796" y="1619"/>
                </a:lnTo>
                <a:lnTo>
                  <a:pt x="2840" y="1643"/>
                </a:lnTo>
                <a:lnTo>
                  <a:pt x="2884" y="1655"/>
                </a:lnTo>
                <a:lnTo>
                  <a:pt x="2929" y="1636"/>
                </a:lnTo>
                <a:lnTo>
                  <a:pt x="2973" y="1571"/>
                </a:lnTo>
                <a:lnTo>
                  <a:pt x="3018" y="1450"/>
                </a:lnTo>
                <a:lnTo>
                  <a:pt x="3062" y="1264"/>
                </a:lnTo>
                <a:lnTo>
                  <a:pt x="3106" y="1015"/>
                </a:lnTo>
                <a:lnTo>
                  <a:pt x="3151" y="739"/>
                </a:lnTo>
                <a:lnTo>
                  <a:pt x="3195" y="497"/>
                </a:lnTo>
                <a:lnTo>
                  <a:pt x="3239" y="328"/>
                </a:lnTo>
                <a:lnTo>
                  <a:pt x="3284" y="224"/>
                </a:lnTo>
                <a:lnTo>
                  <a:pt x="3328" y="156"/>
                </a:lnTo>
                <a:lnTo>
                  <a:pt x="3372" y="101"/>
                </a:lnTo>
                <a:lnTo>
                  <a:pt x="3417" y="52"/>
                </a:lnTo>
                <a:lnTo>
                  <a:pt x="3461" y="17"/>
                </a:lnTo>
                <a:lnTo>
                  <a:pt x="3506" y="2"/>
                </a:lnTo>
                <a:lnTo>
                  <a:pt x="3550" y="12"/>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4572000" y="2818181"/>
            <a:ext cx="3246120" cy="1541678"/>
          </a:xfrm>
          <a:custGeom>
            <a:avLst/>
            <a:gdLst/>
            <a:ahLst/>
            <a:cxnLst/>
            <a:rect l="l" t="t" r="r" b="b"/>
            <a:pathLst>
              <a:path w="3550" h="1686">
                <a:moveTo>
                  <a:pt x="0" y="0"/>
                </a:moveTo>
                <a:lnTo>
                  <a:pt x="44" y="16"/>
                </a:lnTo>
                <a:lnTo>
                  <a:pt x="89" y="49"/>
                </a:lnTo>
                <a:lnTo>
                  <a:pt x="133" y="88"/>
                </a:lnTo>
                <a:lnTo>
                  <a:pt x="178" y="121"/>
                </a:lnTo>
                <a:lnTo>
                  <a:pt x="222" y="152"/>
                </a:lnTo>
                <a:lnTo>
                  <a:pt x="266" y="197"/>
                </a:lnTo>
                <a:lnTo>
                  <a:pt x="311" y="291"/>
                </a:lnTo>
                <a:lnTo>
                  <a:pt x="355" y="469"/>
                </a:lnTo>
                <a:lnTo>
                  <a:pt x="399" y="733"/>
                </a:lnTo>
                <a:lnTo>
                  <a:pt x="444" y="1034"/>
                </a:lnTo>
                <a:lnTo>
                  <a:pt x="488" y="1299"/>
                </a:lnTo>
                <a:lnTo>
                  <a:pt x="532" y="1484"/>
                </a:lnTo>
                <a:lnTo>
                  <a:pt x="577" y="1587"/>
                </a:lnTo>
                <a:lnTo>
                  <a:pt x="621" y="1626"/>
                </a:lnTo>
                <a:lnTo>
                  <a:pt x="666" y="1625"/>
                </a:lnTo>
                <a:lnTo>
                  <a:pt x="710" y="1607"/>
                </a:lnTo>
                <a:lnTo>
                  <a:pt x="754" y="1594"/>
                </a:lnTo>
                <a:lnTo>
                  <a:pt x="799" y="1599"/>
                </a:lnTo>
                <a:lnTo>
                  <a:pt x="843" y="1622"/>
                </a:lnTo>
                <a:lnTo>
                  <a:pt x="888" y="1653"/>
                </a:lnTo>
                <a:lnTo>
                  <a:pt x="932" y="1678"/>
                </a:lnTo>
                <a:lnTo>
                  <a:pt x="976" y="1685"/>
                </a:lnTo>
                <a:lnTo>
                  <a:pt x="1021" y="1671"/>
                </a:lnTo>
                <a:lnTo>
                  <a:pt x="1065" y="1642"/>
                </a:lnTo>
                <a:lnTo>
                  <a:pt x="1109" y="1613"/>
                </a:lnTo>
                <a:lnTo>
                  <a:pt x="1154" y="1598"/>
                </a:lnTo>
                <a:lnTo>
                  <a:pt x="1198" y="1605"/>
                </a:lnTo>
                <a:lnTo>
                  <a:pt x="1242" y="1629"/>
                </a:lnTo>
                <a:lnTo>
                  <a:pt x="1287" y="1660"/>
                </a:lnTo>
                <a:lnTo>
                  <a:pt x="1331" y="1682"/>
                </a:lnTo>
                <a:lnTo>
                  <a:pt x="1376" y="1684"/>
                </a:lnTo>
                <a:lnTo>
                  <a:pt x="1420" y="1666"/>
                </a:lnTo>
                <a:lnTo>
                  <a:pt x="1464" y="1636"/>
                </a:lnTo>
                <a:lnTo>
                  <a:pt x="1509" y="1609"/>
                </a:lnTo>
                <a:lnTo>
                  <a:pt x="1553" y="1598"/>
                </a:lnTo>
                <a:lnTo>
                  <a:pt x="1598" y="1609"/>
                </a:lnTo>
                <a:lnTo>
                  <a:pt x="1642" y="1636"/>
                </a:lnTo>
                <a:lnTo>
                  <a:pt x="1686" y="1666"/>
                </a:lnTo>
                <a:lnTo>
                  <a:pt x="1731" y="1684"/>
                </a:lnTo>
                <a:lnTo>
                  <a:pt x="1775" y="1682"/>
                </a:lnTo>
                <a:lnTo>
                  <a:pt x="1819" y="1660"/>
                </a:lnTo>
                <a:lnTo>
                  <a:pt x="1864" y="1630"/>
                </a:lnTo>
                <a:lnTo>
                  <a:pt x="1908" y="1605"/>
                </a:lnTo>
                <a:lnTo>
                  <a:pt x="1953" y="1598"/>
                </a:lnTo>
                <a:lnTo>
                  <a:pt x="1997" y="1613"/>
                </a:lnTo>
                <a:lnTo>
                  <a:pt x="2041" y="1642"/>
                </a:lnTo>
                <a:lnTo>
                  <a:pt x="2086" y="1671"/>
                </a:lnTo>
                <a:lnTo>
                  <a:pt x="2130" y="1686"/>
                </a:lnTo>
                <a:lnTo>
                  <a:pt x="2174" y="1679"/>
                </a:lnTo>
                <a:lnTo>
                  <a:pt x="2219" y="1654"/>
                </a:lnTo>
                <a:lnTo>
                  <a:pt x="2263" y="1623"/>
                </a:lnTo>
                <a:lnTo>
                  <a:pt x="2308" y="1602"/>
                </a:lnTo>
                <a:lnTo>
                  <a:pt x="2352" y="1600"/>
                </a:lnTo>
                <a:lnTo>
                  <a:pt x="2396" y="1619"/>
                </a:lnTo>
                <a:lnTo>
                  <a:pt x="2441" y="1649"/>
                </a:lnTo>
                <a:lnTo>
                  <a:pt x="2485" y="1676"/>
                </a:lnTo>
                <a:lnTo>
                  <a:pt x="2529" y="1686"/>
                </a:lnTo>
                <a:lnTo>
                  <a:pt x="2574" y="1675"/>
                </a:lnTo>
                <a:lnTo>
                  <a:pt x="2618" y="1647"/>
                </a:lnTo>
                <a:lnTo>
                  <a:pt x="2662" y="1617"/>
                </a:lnTo>
                <a:lnTo>
                  <a:pt x="2707" y="1598"/>
                </a:lnTo>
                <a:lnTo>
                  <a:pt x="2751" y="1599"/>
                </a:lnTo>
                <a:lnTo>
                  <a:pt x="2796" y="1619"/>
                </a:lnTo>
                <a:lnTo>
                  <a:pt x="2840" y="1643"/>
                </a:lnTo>
                <a:lnTo>
                  <a:pt x="2884" y="1655"/>
                </a:lnTo>
                <a:lnTo>
                  <a:pt x="2929" y="1636"/>
                </a:lnTo>
                <a:lnTo>
                  <a:pt x="2973" y="1571"/>
                </a:lnTo>
                <a:lnTo>
                  <a:pt x="3018" y="1450"/>
                </a:lnTo>
                <a:lnTo>
                  <a:pt x="3062" y="1264"/>
                </a:lnTo>
                <a:lnTo>
                  <a:pt x="3106" y="1015"/>
                </a:lnTo>
                <a:lnTo>
                  <a:pt x="3151" y="739"/>
                </a:lnTo>
                <a:lnTo>
                  <a:pt x="3195" y="497"/>
                </a:lnTo>
                <a:lnTo>
                  <a:pt x="3239" y="328"/>
                </a:lnTo>
                <a:lnTo>
                  <a:pt x="3284" y="224"/>
                </a:lnTo>
                <a:lnTo>
                  <a:pt x="3328" y="156"/>
                </a:lnTo>
                <a:lnTo>
                  <a:pt x="3372" y="101"/>
                </a:lnTo>
                <a:lnTo>
                  <a:pt x="3417" y="52"/>
                </a:lnTo>
                <a:lnTo>
                  <a:pt x="3461" y="17"/>
                </a:lnTo>
                <a:lnTo>
                  <a:pt x="3506" y="2"/>
                </a:lnTo>
                <a:lnTo>
                  <a:pt x="3550" y="12"/>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572000" y="3138221"/>
            <a:ext cx="3246120" cy="1531620"/>
          </a:xfrm>
          <a:custGeom>
            <a:avLst/>
            <a:gdLst/>
            <a:ahLst/>
            <a:cxnLst/>
            <a:rect l="l" t="t" r="r" b="b"/>
            <a:pathLst>
              <a:path w="3550" h="1675">
                <a:moveTo>
                  <a:pt x="0" y="58"/>
                </a:moveTo>
                <a:lnTo>
                  <a:pt x="44" y="27"/>
                </a:lnTo>
                <a:lnTo>
                  <a:pt x="89" y="4"/>
                </a:lnTo>
                <a:lnTo>
                  <a:pt x="133" y="1"/>
                </a:lnTo>
                <a:lnTo>
                  <a:pt x="178" y="19"/>
                </a:lnTo>
                <a:lnTo>
                  <a:pt x="222" y="49"/>
                </a:lnTo>
                <a:lnTo>
                  <a:pt x="266" y="77"/>
                </a:lnTo>
                <a:lnTo>
                  <a:pt x="311" y="88"/>
                </a:lnTo>
                <a:lnTo>
                  <a:pt x="355" y="78"/>
                </a:lnTo>
                <a:lnTo>
                  <a:pt x="399" y="51"/>
                </a:lnTo>
                <a:lnTo>
                  <a:pt x="444" y="21"/>
                </a:lnTo>
                <a:lnTo>
                  <a:pt x="488" y="2"/>
                </a:lnTo>
                <a:lnTo>
                  <a:pt x="532" y="4"/>
                </a:lnTo>
                <a:lnTo>
                  <a:pt x="577" y="25"/>
                </a:lnTo>
                <a:lnTo>
                  <a:pt x="621" y="56"/>
                </a:lnTo>
                <a:lnTo>
                  <a:pt x="666" y="81"/>
                </a:lnTo>
                <a:lnTo>
                  <a:pt x="710" y="88"/>
                </a:lnTo>
                <a:lnTo>
                  <a:pt x="754" y="73"/>
                </a:lnTo>
                <a:lnTo>
                  <a:pt x="799" y="45"/>
                </a:lnTo>
                <a:lnTo>
                  <a:pt x="843" y="16"/>
                </a:lnTo>
                <a:lnTo>
                  <a:pt x="888" y="1"/>
                </a:lnTo>
                <a:lnTo>
                  <a:pt x="932" y="7"/>
                </a:lnTo>
                <a:lnTo>
                  <a:pt x="976" y="31"/>
                </a:lnTo>
                <a:lnTo>
                  <a:pt x="1021" y="62"/>
                </a:lnTo>
                <a:lnTo>
                  <a:pt x="1065" y="84"/>
                </a:lnTo>
                <a:lnTo>
                  <a:pt x="1109" y="86"/>
                </a:lnTo>
                <a:lnTo>
                  <a:pt x="1154" y="68"/>
                </a:lnTo>
                <a:lnTo>
                  <a:pt x="1198" y="38"/>
                </a:lnTo>
                <a:lnTo>
                  <a:pt x="1242" y="11"/>
                </a:lnTo>
                <a:lnTo>
                  <a:pt x="1287" y="0"/>
                </a:lnTo>
                <a:lnTo>
                  <a:pt x="1331" y="11"/>
                </a:lnTo>
                <a:lnTo>
                  <a:pt x="1376" y="37"/>
                </a:lnTo>
                <a:lnTo>
                  <a:pt x="1420" y="68"/>
                </a:lnTo>
                <a:lnTo>
                  <a:pt x="1464" y="86"/>
                </a:lnTo>
                <a:lnTo>
                  <a:pt x="1509" y="84"/>
                </a:lnTo>
                <a:lnTo>
                  <a:pt x="1553" y="62"/>
                </a:lnTo>
                <a:lnTo>
                  <a:pt x="1598" y="32"/>
                </a:lnTo>
                <a:lnTo>
                  <a:pt x="1642" y="7"/>
                </a:lnTo>
                <a:lnTo>
                  <a:pt x="1686" y="0"/>
                </a:lnTo>
                <a:lnTo>
                  <a:pt x="1731" y="15"/>
                </a:lnTo>
                <a:lnTo>
                  <a:pt x="1775" y="44"/>
                </a:lnTo>
                <a:lnTo>
                  <a:pt x="1819" y="73"/>
                </a:lnTo>
                <a:lnTo>
                  <a:pt x="1864" y="88"/>
                </a:lnTo>
                <a:lnTo>
                  <a:pt x="1908" y="81"/>
                </a:lnTo>
                <a:lnTo>
                  <a:pt x="1953" y="56"/>
                </a:lnTo>
                <a:lnTo>
                  <a:pt x="1997" y="26"/>
                </a:lnTo>
                <a:lnTo>
                  <a:pt x="2041" y="4"/>
                </a:lnTo>
                <a:lnTo>
                  <a:pt x="2086" y="2"/>
                </a:lnTo>
                <a:lnTo>
                  <a:pt x="2130" y="20"/>
                </a:lnTo>
                <a:lnTo>
                  <a:pt x="2174" y="51"/>
                </a:lnTo>
                <a:lnTo>
                  <a:pt x="2219" y="77"/>
                </a:lnTo>
                <a:lnTo>
                  <a:pt x="2263" y="88"/>
                </a:lnTo>
                <a:lnTo>
                  <a:pt x="2308" y="77"/>
                </a:lnTo>
                <a:lnTo>
                  <a:pt x="2352" y="50"/>
                </a:lnTo>
                <a:lnTo>
                  <a:pt x="2396" y="20"/>
                </a:lnTo>
                <a:lnTo>
                  <a:pt x="2441" y="2"/>
                </a:lnTo>
                <a:lnTo>
                  <a:pt x="2485" y="4"/>
                </a:lnTo>
                <a:lnTo>
                  <a:pt x="2529" y="26"/>
                </a:lnTo>
                <a:lnTo>
                  <a:pt x="2574" y="57"/>
                </a:lnTo>
                <a:lnTo>
                  <a:pt x="2618" y="82"/>
                </a:lnTo>
                <a:lnTo>
                  <a:pt x="2662" y="88"/>
                </a:lnTo>
                <a:lnTo>
                  <a:pt x="2707" y="74"/>
                </a:lnTo>
                <a:lnTo>
                  <a:pt x="2751" y="46"/>
                </a:lnTo>
                <a:lnTo>
                  <a:pt x="2796" y="20"/>
                </a:lnTo>
                <a:lnTo>
                  <a:pt x="2840" y="12"/>
                </a:lnTo>
                <a:lnTo>
                  <a:pt x="2884" y="32"/>
                </a:lnTo>
                <a:lnTo>
                  <a:pt x="2929" y="82"/>
                </a:lnTo>
                <a:lnTo>
                  <a:pt x="2973" y="162"/>
                </a:lnTo>
                <a:lnTo>
                  <a:pt x="3018" y="275"/>
                </a:lnTo>
                <a:lnTo>
                  <a:pt x="3062" y="435"/>
                </a:lnTo>
                <a:lnTo>
                  <a:pt x="3106" y="650"/>
                </a:lnTo>
                <a:lnTo>
                  <a:pt x="3151" y="903"/>
                </a:lnTo>
                <a:lnTo>
                  <a:pt x="3195" y="1144"/>
                </a:lnTo>
                <a:lnTo>
                  <a:pt x="3239" y="1334"/>
                </a:lnTo>
                <a:lnTo>
                  <a:pt x="3284" y="1470"/>
                </a:lnTo>
                <a:lnTo>
                  <a:pt x="3328" y="1567"/>
                </a:lnTo>
                <a:lnTo>
                  <a:pt x="3372" y="1633"/>
                </a:lnTo>
                <a:lnTo>
                  <a:pt x="3417" y="1669"/>
                </a:lnTo>
                <a:lnTo>
                  <a:pt x="3461" y="1675"/>
                </a:lnTo>
                <a:lnTo>
                  <a:pt x="3506" y="1657"/>
                </a:lnTo>
                <a:lnTo>
                  <a:pt x="3550" y="162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4572000" y="2977286"/>
            <a:ext cx="3246120" cy="1531620"/>
          </a:xfrm>
          <a:custGeom>
            <a:avLst/>
            <a:gdLst/>
            <a:ahLst/>
            <a:cxnLst/>
            <a:rect l="l" t="t" r="r" b="b"/>
            <a:pathLst>
              <a:path w="3550" h="1675">
                <a:moveTo>
                  <a:pt x="0" y="58"/>
                </a:moveTo>
                <a:lnTo>
                  <a:pt x="44" y="27"/>
                </a:lnTo>
                <a:lnTo>
                  <a:pt x="89" y="4"/>
                </a:lnTo>
                <a:lnTo>
                  <a:pt x="133" y="1"/>
                </a:lnTo>
                <a:lnTo>
                  <a:pt x="178" y="19"/>
                </a:lnTo>
                <a:lnTo>
                  <a:pt x="222" y="49"/>
                </a:lnTo>
                <a:lnTo>
                  <a:pt x="266" y="77"/>
                </a:lnTo>
                <a:lnTo>
                  <a:pt x="311" y="88"/>
                </a:lnTo>
                <a:lnTo>
                  <a:pt x="355" y="78"/>
                </a:lnTo>
                <a:lnTo>
                  <a:pt x="399" y="51"/>
                </a:lnTo>
                <a:lnTo>
                  <a:pt x="444" y="21"/>
                </a:lnTo>
                <a:lnTo>
                  <a:pt x="488" y="2"/>
                </a:lnTo>
                <a:lnTo>
                  <a:pt x="532" y="4"/>
                </a:lnTo>
                <a:lnTo>
                  <a:pt x="577" y="25"/>
                </a:lnTo>
                <a:lnTo>
                  <a:pt x="621" y="56"/>
                </a:lnTo>
                <a:lnTo>
                  <a:pt x="666" y="81"/>
                </a:lnTo>
                <a:lnTo>
                  <a:pt x="710" y="88"/>
                </a:lnTo>
                <a:lnTo>
                  <a:pt x="754" y="73"/>
                </a:lnTo>
                <a:lnTo>
                  <a:pt x="799" y="45"/>
                </a:lnTo>
                <a:lnTo>
                  <a:pt x="843" y="16"/>
                </a:lnTo>
                <a:lnTo>
                  <a:pt x="888" y="1"/>
                </a:lnTo>
                <a:lnTo>
                  <a:pt x="932" y="7"/>
                </a:lnTo>
                <a:lnTo>
                  <a:pt x="976" y="31"/>
                </a:lnTo>
                <a:lnTo>
                  <a:pt x="1021" y="62"/>
                </a:lnTo>
                <a:lnTo>
                  <a:pt x="1065" y="84"/>
                </a:lnTo>
                <a:lnTo>
                  <a:pt x="1109" y="86"/>
                </a:lnTo>
                <a:lnTo>
                  <a:pt x="1154" y="68"/>
                </a:lnTo>
                <a:lnTo>
                  <a:pt x="1198" y="38"/>
                </a:lnTo>
                <a:lnTo>
                  <a:pt x="1242" y="11"/>
                </a:lnTo>
                <a:lnTo>
                  <a:pt x="1287" y="0"/>
                </a:lnTo>
                <a:lnTo>
                  <a:pt x="1331" y="11"/>
                </a:lnTo>
                <a:lnTo>
                  <a:pt x="1376" y="37"/>
                </a:lnTo>
                <a:lnTo>
                  <a:pt x="1420" y="68"/>
                </a:lnTo>
                <a:lnTo>
                  <a:pt x="1464" y="86"/>
                </a:lnTo>
                <a:lnTo>
                  <a:pt x="1509" y="84"/>
                </a:lnTo>
                <a:lnTo>
                  <a:pt x="1553" y="62"/>
                </a:lnTo>
                <a:lnTo>
                  <a:pt x="1598" y="32"/>
                </a:lnTo>
                <a:lnTo>
                  <a:pt x="1642" y="7"/>
                </a:lnTo>
                <a:lnTo>
                  <a:pt x="1686" y="0"/>
                </a:lnTo>
                <a:lnTo>
                  <a:pt x="1731" y="15"/>
                </a:lnTo>
                <a:lnTo>
                  <a:pt x="1775" y="44"/>
                </a:lnTo>
                <a:lnTo>
                  <a:pt x="1819" y="73"/>
                </a:lnTo>
                <a:lnTo>
                  <a:pt x="1864" y="88"/>
                </a:lnTo>
                <a:lnTo>
                  <a:pt x="1908" y="81"/>
                </a:lnTo>
                <a:lnTo>
                  <a:pt x="1953" y="56"/>
                </a:lnTo>
                <a:lnTo>
                  <a:pt x="1997" y="26"/>
                </a:lnTo>
                <a:lnTo>
                  <a:pt x="2041" y="4"/>
                </a:lnTo>
                <a:lnTo>
                  <a:pt x="2086" y="2"/>
                </a:lnTo>
                <a:lnTo>
                  <a:pt x="2130" y="20"/>
                </a:lnTo>
                <a:lnTo>
                  <a:pt x="2174" y="51"/>
                </a:lnTo>
                <a:lnTo>
                  <a:pt x="2219" y="77"/>
                </a:lnTo>
                <a:lnTo>
                  <a:pt x="2263" y="88"/>
                </a:lnTo>
                <a:lnTo>
                  <a:pt x="2308" y="77"/>
                </a:lnTo>
                <a:lnTo>
                  <a:pt x="2352" y="50"/>
                </a:lnTo>
                <a:lnTo>
                  <a:pt x="2396" y="20"/>
                </a:lnTo>
                <a:lnTo>
                  <a:pt x="2441" y="2"/>
                </a:lnTo>
                <a:lnTo>
                  <a:pt x="2485" y="4"/>
                </a:lnTo>
                <a:lnTo>
                  <a:pt x="2529" y="26"/>
                </a:lnTo>
                <a:lnTo>
                  <a:pt x="2574" y="57"/>
                </a:lnTo>
                <a:lnTo>
                  <a:pt x="2618" y="82"/>
                </a:lnTo>
                <a:lnTo>
                  <a:pt x="2662" y="88"/>
                </a:lnTo>
                <a:lnTo>
                  <a:pt x="2707" y="74"/>
                </a:lnTo>
                <a:lnTo>
                  <a:pt x="2751" y="46"/>
                </a:lnTo>
                <a:lnTo>
                  <a:pt x="2796" y="20"/>
                </a:lnTo>
                <a:lnTo>
                  <a:pt x="2840" y="12"/>
                </a:lnTo>
                <a:lnTo>
                  <a:pt x="2884" y="32"/>
                </a:lnTo>
                <a:lnTo>
                  <a:pt x="2929" y="82"/>
                </a:lnTo>
                <a:lnTo>
                  <a:pt x="2973" y="162"/>
                </a:lnTo>
                <a:lnTo>
                  <a:pt x="3018" y="275"/>
                </a:lnTo>
                <a:lnTo>
                  <a:pt x="3062" y="435"/>
                </a:lnTo>
                <a:lnTo>
                  <a:pt x="3106" y="650"/>
                </a:lnTo>
                <a:lnTo>
                  <a:pt x="3151" y="903"/>
                </a:lnTo>
                <a:lnTo>
                  <a:pt x="3195" y="1144"/>
                </a:lnTo>
                <a:lnTo>
                  <a:pt x="3239" y="1334"/>
                </a:lnTo>
                <a:lnTo>
                  <a:pt x="3284" y="1470"/>
                </a:lnTo>
                <a:lnTo>
                  <a:pt x="3328" y="1567"/>
                </a:lnTo>
                <a:lnTo>
                  <a:pt x="3372" y="1633"/>
                </a:lnTo>
                <a:lnTo>
                  <a:pt x="3417" y="1669"/>
                </a:lnTo>
                <a:lnTo>
                  <a:pt x="3461" y="1675"/>
                </a:lnTo>
                <a:lnTo>
                  <a:pt x="3506" y="1657"/>
                </a:lnTo>
                <a:lnTo>
                  <a:pt x="3550" y="162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4572000" y="2816352"/>
            <a:ext cx="3246120" cy="1531620"/>
          </a:xfrm>
          <a:custGeom>
            <a:avLst/>
            <a:gdLst/>
            <a:ahLst/>
            <a:cxnLst/>
            <a:rect l="l" t="t" r="r" b="b"/>
            <a:pathLst>
              <a:path w="3550" h="1675">
                <a:moveTo>
                  <a:pt x="0" y="58"/>
                </a:moveTo>
                <a:lnTo>
                  <a:pt x="44" y="27"/>
                </a:lnTo>
                <a:lnTo>
                  <a:pt x="89" y="4"/>
                </a:lnTo>
                <a:lnTo>
                  <a:pt x="133" y="1"/>
                </a:lnTo>
                <a:lnTo>
                  <a:pt x="178" y="19"/>
                </a:lnTo>
                <a:lnTo>
                  <a:pt x="222" y="49"/>
                </a:lnTo>
                <a:lnTo>
                  <a:pt x="266" y="77"/>
                </a:lnTo>
                <a:lnTo>
                  <a:pt x="311" y="88"/>
                </a:lnTo>
                <a:lnTo>
                  <a:pt x="355" y="78"/>
                </a:lnTo>
                <a:lnTo>
                  <a:pt x="399" y="51"/>
                </a:lnTo>
                <a:lnTo>
                  <a:pt x="444" y="21"/>
                </a:lnTo>
                <a:lnTo>
                  <a:pt x="488" y="2"/>
                </a:lnTo>
                <a:lnTo>
                  <a:pt x="532" y="4"/>
                </a:lnTo>
                <a:lnTo>
                  <a:pt x="577" y="25"/>
                </a:lnTo>
                <a:lnTo>
                  <a:pt x="621" y="56"/>
                </a:lnTo>
                <a:lnTo>
                  <a:pt x="666" y="81"/>
                </a:lnTo>
                <a:lnTo>
                  <a:pt x="710" y="88"/>
                </a:lnTo>
                <a:lnTo>
                  <a:pt x="754" y="73"/>
                </a:lnTo>
                <a:lnTo>
                  <a:pt x="799" y="45"/>
                </a:lnTo>
                <a:lnTo>
                  <a:pt x="843" y="16"/>
                </a:lnTo>
                <a:lnTo>
                  <a:pt x="888" y="1"/>
                </a:lnTo>
                <a:lnTo>
                  <a:pt x="932" y="7"/>
                </a:lnTo>
                <a:lnTo>
                  <a:pt x="976" y="31"/>
                </a:lnTo>
                <a:lnTo>
                  <a:pt x="1021" y="62"/>
                </a:lnTo>
                <a:lnTo>
                  <a:pt x="1065" y="84"/>
                </a:lnTo>
                <a:lnTo>
                  <a:pt x="1109" y="86"/>
                </a:lnTo>
                <a:lnTo>
                  <a:pt x="1154" y="68"/>
                </a:lnTo>
                <a:lnTo>
                  <a:pt x="1198" y="38"/>
                </a:lnTo>
                <a:lnTo>
                  <a:pt x="1242" y="11"/>
                </a:lnTo>
                <a:lnTo>
                  <a:pt x="1287" y="0"/>
                </a:lnTo>
                <a:lnTo>
                  <a:pt x="1331" y="11"/>
                </a:lnTo>
                <a:lnTo>
                  <a:pt x="1376" y="37"/>
                </a:lnTo>
                <a:lnTo>
                  <a:pt x="1420" y="68"/>
                </a:lnTo>
                <a:lnTo>
                  <a:pt x="1464" y="86"/>
                </a:lnTo>
                <a:lnTo>
                  <a:pt x="1509" y="84"/>
                </a:lnTo>
                <a:lnTo>
                  <a:pt x="1553" y="62"/>
                </a:lnTo>
                <a:lnTo>
                  <a:pt x="1598" y="32"/>
                </a:lnTo>
                <a:lnTo>
                  <a:pt x="1642" y="7"/>
                </a:lnTo>
                <a:lnTo>
                  <a:pt x="1686" y="0"/>
                </a:lnTo>
                <a:lnTo>
                  <a:pt x="1731" y="15"/>
                </a:lnTo>
                <a:lnTo>
                  <a:pt x="1775" y="44"/>
                </a:lnTo>
                <a:lnTo>
                  <a:pt x="1819" y="73"/>
                </a:lnTo>
                <a:lnTo>
                  <a:pt x="1864" y="88"/>
                </a:lnTo>
                <a:lnTo>
                  <a:pt x="1908" y="81"/>
                </a:lnTo>
                <a:lnTo>
                  <a:pt x="1953" y="56"/>
                </a:lnTo>
                <a:lnTo>
                  <a:pt x="1997" y="26"/>
                </a:lnTo>
                <a:lnTo>
                  <a:pt x="2041" y="4"/>
                </a:lnTo>
                <a:lnTo>
                  <a:pt x="2086" y="2"/>
                </a:lnTo>
                <a:lnTo>
                  <a:pt x="2130" y="20"/>
                </a:lnTo>
                <a:lnTo>
                  <a:pt x="2174" y="51"/>
                </a:lnTo>
                <a:lnTo>
                  <a:pt x="2219" y="77"/>
                </a:lnTo>
                <a:lnTo>
                  <a:pt x="2263" y="88"/>
                </a:lnTo>
                <a:lnTo>
                  <a:pt x="2308" y="77"/>
                </a:lnTo>
                <a:lnTo>
                  <a:pt x="2352" y="50"/>
                </a:lnTo>
                <a:lnTo>
                  <a:pt x="2396" y="20"/>
                </a:lnTo>
                <a:lnTo>
                  <a:pt x="2441" y="2"/>
                </a:lnTo>
                <a:lnTo>
                  <a:pt x="2485" y="4"/>
                </a:lnTo>
                <a:lnTo>
                  <a:pt x="2529" y="26"/>
                </a:lnTo>
                <a:lnTo>
                  <a:pt x="2574" y="57"/>
                </a:lnTo>
                <a:lnTo>
                  <a:pt x="2618" y="82"/>
                </a:lnTo>
                <a:lnTo>
                  <a:pt x="2662" y="88"/>
                </a:lnTo>
                <a:lnTo>
                  <a:pt x="2707" y="74"/>
                </a:lnTo>
                <a:lnTo>
                  <a:pt x="2751" y="46"/>
                </a:lnTo>
                <a:lnTo>
                  <a:pt x="2796" y="20"/>
                </a:lnTo>
                <a:lnTo>
                  <a:pt x="2840" y="12"/>
                </a:lnTo>
                <a:lnTo>
                  <a:pt x="2884" y="32"/>
                </a:lnTo>
                <a:lnTo>
                  <a:pt x="2929" y="82"/>
                </a:lnTo>
                <a:lnTo>
                  <a:pt x="2973" y="162"/>
                </a:lnTo>
                <a:lnTo>
                  <a:pt x="3018" y="275"/>
                </a:lnTo>
                <a:lnTo>
                  <a:pt x="3062" y="435"/>
                </a:lnTo>
                <a:lnTo>
                  <a:pt x="3106" y="650"/>
                </a:lnTo>
                <a:lnTo>
                  <a:pt x="3151" y="903"/>
                </a:lnTo>
                <a:lnTo>
                  <a:pt x="3195" y="1144"/>
                </a:lnTo>
                <a:lnTo>
                  <a:pt x="3239" y="1334"/>
                </a:lnTo>
                <a:lnTo>
                  <a:pt x="3284" y="1470"/>
                </a:lnTo>
                <a:lnTo>
                  <a:pt x="3328" y="1567"/>
                </a:lnTo>
                <a:lnTo>
                  <a:pt x="3372" y="1633"/>
                </a:lnTo>
                <a:lnTo>
                  <a:pt x="3417" y="1669"/>
                </a:lnTo>
                <a:lnTo>
                  <a:pt x="3461" y="1675"/>
                </a:lnTo>
                <a:lnTo>
                  <a:pt x="3506" y="1657"/>
                </a:lnTo>
                <a:lnTo>
                  <a:pt x="3550" y="162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4572000" y="3138221"/>
            <a:ext cx="3246120" cy="80467"/>
          </a:xfrm>
          <a:custGeom>
            <a:avLst/>
            <a:gdLst/>
            <a:ahLst/>
            <a:cxnLst/>
            <a:rect l="l" t="t" r="r" b="b"/>
            <a:pathLst>
              <a:path w="3550" h="88">
                <a:moveTo>
                  <a:pt x="0" y="0"/>
                </a:moveTo>
                <a:lnTo>
                  <a:pt x="44" y="14"/>
                </a:lnTo>
                <a:lnTo>
                  <a:pt x="89" y="43"/>
                </a:lnTo>
                <a:lnTo>
                  <a:pt x="133" y="72"/>
                </a:lnTo>
                <a:lnTo>
                  <a:pt x="178" y="87"/>
                </a:lnTo>
                <a:lnTo>
                  <a:pt x="222" y="82"/>
                </a:lnTo>
                <a:lnTo>
                  <a:pt x="266" y="57"/>
                </a:lnTo>
                <a:lnTo>
                  <a:pt x="311" y="27"/>
                </a:lnTo>
                <a:lnTo>
                  <a:pt x="355" y="4"/>
                </a:lnTo>
                <a:lnTo>
                  <a:pt x="399" y="2"/>
                </a:lnTo>
                <a:lnTo>
                  <a:pt x="444" y="19"/>
                </a:lnTo>
                <a:lnTo>
                  <a:pt x="488" y="49"/>
                </a:lnTo>
                <a:lnTo>
                  <a:pt x="532" y="77"/>
                </a:lnTo>
                <a:lnTo>
                  <a:pt x="577" y="88"/>
                </a:lnTo>
                <a:lnTo>
                  <a:pt x="621" y="78"/>
                </a:lnTo>
                <a:lnTo>
                  <a:pt x="666" y="51"/>
                </a:lnTo>
                <a:lnTo>
                  <a:pt x="710" y="21"/>
                </a:lnTo>
                <a:lnTo>
                  <a:pt x="754" y="2"/>
                </a:lnTo>
                <a:lnTo>
                  <a:pt x="799" y="4"/>
                </a:lnTo>
                <a:lnTo>
                  <a:pt x="843" y="25"/>
                </a:lnTo>
                <a:lnTo>
                  <a:pt x="888" y="56"/>
                </a:lnTo>
                <a:lnTo>
                  <a:pt x="932" y="81"/>
                </a:lnTo>
                <a:lnTo>
                  <a:pt x="976" y="88"/>
                </a:lnTo>
                <a:lnTo>
                  <a:pt x="1021" y="73"/>
                </a:lnTo>
                <a:lnTo>
                  <a:pt x="1065" y="44"/>
                </a:lnTo>
                <a:lnTo>
                  <a:pt x="1109" y="16"/>
                </a:lnTo>
                <a:lnTo>
                  <a:pt x="1154" y="1"/>
                </a:lnTo>
                <a:lnTo>
                  <a:pt x="1198" y="7"/>
                </a:lnTo>
                <a:lnTo>
                  <a:pt x="1242" y="31"/>
                </a:lnTo>
                <a:lnTo>
                  <a:pt x="1287" y="62"/>
                </a:lnTo>
                <a:lnTo>
                  <a:pt x="1331" y="84"/>
                </a:lnTo>
                <a:lnTo>
                  <a:pt x="1376" y="86"/>
                </a:lnTo>
                <a:lnTo>
                  <a:pt x="1420" y="68"/>
                </a:lnTo>
                <a:lnTo>
                  <a:pt x="1464" y="38"/>
                </a:lnTo>
                <a:lnTo>
                  <a:pt x="1509" y="11"/>
                </a:lnTo>
                <a:lnTo>
                  <a:pt x="1553" y="0"/>
                </a:lnTo>
                <a:lnTo>
                  <a:pt x="1598" y="11"/>
                </a:lnTo>
                <a:lnTo>
                  <a:pt x="1642" y="38"/>
                </a:lnTo>
                <a:lnTo>
                  <a:pt x="1686" y="68"/>
                </a:lnTo>
                <a:lnTo>
                  <a:pt x="1731" y="86"/>
                </a:lnTo>
                <a:lnTo>
                  <a:pt x="1775" y="84"/>
                </a:lnTo>
                <a:lnTo>
                  <a:pt x="1819" y="62"/>
                </a:lnTo>
                <a:lnTo>
                  <a:pt x="1864" y="32"/>
                </a:lnTo>
                <a:lnTo>
                  <a:pt x="1908" y="7"/>
                </a:lnTo>
                <a:lnTo>
                  <a:pt x="1953" y="0"/>
                </a:lnTo>
                <a:lnTo>
                  <a:pt x="1997" y="15"/>
                </a:lnTo>
                <a:lnTo>
                  <a:pt x="2041" y="44"/>
                </a:lnTo>
                <a:lnTo>
                  <a:pt x="2086" y="73"/>
                </a:lnTo>
                <a:lnTo>
                  <a:pt x="2130" y="88"/>
                </a:lnTo>
                <a:lnTo>
                  <a:pt x="2174" y="81"/>
                </a:lnTo>
                <a:lnTo>
                  <a:pt x="2219" y="56"/>
                </a:lnTo>
                <a:lnTo>
                  <a:pt x="2263" y="25"/>
                </a:lnTo>
                <a:lnTo>
                  <a:pt x="2308" y="4"/>
                </a:lnTo>
                <a:lnTo>
                  <a:pt x="2352" y="2"/>
                </a:lnTo>
                <a:lnTo>
                  <a:pt x="2396" y="21"/>
                </a:lnTo>
                <a:lnTo>
                  <a:pt x="2441" y="51"/>
                </a:lnTo>
                <a:lnTo>
                  <a:pt x="2485" y="78"/>
                </a:lnTo>
                <a:lnTo>
                  <a:pt x="2529" y="88"/>
                </a:lnTo>
                <a:lnTo>
                  <a:pt x="2574" y="77"/>
                </a:lnTo>
                <a:lnTo>
                  <a:pt x="2618" y="50"/>
                </a:lnTo>
                <a:lnTo>
                  <a:pt x="2662" y="20"/>
                </a:lnTo>
                <a:lnTo>
                  <a:pt x="2707" y="2"/>
                </a:lnTo>
                <a:lnTo>
                  <a:pt x="2751" y="4"/>
                </a:lnTo>
                <a:lnTo>
                  <a:pt x="2796" y="26"/>
                </a:lnTo>
                <a:lnTo>
                  <a:pt x="2840" y="57"/>
                </a:lnTo>
                <a:lnTo>
                  <a:pt x="2884" y="81"/>
                </a:lnTo>
                <a:lnTo>
                  <a:pt x="2929" y="87"/>
                </a:lnTo>
                <a:lnTo>
                  <a:pt x="2973" y="72"/>
                </a:lnTo>
                <a:lnTo>
                  <a:pt x="3018" y="43"/>
                </a:lnTo>
                <a:lnTo>
                  <a:pt x="3062" y="14"/>
                </a:lnTo>
                <a:lnTo>
                  <a:pt x="3106" y="0"/>
                </a:lnTo>
                <a:lnTo>
                  <a:pt x="3151" y="8"/>
                </a:lnTo>
                <a:lnTo>
                  <a:pt x="3195" y="33"/>
                </a:lnTo>
                <a:lnTo>
                  <a:pt x="3239" y="63"/>
                </a:lnTo>
                <a:lnTo>
                  <a:pt x="3284" y="84"/>
                </a:lnTo>
                <a:lnTo>
                  <a:pt x="3328" y="86"/>
                </a:lnTo>
                <a:lnTo>
                  <a:pt x="3372" y="67"/>
                </a:lnTo>
                <a:lnTo>
                  <a:pt x="3417" y="37"/>
                </a:lnTo>
                <a:lnTo>
                  <a:pt x="3461" y="10"/>
                </a:lnTo>
                <a:lnTo>
                  <a:pt x="3506" y="0"/>
                </a:lnTo>
                <a:lnTo>
                  <a:pt x="3550" y="12"/>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4572000" y="2977286"/>
            <a:ext cx="3246120" cy="80467"/>
          </a:xfrm>
          <a:custGeom>
            <a:avLst/>
            <a:gdLst/>
            <a:ahLst/>
            <a:cxnLst/>
            <a:rect l="l" t="t" r="r" b="b"/>
            <a:pathLst>
              <a:path w="3550" h="88">
                <a:moveTo>
                  <a:pt x="0" y="0"/>
                </a:moveTo>
                <a:lnTo>
                  <a:pt x="44" y="14"/>
                </a:lnTo>
                <a:lnTo>
                  <a:pt x="89" y="43"/>
                </a:lnTo>
                <a:lnTo>
                  <a:pt x="133" y="72"/>
                </a:lnTo>
                <a:lnTo>
                  <a:pt x="178" y="87"/>
                </a:lnTo>
                <a:lnTo>
                  <a:pt x="222" y="82"/>
                </a:lnTo>
                <a:lnTo>
                  <a:pt x="266" y="57"/>
                </a:lnTo>
                <a:lnTo>
                  <a:pt x="311" y="27"/>
                </a:lnTo>
                <a:lnTo>
                  <a:pt x="355" y="4"/>
                </a:lnTo>
                <a:lnTo>
                  <a:pt x="399" y="2"/>
                </a:lnTo>
                <a:lnTo>
                  <a:pt x="444" y="19"/>
                </a:lnTo>
                <a:lnTo>
                  <a:pt x="488" y="49"/>
                </a:lnTo>
                <a:lnTo>
                  <a:pt x="532" y="77"/>
                </a:lnTo>
                <a:lnTo>
                  <a:pt x="577" y="88"/>
                </a:lnTo>
                <a:lnTo>
                  <a:pt x="621" y="78"/>
                </a:lnTo>
                <a:lnTo>
                  <a:pt x="666" y="51"/>
                </a:lnTo>
                <a:lnTo>
                  <a:pt x="710" y="21"/>
                </a:lnTo>
                <a:lnTo>
                  <a:pt x="754" y="2"/>
                </a:lnTo>
                <a:lnTo>
                  <a:pt x="799" y="4"/>
                </a:lnTo>
                <a:lnTo>
                  <a:pt x="843" y="25"/>
                </a:lnTo>
                <a:lnTo>
                  <a:pt x="888" y="56"/>
                </a:lnTo>
                <a:lnTo>
                  <a:pt x="932" y="81"/>
                </a:lnTo>
                <a:lnTo>
                  <a:pt x="976" y="88"/>
                </a:lnTo>
                <a:lnTo>
                  <a:pt x="1021" y="73"/>
                </a:lnTo>
                <a:lnTo>
                  <a:pt x="1065" y="44"/>
                </a:lnTo>
                <a:lnTo>
                  <a:pt x="1109" y="16"/>
                </a:lnTo>
                <a:lnTo>
                  <a:pt x="1154" y="1"/>
                </a:lnTo>
                <a:lnTo>
                  <a:pt x="1198" y="7"/>
                </a:lnTo>
                <a:lnTo>
                  <a:pt x="1242" y="31"/>
                </a:lnTo>
                <a:lnTo>
                  <a:pt x="1287" y="62"/>
                </a:lnTo>
                <a:lnTo>
                  <a:pt x="1331" y="84"/>
                </a:lnTo>
                <a:lnTo>
                  <a:pt x="1376" y="86"/>
                </a:lnTo>
                <a:lnTo>
                  <a:pt x="1420" y="68"/>
                </a:lnTo>
                <a:lnTo>
                  <a:pt x="1464" y="38"/>
                </a:lnTo>
                <a:lnTo>
                  <a:pt x="1509" y="11"/>
                </a:lnTo>
                <a:lnTo>
                  <a:pt x="1553" y="0"/>
                </a:lnTo>
                <a:lnTo>
                  <a:pt x="1598" y="11"/>
                </a:lnTo>
                <a:lnTo>
                  <a:pt x="1642" y="38"/>
                </a:lnTo>
                <a:lnTo>
                  <a:pt x="1686" y="68"/>
                </a:lnTo>
                <a:lnTo>
                  <a:pt x="1731" y="86"/>
                </a:lnTo>
                <a:lnTo>
                  <a:pt x="1775" y="84"/>
                </a:lnTo>
                <a:lnTo>
                  <a:pt x="1819" y="62"/>
                </a:lnTo>
                <a:lnTo>
                  <a:pt x="1864" y="32"/>
                </a:lnTo>
                <a:lnTo>
                  <a:pt x="1908" y="7"/>
                </a:lnTo>
                <a:lnTo>
                  <a:pt x="1953" y="0"/>
                </a:lnTo>
                <a:lnTo>
                  <a:pt x="1997" y="15"/>
                </a:lnTo>
                <a:lnTo>
                  <a:pt x="2041" y="44"/>
                </a:lnTo>
                <a:lnTo>
                  <a:pt x="2086" y="73"/>
                </a:lnTo>
                <a:lnTo>
                  <a:pt x="2130" y="88"/>
                </a:lnTo>
                <a:lnTo>
                  <a:pt x="2174" y="81"/>
                </a:lnTo>
                <a:lnTo>
                  <a:pt x="2219" y="56"/>
                </a:lnTo>
                <a:lnTo>
                  <a:pt x="2263" y="25"/>
                </a:lnTo>
                <a:lnTo>
                  <a:pt x="2308" y="4"/>
                </a:lnTo>
                <a:lnTo>
                  <a:pt x="2352" y="2"/>
                </a:lnTo>
                <a:lnTo>
                  <a:pt x="2396" y="21"/>
                </a:lnTo>
                <a:lnTo>
                  <a:pt x="2441" y="51"/>
                </a:lnTo>
                <a:lnTo>
                  <a:pt x="2485" y="78"/>
                </a:lnTo>
                <a:lnTo>
                  <a:pt x="2529" y="88"/>
                </a:lnTo>
                <a:lnTo>
                  <a:pt x="2574" y="77"/>
                </a:lnTo>
                <a:lnTo>
                  <a:pt x="2618" y="50"/>
                </a:lnTo>
                <a:lnTo>
                  <a:pt x="2662" y="20"/>
                </a:lnTo>
                <a:lnTo>
                  <a:pt x="2707" y="2"/>
                </a:lnTo>
                <a:lnTo>
                  <a:pt x="2751" y="4"/>
                </a:lnTo>
                <a:lnTo>
                  <a:pt x="2796" y="26"/>
                </a:lnTo>
                <a:lnTo>
                  <a:pt x="2840" y="57"/>
                </a:lnTo>
                <a:lnTo>
                  <a:pt x="2884" y="81"/>
                </a:lnTo>
                <a:lnTo>
                  <a:pt x="2929" y="87"/>
                </a:lnTo>
                <a:lnTo>
                  <a:pt x="2973" y="72"/>
                </a:lnTo>
                <a:lnTo>
                  <a:pt x="3018" y="43"/>
                </a:lnTo>
                <a:lnTo>
                  <a:pt x="3062" y="14"/>
                </a:lnTo>
                <a:lnTo>
                  <a:pt x="3106" y="0"/>
                </a:lnTo>
                <a:lnTo>
                  <a:pt x="3151" y="8"/>
                </a:lnTo>
                <a:lnTo>
                  <a:pt x="3195" y="33"/>
                </a:lnTo>
                <a:lnTo>
                  <a:pt x="3239" y="63"/>
                </a:lnTo>
                <a:lnTo>
                  <a:pt x="3284" y="84"/>
                </a:lnTo>
                <a:lnTo>
                  <a:pt x="3328" y="86"/>
                </a:lnTo>
                <a:lnTo>
                  <a:pt x="3372" y="67"/>
                </a:lnTo>
                <a:lnTo>
                  <a:pt x="3417" y="37"/>
                </a:lnTo>
                <a:lnTo>
                  <a:pt x="3461" y="10"/>
                </a:lnTo>
                <a:lnTo>
                  <a:pt x="3506" y="0"/>
                </a:lnTo>
                <a:lnTo>
                  <a:pt x="3550" y="12"/>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4572000" y="2816352"/>
            <a:ext cx="3246120" cy="80467"/>
          </a:xfrm>
          <a:custGeom>
            <a:avLst/>
            <a:gdLst/>
            <a:ahLst/>
            <a:cxnLst/>
            <a:rect l="l" t="t" r="r" b="b"/>
            <a:pathLst>
              <a:path w="3550" h="88">
                <a:moveTo>
                  <a:pt x="0" y="0"/>
                </a:moveTo>
                <a:lnTo>
                  <a:pt x="44" y="14"/>
                </a:lnTo>
                <a:lnTo>
                  <a:pt x="89" y="43"/>
                </a:lnTo>
                <a:lnTo>
                  <a:pt x="133" y="72"/>
                </a:lnTo>
                <a:lnTo>
                  <a:pt x="178" y="87"/>
                </a:lnTo>
                <a:lnTo>
                  <a:pt x="222" y="82"/>
                </a:lnTo>
                <a:lnTo>
                  <a:pt x="266" y="57"/>
                </a:lnTo>
                <a:lnTo>
                  <a:pt x="311" y="27"/>
                </a:lnTo>
                <a:lnTo>
                  <a:pt x="355" y="4"/>
                </a:lnTo>
                <a:lnTo>
                  <a:pt x="399" y="2"/>
                </a:lnTo>
                <a:lnTo>
                  <a:pt x="444" y="19"/>
                </a:lnTo>
                <a:lnTo>
                  <a:pt x="488" y="49"/>
                </a:lnTo>
                <a:lnTo>
                  <a:pt x="532" y="77"/>
                </a:lnTo>
                <a:lnTo>
                  <a:pt x="577" y="88"/>
                </a:lnTo>
                <a:lnTo>
                  <a:pt x="621" y="78"/>
                </a:lnTo>
                <a:lnTo>
                  <a:pt x="666" y="51"/>
                </a:lnTo>
                <a:lnTo>
                  <a:pt x="710" y="21"/>
                </a:lnTo>
                <a:lnTo>
                  <a:pt x="754" y="2"/>
                </a:lnTo>
                <a:lnTo>
                  <a:pt x="799" y="4"/>
                </a:lnTo>
                <a:lnTo>
                  <a:pt x="843" y="25"/>
                </a:lnTo>
                <a:lnTo>
                  <a:pt x="888" y="56"/>
                </a:lnTo>
                <a:lnTo>
                  <a:pt x="932" y="81"/>
                </a:lnTo>
                <a:lnTo>
                  <a:pt x="976" y="88"/>
                </a:lnTo>
                <a:lnTo>
                  <a:pt x="1021" y="73"/>
                </a:lnTo>
                <a:lnTo>
                  <a:pt x="1065" y="44"/>
                </a:lnTo>
                <a:lnTo>
                  <a:pt x="1109" y="16"/>
                </a:lnTo>
                <a:lnTo>
                  <a:pt x="1154" y="1"/>
                </a:lnTo>
                <a:lnTo>
                  <a:pt x="1198" y="7"/>
                </a:lnTo>
                <a:lnTo>
                  <a:pt x="1242" y="31"/>
                </a:lnTo>
                <a:lnTo>
                  <a:pt x="1287" y="62"/>
                </a:lnTo>
                <a:lnTo>
                  <a:pt x="1331" y="84"/>
                </a:lnTo>
                <a:lnTo>
                  <a:pt x="1376" y="86"/>
                </a:lnTo>
                <a:lnTo>
                  <a:pt x="1420" y="68"/>
                </a:lnTo>
                <a:lnTo>
                  <a:pt x="1464" y="38"/>
                </a:lnTo>
                <a:lnTo>
                  <a:pt x="1509" y="11"/>
                </a:lnTo>
                <a:lnTo>
                  <a:pt x="1553" y="0"/>
                </a:lnTo>
                <a:lnTo>
                  <a:pt x="1598" y="11"/>
                </a:lnTo>
                <a:lnTo>
                  <a:pt x="1642" y="38"/>
                </a:lnTo>
                <a:lnTo>
                  <a:pt x="1686" y="68"/>
                </a:lnTo>
                <a:lnTo>
                  <a:pt x="1731" y="86"/>
                </a:lnTo>
                <a:lnTo>
                  <a:pt x="1775" y="84"/>
                </a:lnTo>
                <a:lnTo>
                  <a:pt x="1819" y="62"/>
                </a:lnTo>
                <a:lnTo>
                  <a:pt x="1864" y="32"/>
                </a:lnTo>
                <a:lnTo>
                  <a:pt x="1908" y="7"/>
                </a:lnTo>
                <a:lnTo>
                  <a:pt x="1953" y="0"/>
                </a:lnTo>
                <a:lnTo>
                  <a:pt x="1997" y="15"/>
                </a:lnTo>
                <a:lnTo>
                  <a:pt x="2041" y="44"/>
                </a:lnTo>
                <a:lnTo>
                  <a:pt x="2086" y="73"/>
                </a:lnTo>
                <a:lnTo>
                  <a:pt x="2130" y="88"/>
                </a:lnTo>
                <a:lnTo>
                  <a:pt x="2174" y="81"/>
                </a:lnTo>
                <a:lnTo>
                  <a:pt x="2219" y="56"/>
                </a:lnTo>
                <a:lnTo>
                  <a:pt x="2263" y="25"/>
                </a:lnTo>
                <a:lnTo>
                  <a:pt x="2308" y="4"/>
                </a:lnTo>
                <a:lnTo>
                  <a:pt x="2352" y="2"/>
                </a:lnTo>
                <a:lnTo>
                  <a:pt x="2396" y="21"/>
                </a:lnTo>
                <a:lnTo>
                  <a:pt x="2441" y="51"/>
                </a:lnTo>
                <a:lnTo>
                  <a:pt x="2485" y="78"/>
                </a:lnTo>
                <a:lnTo>
                  <a:pt x="2529" y="88"/>
                </a:lnTo>
                <a:lnTo>
                  <a:pt x="2574" y="77"/>
                </a:lnTo>
                <a:lnTo>
                  <a:pt x="2618" y="50"/>
                </a:lnTo>
                <a:lnTo>
                  <a:pt x="2662" y="20"/>
                </a:lnTo>
                <a:lnTo>
                  <a:pt x="2707" y="2"/>
                </a:lnTo>
                <a:lnTo>
                  <a:pt x="2751" y="4"/>
                </a:lnTo>
                <a:lnTo>
                  <a:pt x="2796" y="26"/>
                </a:lnTo>
                <a:lnTo>
                  <a:pt x="2840" y="57"/>
                </a:lnTo>
                <a:lnTo>
                  <a:pt x="2884" y="81"/>
                </a:lnTo>
                <a:lnTo>
                  <a:pt x="2929" y="87"/>
                </a:lnTo>
                <a:lnTo>
                  <a:pt x="2973" y="72"/>
                </a:lnTo>
                <a:lnTo>
                  <a:pt x="3018" y="43"/>
                </a:lnTo>
                <a:lnTo>
                  <a:pt x="3062" y="14"/>
                </a:lnTo>
                <a:lnTo>
                  <a:pt x="3106" y="0"/>
                </a:lnTo>
                <a:lnTo>
                  <a:pt x="3151" y="8"/>
                </a:lnTo>
                <a:lnTo>
                  <a:pt x="3195" y="33"/>
                </a:lnTo>
                <a:lnTo>
                  <a:pt x="3239" y="63"/>
                </a:lnTo>
                <a:lnTo>
                  <a:pt x="3284" y="84"/>
                </a:lnTo>
                <a:lnTo>
                  <a:pt x="3328" y="86"/>
                </a:lnTo>
                <a:lnTo>
                  <a:pt x="3372" y="67"/>
                </a:lnTo>
                <a:lnTo>
                  <a:pt x="3417" y="37"/>
                </a:lnTo>
                <a:lnTo>
                  <a:pt x="3461" y="10"/>
                </a:lnTo>
                <a:lnTo>
                  <a:pt x="3506" y="0"/>
                </a:lnTo>
                <a:lnTo>
                  <a:pt x="3550" y="12"/>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53944" y="4892040"/>
            <a:ext cx="640080" cy="274320"/>
          </a:xfrm>
          <a:prstGeom prst="rect">
            <a:avLst/>
          </a:prstGeom>
          <a:noFill/>
        </p:spPr>
        <p:txBody>
          <a:bodyPr wrap="square" lIns="0" rIns="0" tIns="0" bIns="0" anchor="t">
            <a:spAutoFit/>
          </a:bodyPr>
          <a:lstStyle/>
          <a:p>
            <a:pPr algn="ctr"/>
            <a:r>
              <a:rPr sz="1500" b="0" i="0">
                <a:solidFill>
                  <a:srgbClr val="17324D"/>
                </a:solidFill>
                <a:latin typeface="Aptos"/>
              </a:rPr>
              <a:t>0</a:t>
            </a:r>
          </a:p>
        </p:txBody>
      </p:sp>
      <p:sp>
        <p:nvSpPr>
          <p:cNvPr id="60" name="TextBox 59"/>
          <p:cNvSpPr txBox="1"/>
          <p:nvPr/>
        </p:nvSpPr>
        <p:spPr>
          <a:xfrm>
            <a:off x="5902452" y="4892040"/>
            <a:ext cx="640080" cy="274320"/>
          </a:xfrm>
          <a:prstGeom prst="rect">
            <a:avLst/>
          </a:prstGeom>
          <a:noFill/>
        </p:spPr>
        <p:txBody>
          <a:bodyPr wrap="square" lIns="0" rIns="0" tIns="0" bIns="0" anchor="t">
            <a:spAutoFit/>
          </a:bodyPr>
          <a:lstStyle/>
          <a:p>
            <a:pPr algn="ctr"/>
            <a:r>
              <a:rPr sz="1500" b="0" i="0">
                <a:solidFill>
                  <a:srgbClr val="17324D"/>
                </a:solidFill>
                <a:latin typeface="Aptos"/>
              </a:rPr>
              <a:t>0.5</a:t>
            </a:r>
          </a:p>
        </p:txBody>
      </p:sp>
      <p:sp>
        <p:nvSpPr>
          <p:cNvPr id="61" name="TextBox 60"/>
          <p:cNvSpPr txBox="1"/>
          <p:nvPr/>
        </p:nvSpPr>
        <p:spPr>
          <a:xfrm>
            <a:off x="7150959" y="4892040"/>
            <a:ext cx="640080" cy="274320"/>
          </a:xfrm>
          <a:prstGeom prst="rect">
            <a:avLst/>
          </a:prstGeom>
          <a:noFill/>
        </p:spPr>
        <p:txBody>
          <a:bodyPr wrap="square" lIns="0" rIns="0" tIns="0" bIns="0" anchor="t">
            <a:spAutoFit/>
          </a:bodyPr>
          <a:lstStyle/>
          <a:p>
            <a:pPr algn="ctr"/>
            <a:r>
              <a:rPr sz="1500" b="0" i="0">
                <a:solidFill>
                  <a:srgbClr val="17324D"/>
                </a:solidFill>
                <a:latin typeface="Aptos"/>
              </a:rPr>
              <a:t>1 UI</a:t>
            </a:r>
          </a:p>
        </p:txBody>
      </p:sp>
      <p:sp>
        <p:nvSpPr>
          <p:cNvPr id="62" name="TextBox 61"/>
          <p:cNvSpPr txBox="1"/>
          <p:nvPr/>
        </p:nvSpPr>
        <p:spPr>
          <a:xfrm>
            <a:off x="4572000" y="5394960"/>
            <a:ext cx="3246120" cy="502920"/>
          </a:xfrm>
          <a:prstGeom prst="rect">
            <a:avLst/>
          </a:prstGeom>
          <a:noFill/>
        </p:spPr>
        <p:txBody>
          <a:bodyPr wrap="square" lIns="0" rIns="0" tIns="0" bIns="0" anchor="t">
            <a:spAutoFit/>
          </a:bodyPr>
          <a:lstStyle/>
          <a:p>
            <a:pPr algn="ctr"/>
            <a:r>
              <a:rPr sz="1800" b="0" i="0">
                <a:solidFill>
                  <a:srgbClr val="17324D"/>
                </a:solidFill>
                <a:latin typeface="Aptos"/>
              </a:rPr>
              <a:t>Mainly reduces vertical separation</a:t>
            </a:r>
          </a:p>
        </p:txBody>
      </p:sp>
      <p:sp>
        <p:nvSpPr>
          <p:cNvPr id="63" name="TextBox 62"/>
          <p:cNvSpPr txBox="1"/>
          <p:nvPr/>
        </p:nvSpPr>
        <p:spPr>
          <a:xfrm>
            <a:off x="8366760" y="1828800"/>
            <a:ext cx="3246120" cy="457200"/>
          </a:xfrm>
          <a:prstGeom prst="rect">
            <a:avLst/>
          </a:prstGeom>
          <a:noFill/>
        </p:spPr>
        <p:txBody>
          <a:bodyPr wrap="square" lIns="0" rIns="0" tIns="0" bIns="0" anchor="t">
            <a:spAutoFit/>
          </a:bodyPr>
          <a:lstStyle/>
          <a:p>
            <a:pPr algn="ctr"/>
            <a:r>
              <a:rPr sz="2200" b="1" i="0">
                <a:solidFill>
                  <a:srgbClr val="17324D"/>
                </a:solidFill>
                <a:latin typeface="Aptos"/>
              </a:rPr>
              <a:t>Transition jitter</a:t>
            </a:r>
          </a:p>
        </p:txBody>
      </p:sp>
      <p:cxnSp>
        <p:nvCxnSpPr>
          <p:cNvPr id="64" name="Connector 63"/>
          <p:cNvCxnSpPr/>
          <p:nvPr/>
        </p:nvCxnSpPr>
        <p:spPr>
          <a:xfrm>
            <a:off x="8366760" y="2651760"/>
            <a:ext cx="0" cy="219456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8019288" y="2889503"/>
            <a:ext cx="274320" cy="274320"/>
          </a:xfrm>
          <a:prstGeom prst="rect">
            <a:avLst/>
          </a:prstGeom>
          <a:noFill/>
        </p:spPr>
        <p:txBody>
          <a:bodyPr wrap="square" lIns="0" rIns="0" tIns="0" bIns="0" anchor="t">
            <a:spAutoFit/>
          </a:bodyPr>
          <a:lstStyle/>
          <a:p>
            <a:pPr algn="l"/>
            <a:r>
              <a:rPr sz="1400" b="0" i="0">
                <a:solidFill>
                  <a:srgbClr val="5F6B73"/>
                </a:solidFill>
                <a:latin typeface="Aptos"/>
              </a:rPr>
              <a:t>H</a:t>
            </a:r>
          </a:p>
        </p:txBody>
      </p:sp>
      <p:sp>
        <p:nvSpPr>
          <p:cNvPr id="66" name="TextBox 65"/>
          <p:cNvSpPr txBox="1"/>
          <p:nvPr/>
        </p:nvSpPr>
        <p:spPr>
          <a:xfrm>
            <a:off x="8019288" y="4352544"/>
            <a:ext cx="274320" cy="274320"/>
          </a:xfrm>
          <a:prstGeom prst="rect">
            <a:avLst/>
          </a:prstGeom>
          <a:noFill/>
        </p:spPr>
        <p:txBody>
          <a:bodyPr wrap="square" lIns="0" rIns="0" tIns="0" bIns="0" anchor="t">
            <a:spAutoFit/>
          </a:bodyPr>
          <a:lstStyle/>
          <a:p>
            <a:pPr algn="l"/>
            <a:r>
              <a:rPr sz="1400" b="0" i="0">
                <a:solidFill>
                  <a:srgbClr val="5F6B73"/>
                </a:solidFill>
                <a:latin typeface="Aptos"/>
              </a:rPr>
              <a:t>L</a:t>
            </a:r>
          </a:p>
        </p:txBody>
      </p:sp>
      <p:cxnSp>
        <p:nvCxnSpPr>
          <p:cNvPr id="67" name="Connector 66"/>
          <p:cNvCxnSpPr/>
          <p:nvPr/>
        </p:nvCxnSpPr>
        <p:spPr>
          <a:xfrm>
            <a:off x="8366760" y="3749039"/>
            <a:ext cx="3246120" cy="0"/>
          </a:xfrm>
          <a:prstGeom prst="line">
            <a:avLst/>
          </a:prstGeom>
          <a:ln w="12700">
            <a:solidFill>
              <a:srgbClr val="CCD1D0"/>
            </a:solidFill>
          </a:ln>
        </p:spPr>
        <p:style>
          <a:lnRef idx="2">
            <a:schemeClr val="accent1"/>
          </a:lnRef>
          <a:fillRef idx="0">
            <a:schemeClr val="accent1"/>
          </a:fillRef>
          <a:effectRef idx="1">
            <a:schemeClr val="accent1"/>
          </a:effectRef>
          <a:fontRef idx="minor">
            <a:schemeClr val="tx1"/>
          </a:fontRef>
        </p:style>
      </p:cxnSp>
      <p:sp>
        <p:nvSpPr>
          <p:cNvPr id="68" name="Freeform 67"/>
          <p:cNvSpPr/>
          <p:nvPr/>
        </p:nvSpPr>
        <p:spPr>
          <a:xfrm>
            <a:off x="8366760" y="4480560"/>
            <a:ext cx="3246120" cy="0"/>
          </a:xfrm>
          <a:custGeom>
            <a:avLst/>
            <a:gdLst/>
            <a:ahLst/>
            <a:cxnLst/>
            <a:rect l="l" t="t" r="r" b="b"/>
            <a:pathLst>
              <a:path w="3550" h="0">
                <a:moveTo>
                  <a:pt x="0" y="0"/>
                </a:moveTo>
                <a:lnTo>
                  <a:pt x="44" y="0"/>
                </a:lnTo>
                <a:lnTo>
                  <a:pt x="89" y="0"/>
                </a:lnTo>
                <a:lnTo>
                  <a:pt x="133" y="0"/>
                </a:lnTo>
                <a:lnTo>
                  <a:pt x="178" y="0"/>
                </a:lnTo>
                <a:lnTo>
                  <a:pt x="222" y="0"/>
                </a:lnTo>
                <a:lnTo>
                  <a:pt x="266" y="0"/>
                </a:lnTo>
                <a:lnTo>
                  <a:pt x="311" y="0"/>
                </a:lnTo>
                <a:lnTo>
                  <a:pt x="355" y="0"/>
                </a:lnTo>
                <a:lnTo>
                  <a:pt x="399" y="0"/>
                </a:lnTo>
                <a:lnTo>
                  <a:pt x="444" y="0"/>
                </a:lnTo>
                <a:lnTo>
                  <a:pt x="488" y="0"/>
                </a:lnTo>
                <a:lnTo>
                  <a:pt x="533" y="0"/>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8366760" y="4480560"/>
            <a:ext cx="3246120" cy="0"/>
          </a:xfrm>
          <a:custGeom>
            <a:avLst/>
            <a:gdLst/>
            <a:ahLst/>
            <a:cxnLst/>
            <a:rect l="l" t="t" r="r" b="b"/>
            <a:pathLst>
              <a:path w="3550" h="0">
                <a:moveTo>
                  <a:pt x="0" y="0"/>
                </a:moveTo>
                <a:lnTo>
                  <a:pt x="44" y="0"/>
                </a:lnTo>
                <a:lnTo>
                  <a:pt x="89" y="0"/>
                </a:lnTo>
                <a:lnTo>
                  <a:pt x="133" y="0"/>
                </a:lnTo>
                <a:lnTo>
                  <a:pt x="178" y="0"/>
                </a:lnTo>
                <a:lnTo>
                  <a:pt x="222" y="0"/>
                </a:lnTo>
                <a:lnTo>
                  <a:pt x="266" y="0"/>
                </a:lnTo>
                <a:lnTo>
                  <a:pt x="311" y="0"/>
                </a:lnTo>
                <a:lnTo>
                  <a:pt x="355" y="0"/>
                </a:lnTo>
                <a:lnTo>
                  <a:pt x="399" y="0"/>
                </a:lnTo>
                <a:lnTo>
                  <a:pt x="444" y="0"/>
                </a:lnTo>
                <a:lnTo>
                  <a:pt x="488" y="0"/>
                </a:lnTo>
                <a:lnTo>
                  <a:pt x="533" y="0"/>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8366760" y="4480560"/>
            <a:ext cx="3246120" cy="0"/>
          </a:xfrm>
          <a:custGeom>
            <a:avLst/>
            <a:gdLst/>
            <a:ahLst/>
            <a:cxnLst/>
            <a:rect l="l" t="t" r="r" b="b"/>
            <a:pathLst>
              <a:path w="3550" h="0">
                <a:moveTo>
                  <a:pt x="0" y="0"/>
                </a:moveTo>
                <a:lnTo>
                  <a:pt x="44" y="0"/>
                </a:lnTo>
                <a:lnTo>
                  <a:pt x="89" y="0"/>
                </a:lnTo>
                <a:lnTo>
                  <a:pt x="133" y="0"/>
                </a:lnTo>
                <a:lnTo>
                  <a:pt x="178" y="0"/>
                </a:lnTo>
                <a:lnTo>
                  <a:pt x="222" y="0"/>
                </a:lnTo>
                <a:lnTo>
                  <a:pt x="266" y="0"/>
                </a:lnTo>
                <a:lnTo>
                  <a:pt x="311" y="0"/>
                </a:lnTo>
                <a:lnTo>
                  <a:pt x="355" y="0"/>
                </a:lnTo>
                <a:lnTo>
                  <a:pt x="399" y="0"/>
                </a:lnTo>
                <a:lnTo>
                  <a:pt x="444" y="0"/>
                </a:lnTo>
                <a:lnTo>
                  <a:pt x="488" y="0"/>
                </a:lnTo>
                <a:lnTo>
                  <a:pt x="533" y="0"/>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8366760" y="3017520"/>
            <a:ext cx="3246120" cy="1463040"/>
          </a:xfrm>
          <a:custGeom>
            <a:avLst/>
            <a:gdLst/>
            <a:ahLst/>
            <a:cxnLst/>
            <a:rect l="l" t="t" r="r" b="b"/>
            <a:pathLst>
              <a:path w="3550" h="1600">
                <a:moveTo>
                  <a:pt x="0" y="1600"/>
                </a:moveTo>
                <a:lnTo>
                  <a:pt x="44" y="1600"/>
                </a:lnTo>
                <a:lnTo>
                  <a:pt x="89" y="1600"/>
                </a:lnTo>
                <a:lnTo>
                  <a:pt x="133" y="1600"/>
                </a:lnTo>
                <a:lnTo>
                  <a:pt x="178" y="1600"/>
                </a:lnTo>
                <a:lnTo>
                  <a:pt x="222" y="1600"/>
                </a:lnTo>
                <a:lnTo>
                  <a:pt x="266" y="1600"/>
                </a:lnTo>
                <a:lnTo>
                  <a:pt x="311" y="1600"/>
                </a:lnTo>
                <a:lnTo>
                  <a:pt x="355" y="1600"/>
                </a:lnTo>
                <a:lnTo>
                  <a:pt x="399" y="1600"/>
                </a:lnTo>
                <a:lnTo>
                  <a:pt x="444" y="1600"/>
                </a:lnTo>
                <a:lnTo>
                  <a:pt x="488" y="1600"/>
                </a:lnTo>
                <a:lnTo>
                  <a:pt x="533" y="1600"/>
                </a:lnTo>
                <a:lnTo>
                  <a:pt x="577" y="1600"/>
                </a:lnTo>
                <a:lnTo>
                  <a:pt x="621" y="1600"/>
                </a:lnTo>
                <a:lnTo>
                  <a:pt x="666" y="1600"/>
                </a:lnTo>
                <a:lnTo>
                  <a:pt x="710" y="1600"/>
                </a:lnTo>
                <a:lnTo>
                  <a:pt x="754" y="1600"/>
                </a:lnTo>
                <a:lnTo>
                  <a:pt x="799" y="1600"/>
                </a:lnTo>
                <a:lnTo>
                  <a:pt x="843" y="1600"/>
                </a:lnTo>
                <a:lnTo>
                  <a:pt x="888" y="1600"/>
                </a:lnTo>
                <a:lnTo>
                  <a:pt x="932" y="1600"/>
                </a:lnTo>
                <a:lnTo>
                  <a:pt x="976" y="1600"/>
                </a:lnTo>
                <a:lnTo>
                  <a:pt x="1021" y="1600"/>
                </a:lnTo>
                <a:lnTo>
                  <a:pt x="1065" y="1600"/>
                </a:lnTo>
                <a:lnTo>
                  <a:pt x="1109" y="1600"/>
                </a:lnTo>
                <a:lnTo>
                  <a:pt x="1154" y="1600"/>
                </a:lnTo>
                <a:lnTo>
                  <a:pt x="1198" y="1600"/>
                </a:lnTo>
                <a:lnTo>
                  <a:pt x="1242" y="1600"/>
                </a:lnTo>
                <a:lnTo>
                  <a:pt x="1287" y="1600"/>
                </a:lnTo>
                <a:lnTo>
                  <a:pt x="1331" y="1600"/>
                </a:lnTo>
                <a:lnTo>
                  <a:pt x="1376" y="1600"/>
                </a:lnTo>
                <a:lnTo>
                  <a:pt x="1420" y="1600"/>
                </a:lnTo>
                <a:lnTo>
                  <a:pt x="1464" y="1600"/>
                </a:lnTo>
                <a:lnTo>
                  <a:pt x="1509" y="1600"/>
                </a:lnTo>
                <a:lnTo>
                  <a:pt x="1553" y="1600"/>
                </a:lnTo>
                <a:lnTo>
                  <a:pt x="1598" y="1600"/>
                </a:lnTo>
                <a:lnTo>
                  <a:pt x="1642" y="1600"/>
                </a:lnTo>
                <a:lnTo>
                  <a:pt x="1686" y="1600"/>
                </a:lnTo>
                <a:lnTo>
                  <a:pt x="1731" y="1600"/>
                </a:lnTo>
                <a:lnTo>
                  <a:pt x="1775" y="1600"/>
                </a:lnTo>
                <a:lnTo>
                  <a:pt x="1819" y="1600"/>
                </a:lnTo>
                <a:lnTo>
                  <a:pt x="1864" y="1600"/>
                </a:lnTo>
                <a:lnTo>
                  <a:pt x="1908" y="1600"/>
                </a:lnTo>
                <a:lnTo>
                  <a:pt x="1953" y="1600"/>
                </a:lnTo>
                <a:lnTo>
                  <a:pt x="1997" y="1600"/>
                </a:lnTo>
                <a:lnTo>
                  <a:pt x="2041" y="1600"/>
                </a:lnTo>
                <a:lnTo>
                  <a:pt x="2086" y="1600"/>
                </a:lnTo>
                <a:lnTo>
                  <a:pt x="2130" y="1600"/>
                </a:lnTo>
                <a:lnTo>
                  <a:pt x="2174" y="1600"/>
                </a:lnTo>
                <a:lnTo>
                  <a:pt x="2219" y="1600"/>
                </a:lnTo>
                <a:lnTo>
                  <a:pt x="2263" y="1600"/>
                </a:lnTo>
                <a:lnTo>
                  <a:pt x="2308" y="1599"/>
                </a:lnTo>
                <a:lnTo>
                  <a:pt x="2352" y="1599"/>
                </a:lnTo>
                <a:lnTo>
                  <a:pt x="2396" y="1597"/>
                </a:lnTo>
                <a:lnTo>
                  <a:pt x="2441" y="1594"/>
                </a:lnTo>
                <a:lnTo>
                  <a:pt x="2485" y="1588"/>
                </a:lnTo>
                <a:lnTo>
                  <a:pt x="2529" y="1576"/>
                </a:lnTo>
                <a:lnTo>
                  <a:pt x="2574" y="1551"/>
                </a:lnTo>
                <a:lnTo>
                  <a:pt x="2618" y="1501"/>
                </a:lnTo>
                <a:lnTo>
                  <a:pt x="2662" y="1409"/>
                </a:lnTo>
                <a:lnTo>
                  <a:pt x="2707" y="1251"/>
                </a:lnTo>
                <a:lnTo>
                  <a:pt x="2751" y="1017"/>
                </a:lnTo>
                <a:lnTo>
                  <a:pt x="2796" y="733"/>
                </a:lnTo>
                <a:lnTo>
                  <a:pt x="2840" y="466"/>
                </a:lnTo>
                <a:lnTo>
                  <a:pt x="2884" y="266"/>
                </a:lnTo>
                <a:lnTo>
                  <a:pt x="2929" y="141"/>
                </a:lnTo>
                <a:lnTo>
                  <a:pt x="2973" y="72"/>
                </a:lnTo>
                <a:lnTo>
                  <a:pt x="3018" y="36"/>
                </a:lnTo>
                <a:lnTo>
                  <a:pt x="3062" y="18"/>
                </a:lnTo>
                <a:lnTo>
                  <a:pt x="3106" y="9"/>
                </a:lnTo>
                <a:lnTo>
                  <a:pt x="3151" y="4"/>
                </a:lnTo>
                <a:lnTo>
                  <a:pt x="3195" y="2"/>
                </a:lnTo>
                <a:lnTo>
                  <a:pt x="3239" y="1"/>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8366760" y="3019349"/>
            <a:ext cx="3246120" cy="1461211"/>
          </a:xfrm>
          <a:custGeom>
            <a:avLst/>
            <a:gdLst/>
            <a:ahLst/>
            <a:cxnLst/>
            <a:rect l="l" t="t" r="r" b="b"/>
            <a:pathLst>
              <a:path w="3550" h="1598">
                <a:moveTo>
                  <a:pt x="0" y="1598"/>
                </a:moveTo>
                <a:lnTo>
                  <a:pt x="44" y="1598"/>
                </a:lnTo>
                <a:lnTo>
                  <a:pt x="89" y="1598"/>
                </a:lnTo>
                <a:lnTo>
                  <a:pt x="133" y="1598"/>
                </a:lnTo>
                <a:lnTo>
                  <a:pt x="178" y="1598"/>
                </a:lnTo>
                <a:lnTo>
                  <a:pt x="222" y="1598"/>
                </a:lnTo>
                <a:lnTo>
                  <a:pt x="266" y="1598"/>
                </a:lnTo>
                <a:lnTo>
                  <a:pt x="311" y="1598"/>
                </a:lnTo>
                <a:lnTo>
                  <a:pt x="355" y="1598"/>
                </a:lnTo>
                <a:lnTo>
                  <a:pt x="399" y="1598"/>
                </a:lnTo>
                <a:lnTo>
                  <a:pt x="444" y="1598"/>
                </a:lnTo>
                <a:lnTo>
                  <a:pt x="488" y="1598"/>
                </a:lnTo>
                <a:lnTo>
                  <a:pt x="533" y="1598"/>
                </a:lnTo>
                <a:lnTo>
                  <a:pt x="577" y="1598"/>
                </a:lnTo>
                <a:lnTo>
                  <a:pt x="621" y="1598"/>
                </a:lnTo>
                <a:lnTo>
                  <a:pt x="666" y="1598"/>
                </a:lnTo>
                <a:lnTo>
                  <a:pt x="710" y="1598"/>
                </a:lnTo>
                <a:lnTo>
                  <a:pt x="754" y="1598"/>
                </a:lnTo>
                <a:lnTo>
                  <a:pt x="799" y="1598"/>
                </a:lnTo>
                <a:lnTo>
                  <a:pt x="843" y="1598"/>
                </a:lnTo>
                <a:lnTo>
                  <a:pt x="888" y="1598"/>
                </a:lnTo>
                <a:lnTo>
                  <a:pt x="932" y="1598"/>
                </a:lnTo>
                <a:lnTo>
                  <a:pt x="976" y="1598"/>
                </a:lnTo>
                <a:lnTo>
                  <a:pt x="1021" y="1598"/>
                </a:lnTo>
                <a:lnTo>
                  <a:pt x="1065" y="1598"/>
                </a:lnTo>
                <a:lnTo>
                  <a:pt x="1109" y="1598"/>
                </a:lnTo>
                <a:lnTo>
                  <a:pt x="1154" y="1598"/>
                </a:lnTo>
                <a:lnTo>
                  <a:pt x="1198" y="1598"/>
                </a:lnTo>
                <a:lnTo>
                  <a:pt x="1242" y="1598"/>
                </a:lnTo>
                <a:lnTo>
                  <a:pt x="1287" y="1598"/>
                </a:lnTo>
                <a:lnTo>
                  <a:pt x="1331" y="1598"/>
                </a:lnTo>
                <a:lnTo>
                  <a:pt x="1376" y="1598"/>
                </a:lnTo>
                <a:lnTo>
                  <a:pt x="1420" y="1598"/>
                </a:lnTo>
                <a:lnTo>
                  <a:pt x="1464" y="1598"/>
                </a:lnTo>
                <a:lnTo>
                  <a:pt x="1509" y="1598"/>
                </a:lnTo>
                <a:lnTo>
                  <a:pt x="1553" y="1598"/>
                </a:lnTo>
                <a:lnTo>
                  <a:pt x="1598" y="1598"/>
                </a:lnTo>
                <a:lnTo>
                  <a:pt x="1642" y="1598"/>
                </a:lnTo>
                <a:lnTo>
                  <a:pt x="1686" y="1598"/>
                </a:lnTo>
                <a:lnTo>
                  <a:pt x="1731" y="1598"/>
                </a:lnTo>
                <a:lnTo>
                  <a:pt x="1775" y="1598"/>
                </a:lnTo>
                <a:lnTo>
                  <a:pt x="1819" y="1598"/>
                </a:lnTo>
                <a:lnTo>
                  <a:pt x="1864" y="1598"/>
                </a:lnTo>
                <a:lnTo>
                  <a:pt x="1908" y="1598"/>
                </a:lnTo>
                <a:lnTo>
                  <a:pt x="1953" y="1598"/>
                </a:lnTo>
                <a:lnTo>
                  <a:pt x="1997" y="1598"/>
                </a:lnTo>
                <a:lnTo>
                  <a:pt x="2041" y="1598"/>
                </a:lnTo>
                <a:lnTo>
                  <a:pt x="2086" y="1598"/>
                </a:lnTo>
                <a:lnTo>
                  <a:pt x="2130" y="1598"/>
                </a:lnTo>
                <a:lnTo>
                  <a:pt x="2174" y="1598"/>
                </a:lnTo>
                <a:lnTo>
                  <a:pt x="2219" y="1598"/>
                </a:lnTo>
                <a:lnTo>
                  <a:pt x="2263" y="1598"/>
                </a:lnTo>
                <a:lnTo>
                  <a:pt x="2308" y="1598"/>
                </a:lnTo>
                <a:lnTo>
                  <a:pt x="2352" y="1598"/>
                </a:lnTo>
                <a:lnTo>
                  <a:pt x="2396" y="1598"/>
                </a:lnTo>
                <a:lnTo>
                  <a:pt x="2441" y="1598"/>
                </a:lnTo>
                <a:lnTo>
                  <a:pt x="2485" y="1598"/>
                </a:lnTo>
                <a:lnTo>
                  <a:pt x="2529" y="1598"/>
                </a:lnTo>
                <a:lnTo>
                  <a:pt x="2574" y="1598"/>
                </a:lnTo>
                <a:lnTo>
                  <a:pt x="2618" y="1598"/>
                </a:lnTo>
                <a:lnTo>
                  <a:pt x="2662" y="1597"/>
                </a:lnTo>
                <a:lnTo>
                  <a:pt x="2707" y="1597"/>
                </a:lnTo>
                <a:lnTo>
                  <a:pt x="2751" y="1595"/>
                </a:lnTo>
                <a:lnTo>
                  <a:pt x="2796" y="1592"/>
                </a:lnTo>
                <a:lnTo>
                  <a:pt x="2840" y="1586"/>
                </a:lnTo>
                <a:lnTo>
                  <a:pt x="2884" y="1574"/>
                </a:lnTo>
                <a:lnTo>
                  <a:pt x="2929" y="1549"/>
                </a:lnTo>
                <a:lnTo>
                  <a:pt x="2973" y="1499"/>
                </a:lnTo>
                <a:lnTo>
                  <a:pt x="3018" y="1407"/>
                </a:lnTo>
                <a:lnTo>
                  <a:pt x="3062" y="1249"/>
                </a:lnTo>
                <a:lnTo>
                  <a:pt x="3106" y="1015"/>
                </a:lnTo>
                <a:lnTo>
                  <a:pt x="3151" y="731"/>
                </a:lnTo>
                <a:lnTo>
                  <a:pt x="3195" y="464"/>
                </a:lnTo>
                <a:lnTo>
                  <a:pt x="3239" y="264"/>
                </a:lnTo>
                <a:lnTo>
                  <a:pt x="3284" y="139"/>
                </a:lnTo>
                <a:lnTo>
                  <a:pt x="3328" y="70"/>
                </a:lnTo>
                <a:lnTo>
                  <a:pt x="3372" y="34"/>
                </a:lnTo>
                <a:lnTo>
                  <a:pt x="3417" y="16"/>
                </a:lnTo>
                <a:lnTo>
                  <a:pt x="3461" y="7"/>
                </a:lnTo>
                <a:lnTo>
                  <a:pt x="3506" y="2"/>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8366760" y="3443630"/>
            <a:ext cx="3246120" cy="1036930"/>
          </a:xfrm>
          <a:custGeom>
            <a:avLst/>
            <a:gdLst/>
            <a:ahLst/>
            <a:cxnLst/>
            <a:rect l="l" t="t" r="r" b="b"/>
            <a:pathLst>
              <a:path w="3550" h="1134">
                <a:moveTo>
                  <a:pt x="0" y="1134"/>
                </a:moveTo>
                <a:lnTo>
                  <a:pt x="44" y="1134"/>
                </a:lnTo>
                <a:lnTo>
                  <a:pt x="89" y="1134"/>
                </a:lnTo>
                <a:lnTo>
                  <a:pt x="133" y="1134"/>
                </a:lnTo>
                <a:lnTo>
                  <a:pt x="178" y="1134"/>
                </a:lnTo>
                <a:lnTo>
                  <a:pt x="222" y="1134"/>
                </a:lnTo>
                <a:lnTo>
                  <a:pt x="266" y="1134"/>
                </a:lnTo>
                <a:lnTo>
                  <a:pt x="311" y="1134"/>
                </a:lnTo>
                <a:lnTo>
                  <a:pt x="355" y="1134"/>
                </a:lnTo>
                <a:lnTo>
                  <a:pt x="399" y="1134"/>
                </a:lnTo>
                <a:lnTo>
                  <a:pt x="444" y="1134"/>
                </a:lnTo>
                <a:lnTo>
                  <a:pt x="488" y="1134"/>
                </a:lnTo>
                <a:lnTo>
                  <a:pt x="533" y="1134"/>
                </a:lnTo>
                <a:lnTo>
                  <a:pt x="577" y="1134"/>
                </a:lnTo>
                <a:lnTo>
                  <a:pt x="621" y="1134"/>
                </a:lnTo>
                <a:lnTo>
                  <a:pt x="666" y="1134"/>
                </a:lnTo>
                <a:lnTo>
                  <a:pt x="710" y="1134"/>
                </a:lnTo>
                <a:lnTo>
                  <a:pt x="754" y="1134"/>
                </a:lnTo>
                <a:lnTo>
                  <a:pt x="799" y="1134"/>
                </a:lnTo>
                <a:lnTo>
                  <a:pt x="843" y="1134"/>
                </a:lnTo>
                <a:lnTo>
                  <a:pt x="888" y="1134"/>
                </a:lnTo>
                <a:lnTo>
                  <a:pt x="932" y="1134"/>
                </a:lnTo>
                <a:lnTo>
                  <a:pt x="976" y="1134"/>
                </a:lnTo>
                <a:lnTo>
                  <a:pt x="1021" y="1134"/>
                </a:lnTo>
                <a:lnTo>
                  <a:pt x="1065" y="1134"/>
                </a:lnTo>
                <a:lnTo>
                  <a:pt x="1109" y="1134"/>
                </a:lnTo>
                <a:lnTo>
                  <a:pt x="1154" y="1134"/>
                </a:lnTo>
                <a:lnTo>
                  <a:pt x="1198" y="1134"/>
                </a:lnTo>
                <a:lnTo>
                  <a:pt x="1242" y="1134"/>
                </a:lnTo>
                <a:lnTo>
                  <a:pt x="1287" y="1134"/>
                </a:lnTo>
                <a:lnTo>
                  <a:pt x="1331" y="1134"/>
                </a:lnTo>
                <a:lnTo>
                  <a:pt x="1376" y="1134"/>
                </a:lnTo>
                <a:lnTo>
                  <a:pt x="1420" y="1134"/>
                </a:lnTo>
                <a:lnTo>
                  <a:pt x="1464" y="1134"/>
                </a:lnTo>
                <a:lnTo>
                  <a:pt x="1509" y="1134"/>
                </a:lnTo>
                <a:lnTo>
                  <a:pt x="1553" y="1134"/>
                </a:lnTo>
                <a:lnTo>
                  <a:pt x="1598" y="1134"/>
                </a:lnTo>
                <a:lnTo>
                  <a:pt x="1642" y="1134"/>
                </a:lnTo>
                <a:lnTo>
                  <a:pt x="1686" y="1134"/>
                </a:lnTo>
                <a:lnTo>
                  <a:pt x="1731" y="1134"/>
                </a:lnTo>
                <a:lnTo>
                  <a:pt x="1775" y="1134"/>
                </a:lnTo>
                <a:lnTo>
                  <a:pt x="1819" y="1134"/>
                </a:lnTo>
                <a:lnTo>
                  <a:pt x="1864" y="1134"/>
                </a:lnTo>
                <a:lnTo>
                  <a:pt x="1908" y="1134"/>
                </a:lnTo>
                <a:lnTo>
                  <a:pt x="1953" y="1134"/>
                </a:lnTo>
                <a:lnTo>
                  <a:pt x="1997" y="1134"/>
                </a:lnTo>
                <a:lnTo>
                  <a:pt x="2041" y="1134"/>
                </a:lnTo>
                <a:lnTo>
                  <a:pt x="2086" y="1134"/>
                </a:lnTo>
                <a:lnTo>
                  <a:pt x="2130" y="1134"/>
                </a:lnTo>
                <a:lnTo>
                  <a:pt x="2174" y="1134"/>
                </a:lnTo>
                <a:lnTo>
                  <a:pt x="2219" y="1134"/>
                </a:lnTo>
                <a:lnTo>
                  <a:pt x="2263" y="1134"/>
                </a:lnTo>
                <a:lnTo>
                  <a:pt x="2308" y="1134"/>
                </a:lnTo>
                <a:lnTo>
                  <a:pt x="2352" y="1134"/>
                </a:lnTo>
                <a:lnTo>
                  <a:pt x="2396" y="1134"/>
                </a:lnTo>
                <a:lnTo>
                  <a:pt x="2441" y="1134"/>
                </a:lnTo>
                <a:lnTo>
                  <a:pt x="2485" y="1134"/>
                </a:lnTo>
                <a:lnTo>
                  <a:pt x="2529" y="1134"/>
                </a:lnTo>
                <a:lnTo>
                  <a:pt x="2574" y="1134"/>
                </a:lnTo>
                <a:lnTo>
                  <a:pt x="2618" y="1134"/>
                </a:lnTo>
                <a:lnTo>
                  <a:pt x="2662" y="1134"/>
                </a:lnTo>
                <a:lnTo>
                  <a:pt x="2707" y="1134"/>
                </a:lnTo>
                <a:lnTo>
                  <a:pt x="2751" y="1134"/>
                </a:lnTo>
                <a:lnTo>
                  <a:pt x="2796" y="1134"/>
                </a:lnTo>
                <a:lnTo>
                  <a:pt x="2840" y="1134"/>
                </a:lnTo>
                <a:lnTo>
                  <a:pt x="2884" y="1134"/>
                </a:lnTo>
                <a:lnTo>
                  <a:pt x="2929" y="1134"/>
                </a:lnTo>
                <a:lnTo>
                  <a:pt x="2973" y="1134"/>
                </a:lnTo>
                <a:lnTo>
                  <a:pt x="3018" y="1133"/>
                </a:lnTo>
                <a:lnTo>
                  <a:pt x="3062" y="1133"/>
                </a:lnTo>
                <a:lnTo>
                  <a:pt x="3106" y="1131"/>
                </a:lnTo>
                <a:lnTo>
                  <a:pt x="3151" y="1128"/>
                </a:lnTo>
                <a:lnTo>
                  <a:pt x="3195" y="1122"/>
                </a:lnTo>
                <a:lnTo>
                  <a:pt x="3239" y="1110"/>
                </a:lnTo>
                <a:lnTo>
                  <a:pt x="3284" y="1085"/>
                </a:lnTo>
                <a:lnTo>
                  <a:pt x="3328" y="1035"/>
                </a:lnTo>
                <a:lnTo>
                  <a:pt x="3372" y="943"/>
                </a:lnTo>
                <a:lnTo>
                  <a:pt x="3417" y="785"/>
                </a:lnTo>
                <a:lnTo>
                  <a:pt x="3461" y="551"/>
                </a:lnTo>
                <a:lnTo>
                  <a:pt x="3506" y="267"/>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8366760" y="3017520"/>
            <a:ext cx="3246120" cy="1463040"/>
          </a:xfrm>
          <a:custGeom>
            <a:avLst/>
            <a:gdLst/>
            <a:ahLst/>
            <a:cxnLst/>
            <a:rect l="l" t="t" r="r" b="b"/>
            <a:pathLst>
              <a:path w="3550" h="1600">
                <a:moveTo>
                  <a:pt x="0" y="1134"/>
                </a:moveTo>
                <a:lnTo>
                  <a:pt x="44" y="867"/>
                </a:lnTo>
                <a:lnTo>
                  <a:pt x="89" y="583"/>
                </a:lnTo>
                <a:lnTo>
                  <a:pt x="133" y="349"/>
                </a:lnTo>
                <a:lnTo>
                  <a:pt x="178" y="191"/>
                </a:lnTo>
                <a:lnTo>
                  <a:pt x="222" y="99"/>
                </a:lnTo>
                <a:lnTo>
                  <a:pt x="266" y="49"/>
                </a:lnTo>
                <a:lnTo>
                  <a:pt x="311" y="24"/>
                </a:lnTo>
                <a:lnTo>
                  <a:pt x="355" y="12"/>
                </a:lnTo>
                <a:lnTo>
                  <a:pt x="399" y="6"/>
                </a:lnTo>
                <a:lnTo>
                  <a:pt x="444" y="3"/>
                </a:lnTo>
                <a:lnTo>
                  <a:pt x="488" y="1"/>
                </a:lnTo>
                <a:lnTo>
                  <a:pt x="533" y="1"/>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1"/>
                </a:lnTo>
                <a:lnTo>
                  <a:pt x="2352" y="1"/>
                </a:lnTo>
                <a:lnTo>
                  <a:pt x="2396" y="3"/>
                </a:lnTo>
                <a:lnTo>
                  <a:pt x="2441" y="6"/>
                </a:lnTo>
                <a:lnTo>
                  <a:pt x="2485" y="12"/>
                </a:lnTo>
                <a:lnTo>
                  <a:pt x="2529" y="24"/>
                </a:lnTo>
                <a:lnTo>
                  <a:pt x="2574" y="49"/>
                </a:lnTo>
                <a:lnTo>
                  <a:pt x="2618" y="99"/>
                </a:lnTo>
                <a:lnTo>
                  <a:pt x="2662" y="191"/>
                </a:lnTo>
                <a:lnTo>
                  <a:pt x="2707" y="349"/>
                </a:lnTo>
                <a:lnTo>
                  <a:pt x="2751" y="583"/>
                </a:lnTo>
                <a:lnTo>
                  <a:pt x="2796" y="867"/>
                </a:lnTo>
                <a:lnTo>
                  <a:pt x="2840" y="1134"/>
                </a:lnTo>
                <a:lnTo>
                  <a:pt x="2884" y="1334"/>
                </a:lnTo>
                <a:lnTo>
                  <a:pt x="2929" y="1459"/>
                </a:lnTo>
                <a:lnTo>
                  <a:pt x="2973" y="1528"/>
                </a:lnTo>
                <a:lnTo>
                  <a:pt x="3018" y="1564"/>
                </a:lnTo>
                <a:lnTo>
                  <a:pt x="3062" y="1582"/>
                </a:lnTo>
                <a:lnTo>
                  <a:pt x="3106" y="1591"/>
                </a:lnTo>
                <a:lnTo>
                  <a:pt x="3151" y="1596"/>
                </a:lnTo>
                <a:lnTo>
                  <a:pt x="3195" y="1598"/>
                </a:lnTo>
                <a:lnTo>
                  <a:pt x="3239" y="1599"/>
                </a:lnTo>
                <a:lnTo>
                  <a:pt x="3284" y="1600"/>
                </a:lnTo>
                <a:lnTo>
                  <a:pt x="3328" y="1600"/>
                </a:lnTo>
                <a:lnTo>
                  <a:pt x="3372" y="1600"/>
                </a:lnTo>
                <a:lnTo>
                  <a:pt x="3417" y="1600"/>
                </a:lnTo>
                <a:lnTo>
                  <a:pt x="3461" y="1600"/>
                </a:lnTo>
                <a:lnTo>
                  <a:pt x="3506" y="1600"/>
                </a:lnTo>
                <a:lnTo>
                  <a:pt x="3550" y="160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8366760" y="3017520"/>
            <a:ext cx="3246120" cy="1461211"/>
          </a:xfrm>
          <a:custGeom>
            <a:avLst/>
            <a:gdLst/>
            <a:ahLst/>
            <a:cxnLst/>
            <a:rect l="l" t="t" r="r" b="b"/>
            <a:pathLst>
              <a:path w="3550" h="1598">
                <a:moveTo>
                  <a:pt x="0" y="1598"/>
                </a:moveTo>
                <a:lnTo>
                  <a:pt x="44" y="1596"/>
                </a:lnTo>
                <a:lnTo>
                  <a:pt x="89" y="1591"/>
                </a:lnTo>
                <a:lnTo>
                  <a:pt x="133" y="1582"/>
                </a:lnTo>
                <a:lnTo>
                  <a:pt x="178" y="1564"/>
                </a:lnTo>
                <a:lnTo>
                  <a:pt x="222" y="1528"/>
                </a:lnTo>
                <a:lnTo>
                  <a:pt x="266" y="1459"/>
                </a:lnTo>
                <a:lnTo>
                  <a:pt x="311" y="1334"/>
                </a:lnTo>
                <a:lnTo>
                  <a:pt x="355" y="1134"/>
                </a:lnTo>
                <a:lnTo>
                  <a:pt x="399" y="867"/>
                </a:lnTo>
                <a:lnTo>
                  <a:pt x="444" y="583"/>
                </a:lnTo>
                <a:lnTo>
                  <a:pt x="488" y="349"/>
                </a:lnTo>
                <a:lnTo>
                  <a:pt x="533" y="191"/>
                </a:lnTo>
                <a:lnTo>
                  <a:pt x="577" y="99"/>
                </a:lnTo>
                <a:lnTo>
                  <a:pt x="621" y="49"/>
                </a:lnTo>
                <a:lnTo>
                  <a:pt x="666" y="24"/>
                </a:lnTo>
                <a:lnTo>
                  <a:pt x="710" y="12"/>
                </a:lnTo>
                <a:lnTo>
                  <a:pt x="754" y="6"/>
                </a:lnTo>
                <a:lnTo>
                  <a:pt x="799" y="3"/>
                </a:lnTo>
                <a:lnTo>
                  <a:pt x="843" y="1"/>
                </a:lnTo>
                <a:lnTo>
                  <a:pt x="888" y="1"/>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1"/>
                </a:lnTo>
                <a:lnTo>
                  <a:pt x="2707" y="1"/>
                </a:lnTo>
                <a:lnTo>
                  <a:pt x="2751" y="3"/>
                </a:lnTo>
                <a:lnTo>
                  <a:pt x="2796" y="6"/>
                </a:lnTo>
                <a:lnTo>
                  <a:pt x="2840" y="12"/>
                </a:lnTo>
                <a:lnTo>
                  <a:pt x="2884" y="24"/>
                </a:lnTo>
                <a:lnTo>
                  <a:pt x="2929" y="49"/>
                </a:lnTo>
                <a:lnTo>
                  <a:pt x="2973" y="99"/>
                </a:lnTo>
                <a:lnTo>
                  <a:pt x="3018" y="191"/>
                </a:lnTo>
                <a:lnTo>
                  <a:pt x="3062" y="349"/>
                </a:lnTo>
                <a:lnTo>
                  <a:pt x="3106" y="583"/>
                </a:lnTo>
                <a:lnTo>
                  <a:pt x="3151" y="867"/>
                </a:lnTo>
                <a:lnTo>
                  <a:pt x="3195" y="1134"/>
                </a:lnTo>
                <a:lnTo>
                  <a:pt x="3239" y="1334"/>
                </a:lnTo>
                <a:lnTo>
                  <a:pt x="3284" y="1459"/>
                </a:lnTo>
                <a:lnTo>
                  <a:pt x="3328" y="1528"/>
                </a:lnTo>
                <a:lnTo>
                  <a:pt x="3372" y="1564"/>
                </a:lnTo>
                <a:lnTo>
                  <a:pt x="3417" y="1582"/>
                </a:lnTo>
                <a:lnTo>
                  <a:pt x="3461" y="1591"/>
                </a:lnTo>
                <a:lnTo>
                  <a:pt x="3506" y="1596"/>
                </a:lnTo>
                <a:lnTo>
                  <a:pt x="3550" y="159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8366760" y="3017520"/>
            <a:ext cx="3246120" cy="1463040"/>
          </a:xfrm>
          <a:custGeom>
            <a:avLst/>
            <a:gdLst/>
            <a:ahLst/>
            <a:cxnLst/>
            <a:rect l="l" t="t" r="r" b="b"/>
            <a:pathLst>
              <a:path w="3550" h="1600">
                <a:moveTo>
                  <a:pt x="0" y="1600"/>
                </a:moveTo>
                <a:lnTo>
                  <a:pt x="44" y="1600"/>
                </a:lnTo>
                <a:lnTo>
                  <a:pt x="89" y="1600"/>
                </a:lnTo>
                <a:lnTo>
                  <a:pt x="133" y="1600"/>
                </a:lnTo>
                <a:lnTo>
                  <a:pt x="178" y="1600"/>
                </a:lnTo>
                <a:lnTo>
                  <a:pt x="222" y="1600"/>
                </a:lnTo>
                <a:lnTo>
                  <a:pt x="266" y="1600"/>
                </a:lnTo>
                <a:lnTo>
                  <a:pt x="311" y="1599"/>
                </a:lnTo>
                <a:lnTo>
                  <a:pt x="355" y="1598"/>
                </a:lnTo>
                <a:lnTo>
                  <a:pt x="399" y="1596"/>
                </a:lnTo>
                <a:lnTo>
                  <a:pt x="444" y="1591"/>
                </a:lnTo>
                <a:lnTo>
                  <a:pt x="488" y="1582"/>
                </a:lnTo>
                <a:lnTo>
                  <a:pt x="533" y="1564"/>
                </a:lnTo>
                <a:lnTo>
                  <a:pt x="577" y="1528"/>
                </a:lnTo>
                <a:lnTo>
                  <a:pt x="621" y="1459"/>
                </a:lnTo>
                <a:lnTo>
                  <a:pt x="666" y="1334"/>
                </a:lnTo>
                <a:lnTo>
                  <a:pt x="710" y="1134"/>
                </a:lnTo>
                <a:lnTo>
                  <a:pt x="754" y="867"/>
                </a:lnTo>
                <a:lnTo>
                  <a:pt x="799" y="583"/>
                </a:lnTo>
                <a:lnTo>
                  <a:pt x="843" y="349"/>
                </a:lnTo>
                <a:lnTo>
                  <a:pt x="888" y="191"/>
                </a:lnTo>
                <a:lnTo>
                  <a:pt x="932" y="99"/>
                </a:lnTo>
                <a:lnTo>
                  <a:pt x="976" y="49"/>
                </a:lnTo>
                <a:lnTo>
                  <a:pt x="1021" y="24"/>
                </a:lnTo>
                <a:lnTo>
                  <a:pt x="1065" y="12"/>
                </a:lnTo>
                <a:lnTo>
                  <a:pt x="1109" y="6"/>
                </a:lnTo>
                <a:lnTo>
                  <a:pt x="1154" y="3"/>
                </a:lnTo>
                <a:lnTo>
                  <a:pt x="1198" y="1"/>
                </a:lnTo>
                <a:lnTo>
                  <a:pt x="1242" y="1"/>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1"/>
                </a:lnTo>
                <a:lnTo>
                  <a:pt x="3062" y="1"/>
                </a:lnTo>
                <a:lnTo>
                  <a:pt x="3106" y="3"/>
                </a:lnTo>
                <a:lnTo>
                  <a:pt x="3151" y="6"/>
                </a:lnTo>
                <a:lnTo>
                  <a:pt x="3195" y="12"/>
                </a:lnTo>
                <a:lnTo>
                  <a:pt x="3239" y="24"/>
                </a:lnTo>
                <a:lnTo>
                  <a:pt x="3284" y="49"/>
                </a:lnTo>
                <a:lnTo>
                  <a:pt x="3328" y="99"/>
                </a:lnTo>
                <a:lnTo>
                  <a:pt x="3372" y="191"/>
                </a:lnTo>
                <a:lnTo>
                  <a:pt x="3417" y="349"/>
                </a:lnTo>
                <a:lnTo>
                  <a:pt x="3461" y="583"/>
                </a:lnTo>
                <a:lnTo>
                  <a:pt x="3506" y="867"/>
                </a:lnTo>
                <a:lnTo>
                  <a:pt x="3550" y="1134"/>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8366760" y="3017520"/>
            <a:ext cx="3246120" cy="1036930"/>
          </a:xfrm>
          <a:custGeom>
            <a:avLst/>
            <a:gdLst/>
            <a:ahLst/>
            <a:cxnLst/>
            <a:rect l="l" t="t" r="r" b="b"/>
            <a:pathLst>
              <a:path w="3550" h="1134">
                <a:moveTo>
                  <a:pt x="0" y="1134"/>
                </a:moveTo>
                <a:lnTo>
                  <a:pt x="44" y="867"/>
                </a:lnTo>
                <a:lnTo>
                  <a:pt x="89" y="583"/>
                </a:lnTo>
                <a:lnTo>
                  <a:pt x="133" y="349"/>
                </a:lnTo>
                <a:lnTo>
                  <a:pt x="178" y="191"/>
                </a:lnTo>
                <a:lnTo>
                  <a:pt x="222" y="99"/>
                </a:lnTo>
                <a:lnTo>
                  <a:pt x="266" y="49"/>
                </a:lnTo>
                <a:lnTo>
                  <a:pt x="311" y="24"/>
                </a:lnTo>
                <a:lnTo>
                  <a:pt x="355" y="12"/>
                </a:lnTo>
                <a:lnTo>
                  <a:pt x="399" y="6"/>
                </a:lnTo>
                <a:lnTo>
                  <a:pt x="444" y="3"/>
                </a:lnTo>
                <a:lnTo>
                  <a:pt x="488" y="1"/>
                </a:lnTo>
                <a:lnTo>
                  <a:pt x="533" y="1"/>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8366760" y="3017520"/>
            <a:ext cx="3246120" cy="1461211"/>
          </a:xfrm>
          <a:custGeom>
            <a:avLst/>
            <a:gdLst/>
            <a:ahLst/>
            <a:cxnLst/>
            <a:rect l="l" t="t" r="r" b="b"/>
            <a:pathLst>
              <a:path w="3550" h="1598">
                <a:moveTo>
                  <a:pt x="0" y="1598"/>
                </a:moveTo>
                <a:lnTo>
                  <a:pt x="44" y="1596"/>
                </a:lnTo>
                <a:lnTo>
                  <a:pt x="89" y="1591"/>
                </a:lnTo>
                <a:lnTo>
                  <a:pt x="133" y="1582"/>
                </a:lnTo>
                <a:lnTo>
                  <a:pt x="178" y="1564"/>
                </a:lnTo>
                <a:lnTo>
                  <a:pt x="222" y="1528"/>
                </a:lnTo>
                <a:lnTo>
                  <a:pt x="266" y="1459"/>
                </a:lnTo>
                <a:lnTo>
                  <a:pt x="311" y="1334"/>
                </a:lnTo>
                <a:lnTo>
                  <a:pt x="355" y="1134"/>
                </a:lnTo>
                <a:lnTo>
                  <a:pt x="399" y="867"/>
                </a:lnTo>
                <a:lnTo>
                  <a:pt x="444" y="583"/>
                </a:lnTo>
                <a:lnTo>
                  <a:pt x="488" y="349"/>
                </a:lnTo>
                <a:lnTo>
                  <a:pt x="533" y="191"/>
                </a:lnTo>
                <a:lnTo>
                  <a:pt x="577" y="99"/>
                </a:lnTo>
                <a:lnTo>
                  <a:pt x="621" y="49"/>
                </a:lnTo>
                <a:lnTo>
                  <a:pt x="666" y="24"/>
                </a:lnTo>
                <a:lnTo>
                  <a:pt x="710" y="12"/>
                </a:lnTo>
                <a:lnTo>
                  <a:pt x="754" y="6"/>
                </a:lnTo>
                <a:lnTo>
                  <a:pt x="799" y="3"/>
                </a:lnTo>
                <a:lnTo>
                  <a:pt x="843" y="1"/>
                </a:lnTo>
                <a:lnTo>
                  <a:pt x="888" y="1"/>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8366760" y="3017520"/>
            <a:ext cx="3246120" cy="1463040"/>
          </a:xfrm>
          <a:custGeom>
            <a:avLst/>
            <a:gdLst/>
            <a:ahLst/>
            <a:cxnLst/>
            <a:rect l="l" t="t" r="r" b="b"/>
            <a:pathLst>
              <a:path w="3550" h="1600">
                <a:moveTo>
                  <a:pt x="0" y="1600"/>
                </a:moveTo>
                <a:lnTo>
                  <a:pt x="44" y="1600"/>
                </a:lnTo>
                <a:lnTo>
                  <a:pt x="89" y="1600"/>
                </a:lnTo>
                <a:lnTo>
                  <a:pt x="133" y="1600"/>
                </a:lnTo>
                <a:lnTo>
                  <a:pt x="178" y="1600"/>
                </a:lnTo>
                <a:lnTo>
                  <a:pt x="222" y="1600"/>
                </a:lnTo>
                <a:lnTo>
                  <a:pt x="266" y="1600"/>
                </a:lnTo>
                <a:lnTo>
                  <a:pt x="311" y="1599"/>
                </a:lnTo>
                <a:lnTo>
                  <a:pt x="355" y="1598"/>
                </a:lnTo>
                <a:lnTo>
                  <a:pt x="399" y="1596"/>
                </a:lnTo>
                <a:lnTo>
                  <a:pt x="444" y="1591"/>
                </a:lnTo>
                <a:lnTo>
                  <a:pt x="488" y="1582"/>
                </a:lnTo>
                <a:lnTo>
                  <a:pt x="533" y="1564"/>
                </a:lnTo>
                <a:lnTo>
                  <a:pt x="577" y="1528"/>
                </a:lnTo>
                <a:lnTo>
                  <a:pt x="621" y="1459"/>
                </a:lnTo>
                <a:lnTo>
                  <a:pt x="666" y="1334"/>
                </a:lnTo>
                <a:lnTo>
                  <a:pt x="710" y="1134"/>
                </a:lnTo>
                <a:lnTo>
                  <a:pt x="754" y="867"/>
                </a:lnTo>
                <a:lnTo>
                  <a:pt x="799" y="583"/>
                </a:lnTo>
                <a:lnTo>
                  <a:pt x="843" y="349"/>
                </a:lnTo>
                <a:lnTo>
                  <a:pt x="888" y="191"/>
                </a:lnTo>
                <a:lnTo>
                  <a:pt x="932" y="99"/>
                </a:lnTo>
                <a:lnTo>
                  <a:pt x="976" y="49"/>
                </a:lnTo>
                <a:lnTo>
                  <a:pt x="1021" y="24"/>
                </a:lnTo>
                <a:lnTo>
                  <a:pt x="1065" y="12"/>
                </a:lnTo>
                <a:lnTo>
                  <a:pt x="1109" y="6"/>
                </a:lnTo>
                <a:lnTo>
                  <a:pt x="1154" y="3"/>
                </a:lnTo>
                <a:lnTo>
                  <a:pt x="1198" y="1"/>
                </a:lnTo>
                <a:lnTo>
                  <a:pt x="1242" y="1"/>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8366760" y="3443630"/>
            <a:ext cx="3246120" cy="1036930"/>
          </a:xfrm>
          <a:custGeom>
            <a:avLst/>
            <a:gdLst/>
            <a:ahLst/>
            <a:cxnLst/>
            <a:rect l="l" t="t" r="r" b="b"/>
            <a:pathLst>
              <a:path w="3550" h="1134">
                <a:moveTo>
                  <a:pt x="0" y="0"/>
                </a:moveTo>
                <a:lnTo>
                  <a:pt x="44" y="267"/>
                </a:lnTo>
                <a:lnTo>
                  <a:pt x="89" y="551"/>
                </a:lnTo>
                <a:lnTo>
                  <a:pt x="133" y="785"/>
                </a:lnTo>
                <a:lnTo>
                  <a:pt x="178" y="943"/>
                </a:lnTo>
                <a:lnTo>
                  <a:pt x="222" y="1035"/>
                </a:lnTo>
                <a:lnTo>
                  <a:pt x="266" y="1085"/>
                </a:lnTo>
                <a:lnTo>
                  <a:pt x="311" y="1110"/>
                </a:lnTo>
                <a:lnTo>
                  <a:pt x="355" y="1122"/>
                </a:lnTo>
                <a:lnTo>
                  <a:pt x="399" y="1128"/>
                </a:lnTo>
                <a:lnTo>
                  <a:pt x="444" y="1131"/>
                </a:lnTo>
                <a:lnTo>
                  <a:pt x="488" y="1133"/>
                </a:lnTo>
                <a:lnTo>
                  <a:pt x="533" y="1133"/>
                </a:lnTo>
                <a:lnTo>
                  <a:pt x="577" y="1134"/>
                </a:lnTo>
                <a:lnTo>
                  <a:pt x="621" y="1134"/>
                </a:lnTo>
                <a:lnTo>
                  <a:pt x="666" y="1134"/>
                </a:lnTo>
                <a:lnTo>
                  <a:pt x="710" y="1134"/>
                </a:lnTo>
                <a:lnTo>
                  <a:pt x="754" y="1134"/>
                </a:lnTo>
                <a:lnTo>
                  <a:pt x="799" y="1134"/>
                </a:lnTo>
                <a:lnTo>
                  <a:pt x="843" y="1134"/>
                </a:lnTo>
                <a:lnTo>
                  <a:pt x="888" y="1134"/>
                </a:lnTo>
                <a:lnTo>
                  <a:pt x="932" y="1134"/>
                </a:lnTo>
                <a:lnTo>
                  <a:pt x="976" y="1134"/>
                </a:lnTo>
                <a:lnTo>
                  <a:pt x="1021" y="1134"/>
                </a:lnTo>
                <a:lnTo>
                  <a:pt x="1065" y="1134"/>
                </a:lnTo>
                <a:lnTo>
                  <a:pt x="1109" y="1134"/>
                </a:lnTo>
                <a:lnTo>
                  <a:pt x="1154" y="1134"/>
                </a:lnTo>
                <a:lnTo>
                  <a:pt x="1198" y="1134"/>
                </a:lnTo>
                <a:lnTo>
                  <a:pt x="1242" y="1134"/>
                </a:lnTo>
                <a:lnTo>
                  <a:pt x="1287" y="1134"/>
                </a:lnTo>
                <a:lnTo>
                  <a:pt x="1331" y="1134"/>
                </a:lnTo>
                <a:lnTo>
                  <a:pt x="1376" y="1134"/>
                </a:lnTo>
                <a:lnTo>
                  <a:pt x="1420" y="1134"/>
                </a:lnTo>
                <a:lnTo>
                  <a:pt x="1464" y="1134"/>
                </a:lnTo>
                <a:lnTo>
                  <a:pt x="1509" y="1134"/>
                </a:lnTo>
                <a:lnTo>
                  <a:pt x="1553" y="1134"/>
                </a:lnTo>
                <a:lnTo>
                  <a:pt x="1598" y="1134"/>
                </a:lnTo>
                <a:lnTo>
                  <a:pt x="1642" y="1134"/>
                </a:lnTo>
                <a:lnTo>
                  <a:pt x="1686" y="1134"/>
                </a:lnTo>
                <a:lnTo>
                  <a:pt x="1731" y="1134"/>
                </a:lnTo>
                <a:lnTo>
                  <a:pt x="1775" y="1134"/>
                </a:lnTo>
                <a:lnTo>
                  <a:pt x="1819" y="1134"/>
                </a:lnTo>
                <a:lnTo>
                  <a:pt x="1864" y="1134"/>
                </a:lnTo>
                <a:lnTo>
                  <a:pt x="1908" y="1134"/>
                </a:lnTo>
                <a:lnTo>
                  <a:pt x="1953" y="1134"/>
                </a:lnTo>
                <a:lnTo>
                  <a:pt x="1997" y="1134"/>
                </a:lnTo>
                <a:lnTo>
                  <a:pt x="2041" y="1134"/>
                </a:lnTo>
                <a:lnTo>
                  <a:pt x="2086" y="1134"/>
                </a:lnTo>
                <a:lnTo>
                  <a:pt x="2130" y="1134"/>
                </a:lnTo>
                <a:lnTo>
                  <a:pt x="2174" y="1134"/>
                </a:lnTo>
                <a:lnTo>
                  <a:pt x="2219" y="1134"/>
                </a:lnTo>
                <a:lnTo>
                  <a:pt x="2263" y="1134"/>
                </a:lnTo>
                <a:lnTo>
                  <a:pt x="2308" y="1134"/>
                </a:lnTo>
                <a:lnTo>
                  <a:pt x="2352" y="1134"/>
                </a:lnTo>
                <a:lnTo>
                  <a:pt x="2396" y="1134"/>
                </a:lnTo>
                <a:lnTo>
                  <a:pt x="2441" y="1134"/>
                </a:lnTo>
                <a:lnTo>
                  <a:pt x="2485" y="1134"/>
                </a:lnTo>
                <a:lnTo>
                  <a:pt x="2529" y="1134"/>
                </a:lnTo>
                <a:lnTo>
                  <a:pt x="2574" y="1134"/>
                </a:lnTo>
                <a:lnTo>
                  <a:pt x="2618" y="1134"/>
                </a:lnTo>
                <a:lnTo>
                  <a:pt x="2662" y="1134"/>
                </a:lnTo>
                <a:lnTo>
                  <a:pt x="2707" y="1134"/>
                </a:lnTo>
                <a:lnTo>
                  <a:pt x="2751" y="1134"/>
                </a:lnTo>
                <a:lnTo>
                  <a:pt x="2796" y="1134"/>
                </a:lnTo>
                <a:lnTo>
                  <a:pt x="2840" y="1134"/>
                </a:lnTo>
                <a:lnTo>
                  <a:pt x="2884" y="1134"/>
                </a:lnTo>
                <a:lnTo>
                  <a:pt x="2929" y="1134"/>
                </a:lnTo>
                <a:lnTo>
                  <a:pt x="2973" y="1134"/>
                </a:lnTo>
                <a:lnTo>
                  <a:pt x="3018" y="1134"/>
                </a:lnTo>
                <a:lnTo>
                  <a:pt x="3062" y="1134"/>
                </a:lnTo>
                <a:lnTo>
                  <a:pt x="3106" y="1134"/>
                </a:lnTo>
                <a:lnTo>
                  <a:pt x="3151" y="1134"/>
                </a:lnTo>
                <a:lnTo>
                  <a:pt x="3195" y="1134"/>
                </a:lnTo>
                <a:lnTo>
                  <a:pt x="3239" y="1134"/>
                </a:lnTo>
                <a:lnTo>
                  <a:pt x="3284" y="1134"/>
                </a:lnTo>
                <a:lnTo>
                  <a:pt x="3328" y="1134"/>
                </a:lnTo>
                <a:lnTo>
                  <a:pt x="3372" y="1134"/>
                </a:lnTo>
                <a:lnTo>
                  <a:pt x="3417" y="1134"/>
                </a:lnTo>
                <a:lnTo>
                  <a:pt x="3461" y="1134"/>
                </a:lnTo>
                <a:lnTo>
                  <a:pt x="3506" y="1134"/>
                </a:lnTo>
                <a:lnTo>
                  <a:pt x="3550" y="1134"/>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8366760" y="3019349"/>
            <a:ext cx="3246120" cy="1461211"/>
          </a:xfrm>
          <a:custGeom>
            <a:avLst/>
            <a:gdLst/>
            <a:ahLst/>
            <a:cxnLst/>
            <a:rect l="l" t="t" r="r" b="b"/>
            <a:pathLst>
              <a:path w="3550" h="1598">
                <a:moveTo>
                  <a:pt x="0" y="0"/>
                </a:moveTo>
                <a:lnTo>
                  <a:pt x="44" y="2"/>
                </a:lnTo>
                <a:lnTo>
                  <a:pt x="89" y="7"/>
                </a:lnTo>
                <a:lnTo>
                  <a:pt x="133" y="16"/>
                </a:lnTo>
                <a:lnTo>
                  <a:pt x="178" y="34"/>
                </a:lnTo>
                <a:lnTo>
                  <a:pt x="222" y="70"/>
                </a:lnTo>
                <a:lnTo>
                  <a:pt x="266" y="139"/>
                </a:lnTo>
                <a:lnTo>
                  <a:pt x="311" y="264"/>
                </a:lnTo>
                <a:lnTo>
                  <a:pt x="355" y="464"/>
                </a:lnTo>
                <a:lnTo>
                  <a:pt x="399" y="731"/>
                </a:lnTo>
                <a:lnTo>
                  <a:pt x="444" y="1015"/>
                </a:lnTo>
                <a:lnTo>
                  <a:pt x="488" y="1249"/>
                </a:lnTo>
                <a:lnTo>
                  <a:pt x="533" y="1407"/>
                </a:lnTo>
                <a:lnTo>
                  <a:pt x="577" y="1499"/>
                </a:lnTo>
                <a:lnTo>
                  <a:pt x="621" y="1549"/>
                </a:lnTo>
                <a:lnTo>
                  <a:pt x="666" y="1574"/>
                </a:lnTo>
                <a:lnTo>
                  <a:pt x="710" y="1586"/>
                </a:lnTo>
                <a:lnTo>
                  <a:pt x="754" y="1592"/>
                </a:lnTo>
                <a:lnTo>
                  <a:pt x="799" y="1595"/>
                </a:lnTo>
                <a:lnTo>
                  <a:pt x="843" y="1597"/>
                </a:lnTo>
                <a:lnTo>
                  <a:pt x="888" y="1597"/>
                </a:lnTo>
                <a:lnTo>
                  <a:pt x="932" y="1598"/>
                </a:lnTo>
                <a:lnTo>
                  <a:pt x="976" y="1598"/>
                </a:lnTo>
                <a:lnTo>
                  <a:pt x="1021" y="1598"/>
                </a:lnTo>
                <a:lnTo>
                  <a:pt x="1065" y="1598"/>
                </a:lnTo>
                <a:lnTo>
                  <a:pt x="1109" y="1598"/>
                </a:lnTo>
                <a:lnTo>
                  <a:pt x="1154" y="1598"/>
                </a:lnTo>
                <a:lnTo>
                  <a:pt x="1198" y="1598"/>
                </a:lnTo>
                <a:lnTo>
                  <a:pt x="1242" y="1598"/>
                </a:lnTo>
                <a:lnTo>
                  <a:pt x="1287" y="1598"/>
                </a:lnTo>
                <a:lnTo>
                  <a:pt x="1331" y="1598"/>
                </a:lnTo>
                <a:lnTo>
                  <a:pt x="1376" y="1598"/>
                </a:lnTo>
                <a:lnTo>
                  <a:pt x="1420" y="1598"/>
                </a:lnTo>
                <a:lnTo>
                  <a:pt x="1464" y="1598"/>
                </a:lnTo>
                <a:lnTo>
                  <a:pt x="1509" y="1598"/>
                </a:lnTo>
                <a:lnTo>
                  <a:pt x="1553" y="1598"/>
                </a:lnTo>
                <a:lnTo>
                  <a:pt x="1598" y="1598"/>
                </a:lnTo>
                <a:lnTo>
                  <a:pt x="1642" y="1598"/>
                </a:lnTo>
                <a:lnTo>
                  <a:pt x="1686" y="1598"/>
                </a:lnTo>
                <a:lnTo>
                  <a:pt x="1731" y="1598"/>
                </a:lnTo>
                <a:lnTo>
                  <a:pt x="1775" y="1598"/>
                </a:lnTo>
                <a:lnTo>
                  <a:pt x="1819" y="1598"/>
                </a:lnTo>
                <a:lnTo>
                  <a:pt x="1864" y="1598"/>
                </a:lnTo>
                <a:lnTo>
                  <a:pt x="1908" y="1598"/>
                </a:lnTo>
                <a:lnTo>
                  <a:pt x="1953" y="1598"/>
                </a:lnTo>
                <a:lnTo>
                  <a:pt x="1997" y="1598"/>
                </a:lnTo>
                <a:lnTo>
                  <a:pt x="2041" y="1598"/>
                </a:lnTo>
                <a:lnTo>
                  <a:pt x="2086" y="1598"/>
                </a:lnTo>
                <a:lnTo>
                  <a:pt x="2130" y="1598"/>
                </a:lnTo>
                <a:lnTo>
                  <a:pt x="2174" y="1598"/>
                </a:lnTo>
                <a:lnTo>
                  <a:pt x="2219" y="1598"/>
                </a:lnTo>
                <a:lnTo>
                  <a:pt x="2263" y="1598"/>
                </a:lnTo>
                <a:lnTo>
                  <a:pt x="2308" y="1598"/>
                </a:lnTo>
                <a:lnTo>
                  <a:pt x="2352" y="1598"/>
                </a:lnTo>
                <a:lnTo>
                  <a:pt x="2396" y="1598"/>
                </a:lnTo>
                <a:lnTo>
                  <a:pt x="2441" y="1598"/>
                </a:lnTo>
                <a:lnTo>
                  <a:pt x="2485" y="1598"/>
                </a:lnTo>
                <a:lnTo>
                  <a:pt x="2529" y="1598"/>
                </a:lnTo>
                <a:lnTo>
                  <a:pt x="2574" y="1598"/>
                </a:lnTo>
                <a:lnTo>
                  <a:pt x="2618" y="1598"/>
                </a:lnTo>
                <a:lnTo>
                  <a:pt x="2662" y="1598"/>
                </a:lnTo>
                <a:lnTo>
                  <a:pt x="2707" y="1598"/>
                </a:lnTo>
                <a:lnTo>
                  <a:pt x="2751" y="1598"/>
                </a:lnTo>
                <a:lnTo>
                  <a:pt x="2796" y="1598"/>
                </a:lnTo>
                <a:lnTo>
                  <a:pt x="2840" y="1598"/>
                </a:lnTo>
                <a:lnTo>
                  <a:pt x="2884" y="1598"/>
                </a:lnTo>
                <a:lnTo>
                  <a:pt x="2929" y="1598"/>
                </a:lnTo>
                <a:lnTo>
                  <a:pt x="2973" y="1598"/>
                </a:lnTo>
                <a:lnTo>
                  <a:pt x="3018" y="1598"/>
                </a:lnTo>
                <a:lnTo>
                  <a:pt x="3062" y="1598"/>
                </a:lnTo>
                <a:lnTo>
                  <a:pt x="3106" y="1598"/>
                </a:lnTo>
                <a:lnTo>
                  <a:pt x="3151" y="1598"/>
                </a:lnTo>
                <a:lnTo>
                  <a:pt x="3195" y="1598"/>
                </a:lnTo>
                <a:lnTo>
                  <a:pt x="3239" y="1598"/>
                </a:lnTo>
                <a:lnTo>
                  <a:pt x="3284" y="1598"/>
                </a:lnTo>
                <a:lnTo>
                  <a:pt x="3328" y="1598"/>
                </a:lnTo>
                <a:lnTo>
                  <a:pt x="3372" y="1598"/>
                </a:lnTo>
                <a:lnTo>
                  <a:pt x="3417" y="1598"/>
                </a:lnTo>
                <a:lnTo>
                  <a:pt x="3461" y="1598"/>
                </a:lnTo>
                <a:lnTo>
                  <a:pt x="3506" y="1598"/>
                </a:lnTo>
                <a:lnTo>
                  <a:pt x="3550" y="159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8366760" y="3017520"/>
            <a:ext cx="3246120" cy="1463040"/>
          </a:xfrm>
          <a:custGeom>
            <a:avLst/>
            <a:gdLst/>
            <a:ahLst/>
            <a:cxnLst/>
            <a:rect l="l" t="t" r="r" b="b"/>
            <a:pathLst>
              <a:path w="3550" h="1600">
                <a:moveTo>
                  <a:pt x="0" y="0"/>
                </a:moveTo>
                <a:lnTo>
                  <a:pt x="44" y="0"/>
                </a:lnTo>
                <a:lnTo>
                  <a:pt x="89" y="0"/>
                </a:lnTo>
                <a:lnTo>
                  <a:pt x="133" y="0"/>
                </a:lnTo>
                <a:lnTo>
                  <a:pt x="178" y="0"/>
                </a:lnTo>
                <a:lnTo>
                  <a:pt x="222" y="0"/>
                </a:lnTo>
                <a:lnTo>
                  <a:pt x="266" y="0"/>
                </a:lnTo>
                <a:lnTo>
                  <a:pt x="311" y="1"/>
                </a:lnTo>
                <a:lnTo>
                  <a:pt x="355" y="2"/>
                </a:lnTo>
                <a:lnTo>
                  <a:pt x="399" y="4"/>
                </a:lnTo>
                <a:lnTo>
                  <a:pt x="444" y="9"/>
                </a:lnTo>
                <a:lnTo>
                  <a:pt x="488" y="18"/>
                </a:lnTo>
                <a:lnTo>
                  <a:pt x="533" y="36"/>
                </a:lnTo>
                <a:lnTo>
                  <a:pt x="577" y="72"/>
                </a:lnTo>
                <a:lnTo>
                  <a:pt x="621" y="141"/>
                </a:lnTo>
                <a:lnTo>
                  <a:pt x="666" y="266"/>
                </a:lnTo>
                <a:lnTo>
                  <a:pt x="710" y="466"/>
                </a:lnTo>
                <a:lnTo>
                  <a:pt x="754" y="733"/>
                </a:lnTo>
                <a:lnTo>
                  <a:pt x="799" y="1017"/>
                </a:lnTo>
                <a:lnTo>
                  <a:pt x="843" y="1251"/>
                </a:lnTo>
                <a:lnTo>
                  <a:pt x="888" y="1409"/>
                </a:lnTo>
                <a:lnTo>
                  <a:pt x="932" y="1501"/>
                </a:lnTo>
                <a:lnTo>
                  <a:pt x="976" y="1551"/>
                </a:lnTo>
                <a:lnTo>
                  <a:pt x="1021" y="1576"/>
                </a:lnTo>
                <a:lnTo>
                  <a:pt x="1065" y="1588"/>
                </a:lnTo>
                <a:lnTo>
                  <a:pt x="1109" y="1594"/>
                </a:lnTo>
                <a:lnTo>
                  <a:pt x="1154" y="1597"/>
                </a:lnTo>
                <a:lnTo>
                  <a:pt x="1198" y="1599"/>
                </a:lnTo>
                <a:lnTo>
                  <a:pt x="1242" y="1599"/>
                </a:lnTo>
                <a:lnTo>
                  <a:pt x="1287" y="1600"/>
                </a:lnTo>
                <a:lnTo>
                  <a:pt x="1331" y="1600"/>
                </a:lnTo>
                <a:lnTo>
                  <a:pt x="1376" y="1600"/>
                </a:lnTo>
                <a:lnTo>
                  <a:pt x="1420" y="1600"/>
                </a:lnTo>
                <a:lnTo>
                  <a:pt x="1464" y="1600"/>
                </a:lnTo>
                <a:lnTo>
                  <a:pt x="1509" y="1600"/>
                </a:lnTo>
                <a:lnTo>
                  <a:pt x="1553" y="1600"/>
                </a:lnTo>
                <a:lnTo>
                  <a:pt x="1598" y="1600"/>
                </a:lnTo>
                <a:lnTo>
                  <a:pt x="1642" y="1600"/>
                </a:lnTo>
                <a:lnTo>
                  <a:pt x="1686" y="1600"/>
                </a:lnTo>
                <a:lnTo>
                  <a:pt x="1731" y="1600"/>
                </a:lnTo>
                <a:lnTo>
                  <a:pt x="1775" y="1600"/>
                </a:lnTo>
                <a:lnTo>
                  <a:pt x="1819" y="1600"/>
                </a:lnTo>
                <a:lnTo>
                  <a:pt x="1864" y="1600"/>
                </a:lnTo>
                <a:lnTo>
                  <a:pt x="1908" y="1600"/>
                </a:lnTo>
                <a:lnTo>
                  <a:pt x="1953" y="1600"/>
                </a:lnTo>
                <a:lnTo>
                  <a:pt x="1997" y="1600"/>
                </a:lnTo>
                <a:lnTo>
                  <a:pt x="2041" y="1600"/>
                </a:lnTo>
                <a:lnTo>
                  <a:pt x="2086" y="1600"/>
                </a:lnTo>
                <a:lnTo>
                  <a:pt x="2130" y="1600"/>
                </a:lnTo>
                <a:lnTo>
                  <a:pt x="2174" y="1600"/>
                </a:lnTo>
                <a:lnTo>
                  <a:pt x="2219" y="1600"/>
                </a:lnTo>
                <a:lnTo>
                  <a:pt x="2263" y="1600"/>
                </a:lnTo>
                <a:lnTo>
                  <a:pt x="2308" y="1600"/>
                </a:lnTo>
                <a:lnTo>
                  <a:pt x="2352" y="1600"/>
                </a:lnTo>
                <a:lnTo>
                  <a:pt x="2396" y="1600"/>
                </a:lnTo>
                <a:lnTo>
                  <a:pt x="2441" y="1600"/>
                </a:lnTo>
                <a:lnTo>
                  <a:pt x="2485" y="1600"/>
                </a:lnTo>
                <a:lnTo>
                  <a:pt x="2529" y="1600"/>
                </a:lnTo>
                <a:lnTo>
                  <a:pt x="2574" y="1600"/>
                </a:lnTo>
                <a:lnTo>
                  <a:pt x="2618" y="1600"/>
                </a:lnTo>
                <a:lnTo>
                  <a:pt x="2662" y="1600"/>
                </a:lnTo>
                <a:lnTo>
                  <a:pt x="2707" y="1600"/>
                </a:lnTo>
                <a:lnTo>
                  <a:pt x="2751" y="1600"/>
                </a:lnTo>
                <a:lnTo>
                  <a:pt x="2796" y="1600"/>
                </a:lnTo>
                <a:lnTo>
                  <a:pt x="2840" y="1600"/>
                </a:lnTo>
                <a:lnTo>
                  <a:pt x="2884" y="1600"/>
                </a:lnTo>
                <a:lnTo>
                  <a:pt x="2929" y="1600"/>
                </a:lnTo>
                <a:lnTo>
                  <a:pt x="2973" y="1600"/>
                </a:lnTo>
                <a:lnTo>
                  <a:pt x="3018" y="1600"/>
                </a:lnTo>
                <a:lnTo>
                  <a:pt x="3062" y="1600"/>
                </a:lnTo>
                <a:lnTo>
                  <a:pt x="3106" y="1600"/>
                </a:lnTo>
                <a:lnTo>
                  <a:pt x="3151" y="1600"/>
                </a:lnTo>
                <a:lnTo>
                  <a:pt x="3195" y="1600"/>
                </a:lnTo>
                <a:lnTo>
                  <a:pt x="3239" y="1600"/>
                </a:lnTo>
                <a:lnTo>
                  <a:pt x="3284" y="1600"/>
                </a:lnTo>
                <a:lnTo>
                  <a:pt x="3328" y="1600"/>
                </a:lnTo>
                <a:lnTo>
                  <a:pt x="3372" y="1600"/>
                </a:lnTo>
                <a:lnTo>
                  <a:pt x="3417" y="1600"/>
                </a:lnTo>
                <a:lnTo>
                  <a:pt x="3461" y="1600"/>
                </a:lnTo>
                <a:lnTo>
                  <a:pt x="3506" y="1600"/>
                </a:lnTo>
                <a:lnTo>
                  <a:pt x="3550" y="160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8366760" y="3017520"/>
            <a:ext cx="3246120" cy="1463040"/>
          </a:xfrm>
          <a:custGeom>
            <a:avLst/>
            <a:gdLst/>
            <a:ahLst/>
            <a:cxnLst/>
            <a:rect l="l" t="t" r="r" b="b"/>
            <a:pathLst>
              <a:path w="3550" h="1600">
                <a:moveTo>
                  <a:pt x="0" y="466"/>
                </a:moveTo>
                <a:lnTo>
                  <a:pt x="44" y="733"/>
                </a:lnTo>
                <a:lnTo>
                  <a:pt x="89" y="1017"/>
                </a:lnTo>
                <a:lnTo>
                  <a:pt x="133" y="1251"/>
                </a:lnTo>
                <a:lnTo>
                  <a:pt x="178" y="1409"/>
                </a:lnTo>
                <a:lnTo>
                  <a:pt x="222" y="1501"/>
                </a:lnTo>
                <a:lnTo>
                  <a:pt x="266" y="1551"/>
                </a:lnTo>
                <a:lnTo>
                  <a:pt x="311" y="1576"/>
                </a:lnTo>
                <a:lnTo>
                  <a:pt x="355" y="1588"/>
                </a:lnTo>
                <a:lnTo>
                  <a:pt x="399" y="1594"/>
                </a:lnTo>
                <a:lnTo>
                  <a:pt x="444" y="1597"/>
                </a:lnTo>
                <a:lnTo>
                  <a:pt x="488" y="1599"/>
                </a:lnTo>
                <a:lnTo>
                  <a:pt x="533" y="1599"/>
                </a:lnTo>
                <a:lnTo>
                  <a:pt x="577" y="1600"/>
                </a:lnTo>
                <a:lnTo>
                  <a:pt x="621" y="1600"/>
                </a:lnTo>
                <a:lnTo>
                  <a:pt x="666" y="1600"/>
                </a:lnTo>
                <a:lnTo>
                  <a:pt x="710" y="1600"/>
                </a:lnTo>
                <a:lnTo>
                  <a:pt x="754" y="1600"/>
                </a:lnTo>
                <a:lnTo>
                  <a:pt x="799" y="1600"/>
                </a:lnTo>
                <a:lnTo>
                  <a:pt x="843" y="1600"/>
                </a:lnTo>
                <a:lnTo>
                  <a:pt x="888" y="1600"/>
                </a:lnTo>
                <a:lnTo>
                  <a:pt x="932" y="1600"/>
                </a:lnTo>
                <a:lnTo>
                  <a:pt x="976" y="1600"/>
                </a:lnTo>
                <a:lnTo>
                  <a:pt x="1021" y="1600"/>
                </a:lnTo>
                <a:lnTo>
                  <a:pt x="1065" y="1600"/>
                </a:lnTo>
                <a:lnTo>
                  <a:pt x="1109" y="1600"/>
                </a:lnTo>
                <a:lnTo>
                  <a:pt x="1154" y="1600"/>
                </a:lnTo>
                <a:lnTo>
                  <a:pt x="1198" y="1600"/>
                </a:lnTo>
                <a:lnTo>
                  <a:pt x="1242" y="1600"/>
                </a:lnTo>
                <a:lnTo>
                  <a:pt x="1287" y="1600"/>
                </a:lnTo>
                <a:lnTo>
                  <a:pt x="1331" y="1600"/>
                </a:lnTo>
                <a:lnTo>
                  <a:pt x="1376" y="1600"/>
                </a:lnTo>
                <a:lnTo>
                  <a:pt x="1420" y="1600"/>
                </a:lnTo>
                <a:lnTo>
                  <a:pt x="1464" y="1600"/>
                </a:lnTo>
                <a:lnTo>
                  <a:pt x="1509" y="1600"/>
                </a:lnTo>
                <a:lnTo>
                  <a:pt x="1553" y="1600"/>
                </a:lnTo>
                <a:lnTo>
                  <a:pt x="1598" y="1600"/>
                </a:lnTo>
                <a:lnTo>
                  <a:pt x="1642" y="1600"/>
                </a:lnTo>
                <a:lnTo>
                  <a:pt x="1686" y="1600"/>
                </a:lnTo>
                <a:lnTo>
                  <a:pt x="1731" y="1600"/>
                </a:lnTo>
                <a:lnTo>
                  <a:pt x="1775" y="1600"/>
                </a:lnTo>
                <a:lnTo>
                  <a:pt x="1819" y="1600"/>
                </a:lnTo>
                <a:lnTo>
                  <a:pt x="1864" y="1600"/>
                </a:lnTo>
                <a:lnTo>
                  <a:pt x="1908" y="1600"/>
                </a:lnTo>
                <a:lnTo>
                  <a:pt x="1953" y="1600"/>
                </a:lnTo>
                <a:lnTo>
                  <a:pt x="1997" y="1600"/>
                </a:lnTo>
                <a:lnTo>
                  <a:pt x="2041" y="1600"/>
                </a:lnTo>
                <a:lnTo>
                  <a:pt x="2086" y="1600"/>
                </a:lnTo>
                <a:lnTo>
                  <a:pt x="2130" y="1600"/>
                </a:lnTo>
                <a:lnTo>
                  <a:pt x="2174" y="1600"/>
                </a:lnTo>
                <a:lnTo>
                  <a:pt x="2219" y="1600"/>
                </a:lnTo>
                <a:lnTo>
                  <a:pt x="2263" y="1600"/>
                </a:lnTo>
                <a:lnTo>
                  <a:pt x="2308" y="1599"/>
                </a:lnTo>
                <a:lnTo>
                  <a:pt x="2352" y="1599"/>
                </a:lnTo>
                <a:lnTo>
                  <a:pt x="2396" y="1597"/>
                </a:lnTo>
                <a:lnTo>
                  <a:pt x="2441" y="1594"/>
                </a:lnTo>
                <a:lnTo>
                  <a:pt x="2485" y="1588"/>
                </a:lnTo>
                <a:lnTo>
                  <a:pt x="2529" y="1576"/>
                </a:lnTo>
                <a:lnTo>
                  <a:pt x="2574" y="1551"/>
                </a:lnTo>
                <a:lnTo>
                  <a:pt x="2618" y="1501"/>
                </a:lnTo>
                <a:lnTo>
                  <a:pt x="2662" y="1409"/>
                </a:lnTo>
                <a:lnTo>
                  <a:pt x="2707" y="1251"/>
                </a:lnTo>
                <a:lnTo>
                  <a:pt x="2751" y="1017"/>
                </a:lnTo>
                <a:lnTo>
                  <a:pt x="2796" y="733"/>
                </a:lnTo>
                <a:lnTo>
                  <a:pt x="2840" y="466"/>
                </a:lnTo>
                <a:lnTo>
                  <a:pt x="2884" y="266"/>
                </a:lnTo>
                <a:lnTo>
                  <a:pt x="2929" y="141"/>
                </a:lnTo>
                <a:lnTo>
                  <a:pt x="2973" y="72"/>
                </a:lnTo>
                <a:lnTo>
                  <a:pt x="3018" y="36"/>
                </a:lnTo>
                <a:lnTo>
                  <a:pt x="3062" y="18"/>
                </a:lnTo>
                <a:lnTo>
                  <a:pt x="3106" y="9"/>
                </a:lnTo>
                <a:lnTo>
                  <a:pt x="3151" y="4"/>
                </a:lnTo>
                <a:lnTo>
                  <a:pt x="3195" y="2"/>
                </a:lnTo>
                <a:lnTo>
                  <a:pt x="3239" y="1"/>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8366760" y="3019349"/>
            <a:ext cx="3246120" cy="1461211"/>
          </a:xfrm>
          <a:custGeom>
            <a:avLst/>
            <a:gdLst/>
            <a:ahLst/>
            <a:cxnLst/>
            <a:rect l="l" t="t" r="r" b="b"/>
            <a:pathLst>
              <a:path w="3550" h="1598">
                <a:moveTo>
                  <a:pt x="0" y="0"/>
                </a:moveTo>
                <a:lnTo>
                  <a:pt x="44" y="2"/>
                </a:lnTo>
                <a:lnTo>
                  <a:pt x="89" y="7"/>
                </a:lnTo>
                <a:lnTo>
                  <a:pt x="133" y="16"/>
                </a:lnTo>
                <a:lnTo>
                  <a:pt x="178" y="34"/>
                </a:lnTo>
                <a:lnTo>
                  <a:pt x="222" y="70"/>
                </a:lnTo>
                <a:lnTo>
                  <a:pt x="266" y="139"/>
                </a:lnTo>
                <a:lnTo>
                  <a:pt x="311" y="264"/>
                </a:lnTo>
                <a:lnTo>
                  <a:pt x="355" y="464"/>
                </a:lnTo>
                <a:lnTo>
                  <a:pt x="399" y="731"/>
                </a:lnTo>
                <a:lnTo>
                  <a:pt x="444" y="1015"/>
                </a:lnTo>
                <a:lnTo>
                  <a:pt x="488" y="1249"/>
                </a:lnTo>
                <a:lnTo>
                  <a:pt x="533" y="1407"/>
                </a:lnTo>
                <a:lnTo>
                  <a:pt x="577" y="1499"/>
                </a:lnTo>
                <a:lnTo>
                  <a:pt x="621" y="1549"/>
                </a:lnTo>
                <a:lnTo>
                  <a:pt x="666" y="1574"/>
                </a:lnTo>
                <a:lnTo>
                  <a:pt x="710" y="1586"/>
                </a:lnTo>
                <a:lnTo>
                  <a:pt x="754" y="1592"/>
                </a:lnTo>
                <a:lnTo>
                  <a:pt x="799" y="1595"/>
                </a:lnTo>
                <a:lnTo>
                  <a:pt x="843" y="1597"/>
                </a:lnTo>
                <a:lnTo>
                  <a:pt x="888" y="1597"/>
                </a:lnTo>
                <a:lnTo>
                  <a:pt x="932" y="1598"/>
                </a:lnTo>
                <a:lnTo>
                  <a:pt x="976" y="1598"/>
                </a:lnTo>
                <a:lnTo>
                  <a:pt x="1021" y="1598"/>
                </a:lnTo>
                <a:lnTo>
                  <a:pt x="1065" y="1598"/>
                </a:lnTo>
                <a:lnTo>
                  <a:pt x="1109" y="1598"/>
                </a:lnTo>
                <a:lnTo>
                  <a:pt x="1154" y="1598"/>
                </a:lnTo>
                <a:lnTo>
                  <a:pt x="1198" y="1598"/>
                </a:lnTo>
                <a:lnTo>
                  <a:pt x="1242" y="1598"/>
                </a:lnTo>
                <a:lnTo>
                  <a:pt x="1287" y="1598"/>
                </a:lnTo>
                <a:lnTo>
                  <a:pt x="1331" y="1598"/>
                </a:lnTo>
                <a:lnTo>
                  <a:pt x="1376" y="1598"/>
                </a:lnTo>
                <a:lnTo>
                  <a:pt x="1420" y="1598"/>
                </a:lnTo>
                <a:lnTo>
                  <a:pt x="1464" y="1598"/>
                </a:lnTo>
                <a:lnTo>
                  <a:pt x="1509" y="1598"/>
                </a:lnTo>
                <a:lnTo>
                  <a:pt x="1553" y="1598"/>
                </a:lnTo>
                <a:lnTo>
                  <a:pt x="1598" y="1598"/>
                </a:lnTo>
                <a:lnTo>
                  <a:pt x="1642" y="1598"/>
                </a:lnTo>
                <a:lnTo>
                  <a:pt x="1686" y="1598"/>
                </a:lnTo>
                <a:lnTo>
                  <a:pt x="1731" y="1598"/>
                </a:lnTo>
                <a:lnTo>
                  <a:pt x="1775" y="1598"/>
                </a:lnTo>
                <a:lnTo>
                  <a:pt x="1819" y="1598"/>
                </a:lnTo>
                <a:lnTo>
                  <a:pt x="1864" y="1598"/>
                </a:lnTo>
                <a:lnTo>
                  <a:pt x="1908" y="1598"/>
                </a:lnTo>
                <a:lnTo>
                  <a:pt x="1953" y="1598"/>
                </a:lnTo>
                <a:lnTo>
                  <a:pt x="1997" y="1598"/>
                </a:lnTo>
                <a:lnTo>
                  <a:pt x="2041" y="1598"/>
                </a:lnTo>
                <a:lnTo>
                  <a:pt x="2086" y="1598"/>
                </a:lnTo>
                <a:lnTo>
                  <a:pt x="2130" y="1598"/>
                </a:lnTo>
                <a:lnTo>
                  <a:pt x="2174" y="1598"/>
                </a:lnTo>
                <a:lnTo>
                  <a:pt x="2219" y="1598"/>
                </a:lnTo>
                <a:lnTo>
                  <a:pt x="2263" y="1598"/>
                </a:lnTo>
                <a:lnTo>
                  <a:pt x="2308" y="1598"/>
                </a:lnTo>
                <a:lnTo>
                  <a:pt x="2352" y="1598"/>
                </a:lnTo>
                <a:lnTo>
                  <a:pt x="2396" y="1598"/>
                </a:lnTo>
                <a:lnTo>
                  <a:pt x="2441" y="1598"/>
                </a:lnTo>
                <a:lnTo>
                  <a:pt x="2485" y="1598"/>
                </a:lnTo>
                <a:lnTo>
                  <a:pt x="2529" y="1598"/>
                </a:lnTo>
                <a:lnTo>
                  <a:pt x="2574" y="1598"/>
                </a:lnTo>
                <a:lnTo>
                  <a:pt x="2618" y="1598"/>
                </a:lnTo>
                <a:lnTo>
                  <a:pt x="2662" y="1597"/>
                </a:lnTo>
                <a:lnTo>
                  <a:pt x="2707" y="1597"/>
                </a:lnTo>
                <a:lnTo>
                  <a:pt x="2751" y="1595"/>
                </a:lnTo>
                <a:lnTo>
                  <a:pt x="2796" y="1592"/>
                </a:lnTo>
                <a:lnTo>
                  <a:pt x="2840" y="1586"/>
                </a:lnTo>
                <a:lnTo>
                  <a:pt x="2884" y="1574"/>
                </a:lnTo>
                <a:lnTo>
                  <a:pt x="2929" y="1549"/>
                </a:lnTo>
                <a:lnTo>
                  <a:pt x="2973" y="1499"/>
                </a:lnTo>
                <a:lnTo>
                  <a:pt x="3018" y="1407"/>
                </a:lnTo>
                <a:lnTo>
                  <a:pt x="3062" y="1249"/>
                </a:lnTo>
                <a:lnTo>
                  <a:pt x="3106" y="1015"/>
                </a:lnTo>
                <a:lnTo>
                  <a:pt x="3151" y="731"/>
                </a:lnTo>
                <a:lnTo>
                  <a:pt x="3195" y="464"/>
                </a:lnTo>
                <a:lnTo>
                  <a:pt x="3239" y="264"/>
                </a:lnTo>
                <a:lnTo>
                  <a:pt x="3284" y="139"/>
                </a:lnTo>
                <a:lnTo>
                  <a:pt x="3328" y="70"/>
                </a:lnTo>
                <a:lnTo>
                  <a:pt x="3372" y="34"/>
                </a:lnTo>
                <a:lnTo>
                  <a:pt x="3417" y="16"/>
                </a:lnTo>
                <a:lnTo>
                  <a:pt x="3461" y="7"/>
                </a:lnTo>
                <a:lnTo>
                  <a:pt x="3506" y="2"/>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8366760" y="3017520"/>
            <a:ext cx="3246120" cy="1463040"/>
          </a:xfrm>
          <a:custGeom>
            <a:avLst/>
            <a:gdLst/>
            <a:ahLst/>
            <a:cxnLst/>
            <a:rect l="l" t="t" r="r" b="b"/>
            <a:pathLst>
              <a:path w="3550" h="1600">
                <a:moveTo>
                  <a:pt x="0" y="0"/>
                </a:moveTo>
                <a:lnTo>
                  <a:pt x="44" y="0"/>
                </a:lnTo>
                <a:lnTo>
                  <a:pt x="89" y="0"/>
                </a:lnTo>
                <a:lnTo>
                  <a:pt x="133" y="0"/>
                </a:lnTo>
                <a:lnTo>
                  <a:pt x="178" y="0"/>
                </a:lnTo>
                <a:lnTo>
                  <a:pt x="222" y="0"/>
                </a:lnTo>
                <a:lnTo>
                  <a:pt x="266" y="0"/>
                </a:lnTo>
                <a:lnTo>
                  <a:pt x="311" y="1"/>
                </a:lnTo>
                <a:lnTo>
                  <a:pt x="355" y="2"/>
                </a:lnTo>
                <a:lnTo>
                  <a:pt x="399" y="4"/>
                </a:lnTo>
                <a:lnTo>
                  <a:pt x="444" y="9"/>
                </a:lnTo>
                <a:lnTo>
                  <a:pt x="488" y="18"/>
                </a:lnTo>
                <a:lnTo>
                  <a:pt x="533" y="36"/>
                </a:lnTo>
                <a:lnTo>
                  <a:pt x="577" y="72"/>
                </a:lnTo>
                <a:lnTo>
                  <a:pt x="621" y="141"/>
                </a:lnTo>
                <a:lnTo>
                  <a:pt x="666" y="266"/>
                </a:lnTo>
                <a:lnTo>
                  <a:pt x="710" y="466"/>
                </a:lnTo>
                <a:lnTo>
                  <a:pt x="754" y="733"/>
                </a:lnTo>
                <a:lnTo>
                  <a:pt x="799" y="1017"/>
                </a:lnTo>
                <a:lnTo>
                  <a:pt x="843" y="1251"/>
                </a:lnTo>
                <a:lnTo>
                  <a:pt x="888" y="1409"/>
                </a:lnTo>
                <a:lnTo>
                  <a:pt x="932" y="1501"/>
                </a:lnTo>
                <a:lnTo>
                  <a:pt x="976" y="1551"/>
                </a:lnTo>
                <a:lnTo>
                  <a:pt x="1021" y="1576"/>
                </a:lnTo>
                <a:lnTo>
                  <a:pt x="1065" y="1588"/>
                </a:lnTo>
                <a:lnTo>
                  <a:pt x="1109" y="1594"/>
                </a:lnTo>
                <a:lnTo>
                  <a:pt x="1154" y="1597"/>
                </a:lnTo>
                <a:lnTo>
                  <a:pt x="1198" y="1599"/>
                </a:lnTo>
                <a:lnTo>
                  <a:pt x="1242" y="1599"/>
                </a:lnTo>
                <a:lnTo>
                  <a:pt x="1287" y="1600"/>
                </a:lnTo>
                <a:lnTo>
                  <a:pt x="1331" y="1600"/>
                </a:lnTo>
                <a:lnTo>
                  <a:pt x="1376" y="1600"/>
                </a:lnTo>
                <a:lnTo>
                  <a:pt x="1420" y="1600"/>
                </a:lnTo>
                <a:lnTo>
                  <a:pt x="1464" y="1600"/>
                </a:lnTo>
                <a:lnTo>
                  <a:pt x="1509" y="1600"/>
                </a:lnTo>
                <a:lnTo>
                  <a:pt x="1553" y="1600"/>
                </a:lnTo>
                <a:lnTo>
                  <a:pt x="1598" y="1600"/>
                </a:lnTo>
                <a:lnTo>
                  <a:pt x="1642" y="1600"/>
                </a:lnTo>
                <a:lnTo>
                  <a:pt x="1686" y="1600"/>
                </a:lnTo>
                <a:lnTo>
                  <a:pt x="1731" y="1600"/>
                </a:lnTo>
                <a:lnTo>
                  <a:pt x="1775" y="1600"/>
                </a:lnTo>
                <a:lnTo>
                  <a:pt x="1819" y="1600"/>
                </a:lnTo>
                <a:lnTo>
                  <a:pt x="1864" y="1600"/>
                </a:lnTo>
                <a:lnTo>
                  <a:pt x="1908" y="1600"/>
                </a:lnTo>
                <a:lnTo>
                  <a:pt x="1953" y="1600"/>
                </a:lnTo>
                <a:lnTo>
                  <a:pt x="1997" y="1600"/>
                </a:lnTo>
                <a:lnTo>
                  <a:pt x="2041" y="1600"/>
                </a:lnTo>
                <a:lnTo>
                  <a:pt x="2086" y="1600"/>
                </a:lnTo>
                <a:lnTo>
                  <a:pt x="2130" y="1600"/>
                </a:lnTo>
                <a:lnTo>
                  <a:pt x="2174" y="1600"/>
                </a:lnTo>
                <a:lnTo>
                  <a:pt x="2219" y="1600"/>
                </a:lnTo>
                <a:lnTo>
                  <a:pt x="2263" y="1600"/>
                </a:lnTo>
                <a:lnTo>
                  <a:pt x="2308" y="1600"/>
                </a:lnTo>
                <a:lnTo>
                  <a:pt x="2352" y="1600"/>
                </a:lnTo>
                <a:lnTo>
                  <a:pt x="2396" y="1600"/>
                </a:lnTo>
                <a:lnTo>
                  <a:pt x="2441" y="1600"/>
                </a:lnTo>
                <a:lnTo>
                  <a:pt x="2485" y="1600"/>
                </a:lnTo>
                <a:lnTo>
                  <a:pt x="2529" y="1600"/>
                </a:lnTo>
                <a:lnTo>
                  <a:pt x="2574" y="1600"/>
                </a:lnTo>
                <a:lnTo>
                  <a:pt x="2618" y="1600"/>
                </a:lnTo>
                <a:lnTo>
                  <a:pt x="2662" y="1600"/>
                </a:lnTo>
                <a:lnTo>
                  <a:pt x="2707" y="1600"/>
                </a:lnTo>
                <a:lnTo>
                  <a:pt x="2751" y="1600"/>
                </a:lnTo>
                <a:lnTo>
                  <a:pt x="2796" y="1600"/>
                </a:lnTo>
                <a:lnTo>
                  <a:pt x="2840" y="1600"/>
                </a:lnTo>
                <a:lnTo>
                  <a:pt x="2884" y="1600"/>
                </a:lnTo>
                <a:lnTo>
                  <a:pt x="2929" y="1600"/>
                </a:lnTo>
                <a:lnTo>
                  <a:pt x="2973" y="1600"/>
                </a:lnTo>
                <a:lnTo>
                  <a:pt x="3018" y="1599"/>
                </a:lnTo>
                <a:lnTo>
                  <a:pt x="3062" y="1599"/>
                </a:lnTo>
                <a:lnTo>
                  <a:pt x="3106" y="1597"/>
                </a:lnTo>
                <a:lnTo>
                  <a:pt x="3151" y="1594"/>
                </a:lnTo>
                <a:lnTo>
                  <a:pt x="3195" y="1588"/>
                </a:lnTo>
                <a:lnTo>
                  <a:pt x="3239" y="1576"/>
                </a:lnTo>
                <a:lnTo>
                  <a:pt x="3284" y="1551"/>
                </a:lnTo>
                <a:lnTo>
                  <a:pt x="3328" y="1501"/>
                </a:lnTo>
                <a:lnTo>
                  <a:pt x="3372" y="1409"/>
                </a:lnTo>
                <a:lnTo>
                  <a:pt x="3417" y="1251"/>
                </a:lnTo>
                <a:lnTo>
                  <a:pt x="3461" y="1017"/>
                </a:lnTo>
                <a:lnTo>
                  <a:pt x="3506" y="733"/>
                </a:lnTo>
                <a:lnTo>
                  <a:pt x="3550" y="466"/>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8366760" y="3017520"/>
            <a:ext cx="3246120" cy="1463040"/>
          </a:xfrm>
          <a:custGeom>
            <a:avLst/>
            <a:gdLst/>
            <a:ahLst/>
            <a:cxnLst/>
            <a:rect l="l" t="t" r="r" b="b"/>
            <a:pathLst>
              <a:path w="3550" h="1600">
                <a:moveTo>
                  <a:pt x="0" y="0"/>
                </a:moveTo>
                <a:lnTo>
                  <a:pt x="44" y="0"/>
                </a:lnTo>
                <a:lnTo>
                  <a:pt x="89" y="0"/>
                </a:lnTo>
                <a:lnTo>
                  <a:pt x="133" y="0"/>
                </a:lnTo>
                <a:lnTo>
                  <a:pt x="178" y="0"/>
                </a:lnTo>
                <a:lnTo>
                  <a:pt x="222" y="0"/>
                </a:lnTo>
                <a:lnTo>
                  <a:pt x="266" y="0"/>
                </a:lnTo>
                <a:lnTo>
                  <a:pt x="311" y="0"/>
                </a:lnTo>
                <a:lnTo>
                  <a:pt x="355" y="0"/>
                </a:lnTo>
                <a:lnTo>
                  <a:pt x="399" y="0"/>
                </a:lnTo>
                <a:lnTo>
                  <a:pt x="444" y="0"/>
                </a:lnTo>
                <a:lnTo>
                  <a:pt x="488" y="0"/>
                </a:lnTo>
                <a:lnTo>
                  <a:pt x="533" y="0"/>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1"/>
                </a:lnTo>
                <a:lnTo>
                  <a:pt x="2352" y="1"/>
                </a:lnTo>
                <a:lnTo>
                  <a:pt x="2396" y="3"/>
                </a:lnTo>
                <a:lnTo>
                  <a:pt x="2441" y="6"/>
                </a:lnTo>
                <a:lnTo>
                  <a:pt x="2485" y="12"/>
                </a:lnTo>
                <a:lnTo>
                  <a:pt x="2529" y="24"/>
                </a:lnTo>
                <a:lnTo>
                  <a:pt x="2574" y="49"/>
                </a:lnTo>
                <a:lnTo>
                  <a:pt x="2618" y="99"/>
                </a:lnTo>
                <a:lnTo>
                  <a:pt x="2662" y="191"/>
                </a:lnTo>
                <a:lnTo>
                  <a:pt x="2707" y="349"/>
                </a:lnTo>
                <a:lnTo>
                  <a:pt x="2751" y="583"/>
                </a:lnTo>
                <a:lnTo>
                  <a:pt x="2796" y="867"/>
                </a:lnTo>
                <a:lnTo>
                  <a:pt x="2840" y="1134"/>
                </a:lnTo>
                <a:lnTo>
                  <a:pt x="2884" y="1334"/>
                </a:lnTo>
                <a:lnTo>
                  <a:pt x="2929" y="1459"/>
                </a:lnTo>
                <a:lnTo>
                  <a:pt x="2973" y="1528"/>
                </a:lnTo>
                <a:lnTo>
                  <a:pt x="3018" y="1564"/>
                </a:lnTo>
                <a:lnTo>
                  <a:pt x="3062" y="1582"/>
                </a:lnTo>
                <a:lnTo>
                  <a:pt x="3106" y="1591"/>
                </a:lnTo>
                <a:lnTo>
                  <a:pt x="3151" y="1596"/>
                </a:lnTo>
                <a:lnTo>
                  <a:pt x="3195" y="1598"/>
                </a:lnTo>
                <a:lnTo>
                  <a:pt x="3239" y="1599"/>
                </a:lnTo>
                <a:lnTo>
                  <a:pt x="3284" y="1600"/>
                </a:lnTo>
                <a:lnTo>
                  <a:pt x="3328" y="1600"/>
                </a:lnTo>
                <a:lnTo>
                  <a:pt x="3372" y="1600"/>
                </a:lnTo>
                <a:lnTo>
                  <a:pt x="3417" y="1600"/>
                </a:lnTo>
                <a:lnTo>
                  <a:pt x="3461" y="1600"/>
                </a:lnTo>
                <a:lnTo>
                  <a:pt x="3506" y="1600"/>
                </a:lnTo>
                <a:lnTo>
                  <a:pt x="3550" y="160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8366760" y="3017520"/>
            <a:ext cx="3246120" cy="1461211"/>
          </a:xfrm>
          <a:custGeom>
            <a:avLst/>
            <a:gdLst/>
            <a:ahLst/>
            <a:cxnLst/>
            <a:rect l="l" t="t" r="r" b="b"/>
            <a:pathLst>
              <a:path w="3550" h="1598">
                <a:moveTo>
                  <a:pt x="0" y="0"/>
                </a:moveTo>
                <a:lnTo>
                  <a:pt x="44" y="0"/>
                </a:lnTo>
                <a:lnTo>
                  <a:pt x="89" y="0"/>
                </a:lnTo>
                <a:lnTo>
                  <a:pt x="133" y="0"/>
                </a:lnTo>
                <a:lnTo>
                  <a:pt x="178" y="0"/>
                </a:lnTo>
                <a:lnTo>
                  <a:pt x="222" y="0"/>
                </a:lnTo>
                <a:lnTo>
                  <a:pt x="266" y="0"/>
                </a:lnTo>
                <a:lnTo>
                  <a:pt x="311" y="0"/>
                </a:lnTo>
                <a:lnTo>
                  <a:pt x="355" y="0"/>
                </a:lnTo>
                <a:lnTo>
                  <a:pt x="399" y="0"/>
                </a:lnTo>
                <a:lnTo>
                  <a:pt x="444" y="0"/>
                </a:lnTo>
                <a:lnTo>
                  <a:pt x="488" y="0"/>
                </a:lnTo>
                <a:lnTo>
                  <a:pt x="533" y="0"/>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1"/>
                </a:lnTo>
                <a:lnTo>
                  <a:pt x="2707" y="1"/>
                </a:lnTo>
                <a:lnTo>
                  <a:pt x="2751" y="3"/>
                </a:lnTo>
                <a:lnTo>
                  <a:pt x="2796" y="6"/>
                </a:lnTo>
                <a:lnTo>
                  <a:pt x="2840" y="12"/>
                </a:lnTo>
                <a:lnTo>
                  <a:pt x="2884" y="24"/>
                </a:lnTo>
                <a:lnTo>
                  <a:pt x="2929" y="49"/>
                </a:lnTo>
                <a:lnTo>
                  <a:pt x="2973" y="99"/>
                </a:lnTo>
                <a:lnTo>
                  <a:pt x="3018" y="191"/>
                </a:lnTo>
                <a:lnTo>
                  <a:pt x="3062" y="349"/>
                </a:lnTo>
                <a:lnTo>
                  <a:pt x="3106" y="583"/>
                </a:lnTo>
                <a:lnTo>
                  <a:pt x="3151" y="867"/>
                </a:lnTo>
                <a:lnTo>
                  <a:pt x="3195" y="1134"/>
                </a:lnTo>
                <a:lnTo>
                  <a:pt x="3239" y="1334"/>
                </a:lnTo>
                <a:lnTo>
                  <a:pt x="3284" y="1459"/>
                </a:lnTo>
                <a:lnTo>
                  <a:pt x="3328" y="1528"/>
                </a:lnTo>
                <a:lnTo>
                  <a:pt x="3372" y="1564"/>
                </a:lnTo>
                <a:lnTo>
                  <a:pt x="3417" y="1582"/>
                </a:lnTo>
                <a:lnTo>
                  <a:pt x="3461" y="1591"/>
                </a:lnTo>
                <a:lnTo>
                  <a:pt x="3506" y="1596"/>
                </a:lnTo>
                <a:lnTo>
                  <a:pt x="3550" y="1598"/>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8366760" y="3017520"/>
            <a:ext cx="3246120" cy="1036930"/>
          </a:xfrm>
          <a:custGeom>
            <a:avLst/>
            <a:gdLst/>
            <a:ahLst/>
            <a:cxnLst/>
            <a:rect l="l" t="t" r="r" b="b"/>
            <a:pathLst>
              <a:path w="3550" h="1134">
                <a:moveTo>
                  <a:pt x="0" y="0"/>
                </a:moveTo>
                <a:lnTo>
                  <a:pt x="44" y="0"/>
                </a:lnTo>
                <a:lnTo>
                  <a:pt x="89" y="0"/>
                </a:lnTo>
                <a:lnTo>
                  <a:pt x="133" y="0"/>
                </a:lnTo>
                <a:lnTo>
                  <a:pt x="178" y="0"/>
                </a:lnTo>
                <a:lnTo>
                  <a:pt x="222" y="0"/>
                </a:lnTo>
                <a:lnTo>
                  <a:pt x="266" y="0"/>
                </a:lnTo>
                <a:lnTo>
                  <a:pt x="311" y="0"/>
                </a:lnTo>
                <a:lnTo>
                  <a:pt x="355" y="0"/>
                </a:lnTo>
                <a:lnTo>
                  <a:pt x="399" y="0"/>
                </a:lnTo>
                <a:lnTo>
                  <a:pt x="444" y="0"/>
                </a:lnTo>
                <a:lnTo>
                  <a:pt x="488" y="0"/>
                </a:lnTo>
                <a:lnTo>
                  <a:pt x="533" y="0"/>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1"/>
                </a:lnTo>
                <a:lnTo>
                  <a:pt x="3062" y="1"/>
                </a:lnTo>
                <a:lnTo>
                  <a:pt x="3106" y="3"/>
                </a:lnTo>
                <a:lnTo>
                  <a:pt x="3151" y="6"/>
                </a:lnTo>
                <a:lnTo>
                  <a:pt x="3195" y="12"/>
                </a:lnTo>
                <a:lnTo>
                  <a:pt x="3239" y="24"/>
                </a:lnTo>
                <a:lnTo>
                  <a:pt x="3284" y="49"/>
                </a:lnTo>
                <a:lnTo>
                  <a:pt x="3328" y="99"/>
                </a:lnTo>
                <a:lnTo>
                  <a:pt x="3372" y="191"/>
                </a:lnTo>
                <a:lnTo>
                  <a:pt x="3417" y="349"/>
                </a:lnTo>
                <a:lnTo>
                  <a:pt x="3461" y="583"/>
                </a:lnTo>
                <a:lnTo>
                  <a:pt x="3506" y="867"/>
                </a:lnTo>
                <a:lnTo>
                  <a:pt x="3550" y="1134"/>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8366760" y="3017520"/>
            <a:ext cx="3246120" cy="0"/>
          </a:xfrm>
          <a:custGeom>
            <a:avLst/>
            <a:gdLst/>
            <a:ahLst/>
            <a:cxnLst/>
            <a:rect l="l" t="t" r="r" b="b"/>
            <a:pathLst>
              <a:path w="3550" h="0">
                <a:moveTo>
                  <a:pt x="0" y="0"/>
                </a:moveTo>
                <a:lnTo>
                  <a:pt x="44" y="0"/>
                </a:lnTo>
                <a:lnTo>
                  <a:pt x="89" y="0"/>
                </a:lnTo>
                <a:lnTo>
                  <a:pt x="133" y="0"/>
                </a:lnTo>
                <a:lnTo>
                  <a:pt x="178" y="0"/>
                </a:lnTo>
                <a:lnTo>
                  <a:pt x="222" y="0"/>
                </a:lnTo>
                <a:lnTo>
                  <a:pt x="266" y="0"/>
                </a:lnTo>
                <a:lnTo>
                  <a:pt x="311" y="0"/>
                </a:lnTo>
                <a:lnTo>
                  <a:pt x="355" y="0"/>
                </a:lnTo>
                <a:lnTo>
                  <a:pt x="399" y="0"/>
                </a:lnTo>
                <a:lnTo>
                  <a:pt x="444" y="0"/>
                </a:lnTo>
                <a:lnTo>
                  <a:pt x="488" y="0"/>
                </a:lnTo>
                <a:lnTo>
                  <a:pt x="533" y="0"/>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8366760" y="3017520"/>
            <a:ext cx="3246120" cy="0"/>
          </a:xfrm>
          <a:custGeom>
            <a:avLst/>
            <a:gdLst/>
            <a:ahLst/>
            <a:cxnLst/>
            <a:rect l="l" t="t" r="r" b="b"/>
            <a:pathLst>
              <a:path w="3550" h="0">
                <a:moveTo>
                  <a:pt x="0" y="0"/>
                </a:moveTo>
                <a:lnTo>
                  <a:pt x="44" y="0"/>
                </a:lnTo>
                <a:lnTo>
                  <a:pt x="89" y="0"/>
                </a:lnTo>
                <a:lnTo>
                  <a:pt x="133" y="0"/>
                </a:lnTo>
                <a:lnTo>
                  <a:pt x="178" y="0"/>
                </a:lnTo>
                <a:lnTo>
                  <a:pt x="222" y="0"/>
                </a:lnTo>
                <a:lnTo>
                  <a:pt x="266" y="0"/>
                </a:lnTo>
                <a:lnTo>
                  <a:pt x="311" y="0"/>
                </a:lnTo>
                <a:lnTo>
                  <a:pt x="355" y="0"/>
                </a:lnTo>
                <a:lnTo>
                  <a:pt x="399" y="0"/>
                </a:lnTo>
                <a:lnTo>
                  <a:pt x="444" y="0"/>
                </a:lnTo>
                <a:lnTo>
                  <a:pt x="488" y="0"/>
                </a:lnTo>
                <a:lnTo>
                  <a:pt x="533" y="0"/>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8366760" y="3017520"/>
            <a:ext cx="3246120" cy="0"/>
          </a:xfrm>
          <a:custGeom>
            <a:avLst/>
            <a:gdLst/>
            <a:ahLst/>
            <a:cxnLst/>
            <a:rect l="l" t="t" r="r" b="b"/>
            <a:pathLst>
              <a:path w="3550" h="0">
                <a:moveTo>
                  <a:pt x="0" y="0"/>
                </a:moveTo>
                <a:lnTo>
                  <a:pt x="44" y="0"/>
                </a:lnTo>
                <a:lnTo>
                  <a:pt x="89" y="0"/>
                </a:lnTo>
                <a:lnTo>
                  <a:pt x="133" y="0"/>
                </a:lnTo>
                <a:lnTo>
                  <a:pt x="178" y="0"/>
                </a:lnTo>
                <a:lnTo>
                  <a:pt x="222" y="0"/>
                </a:lnTo>
                <a:lnTo>
                  <a:pt x="266" y="0"/>
                </a:lnTo>
                <a:lnTo>
                  <a:pt x="311" y="0"/>
                </a:lnTo>
                <a:lnTo>
                  <a:pt x="355" y="0"/>
                </a:lnTo>
                <a:lnTo>
                  <a:pt x="399" y="0"/>
                </a:lnTo>
                <a:lnTo>
                  <a:pt x="444" y="0"/>
                </a:lnTo>
                <a:lnTo>
                  <a:pt x="488" y="0"/>
                </a:lnTo>
                <a:lnTo>
                  <a:pt x="533" y="0"/>
                </a:lnTo>
                <a:lnTo>
                  <a:pt x="577" y="0"/>
                </a:lnTo>
                <a:lnTo>
                  <a:pt x="621" y="0"/>
                </a:lnTo>
                <a:lnTo>
                  <a:pt x="666" y="0"/>
                </a:lnTo>
                <a:lnTo>
                  <a:pt x="710" y="0"/>
                </a:lnTo>
                <a:lnTo>
                  <a:pt x="754" y="0"/>
                </a:lnTo>
                <a:lnTo>
                  <a:pt x="799" y="0"/>
                </a:lnTo>
                <a:lnTo>
                  <a:pt x="843" y="0"/>
                </a:lnTo>
                <a:lnTo>
                  <a:pt x="888" y="0"/>
                </a:lnTo>
                <a:lnTo>
                  <a:pt x="932" y="0"/>
                </a:lnTo>
                <a:lnTo>
                  <a:pt x="976" y="0"/>
                </a:lnTo>
                <a:lnTo>
                  <a:pt x="1021" y="0"/>
                </a:lnTo>
                <a:lnTo>
                  <a:pt x="1065" y="0"/>
                </a:lnTo>
                <a:lnTo>
                  <a:pt x="1109" y="0"/>
                </a:lnTo>
                <a:lnTo>
                  <a:pt x="1154" y="0"/>
                </a:lnTo>
                <a:lnTo>
                  <a:pt x="1198" y="0"/>
                </a:lnTo>
                <a:lnTo>
                  <a:pt x="1242" y="0"/>
                </a:lnTo>
                <a:lnTo>
                  <a:pt x="1287" y="0"/>
                </a:lnTo>
                <a:lnTo>
                  <a:pt x="1331" y="0"/>
                </a:lnTo>
                <a:lnTo>
                  <a:pt x="1376" y="0"/>
                </a:lnTo>
                <a:lnTo>
                  <a:pt x="1420" y="0"/>
                </a:lnTo>
                <a:lnTo>
                  <a:pt x="1464" y="0"/>
                </a:lnTo>
                <a:lnTo>
                  <a:pt x="1509" y="0"/>
                </a:lnTo>
                <a:lnTo>
                  <a:pt x="1553" y="0"/>
                </a:lnTo>
                <a:lnTo>
                  <a:pt x="1598" y="0"/>
                </a:lnTo>
                <a:lnTo>
                  <a:pt x="1642" y="0"/>
                </a:lnTo>
                <a:lnTo>
                  <a:pt x="1686" y="0"/>
                </a:lnTo>
                <a:lnTo>
                  <a:pt x="1731" y="0"/>
                </a:lnTo>
                <a:lnTo>
                  <a:pt x="1775" y="0"/>
                </a:lnTo>
                <a:lnTo>
                  <a:pt x="1819" y="0"/>
                </a:lnTo>
                <a:lnTo>
                  <a:pt x="1864" y="0"/>
                </a:lnTo>
                <a:lnTo>
                  <a:pt x="1908" y="0"/>
                </a:lnTo>
                <a:lnTo>
                  <a:pt x="1953" y="0"/>
                </a:lnTo>
                <a:lnTo>
                  <a:pt x="1997" y="0"/>
                </a:lnTo>
                <a:lnTo>
                  <a:pt x="2041" y="0"/>
                </a:lnTo>
                <a:lnTo>
                  <a:pt x="2086" y="0"/>
                </a:lnTo>
                <a:lnTo>
                  <a:pt x="2130" y="0"/>
                </a:lnTo>
                <a:lnTo>
                  <a:pt x="2174" y="0"/>
                </a:lnTo>
                <a:lnTo>
                  <a:pt x="2219" y="0"/>
                </a:lnTo>
                <a:lnTo>
                  <a:pt x="2263" y="0"/>
                </a:lnTo>
                <a:lnTo>
                  <a:pt x="2308" y="0"/>
                </a:lnTo>
                <a:lnTo>
                  <a:pt x="2352" y="0"/>
                </a:lnTo>
                <a:lnTo>
                  <a:pt x="2396" y="0"/>
                </a:lnTo>
                <a:lnTo>
                  <a:pt x="2441" y="0"/>
                </a:lnTo>
                <a:lnTo>
                  <a:pt x="2485" y="0"/>
                </a:lnTo>
                <a:lnTo>
                  <a:pt x="2529" y="0"/>
                </a:lnTo>
                <a:lnTo>
                  <a:pt x="2574" y="0"/>
                </a:lnTo>
                <a:lnTo>
                  <a:pt x="2618" y="0"/>
                </a:lnTo>
                <a:lnTo>
                  <a:pt x="2662" y="0"/>
                </a:lnTo>
                <a:lnTo>
                  <a:pt x="2707" y="0"/>
                </a:lnTo>
                <a:lnTo>
                  <a:pt x="2751" y="0"/>
                </a:lnTo>
                <a:lnTo>
                  <a:pt x="2796" y="0"/>
                </a:lnTo>
                <a:lnTo>
                  <a:pt x="2840" y="0"/>
                </a:lnTo>
                <a:lnTo>
                  <a:pt x="2884" y="0"/>
                </a:lnTo>
                <a:lnTo>
                  <a:pt x="2929" y="0"/>
                </a:lnTo>
                <a:lnTo>
                  <a:pt x="2973" y="0"/>
                </a:lnTo>
                <a:lnTo>
                  <a:pt x="3018" y="0"/>
                </a:lnTo>
                <a:lnTo>
                  <a:pt x="3062" y="0"/>
                </a:lnTo>
                <a:lnTo>
                  <a:pt x="3106" y="0"/>
                </a:lnTo>
                <a:lnTo>
                  <a:pt x="3151" y="0"/>
                </a:lnTo>
                <a:lnTo>
                  <a:pt x="3195" y="0"/>
                </a:lnTo>
                <a:lnTo>
                  <a:pt x="3239" y="0"/>
                </a:lnTo>
                <a:lnTo>
                  <a:pt x="3284" y="0"/>
                </a:lnTo>
                <a:lnTo>
                  <a:pt x="3328" y="0"/>
                </a:lnTo>
                <a:lnTo>
                  <a:pt x="3372" y="0"/>
                </a:lnTo>
                <a:lnTo>
                  <a:pt x="3417" y="0"/>
                </a:lnTo>
                <a:lnTo>
                  <a:pt x="3461" y="0"/>
                </a:lnTo>
                <a:lnTo>
                  <a:pt x="3506" y="0"/>
                </a:lnTo>
                <a:lnTo>
                  <a:pt x="3550" y="0"/>
                </a:lnTo>
              </a:path>
            </a:pathLst>
          </a:custGeom>
          <a:noFill/>
          <a:ln w="13970">
            <a:solidFill>
              <a:srgbClr val="0F6D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448704" y="4892040"/>
            <a:ext cx="640080" cy="274320"/>
          </a:xfrm>
          <a:prstGeom prst="rect">
            <a:avLst/>
          </a:prstGeom>
          <a:noFill/>
        </p:spPr>
        <p:txBody>
          <a:bodyPr wrap="square" lIns="0" rIns="0" tIns="0" bIns="0" anchor="t">
            <a:spAutoFit/>
          </a:bodyPr>
          <a:lstStyle/>
          <a:p>
            <a:pPr algn="ctr"/>
            <a:r>
              <a:rPr sz="1500" b="0" i="0">
                <a:solidFill>
                  <a:srgbClr val="17324D"/>
                </a:solidFill>
                <a:latin typeface="Aptos"/>
              </a:rPr>
              <a:t>0</a:t>
            </a:r>
          </a:p>
        </p:txBody>
      </p:sp>
      <p:sp>
        <p:nvSpPr>
          <p:cNvPr id="93" name="TextBox 92"/>
          <p:cNvSpPr txBox="1"/>
          <p:nvPr/>
        </p:nvSpPr>
        <p:spPr>
          <a:xfrm>
            <a:off x="9697212" y="4892040"/>
            <a:ext cx="640080" cy="274320"/>
          </a:xfrm>
          <a:prstGeom prst="rect">
            <a:avLst/>
          </a:prstGeom>
          <a:noFill/>
        </p:spPr>
        <p:txBody>
          <a:bodyPr wrap="square" lIns="0" rIns="0" tIns="0" bIns="0" anchor="t">
            <a:spAutoFit/>
          </a:bodyPr>
          <a:lstStyle/>
          <a:p>
            <a:pPr algn="ctr"/>
            <a:r>
              <a:rPr sz="1500" b="0" i="0">
                <a:solidFill>
                  <a:srgbClr val="17324D"/>
                </a:solidFill>
                <a:latin typeface="Aptos"/>
              </a:rPr>
              <a:t>0.5</a:t>
            </a:r>
          </a:p>
        </p:txBody>
      </p:sp>
      <p:sp>
        <p:nvSpPr>
          <p:cNvPr id="94" name="TextBox 93"/>
          <p:cNvSpPr txBox="1"/>
          <p:nvPr/>
        </p:nvSpPr>
        <p:spPr>
          <a:xfrm>
            <a:off x="10945719" y="4892040"/>
            <a:ext cx="640080" cy="274320"/>
          </a:xfrm>
          <a:prstGeom prst="rect">
            <a:avLst/>
          </a:prstGeom>
          <a:noFill/>
        </p:spPr>
        <p:txBody>
          <a:bodyPr wrap="square" lIns="0" rIns="0" tIns="0" bIns="0" anchor="t">
            <a:spAutoFit/>
          </a:bodyPr>
          <a:lstStyle/>
          <a:p>
            <a:pPr algn="ctr"/>
            <a:r>
              <a:rPr sz="1500" b="0" i="0">
                <a:solidFill>
                  <a:srgbClr val="17324D"/>
                </a:solidFill>
                <a:latin typeface="Aptos"/>
              </a:rPr>
              <a:t>1 UI</a:t>
            </a:r>
          </a:p>
        </p:txBody>
      </p:sp>
      <p:sp>
        <p:nvSpPr>
          <p:cNvPr id="95" name="TextBox 94"/>
          <p:cNvSpPr txBox="1"/>
          <p:nvPr/>
        </p:nvSpPr>
        <p:spPr>
          <a:xfrm>
            <a:off x="8366760" y="5394960"/>
            <a:ext cx="3246120" cy="502920"/>
          </a:xfrm>
          <a:prstGeom prst="rect">
            <a:avLst/>
          </a:prstGeom>
          <a:noFill/>
        </p:spPr>
        <p:txBody>
          <a:bodyPr wrap="square" lIns="0" rIns="0" tIns="0" bIns="0" anchor="t">
            <a:spAutoFit/>
          </a:bodyPr>
          <a:lstStyle/>
          <a:p>
            <a:pPr algn="ctr"/>
            <a:r>
              <a:rPr sz="1800" b="0" i="0">
                <a:solidFill>
                  <a:srgbClr val="17324D"/>
                </a:solidFill>
                <a:latin typeface="Aptos"/>
              </a:rPr>
              <a:t>Mainly reduces horizontal opening</a:t>
            </a:r>
          </a:p>
        </p:txBody>
      </p:sp>
      <p:sp>
        <p:nvSpPr>
          <p:cNvPr id="96" name="TextBox 95"/>
          <p:cNvSpPr txBox="1"/>
          <p:nvPr/>
        </p:nvSpPr>
        <p:spPr>
          <a:xfrm>
            <a:off x="777240" y="5989320"/>
            <a:ext cx="10698480" cy="320040"/>
          </a:xfrm>
          <a:prstGeom prst="rect">
            <a:avLst/>
          </a:prstGeom>
          <a:noFill/>
        </p:spPr>
        <p:txBody>
          <a:bodyPr wrap="square" lIns="0" rIns="0" tIns="0" bIns="0" anchor="t">
            <a:spAutoFit/>
          </a:bodyPr>
          <a:lstStyle/>
          <a:p>
            <a:pPr algn="ctr"/>
            <a:r>
              <a:rPr sz="1600" b="0" i="0">
                <a:solidFill>
                  <a:srgbClr val="17324D"/>
                </a:solidFill>
                <a:latin typeface="Aptos"/>
              </a:rPr>
              <a:t>Same scales; schematic examples. ISI and mixed impairments can reduce both openings.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15</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MARGINS DESCRIBE SUPPLIED OBSERVATIONS; THEY DO NOT PREDICT AN EXACT BER</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700" b="1" i="0">
                <a:solidFill>
                  <a:srgbClr val="17324D"/>
                </a:solidFill>
                <a:latin typeface="Aptos Display"/>
              </a:rPr>
              <a:t>Eye height and threshold margin are different</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1783080"/>
            <a:ext cx="10698480" cy="594360"/>
          </a:xfrm>
          <a:prstGeom prst="rect">
            <a:avLst/>
          </a:prstGeom>
          <a:noFill/>
        </p:spPr>
        <p:txBody>
          <a:bodyPr wrap="square" lIns="0" rIns="0" tIns="0" bIns="0" anchor="t">
            <a:spAutoFit/>
          </a:bodyPr>
          <a:lstStyle/>
          <a:p>
            <a:pPr algn="l"/>
            <a:r>
              <a:rPr sz="2200" b="1" i="0">
                <a:solidFill>
                  <a:srgbClr val="17324D"/>
                </a:solidFill>
                <a:latin typeface="Aptos"/>
              </a:rPr>
              <a:t>Observed bounds; threshold = 0.5 V; bit duration = 10 us.</a:t>
            </a:r>
          </a:p>
        </p:txBody>
      </p:sp>
      <p:graphicFrame>
        <p:nvGraphicFramePr>
          <p:cNvPr id="14" name="Table 13"/>
          <p:cNvGraphicFramePr>
            <a:graphicFrameLocks noGrp="1"/>
          </p:cNvGraphicFramePr>
          <p:nvPr/>
        </p:nvGraphicFramePr>
        <p:xfrm>
          <a:off x="658368" y="2606040"/>
          <a:ext cx="10881358" cy="3246120"/>
        </p:xfrm>
        <a:graphic>
          <a:graphicData uri="http://schemas.openxmlformats.org/drawingml/2006/table">
            <a:tbl>
              <a:tblPr firstRow="1" bandRow="1">
                <a:tableStyleId>{5C22544A-7EE6-4342-B048-85BDC9FD1C3A}</a:tableStyleId>
              </a:tblPr>
              <a:tblGrid>
                <a:gridCol w="4134916"/>
                <a:gridCol w="3808475"/>
                <a:gridCol w="2937967"/>
              </a:tblGrid>
              <a:tr h="811530">
                <a:tc>
                  <a:txBody>
                    <a:bodyPr/>
                    <a:lstStyle/>
                    <a:p>
                      <a:r>
                        <a:rPr sz="1800" b="1">
                          <a:solidFill>
                            <a:srgbClr val="FFFFFF"/>
                          </a:solidFill>
                          <a:latin typeface="Aptos"/>
                        </a:rPr>
                        <a:t>Given / quantity</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Calculation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Result</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11530">
                <a:tc>
                  <a:txBody>
                    <a:bodyPr/>
                    <a:lstStyle/>
                    <a:p>
                      <a:r>
                        <a:rPr sz="1800">
                          <a:solidFill>
                            <a:srgbClr val="182028"/>
                          </a:solidFill>
                          <a:latin typeface="Aptos"/>
                        </a:rPr>
                        <a:t>Low maximum 0.2 V; high minimum 0.8 V</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0.8 - 0.2</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0.6 V eye height</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11530">
                <a:tc>
                  <a:txBody>
                    <a:bodyPr/>
                    <a:lstStyle/>
                    <a:p>
                      <a:r>
                        <a:rPr sz="1800">
                          <a:solidFill>
                            <a:srgbClr val="182028"/>
                          </a:solidFill>
                          <a:latin typeface="Aptos"/>
                        </a:rPr>
                        <a:t>Threshold margin, smaller side</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min(0.8 - 0.5, 0.5 - 0.2)</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0.3 V voltage margin</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11530">
                <a:tc>
                  <a:txBody>
                    <a:bodyPr/>
                    <a:lstStyle/>
                    <a:p>
                      <a:r>
                        <a:rPr sz="1800">
                          <a:solidFill>
                            <a:srgbClr val="182028"/>
                          </a:solidFill>
                          <a:latin typeface="Aptos"/>
                        </a:rPr>
                        <a:t>Usable sampling window 2-8 us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Center = 5 us; min(5 - 2, 8 - 5)</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3 us timing margin</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16</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AN EYE SUGGESTS A TEST; A REPEATABLE TEST SUPPORTS A CONCLUSION</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Diagnose with a controlled comparison</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58368" y="2057400"/>
            <a:ext cx="2066544"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Reference</a:t>
            </a:r>
          </a:p>
        </p:txBody>
      </p:sp>
      <p:sp>
        <p:nvSpPr>
          <p:cNvPr id="15" name="Chevron 14"/>
          <p:cNvSpPr/>
          <p:nvPr/>
        </p:nvSpPr>
        <p:spPr>
          <a:xfrm>
            <a:off x="2743200"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62072" y="2057400"/>
            <a:ext cx="2066544" cy="841248"/>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62072"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Verify setup</a:t>
            </a:r>
          </a:p>
        </p:txBody>
      </p:sp>
      <p:sp>
        <p:nvSpPr>
          <p:cNvPr id="18" name="Chevron 17"/>
          <p:cNvSpPr/>
          <p:nvPr/>
        </p:nvSpPr>
        <p:spPr>
          <a:xfrm>
            <a:off x="4946904"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057400"/>
            <a:ext cx="2066544"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65776"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Change one</a:t>
            </a:r>
          </a:p>
        </p:txBody>
      </p:sp>
      <p:sp>
        <p:nvSpPr>
          <p:cNvPr id="21" name="Chevron 20"/>
          <p:cNvSpPr/>
          <p:nvPr/>
        </p:nvSpPr>
        <p:spPr>
          <a:xfrm>
            <a:off x="7150608"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69480" y="2057400"/>
            <a:ext cx="2066544" cy="841248"/>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Restore</a:t>
            </a:r>
          </a:p>
        </p:txBody>
      </p:sp>
      <p:sp>
        <p:nvSpPr>
          <p:cNvPr id="24" name="Chevron 23"/>
          <p:cNvSpPr/>
          <p:nvPr/>
        </p:nvSpPr>
        <p:spPr>
          <a:xfrm>
            <a:off x="9354312"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473184" y="2057400"/>
            <a:ext cx="2066544"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73184"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Compare</a:t>
            </a:r>
          </a:p>
        </p:txBody>
      </p:sp>
      <p:sp>
        <p:nvSpPr>
          <p:cNvPr id="27" name="Oval 26"/>
          <p:cNvSpPr/>
          <p:nvPr/>
        </p:nvSpPr>
        <p:spPr>
          <a:xfrm>
            <a:off x="1051560" y="3888760"/>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71016" y="3703320"/>
            <a:ext cx="9747504" cy="772668"/>
          </a:xfrm>
          <a:prstGeom prst="rect">
            <a:avLst/>
          </a:prstGeom>
          <a:noFill/>
        </p:spPr>
        <p:txBody>
          <a:bodyPr wrap="square" lIns="0" rIns="0" tIns="0" bIns="0" anchor="ctr">
            <a:spAutoFit/>
          </a:bodyPr>
          <a:lstStyle/>
          <a:p>
            <a:pPr algn="l"/>
            <a:r>
              <a:rPr sz="1700" b="0" i="0">
                <a:solidFill>
                  <a:srgbClr val="182028"/>
                </a:solidFill>
                <a:latin typeface="Aptos"/>
              </a:rPr>
              <a:t>Check code convention, bit rate, sampling, loading and instrument bandwidth.</a:t>
            </a:r>
          </a:p>
        </p:txBody>
      </p:sp>
      <p:sp>
        <p:nvSpPr>
          <p:cNvPr id="29" name="Oval 28"/>
          <p:cNvSpPr/>
          <p:nvPr/>
        </p:nvSpPr>
        <p:spPr>
          <a:xfrm>
            <a:off x="1051560" y="4807732"/>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71016" y="4622292"/>
            <a:ext cx="9747504" cy="772668"/>
          </a:xfrm>
          <a:prstGeom prst="rect">
            <a:avLst/>
          </a:prstGeom>
          <a:noFill/>
        </p:spPr>
        <p:txBody>
          <a:bodyPr wrap="square" lIns="0" rIns="0" tIns="0" bIns="0" anchor="ctr">
            <a:spAutoFit/>
          </a:bodyPr>
          <a:lstStyle/>
          <a:p>
            <a:pPr algn="l"/>
            <a:r>
              <a:rPr sz="1700" b="0" i="0">
                <a:solidFill>
                  <a:srgbClr val="182028"/>
                </a:solidFill>
                <a:latin typeface="Aptos"/>
              </a:rPr>
              <a:t>Use known reference bits for BER; preserve settings and compared-bit count.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17</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SEPARATE SIGNAL INTEGRITY FROM SECURITY CHECKS</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700" b="1" i="0">
                <a:solidFill>
                  <a:srgbClr val="17324D"/>
                </a:solidFill>
                <a:latin typeface="Aptos Display"/>
              </a:rPr>
              <a:t>A changed cable can disrupt a security system</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59" cy="4160520"/>
        </p:xfrm>
        <a:graphic>
          <a:graphicData uri="http://schemas.openxmlformats.org/drawingml/2006/table">
            <a:tbl>
              <a:tblPr firstRow="1" bandRow="1">
                <a:tableStyleId>{5C22544A-7EE6-4342-B048-85BDC9FD1C3A}</a:tableStyleId>
              </a:tblPr>
              <a:tblGrid>
                <a:gridCol w="3482035"/>
                <a:gridCol w="3264408"/>
                <a:gridCol w="4134916"/>
              </a:tblGrid>
              <a:tr h="1040130">
                <a:tc>
                  <a:txBody>
                    <a:bodyPr/>
                    <a:lstStyle/>
                    <a:p>
                      <a:r>
                        <a:rPr sz="1700" b="1">
                          <a:solidFill>
                            <a:srgbClr val="FFFFFF"/>
                          </a:solidFill>
                          <a:latin typeface="Aptos"/>
                        </a:rPr>
                        <a:t>Observation / event</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Possible consequence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What is still unknown?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Tap, branch or cable replacement</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Reflections or distorted pulses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Whether this change caused the observed failure</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Legitimate command fails or times out</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Availability is reduced</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Accident, configuration error or deliberate interference?</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Clean reception after link repair</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Bits arrive more reliably</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Sender authorization, freshness and permission</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18</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LAB 9 IS A PLANNED SIMULATION/CAPTURE ACTIVITY; ITS IMPLEMENTATION STILL NEEDS VALIDATION</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Use the right display for the question</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59" cy="4160520"/>
        </p:xfrm>
        <a:graphic>
          <a:graphicData uri="http://schemas.openxmlformats.org/drawingml/2006/table">
            <a:tbl>
              <a:tblPr firstRow="1" bandRow="1">
                <a:tableStyleId>{5C22544A-7EE6-4342-B048-85BDC9FD1C3A}</a:tableStyleId>
              </a:tblPr>
              <a:tblGrid>
                <a:gridCol w="2067458"/>
                <a:gridCol w="4243730"/>
                <a:gridCol w="4570171"/>
              </a:tblGrid>
              <a:tr h="832104">
                <a:tc>
                  <a:txBody>
                    <a:bodyPr/>
                    <a:lstStyle/>
                    <a:p>
                      <a:r>
                        <a:rPr sz="1700" b="1">
                          <a:solidFill>
                            <a:srgbClr val="FFFFFF"/>
                          </a:solidFill>
                          <a:latin typeface="Aptos"/>
                        </a:rPr>
                        <a:t>Evidence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What it shows</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Connection to planned Lab 9</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Constellation</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I/Q symbol positions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QPSK versus 16-QAM decision spacing</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Eye</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Time-domain component levels and timing</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I/Q eyes can have multiple vertical openings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Spectrum</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Power across frequency</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Occupied span and filtering</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BER: bit error rate</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Wrong bits / aligned compared bits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Choose a candidate meeting rate and error limits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19</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STATE THE CONVENTION, STARTING LEVEL, UNITS AND LIMITS OF THE CONCLUSION</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Practice: decode, then check the margins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1783080"/>
            <a:ext cx="10698480" cy="594360"/>
          </a:xfrm>
          <a:prstGeom prst="rect">
            <a:avLst/>
          </a:prstGeom>
          <a:noFill/>
        </p:spPr>
        <p:txBody>
          <a:bodyPr wrap="square" lIns="0" rIns="0" tIns="0" bIns="0" anchor="t">
            <a:spAutoFit/>
          </a:bodyPr>
          <a:lstStyle/>
          <a:p>
            <a:pPr algn="l"/>
            <a:r>
              <a:rPr sz="2200" b="1" i="0">
                <a:solidFill>
                  <a:srgbClr val="17324D"/>
                </a:solidFill>
                <a:latin typeface="Aptos"/>
              </a:rPr>
              <a:t>Decode the bits; calculate bit duration and observed decision margins.</a:t>
            </a:r>
          </a:p>
        </p:txBody>
      </p:sp>
      <p:graphicFrame>
        <p:nvGraphicFramePr>
          <p:cNvPr id="14" name="Table 13"/>
          <p:cNvGraphicFramePr>
            <a:graphicFrameLocks noGrp="1"/>
          </p:cNvGraphicFramePr>
          <p:nvPr/>
        </p:nvGraphicFramePr>
        <p:xfrm>
          <a:off x="658368" y="2606040"/>
          <a:ext cx="10881359" cy="3246120"/>
        </p:xfrm>
        <a:graphic>
          <a:graphicData uri="http://schemas.openxmlformats.org/drawingml/2006/table">
            <a:tbl>
              <a:tblPr firstRow="1" bandRow="1">
                <a:tableStyleId>{5C22544A-7EE6-4342-B048-85BDC9FD1C3A}</a:tableStyleId>
              </a:tblPr>
              <a:tblGrid>
                <a:gridCol w="6746443"/>
                <a:gridCol w="4134916"/>
              </a:tblGrid>
              <a:tr h="649224">
                <a:tc>
                  <a:txBody>
                    <a:bodyPr/>
                    <a:lstStyle/>
                    <a:p>
                      <a:r>
                        <a:rPr sz="1800" b="1">
                          <a:solidFill>
                            <a:srgbClr val="FFFFFF"/>
                          </a:solidFill>
                          <a:latin typeface="Aptos"/>
                        </a:rPr>
                        <a:t>Given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Find</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649224">
                <a:tc>
                  <a:txBody>
                    <a:bodyPr/>
                    <a:lstStyle/>
                    <a:p>
                      <a:r>
                        <a:rPr sz="1800">
                          <a:solidFill>
                            <a:srgbClr val="182028"/>
                          </a:solidFill>
                          <a:latin typeface="Aptos"/>
                        </a:rPr>
                        <a:t>NRZ-M; initial LOW; H L L L H H</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Recovered bits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649224">
                <a:tc>
                  <a:txBody>
                    <a:bodyPr/>
                    <a:lstStyle/>
                    <a:p>
                      <a:r>
                        <a:rPr sz="1800">
                          <a:solidFill>
                            <a:srgbClr val="182028"/>
                          </a:solidFill>
                          <a:latin typeface="Aptos"/>
                        </a:rPr>
                        <a:t>Message rate 200 kbit/s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Bit duration</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649224">
                <a:tc>
                  <a:txBody>
                    <a:bodyPr/>
                    <a:lstStyle/>
                    <a:p>
                      <a:r>
                        <a:rPr sz="1800">
                          <a:solidFill>
                            <a:srgbClr val="182028"/>
                          </a:solidFill>
                          <a:latin typeface="Aptos"/>
                        </a:rPr>
                        <a:t>Low max 0.3 V; high min 0.9 V; threshold 0.6 V</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Eye height and worst voltage margin</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649224">
                <a:tc>
                  <a:txBody>
                    <a:bodyPr/>
                    <a:lstStyle/>
                    <a:p>
                      <a:r>
                        <a:rPr sz="1800">
                          <a:solidFill>
                            <a:srgbClr val="182028"/>
                          </a:solidFill>
                          <a:latin typeface="Aptos"/>
                        </a:rPr>
                        <a:t>Usable sampling window 1-4 us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Center and timing margin</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25 | LINE CODING PULSE IMPAIRMENT</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20</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CHECK UNDERSTANDING</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Explain the next step</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8680" y="1828800"/>
            <a:ext cx="10469880" cy="1417320"/>
          </a:xfrm>
          <a:prstGeom prst="rect">
            <a:avLst/>
          </a:prstGeom>
          <a:noFill/>
        </p:spPr>
        <p:txBody>
          <a:bodyPr wrap="square" lIns="0" rIns="0" tIns="0" bIns="0" anchor="ctr">
            <a:spAutoFit/>
          </a:bodyPr>
          <a:lstStyle/>
          <a:p>
            <a:pPr algn="ctr"/>
            <a:r>
              <a:rPr sz="3000" b="1" i="0">
                <a:solidFill>
                  <a:srgbClr val="17324D"/>
                </a:solidFill>
                <a:latin typeface="Aptos Display"/>
              </a:rPr>
              <a:t>The eye closes. What can you conclude?</a:t>
            </a:r>
          </a:p>
        </p:txBody>
      </p:sp>
      <p:sp>
        <p:nvSpPr>
          <p:cNvPr id="14" name="TextBox 13"/>
          <p:cNvSpPr txBox="1"/>
          <p:nvPr/>
        </p:nvSpPr>
        <p:spPr>
          <a:xfrm>
            <a:off x="1828800" y="3520440"/>
            <a:ext cx="8503920" cy="822960"/>
          </a:xfrm>
          <a:prstGeom prst="rect">
            <a:avLst/>
          </a:prstGeom>
          <a:noFill/>
        </p:spPr>
        <p:txBody>
          <a:bodyPr wrap="square" lIns="0" rIns="0" tIns="0" bIns="0" anchor="ctr">
            <a:spAutoFit/>
          </a:bodyPr>
          <a:lstStyle/>
          <a:p>
            <a:pPr algn="ctr"/>
            <a:r>
              <a:rPr sz="1800" b="0" i="0">
                <a:solidFill>
                  <a:srgbClr val="5F6B73"/>
                </a:solidFill>
                <a:latin typeface="Aptos"/>
              </a:rPr>
              <a:t>Name the lost decision margin, one controlled test, and one claim the display does not establish.</a:t>
            </a:r>
          </a:p>
        </p:txBody>
      </p:sp>
      <p:sp>
        <p:nvSpPr>
          <p:cNvPr id="15" name="Rounded Rectangle 14"/>
          <p:cNvSpPr/>
          <p:nvPr/>
        </p:nvSpPr>
        <p:spPr>
          <a:xfrm>
            <a:off x="3657600" y="4892040"/>
            <a:ext cx="4846320" cy="420624"/>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4892040"/>
            <a:ext cx="4846320" cy="420624"/>
          </a:xfrm>
          <a:prstGeom prst="rect">
            <a:avLst/>
          </a:prstGeom>
          <a:noFill/>
        </p:spPr>
        <p:txBody>
          <a:bodyPr wrap="square" lIns="18288" rIns="18288" tIns="18288" bIns="18288" anchor="ctr">
            <a:spAutoFit/>
          </a:bodyPr>
          <a:lstStyle/>
          <a:p>
            <a:pPr algn="ctr"/>
            <a:r>
              <a:rPr sz="1150" b="1" i="0">
                <a:solidFill>
                  <a:srgbClr val="FFFFFF"/>
                </a:solidFill>
                <a:latin typeface="Aptos"/>
              </a:rPr>
              <a:t>NEXT: MEDIA, TIMING AND COMPRESSION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