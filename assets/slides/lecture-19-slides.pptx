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6" r:id="rId3"/>
    <p:sldId id="260" r:id="rId4"/>
    <p:sldId id="263" r:id="rId5"/>
    <p:sldId id="26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3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8103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C74BF-082D-686A-DFA6-5B4785473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7448CC-03A3-213A-FD35-02316E1D79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C297F0-2147-8FAA-08BF-53232D6C1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three cards as an advance organizer. Ask students what prior-week idea each card depends 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4616B-3D2C-7ED6-CDB6-B68F74635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2223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It should be greater than!</a:t>
            </a:r>
          </a:p>
          <a:p>
            <a:r>
              <a:rPr lang="en-US" dirty="0"/>
              <a:t>If equal, its 0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Increase the sampling rate so the 1,800 Hz signal is represented correctly.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Filter unwanted frequencies before the ADC so less interference reaches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response to open the next meeting. Practice-case resolution: The input is above Nyquist and aliases to an indistinguishable sampled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o-okada.github.io/math_teaching_materials/sampling_theorem_aliasing.html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11" Type="http://schemas.openxmlformats.org/officeDocument/2006/relationships/hyperlink" Target="https://youtu.be/7wNVj_DA95c?t=105" TargetMode="External"/><Relationship Id="rId5" Type="http://schemas.openxmlformats.org/officeDocument/2006/relationships/image" Target="../media/image2.png"/><Relationship Id="rId10" Type="http://schemas.openxmlformats.org/officeDocument/2006/relationships/hyperlink" Target="https://youtu.be/7wNVj_DA95c?t=68" TargetMode="External"/><Relationship Id="rId4" Type="http://schemas.openxmlformats.org/officeDocument/2006/relationships/notesSlide" Target="../notesSlides/notesSlide3.xml"/><Relationship Id="rId9" Type="http://schemas.openxmlformats.org/officeDocument/2006/relationships/hyperlink" Target="https://youtu.be/7wNVj_DA95c?t=2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9EB0BC"/>
                </a:solidFill>
                <a:latin typeface="Aptos"/>
              </a:rPr>
              <a:t>LECTURE 19 | ALIASING FALSE TELEMETRY 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9EB0BC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2C6C8"/>
                </a:solidFill>
                <a:latin typeface="Aptos"/>
              </a:rPr>
              <a:t>CYBER 327  /  LECTURE 19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152144"/>
            <a:ext cx="1371600" cy="0"/>
          </a:xfrm>
          <a:prstGeom prst="line">
            <a:avLst/>
          </a:prstGeom>
          <a:ln w="508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481328"/>
            <a:ext cx="996696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ptos Display"/>
              </a:rPr>
              <a:t>Aliasing, False Telemetry, and Sensor Spoofing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82112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D6E1E7"/>
                </a:solidFill>
                <a:latin typeface="Aptos"/>
              </a:rPr>
              <a:t>A valid-looking digital value can misrepresent the physical input.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5230368"/>
            <a:ext cx="196596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230368"/>
            <a:ext cx="196596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FRIDAY, OCTOBER 16,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" y="5230368"/>
            <a:ext cx="237744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7086600" y="4574286"/>
            <a:ext cx="346710" cy="22082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33310" y="4679899"/>
            <a:ext cx="346710" cy="115214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80020" y="4679899"/>
            <a:ext cx="346710" cy="566471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126730" y="4929530"/>
            <a:ext cx="346710" cy="31684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73440" y="4929530"/>
            <a:ext cx="346710" cy="48006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820150" y="4766310"/>
            <a:ext cx="346710" cy="64328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66860" y="4766310"/>
            <a:ext cx="346710" cy="31683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513570" y="4641494"/>
            <a:ext cx="346710" cy="44165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60280" y="4641494"/>
            <a:ext cx="346710" cy="51846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206990" y="4871923"/>
            <a:ext cx="346710" cy="288036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53700" y="4871923"/>
            <a:ext cx="346710" cy="46085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900410" y="4699101"/>
            <a:ext cx="346710" cy="63367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49EBB1-0A92-364A-5CE7-F20D3867E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5B25A6-195A-3004-EE21-18D0B6DC2A3F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805DAC69-B5BC-4E41-55EF-E78297D41810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EF1240AE-12BC-D2BA-FFEC-B737AF538BB2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513F8D37-1D6F-F31E-30A6-1DEFF0886304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04E62968-E223-CA56-67B0-96AB1831C435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9BB43146-0743-E975-FE75-C04219F6A271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12A8595-1DF5-7CB2-0B44-0991A6F71D80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19 | ALIASING FALSE TELEMETRY 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CA21E7-4F39-F56E-0318-890F69A96EAD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9FD92C-856C-5D96-885E-220EC6B5B5F9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FROM CONCEPT TO EVIDENCE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3B27EA-2CBB-FA80-FC58-0DC36AB3ED7E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Sampling can create a false picture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43C0A61B-DD7D-902B-A2D6-D8DEBA45C557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31978E53-C39E-8DC3-1194-553EEE5481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15"/>
          <a:stretch>
            <a:fillRect/>
          </a:stretch>
        </p:blipFill>
        <p:spPr>
          <a:xfrm>
            <a:off x="4402316" y="1925068"/>
            <a:ext cx="7547739" cy="3899659"/>
          </a:xfrm>
          <a:prstGeom prst="rect">
            <a:avLst/>
          </a:prstGeom>
        </p:spPr>
      </p:pic>
      <p:sp>
        <p:nvSpPr>
          <p:cNvPr id="36" name="Rounded Rectangle 12">
            <a:extLst>
              <a:ext uri="{FF2B5EF4-FFF2-40B4-BE49-F238E27FC236}">
                <a16:creationId xmlns:a16="http://schemas.microsoft.com/office/drawing/2014/main" id="{7B66AF9E-2F12-4CCA-F931-BE66C033DD6F}"/>
              </a:ext>
            </a:extLst>
          </p:cNvPr>
          <p:cNvSpPr/>
          <p:nvPr/>
        </p:nvSpPr>
        <p:spPr>
          <a:xfrm>
            <a:off x="685800" y="1828800"/>
            <a:ext cx="3276600" cy="342900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5B520CB-6E23-5EA8-4CB9-4E7C565B0392}"/>
              </a:ext>
            </a:extLst>
          </p:cNvPr>
          <p:cNvSpPr/>
          <p:nvPr/>
        </p:nvSpPr>
        <p:spPr>
          <a:xfrm>
            <a:off x="685800" y="1828800"/>
            <a:ext cx="82296" cy="3429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E37746-2755-7DE4-7135-41A603C00DFA}"/>
              </a:ext>
            </a:extLst>
          </p:cNvPr>
          <p:cNvSpPr txBox="1"/>
          <p:nvPr/>
        </p:nvSpPr>
        <p:spPr>
          <a:xfrm>
            <a:off x="914400" y="1993392"/>
            <a:ext cx="286512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200" b="1" i="0" dirty="0">
                <a:solidFill>
                  <a:srgbClr val="17324D"/>
                </a:solidFill>
                <a:latin typeface="Aptos"/>
              </a:rPr>
              <a:t>Aliasing</a:t>
            </a:r>
            <a:endParaRPr sz="22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12064A-E2A2-5BC1-9A2B-B452F3F19425}"/>
              </a:ext>
            </a:extLst>
          </p:cNvPr>
          <p:cNvSpPr txBox="1"/>
          <p:nvPr/>
        </p:nvSpPr>
        <p:spPr>
          <a:xfrm>
            <a:off x="914400" y="2432304"/>
            <a:ext cx="2865120" cy="132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a sampled signal becomes distorted because the sampling rate is too low to accurately capture the original data.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BEF38F-6A93-80B3-204B-4C086A7FC6F8}"/>
              </a:ext>
            </a:extLst>
          </p:cNvPr>
          <p:cNvSpPr txBox="1"/>
          <p:nvPr/>
        </p:nvSpPr>
        <p:spPr>
          <a:xfrm>
            <a:off x="1622494" y="5986784"/>
            <a:ext cx="8445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https://so-okada.github.io/math_teaching_materials/sampling_theorem_aliasing.html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371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19 | ALIASING FALSE TELEMETRY 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QUANTITATIVE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Nyquist-Shannon Sampling Theorem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1828800"/>
            <a:ext cx="3276600" cy="342900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82296" cy="3429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914400" y="3887163"/>
                <a:ext cx="286512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2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200" b="1" i="0" dirty="0" err="1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&gt;2</m:t>
                      </m:r>
                      <m:sSub>
                        <m:sSubPr>
                          <m:ctrlPr>
                            <a:rPr lang="en-US" sz="22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2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sty m:val="p"/>
                            </m:rPr>
                            <a:rPr lang="en-US" sz="2200" b="1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ax</m:t>
                          </m:r>
                        </m:sub>
                      </m:sSub>
                    </m:oMath>
                  </m:oMathPara>
                </a14:m>
                <a:endParaRPr sz="22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87163"/>
                <a:ext cx="2865120" cy="338554"/>
              </a:xfrm>
              <a:prstGeom prst="rect">
                <a:avLst/>
              </a:prstGeom>
              <a:blipFill>
                <a:blip r:embed="rId5"/>
                <a:stretch>
                  <a:fillRect b="-3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914400" y="2077469"/>
            <a:ext cx="2865120" cy="1594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 An analog signal can be perfectly reconstructed without loss of information if it is sampled greater than twice the highest frequency component.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191000" y="3239573"/>
            <a:ext cx="3276600" cy="2058363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91000" y="3239573"/>
            <a:ext cx="82296" cy="2058363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4419600" y="3820625"/>
                <a:ext cx="286512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sty m:val="p"/>
                            </m:rPr>
                            <a:rPr lang="en-US" sz="2000" b="1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lias</m:t>
                          </m:r>
                        </m:sub>
                      </m:sSub>
                      <m:r>
                        <a:rPr lang="en-US" sz="2000" b="1" i="0" dirty="0" err="1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1" i="0" dirty="0" err="1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0" dirty="0" err="1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0" dirty="0" err="1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US" sz="2000" b="1" i="0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US" sz="20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0" dirty="0" err="1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sz="2000" b="1" i="0" dirty="0" err="1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0" dirty="0" err="1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0" dirty="0" err="1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sz="20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3820625"/>
                <a:ext cx="2865120" cy="307777"/>
              </a:xfrm>
              <a:prstGeom prst="rect">
                <a:avLst/>
              </a:prstGeom>
              <a:blipFill>
                <a:blip r:embed="rId6"/>
                <a:stretch>
                  <a:fillRect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4419600" y="3439350"/>
            <a:ext cx="2865120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 i="0" dirty="0">
                <a:solidFill>
                  <a:srgbClr val="182028"/>
                </a:solidFill>
                <a:latin typeface="Aptos"/>
              </a:rPr>
              <a:t>Alias location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B9731F-824C-25F2-79EF-3DA3CDF4BCC9}"/>
              </a:ext>
            </a:extLst>
          </p:cNvPr>
          <p:cNvSpPr txBox="1"/>
          <p:nvPr/>
        </p:nvSpPr>
        <p:spPr>
          <a:xfrm>
            <a:off x="1064019" y="4682917"/>
            <a:ext cx="2602458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If not, aliasing will occur!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2CCC5AA-1596-63CF-0B05-EE5E3A8A021F}"/>
                  </a:ext>
                </a:extLst>
              </p:cNvPr>
              <p:cNvSpPr txBox="1"/>
              <p:nvPr/>
            </p:nvSpPr>
            <p:spPr>
              <a:xfrm>
                <a:off x="4232148" y="4332650"/>
                <a:ext cx="3360656" cy="7440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/>
                          </m:ctrlPr>
                        </m:sSubPr>
                        <m:e>
                          <m:r>
                            <a:rPr lang="en-US" sz="1400" i="1"/>
                            <m:t>𝑓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400" i="0"/>
                            <m:t>in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actual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signal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frequency</m:t>
                      </m:r>
                    </m:oMath>
                  </m:oMathPara>
                </a14:m>
                <a:endParaRPr lang="en-US" sz="1400" b="0" dirty="0"/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400" b="0" i="0" smtClean="0"/>
                            <m:t>s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sampling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rate</m:t>
                      </m:r>
                    </m:oMath>
                  </m:oMathPara>
                </a14:m>
                <a:endParaRPr lang="en-US" sz="1400" dirty="0"/>
              </a:p>
              <a:p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integer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get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nearest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multiple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2CCC5AA-1596-63CF-0B05-EE5E3A8A0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2148" y="4332650"/>
                <a:ext cx="3360656" cy="744050"/>
              </a:xfrm>
              <a:prstGeom prst="rect">
                <a:avLst/>
              </a:prstGeom>
              <a:blipFill>
                <a:blip r:embed="rId7"/>
                <a:stretch>
                  <a:fillRect b="-2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VideoAliasing-Ryan Amy F2007">
            <a:hlinkClick r:id="" action="ppaction://media"/>
            <a:extLst>
              <a:ext uri="{FF2B5EF4-FFF2-40B4-BE49-F238E27FC236}">
                <a16:creationId xmlns:a16="http://schemas.microsoft.com/office/drawing/2014/main" id="{73665EDA-ED4A-A80D-BE63-405534FA462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963125" y="689910"/>
            <a:ext cx="3278155" cy="245861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EADEB0B-A2BD-1515-4B4F-5BD85A575A2E}"/>
              </a:ext>
            </a:extLst>
          </p:cNvPr>
          <p:cNvSpPr txBox="1"/>
          <p:nvPr/>
        </p:nvSpPr>
        <p:spPr>
          <a:xfrm>
            <a:off x="4496114" y="5575563"/>
            <a:ext cx="3834824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700" dirty="0">
                <a:solidFill>
                  <a:srgbClr val="182028"/>
                </a:solidFill>
                <a:latin typeface="Aptos"/>
                <a:hlinkClick r:id="rId9"/>
              </a:rPr>
              <a:t>24 Hz Camera, 24 Hz Water</a:t>
            </a:r>
            <a:endParaRPr lang="en-US" sz="170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DE792E-52A6-82B8-52EB-2EBFFCF28932}"/>
              </a:ext>
            </a:extLst>
          </p:cNvPr>
          <p:cNvSpPr txBox="1"/>
          <p:nvPr/>
        </p:nvSpPr>
        <p:spPr>
          <a:xfrm>
            <a:off x="4496114" y="5847608"/>
            <a:ext cx="3834824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700" dirty="0">
                <a:solidFill>
                  <a:srgbClr val="182028"/>
                </a:solidFill>
                <a:latin typeface="Aptos"/>
                <a:hlinkClick r:id="rId10"/>
              </a:rPr>
              <a:t>24 Hz Camera, 25 Hz Water</a:t>
            </a:r>
            <a:endParaRPr lang="en-US" sz="170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F40E9B-F799-5756-A7F3-3DBB0A772704}"/>
              </a:ext>
            </a:extLst>
          </p:cNvPr>
          <p:cNvSpPr txBox="1"/>
          <p:nvPr/>
        </p:nvSpPr>
        <p:spPr>
          <a:xfrm>
            <a:off x="4496114" y="6145694"/>
            <a:ext cx="3834824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700" dirty="0">
                <a:solidFill>
                  <a:srgbClr val="182028"/>
                </a:solidFill>
                <a:latin typeface="Aptos"/>
                <a:hlinkClick r:id="rId11"/>
              </a:rPr>
              <a:t>24 Hz Camera, 23 Hz Water</a:t>
            </a:r>
            <a:endParaRPr lang="en-US" sz="1700" dirty="0">
              <a:solidFill>
                <a:srgbClr val="182028"/>
              </a:solidFill>
              <a:latin typeface="Aptos"/>
            </a:endParaRP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B946AE19-442E-594C-F424-69B9BB730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250718"/>
              </p:ext>
            </p:extLst>
          </p:nvPr>
        </p:nvGraphicFramePr>
        <p:xfrm>
          <a:off x="7692885" y="3800197"/>
          <a:ext cx="4035534" cy="2584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178">
                  <a:extLst>
                    <a:ext uri="{9D8B030D-6E8A-4147-A177-3AD203B41FA5}">
                      <a16:colId xmlns:a16="http://schemas.microsoft.com/office/drawing/2014/main" val="138999936"/>
                    </a:ext>
                  </a:extLst>
                </a:gridCol>
                <a:gridCol w="1345178">
                  <a:extLst>
                    <a:ext uri="{9D8B030D-6E8A-4147-A177-3AD203B41FA5}">
                      <a16:colId xmlns:a16="http://schemas.microsoft.com/office/drawing/2014/main" val="3642505576"/>
                    </a:ext>
                  </a:extLst>
                </a:gridCol>
                <a:gridCol w="1345178">
                  <a:extLst>
                    <a:ext uri="{9D8B030D-6E8A-4147-A177-3AD203B41FA5}">
                      <a16:colId xmlns:a16="http://schemas.microsoft.com/office/drawing/2014/main" val="3975862424"/>
                    </a:ext>
                  </a:extLst>
                </a:gridCol>
              </a:tblGrid>
              <a:tr h="664019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" panose="020B0004020202020204" pitchFamily="34" charset="0"/>
                        </a:rPr>
                        <a:t>Actual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ptos" panose="020B0004020202020204" pitchFamily="34" charset="0"/>
                        </a:rPr>
                        <a:t>Sampling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ptos" panose="020B0004020202020204" pitchFamily="34" charset="0"/>
                        </a:rPr>
                        <a:t>Apparent 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542750"/>
                  </a:ext>
                </a:extLst>
              </a:tr>
              <a:tr h="553820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" panose="020B0004020202020204" pitchFamily="34" charset="0"/>
                        </a:rPr>
                        <a:t>200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ptos" panose="020B0004020202020204" pitchFamily="34" charset="0"/>
                        </a:rPr>
                        <a:t>2000 samples/s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ptos" panose="020B0004020202020204" pitchFamily="34" charset="0"/>
                        </a:rPr>
                        <a:t>200 </a:t>
                      </a:r>
                      <a:r>
                        <a:rPr lang="en-US" dirty="0" err="1">
                          <a:latin typeface="Aptos" panose="020B0004020202020204" pitchFamily="34" charset="0"/>
                        </a:rPr>
                        <a:t>hz</a:t>
                      </a:r>
                      <a:endParaRPr lang="en-US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081079"/>
                  </a:ext>
                </a:extLst>
              </a:tr>
              <a:tr h="553820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" panose="020B0004020202020204" pitchFamily="34" charset="0"/>
                        </a:rPr>
                        <a:t>1800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ptos" panose="020B0004020202020204" pitchFamily="34" charset="0"/>
                        </a:rPr>
                        <a:t>2000 samples/s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ptos" panose="020B0004020202020204" pitchFamily="34" charset="0"/>
                        </a:rPr>
                        <a:t>200 </a:t>
                      </a:r>
                      <a:r>
                        <a:rPr lang="en-US" dirty="0" err="1">
                          <a:latin typeface="Aptos" panose="020B0004020202020204" pitchFamily="34" charset="0"/>
                        </a:rPr>
                        <a:t>hz</a:t>
                      </a:r>
                      <a:endParaRPr lang="en-US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258329"/>
                  </a:ext>
                </a:extLst>
              </a:tr>
              <a:tr h="553820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" panose="020B0004020202020204" pitchFamily="34" charset="0"/>
                        </a:rPr>
                        <a:t>1800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ptos" panose="020B0004020202020204" pitchFamily="34" charset="0"/>
                        </a:rPr>
                        <a:t>5000 samples/s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ptos" panose="020B0004020202020204" pitchFamily="34" charset="0"/>
                        </a:rPr>
                        <a:t>1800 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37967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19 | ALIASING FALSE TELEMETRY 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APPLICATION,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Cybersecurity follows the physical behavior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89705" y="1342000"/>
            <a:ext cx="3703320" cy="2205872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89705" y="1342000"/>
            <a:ext cx="82296" cy="2205872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6A2660-D2E7-2AD4-64D5-615085A009B4}"/>
              </a:ext>
            </a:extLst>
          </p:cNvPr>
          <p:cNvSpPr txBox="1"/>
          <p:nvPr/>
        </p:nvSpPr>
        <p:spPr>
          <a:xfrm>
            <a:off x="8233371" y="1643322"/>
            <a:ext cx="34275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 genuine 200 Hz input activates it correctly. 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But a 1,800 Hz input sampled at 2,000 samples/s can also appear to be 200 Hz and activate it incorrectly.</a:t>
            </a:r>
            <a:endParaRPr lang="en-US" sz="1050" b="0" dirty="0">
              <a:solidFill>
                <a:srgbClr val="CCCCCC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26" name="Rounded Rectangle 16">
            <a:extLst>
              <a:ext uri="{FF2B5EF4-FFF2-40B4-BE49-F238E27FC236}">
                <a16:creationId xmlns:a16="http://schemas.microsoft.com/office/drawing/2014/main" id="{D7E98B5C-A92E-057C-591B-A35919913B4C}"/>
              </a:ext>
            </a:extLst>
          </p:cNvPr>
          <p:cNvSpPr/>
          <p:nvPr/>
        </p:nvSpPr>
        <p:spPr>
          <a:xfrm>
            <a:off x="8092440" y="4579075"/>
            <a:ext cx="3520440" cy="1271205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EA58AE-FF19-02EF-838D-D2CF99F7E1E2}"/>
              </a:ext>
            </a:extLst>
          </p:cNvPr>
          <p:cNvSpPr/>
          <p:nvPr/>
        </p:nvSpPr>
        <p:spPr>
          <a:xfrm>
            <a:off x="8092440" y="4579075"/>
            <a:ext cx="82296" cy="1271205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E9F2E1-B5FA-8456-04FC-DA09839C7AF0}"/>
              </a:ext>
            </a:extLst>
          </p:cNvPr>
          <p:cNvSpPr txBox="1"/>
          <p:nvPr/>
        </p:nvSpPr>
        <p:spPr>
          <a:xfrm>
            <a:off x="8321040" y="4895574"/>
            <a:ext cx="3108960" cy="620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2000" b="0" i="0" dirty="0">
                <a:solidFill>
                  <a:srgbClr val="182028"/>
                </a:solidFill>
                <a:latin typeface="Aptos"/>
              </a:rPr>
              <a:t>How can you protect against this?</a:t>
            </a:r>
            <a:endParaRPr sz="2000" b="0" i="0" dirty="0">
              <a:solidFill>
                <a:srgbClr val="182028"/>
              </a:solidFill>
              <a:latin typeface="Apto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FF8CFC9-B371-2932-D3C7-CAEDEC5DC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7142468" cy="4761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19 | ALIASING FALSE TELEMETRY 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BRIDGE FORWARD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Exit check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2306627"/>
            <a:ext cx="1046988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0" b="1" i="0" dirty="0">
                <a:solidFill>
                  <a:srgbClr val="17324D"/>
                </a:solidFill>
                <a:latin typeface="Aptos Display"/>
              </a:rPr>
              <a:t>Are there other ways to correct misrepresentations?</a:t>
            </a:r>
            <a:endParaRPr sz="3000" b="1" i="0" dirty="0">
              <a:solidFill>
                <a:srgbClr val="17324D"/>
              </a:solidFill>
              <a:latin typeface="Aptos Display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0" y="4892040"/>
            <a:ext cx="484632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4892040"/>
            <a:ext cx="48463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NEXT: ERROR DETECTION AND CORRECTION FUNDAMENTAL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380</Words>
  <Application>Microsoft Office PowerPoint</Application>
  <PresentationFormat>Widescreen</PresentationFormat>
  <Paragraphs>59</Paragraphs>
  <Slides>5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Jerson Francia</cp:lastModifiedBy>
  <cp:revision>2</cp:revision>
  <dcterms:created xsi:type="dcterms:W3CDTF">2013-01-27T09:14:16Z</dcterms:created>
  <dcterms:modified xsi:type="dcterms:W3CDTF">2026-10-16T10:59:33Z</dcterms:modified>
  <cp:category/>
</cp:coreProperties>
</file>