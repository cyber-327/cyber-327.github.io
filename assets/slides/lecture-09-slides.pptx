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71" r:id="rId4"/>
    <p:sldId id="274" r:id="rId5"/>
    <p:sldId id="257" r:id="rId6"/>
    <p:sldId id="273" r:id="rId7"/>
    <p:sldId id="272" r:id="rId8"/>
    <p:sldId id="275" r:id="rId9"/>
    <p:sldId id="276" r:id="rId10"/>
    <p:sldId id="258" r:id="rId11"/>
    <p:sldId id="259" r:id="rId12"/>
    <p:sldId id="277" r:id="rId13"/>
    <p:sldId id="261" r:id="rId14"/>
    <p:sldId id="262" r:id="rId15"/>
    <p:sldId id="263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065" autoAdjust="0"/>
  </p:normalViewPr>
  <p:slideViewPr>
    <p:cSldViewPr snapToGrid="0" snapToObjects="1">
      <p:cViewPr>
        <p:scale>
          <a:sx n="66" d="100"/>
          <a:sy n="66" d="100"/>
        </p:scale>
        <p:origin x="1224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24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Turn the RLC model into measurable channel selectivity. Keep dB out of this lecture; use amplitude ratios and the 0.707 half-power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37AA-5D2E-6D0E-91DE-B5B28BA0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17FB7-6EF2-C9CD-55D5-FCF65CA5F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F8921-0664-3F7B-E9F8-42F807159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 whether a filter can distinguish two sources at exactly the same frequency. No: frequency selectivity alone cannot separate coincident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09D6C-E54F-E809-9EE5-202E70927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03110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F01E6-9F5D-0599-5A4B-4B7E2355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254A4-C952-429F-DA98-05254C318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6CF99-532A-D4BF-0927-D1E433D39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 whether a filter can distinguish two sources at exactly the same frequency. No: frequency selectivity alone cannot separate coincident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CFFE6-058A-71B9-0993-BD8B06339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4960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BAB6-B4CB-74F4-1719-4220F462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7A391-FFD7-4AAA-3F28-91E100FCC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E1562-26AB-FF93-893B-500651F1E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 whether a filter can distinguish two sources at exactly the same frequency. No: frequency selectivity alone cannot separate coincident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5EC5C-2E53-8EED-FEFA-47D657C71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12790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whether a filter can distinguish two sources at exactly the same frequency. No: frequency selectivity alone cannot separate coincident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5688B-8357-B68C-EB8D-6C16BCB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576CC-E1F7-1713-866C-9B39FEB1A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E57D2-0C80-FE9C-450A-A1D06F4A5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 whether a filter can distinguish two sources at exactly the same frequency. No: frequency selectivity alone cannot separate coincident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E7D62-D0CE-FB91-6069-9C0066F47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04881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E0A0D-9BDA-C672-52D7-45DC0AF5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D569D-8EFC-DAE5-C4D5-40DF7DFA0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5D424-B4D5-E50D-0DBD-28B6B5DE6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whether a filter can distinguish two sources at exactly the same frequency. No: frequency selectivity alone cannot separate coincident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BA2EF-6511-78F7-79F4-0F3839F7E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29851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081C-8A90-2B4E-6F76-73881B0D0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A132B-4567-997B-9DE9-4A021B0399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4EDC9-2DAE-2DDF-BB99-470AE1898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whether a filter can distinguish two sources at exactly the same frequency. No: frequency selectivity alone cannot separate coincident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1CD33-D92B-50B8-7799-D23AAF54B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3010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CE7D0-D4D6-7362-AA1F-BFF545AE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7EA70-422B-145C-5B76-7AAA15753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68057-A2D4-E115-51EC-16A7FA2E97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whether a filter can distinguish two sources at exactly the same frequency. No: frequency selectivity alone cannot separate coincident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1CE80-9B33-FC8E-87B1-413BBF5BC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88620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Images:</a:t>
            </a:r>
            <a:br>
              <a:rPr lang="en-US" dirty="0"/>
            </a:br>
            <a:r>
              <a:rPr lang="en-US" dirty="0"/>
              <a:t>https://www.ebay.com/itm/406656200825</a:t>
            </a:r>
            <a:br>
              <a:rPr lang="en-US" dirty="0"/>
            </a:br>
            <a:r>
              <a:rPr lang="en-US" dirty="0"/>
              <a:t>https://www.voltraware.com/magnetic-resonance-technology-wireless-charging/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A472F-3DA2-2D5E-A899-815CB4DA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2403C-4813-060C-929E-5B2D71233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83B4B-0050-0EA1-FF2B-0C3684E59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F14C8-29D5-C348-E880-859D54BE3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46497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https://www.allaboutcircuits.com/textbook/alternating-current/chpt-6/q-and-bandwidth-resonant-circuit/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How do you get a band reject filter?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Resonance, Selectivity, and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Measure which frequencies a channel favors, attenuates, and cannot separate.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23,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B6EA2-99C5-C22B-0FA1-B9FD4420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D9F8E1-F4D0-5A5D-5B2B-550B00C11FF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2B94A254-E5C2-676F-918C-6039C85845CE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3E7E670-991A-C2EB-65C0-97B89F5A453E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7987D74-DE74-0FE7-FB20-AD6B7C7D060E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649A73D-63D6-3D13-FF43-2A1675F1444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320A8E9D-5A92-6FC9-36CF-412E9AA39D4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8818C4-C942-13FC-1513-86B1076AB69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6B9B17-CFCC-2462-544F-6D0F9034B3D7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119D5-AB85-5797-D3B1-C5AB1CD85025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OPENING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7E6FF-F975-526A-3B1D-1E4CCA1FC3BA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A receiver should not treat every frequency equally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D929EA57-32F2-7538-D5D7-8C1B195BD3E0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DF9B4-DE4A-E8BC-C342-341D6EA6C83C}"/>
              </a:ext>
            </a:extLst>
          </p:cNvPr>
          <p:cNvSpPr/>
          <p:nvPr/>
        </p:nvSpPr>
        <p:spPr>
          <a:xfrm>
            <a:off x="749808" y="1691640"/>
            <a:ext cx="3520440" cy="1522828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8A7485-5EE5-4A7F-5575-193972633C05}"/>
              </a:ext>
            </a:extLst>
          </p:cNvPr>
          <p:cNvSpPr/>
          <p:nvPr/>
        </p:nvSpPr>
        <p:spPr>
          <a:xfrm>
            <a:off x="749808" y="1691640"/>
            <a:ext cx="82296" cy="15228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3180C6-69C9-6241-5A54-094EBEBCBA52}"/>
              </a:ext>
            </a:extLst>
          </p:cNvPr>
          <p:cNvSpPr txBox="1"/>
          <p:nvPr/>
        </p:nvSpPr>
        <p:spPr>
          <a:xfrm>
            <a:off x="978408" y="185623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Desired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36398B-DA68-B668-8250-53B4040C5208}"/>
              </a:ext>
            </a:extLst>
          </p:cNvPr>
          <p:cNvSpPr txBox="1"/>
          <p:nvPr/>
        </p:nvSpPr>
        <p:spPr>
          <a:xfrm>
            <a:off x="978408" y="229514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A known channel occupies a limited frequency region.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7921D54-387F-DCE1-6160-4916BE68A4DB}"/>
              </a:ext>
            </a:extLst>
          </p:cNvPr>
          <p:cNvSpPr/>
          <p:nvPr/>
        </p:nvSpPr>
        <p:spPr>
          <a:xfrm>
            <a:off x="749808" y="3287268"/>
            <a:ext cx="3520440" cy="1522828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94CCDA-CD28-553E-491B-26B0F2B140F8}"/>
              </a:ext>
            </a:extLst>
          </p:cNvPr>
          <p:cNvSpPr/>
          <p:nvPr/>
        </p:nvSpPr>
        <p:spPr>
          <a:xfrm>
            <a:off x="749808" y="3287268"/>
            <a:ext cx="82296" cy="1522828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1D0FAC-76ED-5146-0E19-755D4C21F3EF}"/>
              </a:ext>
            </a:extLst>
          </p:cNvPr>
          <p:cNvSpPr txBox="1"/>
          <p:nvPr/>
        </p:nvSpPr>
        <p:spPr>
          <a:xfrm>
            <a:off x="978408" y="345186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Un</a:t>
            </a:r>
            <a:r>
              <a:rPr lang="en-US" sz="2100" b="1" i="0" dirty="0">
                <a:solidFill>
                  <a:srgbClr val="17324D"/>
                </a:solidFill>
                <a:latin typeface="Aptos"/>
              </a:rPr>
              <a:t>desirable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B77B63-912B-9747-1FD4-3B1C480B7F73}"/>
              </a:ext>
            </a:extLst>
          </p:cNvPr>
          <p:cNvSpPr txBox="1"/>
          <p:nvPr/>
        </p:nvSpPr>
        <p:spPr>
          <a:xfrm>
            <a:off x="978408" y="389077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Noise and interference may exist above, below, or inside that region.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B144E27-A6DA-CE82-4DDD-6878BBD140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64964" y="2052945"/>
            <a:ext cx="6141720" cy="307086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FF3C62E-C945-1AFE-20DE-84C5634152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78" t="3549" r="76670" b="80585"/>
          <a:stretch>
            <a:fillRect/>
          </a:stretch>
        </p:blipFill>
        <p:spPr>
          <a:xfrm>
            <a:off x="6623656" y="1409743"/>
            <a:ext cx="1204767" cy="91338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D270A26-8772-74FA-A1EF-13CD557788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934" t="857" r="41942" b="75422"/>
          <a:stretch>
            <a:fillRect/>
          </a:stretch>
        </p:blipFill>
        <p:spPr>
          <a:xfrm>
            <a:off x="10048151" y="4601177"/>
            <a:ext cx="1519800" cy="13261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ED8A67C-04BE-1003-CCEA-9C5F3ABD74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0008" t="5266" r="4439" b="78868"/>
          <a:stretch>
            <a:fillRect/>
          </a:stretch>
        </p:blipFill>
        <p:spPr>
          <a:xfrm>
            <a:off x="9896402" y="1564130"/>
            <a:ext cx="1343047" cy="91338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04ABDD2-9987-05C1-03BE-A544D61C6A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0382" t="33756" r="1649" b="42338"/>
          <a:stretch>
            <a:fillRect/>
          </a:stretch>
        </p:blipFill>
        <p:spPr>
          <a:xfrm>
            <a:off x="10554209" y="2644867"/>
            <a:ext cx="1551630" cy="137624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AE8B2CC-BE12-357B-4BBC-8C6EE6F45C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0008" t="5266" r="4439" b="78868"/>
          <a:stretch>
            <a:fillRect/>
          </a:stretch>
        </p:blipFill>
        <p:spPr>
          <a:xfrm>
            <a:off x="8244692" y="1351844"/>
            <a:ext cx="1343047" cy="91338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BBF1C84-3F27-B9AA-A8BD-92861DC546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236" t="72411" r="3640" b="11250"/>
          <a:stretch>
            <a:fillRect/>
          </a:stretch>
        </p:blipFill>
        <p:spPr>
          <a:xfrm flipH="1">
            <a:off x="6451314" y="4531166"/>
            <a:ext cx="1519800" cy="91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5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175A5-52C2-0340-3023-818AD4D5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306B01-8FC5-6A23-513C-4C3BE9E1A4F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B70A908-D689-1588-203E-DED97AABE36E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D1E4B0AF-905E-8CF3-5DB2-D3FC107133F2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9FDB8D0-9647-EB9E-04CE-4771EC12AE1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52193FF3-488C-20E4-6930-06A05B67FFF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62D28292-E7E5-E060-F3CE-1A2D87F07FA2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4AE05D-9F2F-F395-FEBA-B340BE365D9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836A6-9DE9-01E2-3050-20CDD7BEFB4E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DA5BB-3E4C-C9D4-CB59-D15520CFF132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OPENING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927956-9D17-7B84-C531-949AB4CABDF4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A receiver should not treat every frequency equally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67C4C14-C028-FDCB-73D7-63711692E349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5E3000C-DDDB-155A-B1A6-59966D335969}"/>
              </a:ext>
            </a:extLst>
          </p:cNvPr>
          <p:cNvSpPr/>
          <p:nvPr/>
        </p:nvSpPr>
        <p:spPr>
          <a:xfrm>
            <a:off x="749808" y="1691640"/>
            <a:ext cx="3520440" cy="1522828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D11EB3-4411-767D-7761-0168EC1A8B00}"/>
              </a:ext>
            </a:extLst>
          </p:cNvPr>
          <p:cNvSpPr/>
          <p:nvPr/>
        </p:nvSpPr>
        <p:spPr>
          <a:xfrm>
            <a:off x="749808" y="1691640"/>
            <a:ext cx="82296" cy="15228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F677A-0AEA-0812-8F3D-D4A6A1582067}"/>
              </a:ext>
            </a:extLst>
          </p:cNvPr>
          <p:cNvSpPr txBox="1"/>
          <p:nvPr/>
        </p:nvSpPr>
        <p:spPr>
          <a:xfrm>
            <a:off x="978408" y="185623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Desired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9A438E-B5A6-B7AF-A9B2-6DB99D7780F0}"/>
              </a:ext>
            </a:extLst>
          </p:cNvPr>
          <p:cNvSpPr txBox="1"/>
          <p:nvPr/>
        </p:nvSpPr>
        <p:spPr>
          <a:xfrm>
            <a:off x="978408" y="229514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A known channel occupies a limited frequency region.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E690594-D4A5-9874-6C30-EF3906EAA566}"/>
              </a:ext>
            </a:extLst>
          </p:cNvPr>
          <p:cNvSpPr/>
          <p:nvPr/>
        </p:nvSpPr>
        <p:spPr>
          <a:xfrm>
            <a:off x="749808" y="3287268"/>
            <a:ext cx="3520440" cy="1522828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034B82-3344-CEC2-847A-F641C33313A8}"/>
              </a:ext>
            </a:extLst>
          </p:cNvPr>
          <p:cNvSpPr/>
          <p:nvPr/>
        </p:nvSpPr>
        <p:spPr>
          <a:xfrm>
            <a:off x="749808" y="3287268"/>
            <a:ext cx="82296" cy="1522828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78AA94-B864-B798-6384-B665162EE3F0}"/>
              </a:ext>
            </a:extLst>
          </p:cNvPr>
          <p:cNvSpPr txBox="1"/>
          <p:nvPr/>
        </p:nvSpPr>
        <p:spPr>
          <a:xfrm>
            <a:off x="978408" y="345186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Un</a:t>
            </a:r>
            <a:r>
              <a:rPr lang="en-US" sz="2100" b="1" i="0" dirty="0">
                <a:solidFill>
                  <a:srgbClr val="17324D"/>
                </a:solidFill>
                <a:latin typeface="Aptos"/>
              </a:rPr>
              <a:t>desirable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D648E4-2ED9-BDC4-37BA-6EC793BCE864}"/>
              </a:ext>
            </a:extLst>
          </p:cNvPr>
          <p:cNvSpPr txBox="1"/>
          <p:nvPr/>
        </p:nvSpPr>
        <p:spPr>
          <a:xfrm>
            <a:off x="978408" y="389077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Noise and interference may exist above, below, or inside that region.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7ED9A4-FE49-082D-14A6-A826D0852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274" y="1608405"/>
            <a:ext cx="5926720" cy="395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6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D194C-31C1-2932-8DD4-C1FF5745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899F77-82B2-2E44-EA4E-9CCFF014A88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33482D5-970E-EE3F-1EFC-48D595ECBD8F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ACBEF1C-F7DF-53A4-4B94-BC0584FADA46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7BE064D-A234-CB1F-7268-4E49F4746BD1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092FE6D-5EFA-FFEA-34F6-74D0046D17F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BB2FA769-3004-8D6A-D8C4-4EF4BC30BE1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2EF8E5-8A94-FD39-49F1-8A152D5643C0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3210B9-B7AD-CA31-032A-840BC5EE4C7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98F71-4F1F-C2C1-DFDB-0FEB64EA1E54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OPENING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63538-EA0F-1C0E-A41A-98B1AF837CE9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A receiver should not treat every frequency equally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6406C50-C308-9887-1CFB-9666B1323D9E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1D78CE-E8DC-604D-BE78-2D4B4884AB70}"/>
              </a:ext>
            </a:extLst>
          </p:cNvPr>
          <p:cNvSpPr/>
          <p:nvPr/>
        </p:nvSpPr>
        <p:spPr>
          <a:xfrm>
            <a:off x="749808" y="1691640"/>
            <a:ext cx="3520440" cy="1522828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5D4514-1A44-66B3-7C9D-D9AFAD705CA2}"/>
              </a:ext>
            </a:extLst>
          </p:cNvPr>
          <p:cNvSpPr/>
          <p:nvPr/>
        </p:nvSpPr>
        <p:spPr>
          <a:xfrm>
            <a:off x="749808" y="1691640"/>
            <a:ext cx="82296" cy="15228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CDBB5C-7F03-1166-903A-7E2F4D2C7E94}"/>
              </a:ext>
            </a:extLst>
          </p:cNvPr>
          <p:cNvSpPr txBox="1"/>
          <p:nvPr/>
        </p:nvSpPr>
        <p:spPr>
          <a:xfrm>
            <a:off x="978408" y="185623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Desired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BA3832-8810-068C-9BA1-0C74C238A4E9}"/>
              </a:ext>
            </a:extLst>
          </p:cNvPr>
          <p:cNvSpPr txBox="1"/>
          <p:nvPr/>
        </p:nvSpPr>
        <p:spPr>
          <a:xfrm>
            <a:off x="978408" y="229514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A known channel occupies a limited frequency region.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54EEBFF-D422-E556-3D95-E61EB69A62D7}"/>
              </a:ext>
            </a:extLst>
          </p:cNvPr>
          <p:cNvSpPr/>
          <p:nvPr/>
        </p:nvSpPr>
        <p:spPr>
          <a:xfrm>
            <a:off x="749808" y="3287268"/>
            <a:ext cx="3520440" cy="1522828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E6A804-91A4-84A2-FE60-38D6D2F3B52D}"/>
              </a:ext>
            </a:extLst>
          </p:cNvPr>
          <p:cNvSpPr/>
          <p:nvPr/>
        </p:nvSpPr>
        <p:spPr>
          <a:xfrm>
            <a:off x="749808" y="3287268"/>
            <a:ext cx="82296" cy="1522828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9D857C-E792-01F6-B34F-6515DB6551DA}"/>
              </a:ext>
            </a:extLst>
          </p:cNvPr>
          <p:cNvSpPr txBox="1"/>
          <p:nvPr/>
        </p:nvSpPr>
        <p:spPr>
          <a:xfrm>
            <a:off x="978408" y="345186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Un</a:t>
            </a:r>
            <a:r>
              <a:rPr lang="en-US" sz="2100" b="1" i="0" dirty="0">
                <a:solidFill>
                  <a:srgbClr val="17324D"/>
                </a:solidFill>
                <a:latin typeface="Aptos"/>
              </a:rPr>
              <a:t>desirable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34C574-0EC6-6FA8-5479-25B0824DBAC1}"/>
              </a:ext>
            </a:extLst>
          </p:cNvPr>
          <p:cNvSpPr txBox="1"/>
          <p:nvPr/>
        </p:nvSpPr>
        <p:spPr>
          <a:xfrm>
            <a:off x="978408" y="389077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Noise and interference may exist above, below, or inside that region.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1F29E9D-0C3C-BE27-C2EA-482BC2A65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533" y="1844946"/>
            <a:ext cx="6137477" cy="409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5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RECALL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dirty="0">
                <a:solidFill>
                  <a:srgbClr val="17324D"/>
                </a:solidFill>
                <a:latin typeface="Aptos Display"/>
              </a:rPr>
              <a:t>Filters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F42584-B5BB-8688-9C6A-B816F315C9C5}"/>
                  </a:ext>
                </a:extLst>
              </p:cNvPr>
              <p:cNvSpPr txBox="1"/>
              <p:nvPr/>
            </p:nvSpPr>
            <p:spPr>
              <a:xfrm>
                <a:off x="1755648" y="4100161"/>
                <a:ext cx="2865120" cy="8094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fC</m:t>
                          </m:r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F42584-B5BB-8688-9C6A-B816F315C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648" y="4100161"/>
                <a:ext cx="2865120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02669F-0AA1-61E5-4D02-9E540670C342}"/>
                  </a:ext>
                </a:extLst>
              </p:cNvPr>
              <p:cNvSpPr txBox="1"/>
              <p:nvPr/>
            </p:nvSpPr>
            <p:spPr>
              <a:xfrm>
                <a:off x="7477252" y="4142921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fL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02669F-0AA1-61E5-4D02-9E540670C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252" y="4142921"/>
                <a:ext cx="286512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1FE6658F-C44B-76D0-EB10-770E411594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01175" y="1264472"/>
            <a:ext cx="5617273" cy="283568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E8E2FC6-5246-DFEC-31A3-67AF0AF2EF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21792" y="1264597"/>
            <a:ext cx="5293451" cy="267221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FDC4AC3-59ED-063D-B176-50F119B5D505}"/>
              </a:ext>
            </a:extLst>
          </p:cNvPr>
          <p:cNvSpPr txBox="1"/>
          <p:nvPr/>
        </p:nvSpPr>
        <p:spPr>
          <a:xfrm>
            <a:off x="2625302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RC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D9F0DA-9E6A-24B2-BDC0-02A4799FE054}"/>
              </a:ext>
            </a:extLst>
          </p:cNvPr>
          <p:cNvSpPr txBox="1"/>
          <p:nvPr/>
        </p:nvSpPr>
        <p:spPr>
          <a:xfrm>
            <a:off x="8401069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RL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004886-F66E-B54B-8BC6-87877F0F873C}"/>
              </a:ext>
            </a:extLst>
          </p:cNvPr>
          <p:cNvSpPr txBox="1"/>
          <p:nvPr/>
        </p:nvSpPr>
        <p:spPr>
          <a:xfrm>
            <a:off x="2223936" y="5266780"/>
            <a:ext cx="33676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17324D"/>
                </a:solidFill>
                <a:latin typeface="Aptos"/>
              </a:rPr>
              <a:t>HIGHER F = HIGHER I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CB301E-A61A-57CF-1746-B098FD56DF9E}"/>
              </a:ext>
            </a:extLst>
          </p:cNvPr>
          <p:cNvSpPr txBox="1"/>
          <p:nvPr/>
        </p:nvSpPr>
        <p:spPr>
          <a:xfrm>
            <a:off x="8039867" y="5224156"/>
            <a:ext cx="29740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17324D"/>
                </a:solidFill>
                <a:latin typeface="Aptos"/>
              </a:rPr>
              <a:t>HIGHER F = LOWER I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19079-E7E2-3C33-F0AB-17E32620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7459E-067C-277B-F05C-DA86F560014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3AE75ACF-2C93-0291-9F96-EF4D0331AFA9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0C98B02-53B3-8628-3194-1C2B2D59FC38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DD16833-E5D9-3756-9C9C-052319D045E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267AA24-7B61-3800-DC66-7D304BA67B32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361E1DE1-7C73-AED4-CCFB-437F90C90A5A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E3A9A3-851C-766D-DD55-DC7C5A7E4FB3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0A933-A968-3B3C-E12E-E2054942D8B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E6A51-3E5D-DD86-E708-31B90903A191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RECALL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C8126-1347-C88C-7018-A26B03F158CB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dirty="0">
                <a:solidFill>
                  <a:srgbClr val="17324D"/>
                </a:solidFill>
                <a:latin typeface="Aptos Display"/>
              </a:rPr>
              <a:t>Filters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872491E-CD8D-4645-8C68-CC47A11205C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4F8A0D58-EA1F-A9D4-9DD0-66799CE5BD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01175" y="1264472"/>
            <a:ext cx="5617273" cy="283568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97F60A9-9A04-D016-D005-80B6717635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1792" y="1264597"/>
            <a:ext cx="5293451" cy="267221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E2313BD-35A7-187F-B963-BD674E1CD580}"/>
              </a:ext>
            </a:extLst>
          </p:cNvPr>
          <p:cNvSpPr txBox="1"/>
          <p:nvPr/>
        </p:nvSpPr>
        <p:spPr>
          <a:xfrm>
            <a:off x="2625302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RC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B0FBC1-5178-05F4-8BDA-394A1E9960B6}"/>
              </a:ext>
            </a:extLst>
          </p:cNvPr>
          <p:cNvSpPr txBox="1"/>
          <p:nvPr/>
        </p:nvSpPr>
        <p:spPr>
          <a:xfrm>
            <a:off x="8401069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RL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7A2A41-E9E7-0472-B82E-BB79DF66F24E}"/>
              </a:ext>
            </a:extLst>
          </p:cNvPr>
          <p:cNvSpPr txBox="1"/>
          <p:nvPr/>
        </p:nvSpPr>
        <p:spPr>
          <a:xfrm>
            <a:off x="1145894" y="5863287"/>
            <a:ext cx="46761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>
                <a:solidFill>
                  <a:srgbClr val="17324D"/>
                </a:solidFill>
                <a:latin typeface="Aptos"/>
              </a:rPr>
              <a:t>HIGH PASS FILTER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E4DC3F-D753-7A5C-6D4D-753436F76832}"/>
              </a:ext>
            </a:extLst>
          </p:cNvPr>
          <p:cNvSpPr txBox="1"/>
          <p:nvPr/>
        </p:nvSpPr>
        <p:spPr>
          <a:xfrm>
            <a:off x="6864002" y="5852159"/>
            <a:ext cx="444954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LOW PASS FILTER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F81211-6232-DC57-15B4-B5FCCDE37F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881"/>
          <a:stretch>
            <a:fillRect/>
          </a:stretch>
        </p:blipFill>
        <p:spPr>
          <a:xfrm>
            <a:off x="1292819" y="3887778"/>
            <a:ext cx="3846340" cy="17336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359145-31B0-03DC-EC3E-18D1B8A9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494"/>
          <a:stretch>
            <a:fillRect/>
          </a:stretch>
        </p:blipFill>
        <p:spPr>
          <a:xfrm>
            <a:off x="7236860" y="3894678"/>
            <a:ext cx="3614847" cy="17184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7C3E92-A0CC-9D41-7C02-013FC59E1312}"/>
              </a:ext>
            </a:extLst>
          </p:cNvPr>
          <p:cNvSpPr txBox="1"/>
          <p:nvPr/>
        </p:nvSpPr>
        <p:spPr>
          <a:xfrm>
            <a:off x="2002912" y="6138922"/>
            <a:ext cx="286512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Accepts higher frequencies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38EC7-7500-6702-5D1F-462073457216}"/>
              </a:ext>
            </a:extLst>
          </p:cNvPr>
          <p:cNvSpPr txBox="1"/>
          <p:nvPr/>
        </p:nvSpPr>
        <p:spPr>
          <a:xfrm>
            <a:off x="7611724" y="6138922"/>
            <a:ext cx="286512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Accepts lower frequencies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6497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74916-3195-1546-8450-09A0245AF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6E8B6B-13AD-C09A-ED0D-80CE703AE7A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B1E3014-E021-8F1C-9A46-2CDA65021FF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9CF723A-663F-0D06-9B46-AD6717400675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3E72FF0-DBA6-9C0C-8B78-2375992D76E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25D5C73-1061-6F5B-771F-1997FCEC68F4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B675DB27-B636-17E6-0CA7-3B9839B79C8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66E6E8-CA41-D201-A004-1EF44AB5989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1DF146-B99A-BDB1-2AC8-8D0B89149489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7D02E-7748-B22C-6144-7B39536AF376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BUT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100A7-68C3-F8B5-B274-38BB4067898B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dirty="0">
                <a:solidFill>
                  <a:srgbClr val="17324D"/>
                </a:solidFill>
                <a:latin typeface="Aptos Display"/>
              </a:rPr>
              <a:t>Filters depend on where you look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C45BB05-FB87-4ACF-4A3C-BB9DB57EE480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96E1C6E0-E624-0F5C-2A8F-B249F55723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01175" y="1264472"/>
            <a:ext cx="5617273" cy="283568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BF7097B-10C9-789E-98D7-4AD370D65B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1792" y="1264597"/>
            <a:ext cx="5293451" cy="267221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51A9A43-C13E-D380-9FDD-00A831D180BE}"/>
              </a:ext>
            </a:extLst>
          </p:cNvPr>
          <p:cNvSpPr txBox="1"/>
          <p:nvPr/>
        </p:nvSpPr>
        <p:spPr>
          <a:xfrm>
            <a:off x="2625302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RC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DA5389-7926-8D74-8F9A-72CED7210635}"/>
              </a:ext>
            </a:extLst>
          </p:cNvPr>
          <p:cNvSpPr txBox="1"/>
          <p:nvPr/>
        </p:nvSpPr>
        <p:spPr>
          <a:xfrm>
            <a:off x="8401069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RL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68BEAD-494B-CA07-A9C4-DE7C14E54A09}"/>
              </a:ext>
            </a:extLst>
          </p:cNvPr>
          <p:cNvSpPr txBox="1"/>
          <p:nvPr/>
        </p:nvSpPr>
        <p:spPr>
          <a:xfrm>
            <a:off x="2357430" y="6001786"/>
            <a:ext cx="2156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HIGH PASS FILTER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A0D86D-AE55-E3B4-D5E6-C39DF16EAC5D}"/>
              </a:ext>
            </a:extLst>
          </p:cNvPr>
          <p:cNvSpPr txBox="1"/>
          <p:nvPr/>
        </p:nvSpPr>
        <p:spPr>
          <a:xfrm>
            <a:off x="8086898" y="6001786"/>
            <a:ext cx="2156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LOW PASS FILTER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15553E-A6F4-DC4A-6B0A-E7A7D925CDFE}"/>
              </a:ext>
            </a:extLst>
          </p:cNvPr>
          <p:cNvSpPr txBox="1"/>
          <p:nvPr/>
        </p:nvSpPr>
        <p:spPr>
          <a:xfrm>
            <a:off x="4552609" y="1932996"/>
            <a:ext cx="374195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latin typeface="Aptos"/>
              </a:rPr>
              <a:t>+</a:t>
            </a:r>
          </a:p>
          <a:p>
            <a:pPr algn="l"/>
            <a:endParaRPr lang="en-US" sz="1800" b="1" i="0" dirty="0">
              <a:solidFill>
                <a:srgbClr val="FF0000"/>
              </a:solidFill>
              <a:latin typeface="Aptos"/>
            </a:endParaRPr>
          </a:p>
          <a:p>
            <a:pPr algn="l"/>
            <a:r>
              <a:rPr lang="en-US" b="1" dirty="0">
                <a:solidFill>
                  <a:srgbClr val="FF0000"/>
                </a:solidFill>
                <a:latin typeface="Aptos"/>
              </a:rPr>
              <a:t>V</a:t>
            </a:r>
          </a:p>
          <a:p>
            <a:pPr algn="l"/>
            <a:endParaRPr lang="en-US" b="1" dirty="0">
              <a:solidFill>
                <a:srgbClr val="FF0000"/>
              </a:solidFill>
              <a:latin typeface="Aptos"/>
            </a:endParaRPr>
          </a:p>
          <a:p>
            <a:pPr algn="l"/>
            <a:r>
              <a:rPr lang="en-US" sz="1800" b="1" i="0" dirty="0">
                <a:solidFill>
                  <a:srgbClr val="FF0000"/>
                </a:solidFill>
                <a:latin typeface="Aptos"/>
              </a:rPr>
              <a:t>-</a:t>
            </a:r>
            <a:endParaRPr sz="1800" b="1" i="0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2CE8D-253D-81AD-DF92-CA6F9BE31693}"/>
              </a:ext>
            </a:extLst>
          </p:cNvPr>
          <p:cNvSpPr txBox="1"/>
          <p:nvPr/>
        </p:nvSpPr>
        <p:spPr>
          <a:xfrm>
            <a:off x="10289746" y="1932996"/>
            <a:ext cx="374195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latin typeface="Aptos"/>
              </a:rPr>
              <a:t>+</a:t>
            </a:r>
          </a:p>
          <a:p>
            <a:pPr algn="l"/>
            <a:endParaRPr lang="en-US" sz="1800" b="1" i="0" dirty="0">
              <a:solidFill>
                <a:srgbClr val="FF0000"/>
              </a:solidFill>
              <a:latin typeface="Aptos"/>
            </a:endParaRPr>
          </a:p>
          <a:p>
            <a:pPr algn="l"/>
            <a:r>
              <a:rPr lang="en-US" b="1" dirty="0">
                <a:solidFill>
                  <a:srgbClr val="FF0000"/>
                </a:solidFill>
                <a:latin typeface="Aptos"/>
              </a:rPr>
              <a:t>V</a:t>
            </a:r>
          </a:p>
          <a:p>
            <a:pPr algn="l"/>
            <a:endParaRPr lang="en-US" b="1" dirty="0">
              <a:solidFill>
                <a:srgbClr val="FF0000"/>
              </a:solidFill>
              <a:latin typeface="Aptos"/>
            </a:endParaRPr>
          </a:p>
          <a:p>
            <a:pPr algn="l"/>
            <a:r>
              <a:rPr lang="en-US" sz="1800" b="1" i="0" dirty="0">
                <a:solidFill>
                  <a:srgbClr val="FF0000"/>
                </a:solidFill>
                <a:latin typeface="Aptos"/>
              </a:rPr>
              <a:t>-</a:t>
            </a:r>
            <a:endParaRPr sz="1800" b="1" i="0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983938-A7A9-BD07-8AC7-775F978637AE}"/>
              </a:ext>
            </a:extLst>
          </p:cNvPr>
          <p:cNvSpPr txBox="1"/>
          <p:nvPr/>
        </p:nvSpPr>
        <p:spPr>
          <a:xfrm>
            <a:off x="4926804" y="3632480"/>
            <a:ext cx="2156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Look at V across R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14A79C-D255-911B-C837-F6FE9751CC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707"/>
          <a:stretch>
            <a:fillRect/>
          </a:stretch>
        </p:blipFill>
        <p:spPr>
          <a:xfrm>
            <a:off x="1022229" y="3939307"/>
            <a:ext cx="4509891" cy="20624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A25AE9-7D92-8AA0-9741-D76EF17908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384"/>
          <a:stretch>
            <a:fillRect/>
          </a:stretch>
        </p:blipFill>
        <p:spPr>
          <a:xfrm>
            <a:off x="6671386" y="3936816"/>
            <a:ext cx="4347134" cy="20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6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C067B-8EED-0DCD-4AFE-ECE69787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AA49FE-DE05-A526-6B14-A94778EE622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080364EA-06FC-B1FB-175E-F2CC9174E0E1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21CEA6B-BA54-CC37-315F-709FC429198D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FBF509A-C11A-D31E-B38C-32CA009BFC5E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A0BCB31-0AA5-0271-3081-2473A6392065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0A0AA4CF-B44A-2FBD-CFD8-2ED592A18DF1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A40CD80-8B6E-8E58-2DDC-D5E8D95008BB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A3FE1-A465-CFBA-4CB1-4D83CA1A54E4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398F2-F328-90C4-F209-C018905A5663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BUT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41256-C806-0C43-E7B9-460C42ADC707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dirty="0">
                <a:solidFill>
                  <a:srgbClr val="17324D"/>
                </a:solidFill>
                <a:latin typeface="Aptos Display"/>
              </a:rPr>
              <a:t>Filters depend on where you look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4AB5862-A16B-4A1E-C9F6-4A9B1DC120D9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E6D41F3A-EDD6-081B-D160-D06859426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01175" y="1264472"/>
            <a:ext cx="5617273" cy="283568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14599E5-8FB6-D395-9EF7-E64CCF9171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1792" y="1264597"/>
            <a:ext cx="5293451" cy="267221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9BE29B0-1566-9098-B417-D6E56B7780CC}"/>
              </a:ext>
            </a:extLst>
          </p:cNvPr>
          <p:cNvSpPr txBox="1"/>
          <p:nvPr/>
        </p:nvSpPr>
        <p:spPr>
          <a:xfrm>
            <a:off x="2625302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RC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EADE95-2F59-9159-4D76-B6C09EE9A129}"/>
              </a:ext>
            </a:extLst>
          </p:cNvPr>
          <p:cNvSpPr txBox="1"/>
          <p:nvPr/>
        </p:nvSpPr>
        <p:spPr>
          <a:xfrm>
            <a:off x="8401069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RL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F402F3-64A3-6CF1-541A-6DC0EA7E8D36}"/>
              </a:ext>
            </a:extLst>
          </p:cNvPr>
          <p:cNvSpPr txBox="1"/>
          <p:nvPr/>
        </p:nvSpPr>
        <p:spPr>
          <a:xfrm>
            <a:off x="2357430" y="6001786"/>
            <a:ext cx="2156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LOW PASS FILTER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235B6C-F742-6E4E-C477-25EC6B017AED}"/>
              </a:ext>
            </a:extLst>
          </p:cNvPr>
          <p:cNvSpPr txBox="1"/>
          <p:nvPr/>
        </p:nvSpPr>
        <p:spPr>
          <a:xfrm>
            <a:off x="8086898" y="6001786"/>
            <a:ext cx="2156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HIGH PASS FILTER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6F1474-236B-F82F-DC1D-F490DCF3D6BB}"/>
              </a:ext>
            </a:extLst>
          </p:cNvPr>
          <p:cNvSpPr txBox="1"/>
          <p:nvPr/>
        </p:nvSpPr>
        <p:spPr>
          <a:xfrm>
            <a:off x="2758688" y="2044005"/>
            <a:ext cx="15944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latin typeface="Aptos"/>
              </a:rPr>
              <a:t>+      V         -</a:t>
            </a:r>
            <a:endParaRPr sz="1800" b="1" i="0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C2FA9D-73F1-4A38-EC49-D81C3E21F14A}"/>
              </a:ext>
            </a:extLst>
          </p:cNvPr>
          <p:cNvSpPr txBox="1"/>
          <p:nvPr/>
        </p:nvSpPr>
        <p:spPr>
          <a:xfrm>
            <a:off x="4774634" y="3632480"/>
            <a:ext cx="2156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Look at V across L/C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16770E-FB9C-C5A0-88B3-5E285DDB6A77}"/>
              </a:ext>
            </a:extLst>
          </p:cNvPr>
          <p:cNvSpPr txBox="1"/>
          <p:nvPr/>
        </p:nvSpPr>
        <p:spPr>
          <a:xfrm>
            <a:off x="8367702" y="2044005"/>
            <a:ext cx="15944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latin typeface="Aptos"/>
              </a:rPr>
              <a:t>+      V         -</a:t>
            </a:r>
            <a:endParaRPr sz="1800" b="1" i="0" dirty="0">
              <a:solidFill>
                <a:srgbClr val="FF0000"/>
              </a:solidFill>
              <a:latin typeface="Apto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1E3B8A5-B38A-FFBF-DCC5-28A1217420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707"/>
          <a:stretch>
            <a:fillRect/>
          </a:stretch>
        </p:blipFill>
        <p:spPr>
          <a:xfrm>
            <a:off x="977962" y="3879442"/>
            <a:ext cx="4427415" cy="20247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F24FB20-5F2D-712B-CEF6-CD806EEECE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801"/>
          <a:stretch>
            <a:fillRect/>
          </a:stretch>
        </p:blipFill>
        <p:spPr>
          <a:xfrm>
            <a:off x="6571006" y="3952269"/>
            <a:ext cx="4447514" cy="20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28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132BE-E1EA-F741-F311-99CD9EF6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4AEF44-B585-8BF4-3D41-3E8404C97B1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29A65DE-FE86-2A0F-0193-58B4A0E4EA37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0F0619D-A23B-33D4-A44B-9F841995B4D2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7B0B442-670C-4AD4-6D51-DE430F82BE9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DB510AA-0AC0-BB77-A5AB-EB0F2B02367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A89E787-59AD-6A3B-F5EA-761022AAF3D1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4ABA53B-80BE-EACA-E682-AAA1EA1A9B20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C672A-EA0E-4FD2-5E97-63E60C240D7D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23379C-FE6A-1DD8-A365-C6A069F63D0E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BUT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F63280-9E01-4EC6-C1E7-36AC97A268C6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dirty="0">
                <a:solidFill>
                  <a:srgbClr val="17324D"/>
                </a:solidFill>
                <a:latin typeface="Aptos Display"/>
              </a:rPr>
              <a:t>Filters depend on where you look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2A18882-C19D-71D7-C645-E807B9B5ADA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884F8EF5-600A-DD88-1123-5974F0996E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01175" y="1264472"/>
            <a:ext cx="5617273" cy="283568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8F13D53-56C5-6E46-7AA0-D79DD55AF5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1792" y="1264597"/>
            <a:ext cx="5293451" cy="267221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391EA23-99DF-7F89-7D31-A98F27E867F6}"/>
              </a:ext>
            </a:extLst>
          </p:cNvPr>
          <p:cNvSpPr txBox="1"/>
          <p:nvPr/>
        </p:nvSpPr>
        <p:spPr>
          <a:xfrm>
            <a:off x="2625302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RC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8EC4C9-19E8-98B1-A062-1E4423A0F220}"/>
              </a:ext>
            </a:extLst>
          </p:cNvPr>
          <p:cNvSpPr txBox="1"/>
          <p:nvPr/>
        </p:nvSpPr>
        <p:spPr>
          <a:xfrm>
            <a:off x="8401069" y="3563942"/>
            <a:ext cx="12864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RL Circuit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4912BA-0BCD-F5DD-374C-1F28A8E6A166}"/>
              </a:ext>
            </a:extLst>
          </p:cNvPr>
          <p:cNvSpPr txBox="1"/>
          <p:nvPr/>
        </p:nvSpPr>
        <p:spPr>
          <a:xfrm>
            <a:off x="4389226" y="4982625"/>
            <a:ext cx="32916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CUTOFF FREQUENCY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1E54A-67DA-C141-9289-97B731A1E4F8}"/>
              </a:ext>
            </a:extLst>
          </p:cNvPr>
          <p:cNvSpPr txBox="1"/>
          <p:nvPr/>
        </p:nvSpPr>
        <p:spPr>
          <a:xfrm>
            <a:off x="2758688" y="2044005"/>
            <a:ext cx="15944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latin typeface="Aptos"/>
              </a:rPr>
              <a:t>+      V         -</a:t>
            </a:r>
            <a:endParaRPr sz="1800" b="1" i="0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E02F99-0559-3163-9D25-52857EADE93F}"/>
              </a:ext>
            </a:extLst>
          </p:cNvPr>
          <p:cNvSpPr txBox="1"/>
          <p:nvPr/>
        </p:nvSpPr>
        <p:spPr>
          <a:xfrm>
            <a:off x="8367702" y="2044005"/>
            <a:ext cx="15944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latin typeface="Aptos"/>
              </a:rPr>
              <a:t>+      V         -</a:t>
            </a:r>
            <a:endParaRPr sz="1800" b="1" i="0" dirty="0">
              <a:solidFill>
                <a:srgbClr val="FF0000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A1A5DC-B732-4BD9-9633-319A8D464C40}"/>
                  </a:ext>
                </a:extLst>
              </p:cNvPr>
              <p:cNvSpPr txBox="1"/>
              <p:nvPr/>
            </p:nvSpPr>
            <p:spPr>
              <a:xfrm>
                <a:off x="1755648" y="4268096"/>
                <a:ext cx="2865120" cy="8094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RC</m:t>
                          </m:r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A1A5DC-B732-4BD9-9633-319A8D464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648" y="4268096"/>
                <a:ext cx="2865120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7D71F7-F126-B42B-5C0F-1D6A1A41A000}"/>
                  </a:ext>
                </a:extLst>
              </p:cNvPr>
              <p:cNvSpPr txBox="1"/>
              <p:nvPr/>
            </p:nvSpPr>
            <p:spPr>
              <a:xfrm>
                <a:off x="7557506" y="4268096"/>
                <a:ext cx="2865120" cy="80656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7D71F7-F126-B42B-5C0F-1D6A1A41A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506" y="4268096"/>
                <a:ext cx="2865120" cy="8065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4C5E8FF-7614-7B2F-73B6-DE7A9CBFF3AD}"/>
              </a:ext>
            </a:extLst>
          </p:cNvPr>
          <p:cNvSpPr txBox="1"/>
          <p:nvPr/>
        </p:nvSpPr>
        <p:spPr>
          <a:xfrm>
            <a:off x="4389226" y="5360709"/>
            <a:ext cx="3413548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Frequency where it breaks even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56690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RESONANT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Series resonance occurs when </a:t>
            </a:r>
            <a:r>
              <a:rPr sz="2700" b="1" i="0" dirty="0" err="1">
                <a:solidFill>
                  <a:srgbClr val="17324D"/>
                </a:solidFill>
                <a:latin typeface="Aptos Display"/>
              </a:rPr>
              <a:t>reactances</a:t>
            </a:r>
            <a:r>
              <a:rPr sz="2700" b="1" i="0" dirty="0">
                <a:solidFill>
                  <a:srgbClr val="17324D"/>
                </a:solidFill>
                <a:latin typeface="Aptos Display"/>
              </a:rPr>
              <a:t> balance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027990"/>
            <a:ext cx="3276600" cy="1250066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4027990"/>
            <a:ext cx="82296" cy="125006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914400" y="4192582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92582"/>
                <a:ext cx="286512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914400" y="4631494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Inductive and capacitive reactance magnitudes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4027990"/>
            <a:ext cx="3276600" cy="1250066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91000" y="4027990"/>
            <a:ext cx="82296" cy="1250066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19600" y="4375962"/>
                <a:ext cx="2865120" cy="76296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LC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sz="24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4375962"/>
                <a:ext cx="2865120" cy="76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/>
          <p:cNvSpPr/>
          <p:nvPr/>
        </p:nvSpPr>
        <p:spPr>
          <a:xfrm>
            <a:off x="7696200" y="4027990"/>
            <a:ext cx="3276600" cy="1250066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96200" y="4027990"/>
            <a:ext cx="82296" cy="1250066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24800" y="4192582"/>
            <a:ext cx="2865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7324D"/>
                </a:solidFill>
                <a:latin typeface="Aptos"/>
              </a:rPr>
              <a:t>Z at f0 is about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0" y="4631494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Series current reaches its maximum.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5596128"/>
            <a:ext cx="66751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AT RESONANCE: NET REACTANCE =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A8B45E-4E2E-EADE-C21E-CC28ADBC40E8}"/>
              </a:ext>
            </a:extLst>
          </p:cNvPr>
          <p:cNvSpPr txBox="1"/>
          <p:nvPr/>
        </p:nvSpPr>
        <p:spPr>
          <a:xfrm>
            <a:off x="4396740" y="4192582"/>
            <a:ext cx="2865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Resonant Frequency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28" name="Picture 27" descr="Digital AM FM Shortwave Radio with Best Reception,4000mAh 4000mAh, Blue |  eBay">
            <a:extLst>
              <a:ext uri="{FF2B5EF4-FFF2-40B4-BE49-F238E27FC236}">
                <a16:creationId xmlns:a16="http://schemas.microsoft.com/office/drawing/2014/main" id="{8B994A03-BF1E-705E-B77D-E981438013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346960" y="1312157"/>
            <a:ext cx="2276408" cy="2276408"/>
          </a:xfrm>
          <a:prstGeom prst="rect">
            <a:avLst/>
          </a:prstGeom>
        </p:spPr>
      </p:pic>
      <p:pic>
        <p:nvPicPr>
          <p:cNvPr id="29" name="Picture 28" descr="Magnetic Resonance Technology: Revolutionising Wireless Charging">
            <a:extLst>
              <a:ext uri="{FF2B5EF4-FFF2-40B4-BE49-F238E27FC236}">
                <a16:creationId xmlns:a16="http://schemas.microsoft.com/office/drawing/2014/main" id="{DF0257DB-4CBE-0B69-AE4C-A7DE6C3B57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080760" y="1230098"/>
            <a:ext cx="3888487" cy="2592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6D74"/>
                </a:solidFill>
                <a:latin typeface="Aptos"/>
              </a:rPr>
              <a:t>RLC IN RESONANCE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The band-pass filter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A8B3020-3D22-A376-6D1E-B3A752A74F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50470" y="2005699"/>
            <a:ext cx="5332748" cy="269205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B5D3FD9-572E-16BD-D1DC-42CAAE14DF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27"/>
          <a:stretch>
            <a:fillRect/>
          </a:stretch>
        </p:blipFill>
        <p:spPr>
          <a:xfrm>
            <a:off x="5332748" y="1538377"/>
            <a:ext cx="6659880" cy="299998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86E30E5-F4D2-BCE6-3816-43DB6CC1D349}"/>
              </a:ext>
            </a:extLst>
          </p:cNvPr>
          <p:cNvSpPr txBox="1"/>
          <p:nvPr/>
        </p:nvSpPr>
        <p:spPr>
          <a:xfrm>
            <a:off x="6062472" y="4844125"/>
            <a:ext cx="533274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CURRENT IS MAXIMUM AT RESONANCE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881BB2-96F9-4F2F-5056-9A256ECF4125}"/>
                  </a:ext>
                </a:extLst>
              </p:cNvPr>
              <p:cNvSpPr txBox="1"/>
              <p:nvPr/>
            </p:nvSpPr>
            <p:spPr>
              <a:xfrm>
                <a:off x="7394294" y="5311211"/>
                <a:ext cx="2865120" cy="76296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LC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sz="24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881BB2-96F9-4F2F-5056-9A256ECF4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294" y="5311211"/>
                <a:ext cx="2865120" cy="7629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9317A-E472-D786-75AF-DF3BCB09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2E408F-71FC-6352-8ED4-7449D8A6B62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7FBADE1E-7615-5CF9-DA8F-920350587ACF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D83391A-CA7D-C48F-415B-7B81F97AE6B1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83A1DDC-8022-3EB2-FBA6-613EEE54F378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88259D4-13ED-5753-6377-3A1B6AC98B8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B512523-703C-9B6A-0E4E-92747D9D378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69A5FA-B98B-116C-340A-E0ACD7B51F06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5E57B8-5E76-FC57-771F-24941A951148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978A6-D1CE-4BFE-33C4-36321CEBAEEC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F6D74"/>
                </a:solidFill>
                <a:latin typeface="Aptos"/>
              </a:rPr>
              <a:t>RLC IN RESONANCE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FE84B-E781-F389-A2D1-B5F0FCB6995D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The band-pass filter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690905-67B5-FCD7-2DD0-46203DD107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50470" y="2005699"/>
            <a:ext cx="5332748" cy="26920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A8FB0F-C61E-998C-82E2-A0FCC526B6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988"/>
          <a:stretch>
            <a:fillRect/>
          </a:stretch>
        </p:blipFill>
        <p:spPr>
          <a:xfrm>
            <a:off x="5532120" y="1641629"/>
            <a:ext cx="5332748" cy="24303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C53411-14B5-AD14-7C2A-91963C4C93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551"/>
          <a:stretch>
            <a:fillRect/>
          </a:stretch>
        </p:blipFill>
        <p:spPr>
          <a:xfrm>
            <a:off x="3037432" y="4899220"/>
            <a:ext cx="4051805" cy="18337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92A1D-92FC-A92E-B8ED-27EBB12ED5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168"/>
          <a:stretch>
            <a:fillRect/>
          </a:stretch>
        </p:blipFill>
        <p:spPr>
          <a:xfrm>
            <a:off x="7199786" y="4855108"/>
            <a:ext cx="4129630" cy="18778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1DEFCC1-5746-5F15-2F0D-C701EDACD23B}"/>
              </a:ext>
            </a:extLst>
          </p:cNvPr>
          <p:cNvSpPr txBox="1"/>
          <p:nvPr/>
        </p:nvSpPr>
        <p:spPr>
          <a:xfrm>
            <a:off x="7303008" y="4592414"/>
            <a:ext cx="286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V ACROSS C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07E5EA-F2F2-D2D9-CF67-72170D7E5DDA}"/>
              </a:ext>
            </a:extLst>
          </p:cNvPr>
          <p:cNvSpPr txBox="1"/>
          <p:nvPr/>
        </p:nvSpPr>
        <p:spPr>
          <a:xfrm>
            <a:off x="3017520" y="4608887"/>
            <a:ext cx="286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V ACROSS L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C708CA-19DD-223E-7985-67838E1C015A}"/>
              </a:ext>
            </a:extLst>
          </p:cNvPr>
          <p:cNvSpPr txBox="1"/>
          <p:nvPr/>
        </p:nvSpPr>
        <p:spPr>
          <a:xfrm>
            <a:off x="5562986" y="1274062"/>
            <a:ext cx="286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V ACROSS R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7377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Bandwidth, Δf is measured between the 70.7% impedance points of a parallel resonant circuit.">
            <a:extLst>
              <a:ext uri="{FF2B5EF4-FFF2-40B4-BE49-F238E27FC236}">
                <a16:creationId xmlns:a16="http://schemas.microsoft.com/office/drawing/2014/main" id="{93643E99-9C92-52BC-7B85-6FDC06EF2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044" y="1545992"/>
            <a:ext cx="3994616" cy="399461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HALF-POWER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Bandwidth needs a stated boundary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1828800"/>
            <a:ext cx="3276600" cy="342900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82296" cy="3429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914400" y="2485098"/>
                <a:ext cx="2865120" cy="76296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m:rPr>
                              <m:sty m:val="p"/>
                            </m:rP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alf</m:t>
                          </m:r>
                          <m: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m:rPr>
                              <m:sty m:val="p"/>
                            </m:rPr>
                            <a:rPr lang="en-US" sz="24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power</m:t>
                          </m:r>
                        </m:sub>
                      </m:sSub>
                      <m:r>
                        <a:rPr lang="en-US" sz="24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US" sz="24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ax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sz="24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485098"/>
                <a:ext cx="2865120" cy="76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914400" y="3831748"/>
            <a:ext cx="2865120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Amplitude at half power for equal impedance.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 (-3dB point)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01000" y="1684183"/>
            <a:ext cx="3276600" cy="1426051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7086" y="1662547"/>
            <a:ext cx="82296" cy="1426051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8229600" y="1947909"/>
                <a:ext cx="286512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2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sz="22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22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sz="22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1947909"/>
                <a:ext cx="2865120" cy="338554"/>
              </a:xfrm>
              <a:prstGeom prst="rect">
                <a:avLst/>
              </a:prstGeom>
              <a:blipFill>
                <a:blip r:embed="rId5"/>
                <a:stretch>
                  <a:fillRect b="-3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229600" y="2415754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Width between the two crossing frequencies.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7086" y="3515103"/>
            <a:ext cx="3276600" cy="2109766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4518" y="3515103"/>
            <a:ext cx="82296" cy="2109766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8155686" y="3921124"/>
                <a:ext cx="2865120" cy="81631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BW</m:t>
                          </m:r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686" y="3921124"/>
                <a:ext cx="2865120" cy="8163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8155686" y="4978545"/>
            <a:ext cx="2865120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1" i="0" dirty="0">
                <a:solidFill>
                  <a:srgbClr val="182028"/>
                </a:solidFill>
                <a:latin typeface="Aptos"/>
              </a:rPr>
              <a:t>Quality Factor. </a:t>
            </a:r>
            <a:r>
              <a:rPr sz="1700" b="0" i="0" dirty="0">
                <a:solidFill>
                  <a:srgbClr val="182028"/>
                </a:solidFill>
                <a:latin typeface="Aptos"/>
              </a:rPr>
              <a:t>Sharpness of the measured response.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02527E0E-D720-8F81-FF79-C9EF5C71D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7"/>
          <a:stretch>
            <a:fillRect/>
          </a:stretch>
        </p:blipFill>
        <p:spPr>
          <a:xfrm>
            <a:off x="4233672" y="1306348"/>
            <a:ext cx="3648781" cy="493839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TRADEOFF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Q describes selectivity, not quality in general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1783080"/>
            <a:ext cx="3520440" cy="1434682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1783080"/>
            <a:ext cx="82296" cy="1434682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Higher 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Narrower bandwidth and stronger discrimination near f0.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281770"/>
            <a:ext cx="3520440" cy="1434682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3281770"/>
            <a:ext cx="82296" cy="143468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344636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Lower 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88527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Broader response and less sensitivity to tuning error.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3446362"/>
            <a:ext cx="3520440" cy="1434682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18704" y="3429000"/>
            <a:ext cx="82296" cy="1434682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361095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System tradeoff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049866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A very narrow filter may reject a drifting or wideband desired signal.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RESPONSE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Four basic filters answer different needs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324102"/>
              </p:ext>
            </p:extLst>
          </p:nvPr>
        </p:nvGraphicFramePr>
        <p:xfrm>
          <a:off x="658368" y="1737360"/>
          <a:ext cx="1088135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5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FFFFFF"/>
                          </a:solidFill>
                          <a:latin typeface="Aptos"/>
                        </a:rPr>
                        <a:t>Filter</a:t>
                      </a:r>
                    </a:p>
                  </a:txBody>
                  <a:tcPr marL="82296" marR="82296" marT="54864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FFFFFF"/>
                          </a:solidFill>
                          <a:latin typeface="Aptos"/>
                        </a:rPr>
                        <a:t>Primarily passes</a:t>
                      </a:r>
                    </a:p>
                  </a:txBody>
                  <a:tcPr marL="82296" marR="82296" marT="54864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Primarily attenuates</a:t>
                      </a:r>
                    </a:p>
                  </a:txBody>
                  <a:tcPr marL="82296" marR="82296" marT="54864" marB="36576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marL="82296" marR="82296" marT="54864" marB="36576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Low-pass</a:t>
                      </a:r>
                    </a:p>
                  </a:txBody>
                  <a:tcPr marL="82296" marR="82296" marB="27432" anchor="ctr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Below cutoff</a:t>
                      </a:r>
                    </a:p>
                  </a:txBody>
                  <a:tcPr marL="82296" marR="82296" marB="27432" anchor="ctr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Above cutoff</a:t>
                      </a:r>
                    </a:p>
                  </a:txBody>
                  <a:tcPr marL="82296" marR="82296" marB="27432" anchor="ctr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Remove high-frequency noise</a:t>
                      </a:r>
                    </a:p>
                  </a:txBody>
                  <a:tcPr marL="82296" marR="82296" marB="27432" anchor="ctr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High-pass</a:t>
                      </a:r>
                    </a:p>
                  </a:txBody>
                  <a:tcPr marL="82296" marR="82296" marB="27432" anchor="ctr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Above cutoff</a:t>
                      </a:r>
                    </a:p>
                  </a:txBody>
                  <a:tcPr marL="82296" marR="82296" marB="27432" anchor="ctr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Below cutoff</a:t>
                      </a:r>
                    </a:p>
                  </a:txBody>
                  <a:tcPr marL="82296" marR="82296" marB="27432" anchor="ctr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Block DC or slow drift</a:t>
                      </a:r>
                    </a:p>
                  </a:txBody>
                  <a:tcPr marL="82296" marR="82296" marB="27432" anchor="ctr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Band-pass</a:t>
                      </a:r>
                    </a:p>
                  </a:txBody>
                  <a:tcPr marL="82296" marR="82296" marB="27432" anchor="ctr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Selected band</a:t>
                      </a:r>
                    </a:p>
                  </a:txBody>
                  <a:tcPr marL="82296" marR="82296" marB="27432" anchor="ctr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Outside the band</a:t>
                      </a:r>
                    </a:p>
                  </a:txBody>
                  <a:tcPr marL="82296" marR="82296" marB="27432" anchor="ctr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Select one channel</a:t>
                      </a:r>
                    </a:p>
                  </a:txBody>
                  <a:tcPr marL="82296" marR="82296" marB="27432" anchor="ctr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Band-stop</a:t>
                      </a:r>
                      <a:r>
                        <a:rPr lang="en-US" sz="1250" dirty="0">
                          <a:solidFill>
                            <a:srgbClr val="182028"/>
                          </a:solidFill>
                          <a:latin typeface="Aptos"/>
                        </a:rPr>
                        <a:t>/Band-reject</a:t>
                      </a:r>
                      <a:endParaRPr sz="125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 anchor="ctr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82028"/>
                          </a:solidFill>
                          <a:latin typeface="Aptos"/>
                        </a:rPr>
                        <a:t>Outside a rejected band</a:t>
                      </a:r>
                    </a:p>
                  </a:txBody>
                  <a:tcPr marL="82296" marR="82296" marB="27432" anchor="ctr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Selected band</a:t>
                      </a:r>
                    </a:p>
                  </a:txBody>
                  <a:tcPr marL="82296" marR="82296" marB="27432" anchor="ctr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182028"/>
                          </a:solidFill>
                          <a:latin typeface="Aptos"/>
                        </a:rPr>
                        <a:t>Suppress a narrow interferer</a:t>
                      </a:r>
                    </a:p>
                  </a:txBody>
                  <a:tcPr marL="82296" marR="82296" marB="27432" anchor="ctr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09 | RESONANCE +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SELECTIVITY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306627"/>
            <a:ext cx="1046988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End of prologue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793420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rgbClr val="5F6B73"/>
                </a:solidFill>
                <a:latin typeface="Aptos"/>
              </a:rPr>
              <a:t>Welcome to Communication Systems</a:t>
            </a:r>
            <a:endParaRPr sz="1800" b="0" i="0" dirty="0">
              <a:solidFill>
                <a:srgbClr val="5F6B73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995399"/>
            <a:ext cx="48463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NEXT: </a:t>
            </a:r>
            <a:r>
              <a:rPr lang="en-US" sz="1150" b="1" i="0" dirty="0">
                <a:solidFill>
                  <a:srgbClr val="FFFFFF"/>
                </a:solidFill>
                <a:latin typeface="Aptos"/>
              </a:rPr>
              <a:t>MESSAGES, SIGNALS, CARRIERS AND CHANNELS</a:t>
            </a:r>
            <a:endParaRPr sz="115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881</Words>
  <Application>Microsoft Office PowerPoint</Application>
  <PresentationFormat>Widescreen</PresentationFormat>
  <Paragraphs>180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3</cp:revision>
  <dcterms:created xsi:type="dcterms:W3CDTF">2013-01-27T09:14:16Z</dcterms:created>
  <dcterms:modified xsi:type="dcterms:W3CDTF">2026-09-23T16:42:49Z</dcterms:modified>
  <cp:category/>
</cp:coreProperties>
</file>